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7"/>
  </p:notesMasterIdLst>
  <p:sldIdLst>
    <p:sldId id="269" r:id="rId3"/>
    <p:sldId id="270" r:id="rId4"/>
    <p:sldId id="271" r:id="rId5"/>
    <p:sldId id="265" r:id="rId6"/>
    <p:sldId id="272" r:id="rId7"/>
    <p:sldId id="275" r:id="rId8"/>
    <p:sldId id="274" r:id="rId9"/>
    <p:sldId id="257" r:id="rId10"/>
    <p:sldId id="273" r:id="rId11"/>
    <p:sldId id="256" r:id="rId12"/>
    <p:sldId id="261" r:id="rId13"/>
    <p:sldId id="267" r:id="rId14"/>
    <p:sldId id="266" r:id="rId15"/>
    <p:sldId id="26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1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8E8DE-B44E-4CD5-B139-CED52C9C4A5A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E1471-B013-43C5-87B9-D1355B3D4C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386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 오늘 용서를 주제로 강의를 하게 된 백인원입니다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CB19-1A37-334A-B791-4A127911D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EE5D2-4606-8453-9BF0-1C0E7ECA4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66358-B2BC-146F-FD18-54F9FC240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저는 인공지능학과에 재학중인 </a:t>
            </a:r>
            <a:r>
              <a:rPr lang="en-US" altLang="ko-KR" dirty="0"/>
              <a:t>2</a:t>
            </a:r>
            <a:r>
              <a:rPr lang="ko-KR" altLang="en-US" dirty="0"/>
              <a:t>학년 백인원입니다</a:t>
            </a:r>
            <a:r>
              <a:rPr lang="en-US" altLang="ko-KR" dirty="0"/>
              <a:t>. </a:t>
            </a:r>
            <a:r>
              <a:rPr lang="ko-KR" altLang="en-US" dirty="0"/>
              <a:t>자 이제 강의 시작하겠습니다</a:t>
            </a:r>
            <a:r>
              <a:rPr lang="en-US" altLang="ko-KR" dirty="0"/>
              <a:t>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6F3AE-3FDB-DD95-75B3-490C60EDB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09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65ED-B5D6-4A2C-A14C-63F94558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C2F05-D331-85CC-7CC5-6931EE228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68B58-210B-F3DD-728E-65290D717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오늘의 강의 주제는 용서란 무엇인가를 알아보고 활동을 통해서 용서라는 대표 강점의 역량을 키우는 것을 목표로 하고 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24216-03F0-1BEE-053D-A6A8387594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88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목차입니다</a:t>
            </a:r>
            <a:r>
              <a:rPr lang="en-US" altLang="ko-KR" dirty="0"/>
              <a:t>. ~</a:t>
            </a:r>
            <a:r>
              <a:rPr lang="ko-KR" altLang="en-US" dirty="0"/>
              <a:t>에 대해서 말씀드리겠습니다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SOF</a:t>
            </a:r>
            <a:r>
              <a:rPr lang="ko-KR" altLang="en-US" dirty="0"/>
              <a:t>는 </a:t>
            </a:r>
            <a:r>
              <a:rPr lang="ko-KR" altLang="en-US" dirty="0" err="1"/>
              <a:t>시츄에이션</a:t>
            </a:r>
            <a:r>
              <a:rPr lang="ko-KR" altLang="en-US" dirty="0"/>
              <a:t> 오프 </a:t>
            </a:r>
            <a:r>
              <a:rPr lang="ko-KR" altLang="en-US" dirty="0" err="1"/>
              <a:t>포기브로</a:t>
            </a:r>
            <a:r>
              <a:rPr lang="ko-KR" altLang="en-US" dirty="0"/>
              <a:t> 특정 상황을 가정하고 역할을 정해서 용서하는 연습을 하는 활동입니다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때 그냥 용서하면 안 되고 용서를 하는 사람은 잘못을 저지른 사람이 왜 이 행동을 했는지 공감하고 어떤 상처를 받았는지 표현한 후 용서해야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자 한번 예시로 보여드리겠습니다</a:t>
            </a:r>
            <a:r>
              <a:rPr lang="en-US" altLang="ko-KR" dirty="0"/>
              <a:t>. </a:t>
            </a:r>
            <a:r>
              <a:rPr lang="ko-KR" altLang="en-US" dirty="0"/>
              <a:t>앞에 계신 남성 두 </a:t>
            </a:r>
            <a:r>
              <a:rPr lang="ko-KR" altLang="en-US" dirty="0" err="1"/>
              <a:t>분이서</a:t>
            </a:r>
            <a:r>
              <a:rPr lang="ko-KR" altLang="en-US" dirty="0"/>
              <a:t> 서로 </a:t>
            </a:r>
            <a:r>
              <a:rPr lang="ko-KR" altLang="en-US" dirty="0" err="1"/>
              <a:t>마주봐주세요</a:t>
            </a:r>
            <a:r>
              <a:rPr lang="en-US" altLang="ko-KR" dirty="0"/>
              <a:t>. </a:t>
            </a:r>
            <a:r>
              <a:rPr lang="ko-KR" altLang="en-US" dirty="0"/>
              <a:t>한 분이 여자친구고 </a:t>
            </a:r>
            <a:r>
              <a:rPr lang="ko-KR" altLang="en-US" dirty="0" err="1"/>
              <a:t>한분은</a:t>
            </a:r>
            <a:r>
              <a:rPr lang="ko-KR" altLang="en-US" dirty="0"/>
              <a:t> </a:t>
            </a:r>
            <a:r>
              <a:rPr lang="ko-KR" altLang="en-US" dirty="0" err="1"/>
              <a:t>남자친굽니다</a:t>
            </a:r>
            <a:r>
              <a:rPr lang="en-US" altLang="ko-KR" dirty="0"/>
              <a:t>. </a:t>
            </a:r>
            <a:r>
              <a:rPr lang="ko-KR" altLang="en-US" dirty="0"/>
              <a:t>상황은 남자친구가 </a:t>
            </a:r>
            <a:r>
              <a:rPr lang="ko-KR" altLang="en-US" dirty="0" err="1"/>
              <a:t>친구랑</a:t>
            </a:r>
            <a:r>
              <a:rPr lang="ko-KR" altLang="en-US" dirty="0"/>
              <a:t> 논다면서 클럽에 갔다는 상황입니다</a:t>
            </a:r>
            <a:r>
              <a:rPr lang="en-US" altLang="ko-KR" dirty="0"/>
              <a:t>. </a:t>
            </a:r>
            <a:r>
              <a:rPr lang="ko-KR" altLang="en-US" dirty="0"/>
              <a:t>남자친구분은 진심으로 사과해주세요</a:t>
            </a:r>
            <a:r>
              <a:rPr lang="en-US" altLang="ko-KR" dirty="0"/>
              <a:t>. </a:t>
            </a:r>
            <a:r>
              <a:rPr lang="ko-KR" altLang="en-US" dirty="0"/>
              <a:t>여자친구분은 남자친구분이 왜 이런 짓을 했을까 말씀해주시면 됩니다</a:t>
            </a:r>
            <a:r>
              <a:rPr lang="en-US" altLang="ko-KR" dirty="0"/>
              <a:t>. </a:t>
            </a:r>
            <a:r>
              <a:rPr lang="ko-KR" altLang="en-US" dirty="0"/>
              <a:t>최대한 공감 해 주세요</a:t>
            </a:r>
            <a:r>
              <a:rPr lang="en-US" altLang="ko-KR" dirty="0"/>
              <a:t>. </a:t>
            </a:r>
            <a:r>
              <a:rPr lang="ko-KR" altLang="en-US" dirty="0"/>
              <a:t>네 잘 </a:t>
            </a:r>
            <a:r>
              <a:rPr lang="ko-KR" altLang="en-US" dirty="0" err="1"/>
              <a:t>들었구요</a:t>
            </a:r>
            <a:r>
              <a:rPr lang="ko-KR" altLang="en-US" dirty="0"/>
              <a:t> 어떤 상처를 받으셨나요</a:t>
            </a:r>
            <a:r>
              <a:rPr lang="en-US" altLang="ko-KR" dirty="0"/>
              <a:t>? </a:t>
            </a:r>
            <a:r>
              <a:rPr lang="ko-KR" altLang="en-US" dirty="0"/>
              <a:t>네 지금까지 말씀해주신 내용으로 진심으로 용서해주시면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E1471-B013-43C5-87B9-D1355B3D4CB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168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A3438-0254-C711-56B3-24D619A4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19B9F2-EF02-B494-1B5B-B9B31FD47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6C006A-52D8-2E9E-61F2-D53DA2ABD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SOF</a:t>
            </a:r>
            <a:r>
              <a:rPr lang="ko-KR" altLang="en-US" dirty="0"/>
              <a:t>는 </a:t>
            </a:r>
            <a:r>
              <a:rPr lang="ko-KR" altLang="en-US" dirty="0" err="1"/>
              <a:t>시츄에이션</a:t>
            </a:r>
            <a:r>
              <a:rPr lang="ko-KR" altLang="en-US" dirty="0"/>
              <a:t> 오프 </a:t>
            </a:r>
            <a:r>
              <a:rPr lang="ko-KR" altLang="en-US" dirty="0" err="1"/>
              <a:t>포기브로</a:t>
            </a:r>
            <a:r>
              <a:rPr lang="ko-KR" altLang="en-US" dirty="0"/>
              <a:t> 특정 상황을 가정하고 역할을 정해서 용서하는 연습을 하는 활동입니다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때 그냥 용서하면 안 되고 용서를 하는 사람은 잘못을 저지른 사람이 왜 이 행동을 했는지 공감하고 어떤 상처를 받았는지 표현한 후 용서해야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자 한번 예시로 보여드리겠습니다</a:t>
            </a:r>
            <a:r>
              <a:rPr lang="en-US" altLang="ko-KR" dirty="0"/>
              <a:t>. </a:t>
            </a:r>
            <a:r>
              <a:rPr lang="ko-KR" altLang="en-US" dirty="0"/>
              <a:t>앞에 계신 남성 두 </a:t>
            </a:r>
            <a:r>
              <a:rPr lang="ko-KR" altLang="en-US" dirty="0" err="1"/>
              <a:t>분이서</a:t>
            </a:r>
            <a:r>
              <a:rPr lang="ko-KR" altLang="en-US" dirty="0"/>
              <a:t> 서로 </a:t>
            </a:r>
            <a:r>
              <a:rPr lang="ko-KR" altLang="en-US" dirty="0" err="1"/>
              <a:t>마주봐주세요</a:t>
            </a:r>
            <a:r>
              <a:rPr lang="en-US" altLang="ko-KR" dirty="0"/>
              <a:t>. </a:t>
            </a:r>
            <a:r>
              <a:rPr lang="ko-KR" altLang="en-US" dirty="0"/>
              <a:t>한 분이 여자친구고 </a:t>
            </a:r>
            <a:r>
              <a:rPr lang="ko-KR" altLang="en-US" dirty="0" err="1"/>
              <a:t>한분은</a:t>
            </a:r>
            <a:r>
              <a:rPr lang="ko-KR" altLang="en-US" dirty="0"/>
              <a:t> </a:t>
            </a:r>
            <a:r>
              <a:rPr lang="ko-KR" altLang="en-US" dirty="0" err="1"/>
              <a:t>남자친굽니다</a:t>
            </a:r>
            <a:r>
              <a:rPr lang="en-US" altLang="ko-KR" dirty="0"/>
              <a:t>. </a:t>
            </a:r>
            <a:r>
              <a:rPr lang="ko-KR" altLang="en-US" dirty="0"/>
              <a:t>상황은 남자친구가 </a:t>
            </a:r>
            <a:r>
              <a:rPr lang="ko-KR" altLang="en-US" dirty="0" err="1"/>
              <a:t>친구랑</a:t>
            </a:r>
            <a:r>
              <a:rPr lang="ko-KR" altLang="en-US" dirty="0"/>
              <a:t> 논다면서 클럽에 갔다는 상황입니다</a:t>
            </a:r>
            <a:r>
              <a:rPr lang="en-US" altLang="ko-KR" dirty="0"/>
              <a:t>. </a:t>
            </a:r>
            <a:r>
              <a:rPr lang="ko-KR" altLang="en-US" dirty="0"/>
              <a:t>남자친구분은 진심으로 사과해주세요</a:t>
            </a:r>
            <a:r>
              <a:rPr lang="en-US" altLang="ko-KR" dirty="0"/>
              <a:t>. </a:t>
            </a:r>
            <a:r>
              <a:rPr lang="ko-KR" altLang="en-US" dirty="0"/>
              <a:t>여자친구분은 남자친구분이 왜 이런 짓을 했을까 말씀해주시면 됩니다</a:t>
            </a:r>
            <a:r>
              <a:rPr lang="en-US" altLang="ko-KR" dirty="0"/>
              <a:t>. </a:t>
            </a:r>
            <a:r>
              <a:rPr lang="ko-KR" altLang="en-US" dirty="0"/>
              <a:t>최대한 공감 해 주세요</a:t>
            </a:r>
            <a:r>
              <a:rPr lang="en-US" altLang="ko-KR" dirty="0"/>
              <a:t>. </a:t>
            </a:r>
            <a:r>
              <a:rPr lang="ko-KR" altLang="en-US" dirty="0"/>
              <a:t>네 잘 </a:t>
            </a:r>
            <a:r>
              <a:rPr lang="ko-KR" altLang="en-US" dirty="0" err="1"/>
              <a:t>들었구요</a:t>
            </a:r>
            <a:r>
              <a:rPr lang="ko-KR" altLang="en-US" dirty="0"/>
              <a:t> 어떤 상처를 받으셨나요</a:t>
            </a:r>
            <a:r>
              <a:rPr lang="en-US" altLang="ko-KR" dirty="0"/>
              <a:t>? </a:t>
            </a:r>
            <a:r>
              <a:rPr lang="ko-KR" altLang="en-US" dirty="0"/>
              <a:t>네 지금까지 말씀해주신 내용으로 진심으로 용서해주시면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E2BBBD-D46A-11E0-1DE0-E5F113B2B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E1471-B013-43C5-87B9-D1355B3D4CB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091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4E51D-65C3-F778-B8B8-546652EBA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553C24-EFD6-3C79-892D-0ABC526B3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6E3978-0BF5-8481-B304-4BAE46E80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SOF</a:t>
            </a:r>
            <a:r>
              <a:rPr lang="ko-KR" altLang="en-US" dirty="0"/>
              <a:t>는 </a:t>
            </a:r>
            <a:r>
              <a:rPr lang="ko-KR" altLang="en-US" dirty="0" err="1"/>
              <a:t>시츄에이션</a:t>
            </a:r>
            <a:r>
              <a:rPr lang="ko-KR" altLang="en-US" dirty="0"/>
              <a:t> 오프 </a:t>
            </a:r>
            <a:r>
              <a:rPr lang="ko-KR" altLang="en-US" dirty="0" err="1"/>
              <a:t>포기브로</a:t>
            </a:r>
            <a:r>
              <a:rPr lang="ko-KR" altLang="en-US" dirty="0"/>
              <a:t> 특정 상황을 가정하고 역할을 정해서 용서하는 연습을 하는 활동입니다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때 그냥 용서하면 안 되고 용서를 하는 사람은 잘못을 저지른 사람이 왜 이 행동을 했는지 공감하고 어떤 상처를 받았는지 표현한 후 용서해야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자 한번 예시로 보여드리겠습니다</a:t>
            </a:r>
            <a:r>
              <a:rPr lang="en-US" altLang="ko-KR" dirty="0"/>
              <a:t>. </a:t>
            </a:r>
            <a:r>
              <a:rPr lang="ko-KR" altLang="en-US" dirty="0"/>
              <a:t>앞에 계신 남성 두 </a:t>
            </a:r>
            <a:r>
              <a:rPr lang="ko-KR" altLang="en-US" dirty="0" err="1"/>
              <a:t>분이서</a:t>
            </a:r>
            <a:r>
              <a:rPr lang="ko-KR" altLang="en-US" dirty="0"/>
              <a:t> 서로 </a:t>
            </a:r>
            <a:r>
              <a:rPr lang="ko-KR" altLang="en-US" dirty="0" err="1"/>
              <a:t>마주봐주세요</a:t>
            </a:r>
            <a:r>
              <a:rPr lang="en-US" altLang="ko-KR" dirty="0"/>
              <a:t>. </a:t>
            </a:r>
            <a:r>
              <a:rPr lang="ko-KR" altLang="en-US" dirty="0"/>
              <a:t>한 분이 여자친구고 </a:t>
            </a:r>
            <a:r>
              <a:rPr lang="ko-KR" altLang="en-US" dirty="0" err="1"/>
              <a:t>한분은</a:t>
            </a:r>
            <a:r>
              <a:rPr lang="ko-KR" altLang="en-US" dirty="0"/>
              <a:t> </a:t>
            </a:r>
            <a:r>
              <a:rPr lang="ko-KR" altLang="en-US" dirty="0" err="1"/>
              <a:t>남자친굽니다</a:t>
            </a:r>
            <a:r>
              <a:rPr lang="en-US" altLang="ko-KR" dirty="0"/>
              <a:t>. </a:t>
            </a:r>
            <a:r>
              <a:rPr lang="ko-KR" altLang="en-US" dirty="0"/>
              <a:t>상황은 남자친구가 </a:t>
            </a:r>
            <a:r>
              <a:rPr lang="ko-KR" altLang="en-US" dirty="0" err="1"/>
              <a:t>친구랑</a:t>
            </a:r>
            <a:r>
              <a:rPr lang="ko-KR" altLang="en-US" dirty="0"/>
              <a:t> 논다면서 클럽에 갔다는 상황입니다</a:t>
            </a:r>
            <a:r>
              <a:rPr lang="en-US" altLang="ko-KR" dirty="0"/>
              <a:t>. </a:t>
            </a:r>
            <a:r>
              <a:rPr lang="ko-KR" altLang="en-US" dirty="0"/>
              <a:t>남자친구분은 진심으로 사과해주세요</a:t>
            </a:r>
            <a:r>
              <a:rPr lang="en-US" altLang="ko-KR" dirty="0"/>
              <a:t>. </a:t>
            </a:r>
            <a:r>
              <a:rPr lang="ko-KR" altLang="en-US" dirty="0"/>
              <a:t>여자친구분은 남자친구분이 왜 이런 짓을 했을까 말씀해주시면 됩니다</a:t>
            </a:r>
            <a:r>
              <a:rPr lang="en-US" altLang="ko-KR" dirty="0"/>
              <a:t>. </a:t>
            </a:r>
            <a:r>
              <a:rPr lang="ko-KR" altLang="en-US" dirty="0"/>
              <a:t>최대한 공감 해 주세요</a:t>
            </a:r>
            <a:r>
              <a:rPr lang="en-US" altLang="ko-KR" dirty="0"/>
              <a:t>. </a:t>
            </a:r>
            <a:r>
              <a:rPr lang="ko-KR" altLang="en-US" dirty="0"/>
              <a:t>네 잘 </a:t>
            </a:r>
            <a:r>
              <a:rPr lang="ko-KR" altLang="en-US" dirty="0" err="1"/>
              <a:t>들었구요</a:t>
            </a:r>
            <a:r>
              <a:rPr lang="ko-KR" altLang="en-US" dirty="0"/>
              <a:t> 어떤 상처를 받으셨나요</a:t>
            </a:r>
            <a:r>
              <a:rPr lang="en-US" altLang="ko-KR" dirty="0"/>
              <a:t>? </a:t>
            </a:r>
            <a:r>
              <a:rPr lang="ko-KR" altLang="en-US" dirty="0"/>
              <a:t>네 지금까지 말씀해주신 내용으로 진심으로 용서해주시면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B32C7F-24F8-407D-7268-0DC5C52AB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E1471-B013-43C5-87B9-D1355B3D4CB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812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용서를 </a:t>
            </a:r>
            <a:r>
              <a:rPr lang="ko-KR" altLang="en-US" dirty="0" err="1"/>
              <a:t>해야하는</a:t>
            </a:r>
            <a:r>
              <a:rPr lang="ko-KR" altLang="en-US" dirty="0"/>
              <a:t> 이유는 </a:t>
            </a:r>
            <a:r>
              <a:rPr lang="ko-KR" altLang="en-US" dirty="0" err="1"/>
              <a:t>뭘까요</a:t>
            </a:r>
            <a:r>
              <a:rPr lang="en-US" altLang="ko-KR" dirty="0"/>
              <a:t>. </a:t>
            </a:r>
            <a:r>
              <a:rPr lang="ko-KR" altLang="en-US" dirty="0"/>
              <a:t>남을 위한 것이 아닌 나를 </a:t>
            </a:r>
            <a:r>
              <a:rPr lang="ko-KR" altLang="en-US" dirty="0" err="1"/>
              <a:t>위함입니다</a:t>
            </a:r>
            <a:r>
              <a:rPr lang="en-US" altLang="ko-KR" dirty="0"/>
              <a:t>. </a:t>
            </a:r>
            <a:r>
              <a:rPr lang="ko-KR" altLang="en-US" dirty="0"/>
              <a:t>용서를 하면 좋은 점은 다음과 같습니다</a:t>
            </a:r>
            <a:r>
              <a:rPr lang="en-US" altLang="ko-KR" dirty="0"/>
              <a:t>. </a:t>
            </a:r>
            <a:r>
              <a:rPr lang="ko-KR" altLang="en-US" dirty="0"/>
              <a:t>먼저 남에게 베푼 관대함은 자신에게 돌아옵니다</a:t>
            </a:r>
            <a:r>
              <a:rPr lang="en-US" altLang="ko-KR" dirty="0"/>
              <a:t>. </a:t>
            </a:r>
            <a:r>
              <a:rPr lang="ko-KR" altLang="en-US" dirty="0"/>
              <a:t>만약 내가 친구의 사소한 잘못을 용서한다면 나중에 내가 친구에게 사소한 잘못을 저질러도 웃고 넘어가겠죠</a:t>
            </a:r>
            <a:r>
              <a:rPr lang="en-US" altLang="ko-KR" dirty="0"/>
              <a:t>. </a:t>
            </a:r>
            <a:r>
              <a:rPr lang="ko-KR" altLang="en-US" dirty="0"/>
              <a:t>다음 인간관계가 </a:t>
            </a:r>
            <a:r>
              <a:rPr lang="ko-KR" altLang="en-US" dirty="0" err="1"/>
              <a:t>원만해집니다</a:t>
            </a:r>
            <a:r>
              <a:rPr lang="en-US" altLang="ko-KR" dirty="0"/>
              <a:t>. </a:t>
            </a:r>
            <a:r>
              <a:rPr lang="ko-KR" altLang="en-US" dirty="0"/>
              <a:t>사소한 일로도 따지고 드는 사람은 친구가 생기는 속도보다 손절하는 속도가 더 </a:t>
            </a:r>
            <a:r>
              <a:rPr lang="ko-KR" altLang="en-US" dirty="0" err="1"/>
              <a:t>빠를겁니다</a:t>
            </a:r>
            <a:r>
              <a:rPr lang="en-US" altLang="ko-KR" dirty="0"/>
              <a:t>. </a:t>
            </a:r>
            <a:r>
              <a:rPr lang="ko-KR" altLang="en-US" dirty="0"/>
              <a:t>용서는 좋은 관계를 만들기 위한 첫 단계입니다</a:t>
            </a:r>
            <a:r>
              <a:rPr lang="en-US" altLang="ko-KR" dirty="0"/>
              <a:t>. </a:t>
            </a:r>
            <a:r>
              <a:rPr lang="ko-KR" altLang="en-US" dirty="0"/>
              <a:t>마지막으로 자신에 대한 세간의 평가가 올라갑니다</a:t>
            </a:r>
            <a:r>
              <a:rPr lang="en-US" altLang="ko-KR" dirty="0"/>
              <a:t>. “</a:t>
            </a:r>
            <a:r>
              <a:rPr lang="ko-KR" altLang="en-US" dirty="0"/>
              <a:t>아 저 친구는 넓은 마음을 지니고 있으니 사람이 좋아</a:t>
            </a:r>
            <a:r>
              <a:rPr lang="en-US" altLang="ko-KR" dirty="0"/>
              <a:t>“, “</a:t>
            </a:r>
            <a:r>
              <a:rPr lang="ko-KR" altLang="en-US" dirty="0"/>
              <a:t>저 사람 성격 정말 좋다</a:t>
            </a:r>
            <a:r>
              <a:rPr lang="en-US" altLang="ko-KR" dirty="0"/>
              <a:t>” </a:t>
            </a:r>
            <a:r>
              <a:rPr lang="ko-KR" altLang="en-US" dirty="0"/>
              <a:t>처럼 용서 하나만으로 나를 좋은 사람으로 만들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E1471-B013-43C5-87B9-D1355B3D4CB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649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용서하는 방법에 대해서 알아보겠습니다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E1471-B013-43C5-87B9-D1355B3D4CB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873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우리는 용서하기 전 침착해질 필요가 있습니다</a:t>
            </a:r>
            <a:r>
              <a:rPr lang="en-US" altLang="ko-KR" dirty="0"/>
              <a:t>. </a:t>
            </a:r>
            <a:r>
              <a:rPr lang="ko-KR" altLang="en-US" dirty="0"/>
              <a:t>분노는 감성의 영역이며 이는 이성적인 사고를 마비시킵니다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이성적으로 판단하기 위해 분노를 잠재우고 </a:t>
            </a:r>
            <a:r>
              <a:rPr lang="ko-KR" altLang="en-US" dirty="0" err="1"/>
              <a:t>침착해져야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 상대방이 왜 잘못을 저질렀는지 공감을 할 필요가 있습니다</a:t>
            </a:r>
            <a:r>
              <a:rPr lang="en-US" altLang="ko-KR" dirty="0"/>
              <a:t>. </a:t>
            </a:r>
            <a:r>
              <a:rPr lang="ko-KR" altLang="en-US" dirty="0"/>
              <a:t>대체 무슨 생각이었길래 이런 잘못을 했을까</a:t>
            </a:r>
            <a:r>
              <a:rPr lang="en-US" altLang="ko-KR" dirty="0"/>
              <a:t>. </a:t>
            </a:r>
            <a:r>
              <a:rPr lang="ko-KR" altLang="en-US" dirty="0"/>
              <a:t>나였어도 그런 행동을 취했을까</a:t>
            </a:r>
            <a:r>
              <a:rPr lang="en-US" altLang="ko-KR" dirty="0"/>
              <a:t>?</a:t>
            </a:r>
            <a:r>
              <a:rPr lang="ko-KR" altLang="en-US" dirty="0"/>
              <a:t>를 고민합니다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세번째로는 내가 받은 상처를 마주하는 것입니다</a:t>
            </a:r>
            <a:r>
              <a:rPr lang="en-US" altLang="ko-KR" dirty="0"/>
              <a:t>. </a:t>
            </a:r>
            <a:r>
              <a:rPr lang="ko-KR" altLang="en-US" dirty="0"/>
              <a:t>내가 받은 상처에서 도망치는 것이 아니라 받아들이는 과정이 필요합니다</a:t>
            </a:r>
            <a:r>
              <a:rPr lang="en-US" altLang="ko-KR" dirty="0"/>
              <a:t>. </a:t>
            </a:r>
            <a:r>
              <a:rPr lang="ko-KR" altLang="en-US" dirty="0"/>
              <a:t>그래야 마음에서 우러나는 용서를 할 수 있습니다</a:t>
            </a:r>
            <a:r>
              <a:rPr lang="en-US" altLang="ko-KR" dirty="0"/>
              <a:t>. </a:t>
            </a:r>
            <a:r>
              <a:rPr lang="ko-KR" altLang="en-US" dirty="0"/>
              <a:t>마지막으로 용서 한 후 이 일에 대해서 잊는 것입니다</a:t>
            </a:r>
            <a:r>
              <a:rPr lang="en-US" altLang="ko-KR" dirty="0"/>
              <a:t>. </a:t>
            </a:r>
            <a:r>
              <a:rPr lang="ko-KR" altLang="en-US" dirty="0"/>
              <a:t>사과했고 용서 받았으면 이미 끝난 일이니 </a:t>
            </a:r>
            <a:r>
              <a:rPr lang="en-US" altLang="ko-KR" dirty="0"/>
              <a:t>20</a:t>
            </a:r>
            <a:r>
              <a:rPr lang="ko-KR" altLang="en-US" dirty="0"/>
              <a:t>년 </a:t>
            </a:r>
            <a:r>
              <a:rPr lang="en-US" altLang="ko-KR" dirty="0"/>
              <a:t>30</a:t>
            </a:r>
            <a:r>
              <a:rPr lang="ko-KR" altLang="en-US" dirty="0"/>
              <a:t>년이 지나고도 너 왜 그때 그렇게 했어 라면서 </a:t>
            </a:r>
            <a:r>
              <a:rPr lang="ko-KR" altLang="en-US" dirty="0" err="1"/>
              <a:t>따지는건</a:t>
            </a:r>
            <a:r>
              <a:rPr lang="ko-KR" altLang="en-US" dirty="0"/>
              <a:t> 말이 안되죠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E1471-B013-43C5-87B9-D1355B3D4CB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142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용서는 문제를 해결하기 가장 쉬운 방법입니다</a:t>
            </a:r>
            <a:r>
              <a:rPr lang="en-US" altLang="ko-KR" dirty="0"/>
              <a:t>. </a:t>
            </a:r>
            <a:r>
              <a:rPr lang="ko-KR" altLang="en-US" dirty="0"/>
              <a:t>사람과 </a:t>
            </a:r>
            <a:r>
              <a:rPr lang="ko-KR" altLang="en-US" dirty="0" err="1"/>
              <a:t>사람간의</a:t>
            </a:r>
            <a:r>
              <a:rPr lang="ko-KR" altLang="en-US" dirty="0"/>
              <a:t> 감정의 골은 쉽게 없어지지 않습니다</a:t>
            </a:r>
            <a:r>
              <a:rPr lang="en-US" altLang="ko-KR" dirty="0"/>
              <a:t>. </a:t>
            </a:r>
            <a:r>
              <a:rPr lang="ko-KR" altLang="en-US" dirty="0"/>
              <a:t>제대로 끝마치지 않은 갈등은 언제 어디서 문제를 일으킬지 모릅니다</a:t>
            </a:r>
            <a:r>
              <a:rPr lang="en-US" altLang="ko-KR" dirty="0"/>
              <a:t>. </a:t>
            </a:r>
            <a:r>
              <a:rPr lang="ko-KR" altLang="en-US" dirty="0"/>
              <a:t>용서는 갈등을 가장 빠르고 간단하게 해결할 수 있는 첫번째 방법입니다</a:t>
            </a:r>
            <a:r>
              <a:rPr lang="en-US" altLang="ko-KR" dirty="0"/>
              <a:t>. </a:t>
            </a:r>
            <a:r>
              <a:rPr lang="ko-KR" altLang="en-US" dirty="0"/>
              <a:t>그러니 여러분 모두 하해와 같은 마음을 지녔으면 좋겠습니다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E1471-B013-43C5-87B9-D1355B3D4CB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929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여러분 앞에서 부족한 제가 감히 강의를 한다는 게 죄송스러웠습니다만 제 강점인 용서를 주제로 여러분께 제 생각을 말씀드릴 수 있었던 게 매우 값진 경험이었습니다</a:t>
            </a:r>
            <a:r>
              <a:rPr lang="en-US" altLang="ko-KR" dirty="0"/>
              <a:t>. </a:t>
            </a:r>
            <a:r>
              <a:rPr lang="ko-KR" altLang="en-US" dirty="0"/>
              <a:t>모두 한 학기 동안 고생 많으셨고 귀한 경험을 하게 </a:t>
            </a:r>
            <a:r>
              <a:rPr lang="ko-KR" altLang="en-US" dirty="0" err="1"/>
              <a:t>해주신</a:t>
            </a:r>
            <a:r>
              <a:rPr lang="ko-KR" altLang="en-US" dirty="0"/>
              <a:t> 교수님께도 감사의 말씀 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E1471-B013-43C5-87B9-D1355B3D4CB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417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E1471-B013-43C5-87B9-D1355B3D4CB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948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89F6C-8B87-08C3-5C8A-519039288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316155-1329-81F5-111A-8B73CA264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0C08BD-E48E-8D3B-F7A5-4EC6A599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1813-1762-4F46-95FC-F1AA88D864B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17209D-BC3C-072D-B001-9964D933F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B02876-D5C7-27C6-29C2-130F7D5C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2E18-0266-4716-B70D-1B4E6B726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46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17B94-23BB-4D50-798D-BE507DDD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361D5B-0BD6-CD5C-A812-878EEF15A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1C8AC-2814-2F0F-2117-F508F5C2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1813-1762-4F46-95FC-F1AA88D864B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77A494-B903-AE65-DB66-C0407340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FB8A37-E13B-1AC7-F9FF-D7D79DA5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2E18-0266-4716-B70D-1B4E6B726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70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A7574-18D0-5D91-EAA7-399E10CC2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AB3770-298B-36AE-9BE9-2F6D89DA2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5B1A2C-7EF1-73FA-5997-6D66E28A5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1813-1762-4F46-95FC-F1AA88D864B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41D260-230B-542E-6F68-8FFDBC9D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0D7BC8-7942-A630-D29F-A7277A2C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2E18-0266-4716-B70D-1B4E6B726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453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B4088-2C42-6256-8E52-DCCBDB902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7B9203-7F5A-E3F2-1375-9F24CD216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54A7AD-B452-256D-BE0F-34913B9AE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D44041-3103-1180-DCB8-1C13DC01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1813-1762-4F46-95FC-F1AA88D864B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8458D8-32E0-0247-DA73-CBBAA8CE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3B3249-F1B0-C9D0-EB5F-DECDAD08D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2E18-0266-4716-B70D-1B4E6B726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30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2C735-A913-B1DB-8657-3321060E1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4F2E6B-A171-7DDA-CD8E-E94D3CF74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675313-E8D6-2C1A-10E6-CF8F3178B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969167-994D-9675-A561-55A0B0A92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AFFE66-8C19-0A17-2642-9CB2724F46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79BE59E-8CBA-CBE4-6249-96E314B1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1813-1762-4F46-95FC-F1AA88D864B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3579D2-E76F-EC79-57DD-31D1BB05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82A014C-22EC-7CC4-C381-949BB2A6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2E18-0266-4716-B70D-1B4E6B726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08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FA236-C13B-B9D2-43FE-12BED8DA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3546BE-646D-DE53-CFE4-168EC7F0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1813-1762-4F46-95FC-F1AA88D864B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5A8808-5899-5024-10A8-A492FA21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7E25A9-683E-ECC2-C788-05122E07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2E18-0266-4716-B70D-1B4E6B726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935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A5E4180-0B8B-04F3-EB38-98FE69F13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1813-1762-4F46-95FC-F1AA88D864B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6EE1EF-F9CF-6FFB-FB54-ED4214563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761775-E6AA-D88A-1034-10B67184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2E18-0266-4716-B70D-1B4E6B726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12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2A9C10-4979-496A-CB3D-D778BE34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A78F89-B5FF-F561-A81B-EF0C4A714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E2E2C2-4CF3-D405-FB9A-F0C98C304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56DB7E-0103-E755-DBBC-39E58CBA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1813-1762-4F46-95FC-F1AA88D864B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347D35-B28C-432A-E1DB-F7705E39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CBC7C0-0DAA-1AB4-64FA-0724E6CB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2E18-0266-4716-B70D-1B4E6B726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82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71FBA-8C0D-A6E5-BB22-BC69A658C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C3701F-0341-C681-AC16-26B23591FC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450769-7B7A-EE61-15D0-C23353862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9D70F1-789E-9777-0D1C-D07AD6347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1813-1762-4F46-95FC-F1AA88D864B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EE423C-3538-0C20-9F06-8EE1AFD4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6F41AF-BCB9-92E6-22DC-42ACD5933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2E18-0266-4716-B70D-1B4E6B726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4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F1030-3803-742C-3104-C13BD6BC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610A2A-2C66-8F86-A87E-0F47315A9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AAD111-282C-E18A-593C-4F54CA6A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1813-1762-4F46-95FC-F1AA88D864B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EF06E7-FE9E-D2CB-163D-610595ACB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124937-7692-2323-CAA1-BFBC15BDE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2E18-0266-4716-B70D-1B4E6B726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100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799E5E-9E9D-8B66-BF9B-C1E1EF8F1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FF28C3-76C4-0ECF-86B4-576B65DC7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938B2-2DFB-ACBE-0F00-B19417C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1813-1762-4F46-95FC-F1AA88D864B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93FA1-46C8-867E-58AB-E693647EE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CF340A-4C79-A3A5-073F-E803F8DB3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2E18-0266-4716-B70D-1B4E6B726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899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9419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5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DE0C96-CE32-FA20-2832-78904EA37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7C2BAF-2A63-30A9-67E4-A4F89D23D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E054A1-02F6-B626-8DA0-FE386187D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31813-1762-4F46-95FC-F1AA88D864B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FDE7C8-A6F7-BFDA-2FBA-3A3D07A81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1438CF-C4F1-4202-ADFB-9A531C2E1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82E18-0266-4716-B70D-1B4E6B726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20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50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microsoft.com/office/2007/relationships/hdphoto" Target="../media/hdphoto5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microsoft.com/office/2007/relationships/hdphoto" Target="../media/hdphoto4.wdp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6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microsoft.com/office/2007/relationships/hdphoto" Target="../media/hdphoto7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4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pPr defTabSz="1219170" latinLnBrk="0"/>
            <a:endParaRPr lang="ko-KR" altLang="en-US" sz="24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24800" y="-1463040"/>
            <a:ext cx="5486400" cy="5486400"/>
          </a:xfrm>
          <a:prstGeom prst="ellipse">
            <a:avLst/>
          </a:prstGeom>
          <a:solidFill>
            <a:srgbClr val="3B4F60">
              <a:alpha val="60000"/>
            </a:srgbClr>
          </a:solidFill>
          <a:ln/>
        </p:spPr>
        <p:txBody>
          <a:bodyPr/>
          <a:lstStyle/>
          <a:p>
            <a:pPr defTabSz="1219170" latinLnBrk="0"/>
            <a:endParaRPr lang="ko-KR" altLang="en-US" sz="24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0" y="3413760"/>
            <a:ext cx="3657600" cy="3657600"/>
          </a:xfrm>
          <a:prstGeom prst="ellipse">
            <a:avLst/>
          </a:prstGeom>
          <a:solidFill>
            <a:srgbClr val="4A7C59">
              <a:alpha val="40000"/>
            </a:srgbClr>
          </a:solidFill>
          <a:ln/>
        </p:spPr>
        <p:txBody>
          <a:bodyPr/>
          <a:lstStyle/>
          <a:p>
            <a:pPr defTabSz="1219170" latinLnBrk="0"/>
            <a:endParaRPr lang="ko-KR" altLang="en-US" sz="24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853440"/>
            <a:ext cx="10363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 latinLnBrk="0"/>
            <a:r>
              <a:rPr lang="en-US" sz="1867" b="1" kern="0" spc="267" dirty="0">
                <a:solidFill>
                  <a:srgbClr val="F4A2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성격강점을 활용한 인성교육</a:t>
            </a:r>
            <a:endParaRPr lang="en-US" sz="1867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1341120"/>
            <a:ext cx="9753600" cy="3413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 latinLnBrk="0">
              <a:lnSpc>
                <a:spcPct val="130000"/>
              </a:lnSpc>
            </a:pPr>
            <a:r>
              <a:rPr lang="en-US" sz="48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용서</a:t>
            </a:r>
            <a:r>
              <a:rPr lang="en-US" sz="48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(Forgiveness)</a:t>
            </a:r>
            <a:endParaRPr lang="en-US" sz="4800" dirty="0"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4754880"/>
            <a:ext cx="8534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 latinLnBrk="0"/>
            <a:r>
              <a:rPr lang="en-US" sz="2400" b="1" dirty="0">
                <a:solidFill>
                  <a:srgbClr val="F4A2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 (Situation of Forgive)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5730240"/>
            <a:ext cx="975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 latinLnBrk="0"/>
            <a:r>
              <a:rPr lang="en-US" sz="1467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인공지능학과  |  학번: 202363046  |  2학년 A반  |  이름: 백인원</a:t>
            </a:r>
            <a:endParaRPr lang="en-US" sz="1467" dirty="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F258-8A53-5770-EA51-0AC73205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6E6ECE-7BA8-4755-451C-636B570D684D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91A4CD-7DBD-DF74-E5D7-B0EAF9ED55AA}"/>
              </a:ext>
            </a:extLst>
          </p:cNvPr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3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자기소개</a:t>
            </a:r>
            <a:endParaRPr lang="en-US" sz="3467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8F19206-05AD-FDA0-AE8C-EDED346BAE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78" b="99722" l="10000" r="99844">
                        <a14:foregroundMark x1="39219" y1="32315" x2="40313" y2="6296"/>
                        <a14:foregroundMark x1="40313" y1="6296" x2="43177" y2="278"/>
                        <a14:foregroundMark x1="69167" y1="1481" x2="74010" y2="24722"/>
                        <a14:foregroundMark x1="27379" y1="78786" x2="25392" y2="79677"/>
                        <a14:foregroundMark x1="44896" y1="70926" x2="28939" y2="78086"/>
                        <a14:foregroundMark x1="22071" y1="84173" x2="17448" y2="98241"/>
                        <a14:foregroundMark x1="17448" y1="98241" x2="17448" y2="98241"/>
                        <a14:foregroundMark x1="99287" y1="97938" x2="99427" y2="98241"/>
                        <a14:foregroundMark x1="43750" y1="74722" x2="53698" y2="92685"/>
                        <a14:foregroundMark x1="53698" y1="92685" x2="78698" y2="77963"/>
                        <a14:foregroundMark x1="78698" y1="77963" x2="87349" y2="76548"/>
                        <a14:foregroundMark x1="43490" y1="77037" x2="55677" y2="99722"/>
                        <a14:foregroundMark x1="55677" y1="99722" x2="55677" y2="99722"/>
                        <a14:foregroundMark x1="23854" y1="83611" x2="40052" y2="77315"/>
                        <a14:foregroundMark x1="40052" y1="77315" x2="50313" y2="88519"/>
                        <a14:foregroundMark x1="50313" y1="88519" x2="50833" y2="98704"/>
                        <a14:foregroundMark x1="84948" y1="35648" x2="82813" y2="37593"/>
                        <a14:foregroundMark x1="87137" y1="74661" x2="99271" y2="97222"/>
                        <a14:foregroundMark x1="86771" y1="73981" x2="87059" y2="74517"/>
                        <a14:foregroundMark x1="87609" y1="74745" x2="93021" y2="90000"/>
                        <a14:foregroundMark x1="93021" y1="90000" x2="88073" y2="80556"/>
                        <a14:backgroundMark x1="79271" y1="2778" x2="83773" y2="34157"/>
                        <a14:backgroundMark x1="84463" y1="34702" x2="84375" y2="10741"/>
                        <a14:backgroundMark x1="84375" y1="10741" x2="82552" y2="463"/>
                        <a14:backgroundMark x1="86510" y1="71481" x2="87381" y2="73153"/>
                        <a14:backgroundMark x1="87240" y1="72685" x2="88177" y2="56944"/>
                        <a14:backgroundMark x1="88177" y1="56944" x2="93646" y2="38056"/>
                        <a14:backgroundMark x1="93646" y1="38056" x2="99167" y2="34815"/>
                        <a14:backgroundMark x1="87760" y1="72685" x2="99219" y2="74722"/>
                        <a14:backgroundMark x1="99219" y1="74722" x2="97500" y2="90833"/>
                        <a14:backgroundMark x1="97500" y1="90833" x2="88906" y2="72685"/>
                        <a14:backgroundMark x1="22604" y1="70185" x2="29010" y2="77963"/>
                        <a14:backgroundMark x1="29010" y1="77963" x2="22031" y2="69722"/>
                        <a14:backgroundMark x1="22031" y1="69722" x2="23698" y2="66204"/>
                        <a14:backgroundMark x1="22448" y1="83611" x2="21615" y2="82315"/>
                        <a14:backgroundMark x1="25833" y1="75741" x2="21875" y2="82315"/>
                        <a14:backgroundMark x1="25156" y1="77315" x2="27552" y2="77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63" y="2326548"/>
            <a:ext cx="5586508" cy="3142411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D23B6D03-7674-4E3D-0524-D5E2EDF85C52}"/>
              </a:ext>
            </a:extLst>
          </p:cNvPr>
          <p:cNvGrpSpPr/>
          <p:nvPr/>
        </p:nvGrpSpPr>
        <p:grpSpPr>
          <a:xfrm>
            <a:off x="5027168" y="2326548"/>
            <a:ext cx="2438400" cy="731520"/>
            <a:chOff x="5027168" y="2112264"/>
            <a:chExt cx="2438400" cy="731520"/>
          </a:xfrm>
        </p:grpSpPr>
        <p:sp>
          <p:nvSpPr>
            <p:cNvPr id="28" name="Shape 2">
              <a:extLst>
                <a:ext uri="{FF2B5EF4-FFF2-40B4-BE49-F238E27FC236}">
                  <a16:creationId xmlns:a16="http://schemas.microsoft.com/office/drawing/2014/main" id="{63D9B99A-FCD1-510E-4C61-7B9E2A9AB1C7}"/>
                </a:ext>
              </a:extLst>
            </p:cNvPr>
            <p:cNvSpPr/>
            <p:nvPr/>
          </p:nvSpPr>
          <p:spPr>
            <a:xfrm>
              <a:off x="5027168" y="2112264"/>
              <a:ext cx="2438400" cy="7315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ko-KR" altLang="en-US" sz="2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ABCF8F-C5EC-8DF7-1C37-B275A3CB08EA}"/>
                </a:ext>
              </a:extLst>
            </p:cNvPr>
            <p:cNvSpPr txBox="1"/>
            <p:nvPr/>
          </p:nvSpPr>
          <p:spPr>
            <a:xfrm>
              <a:off x="5417693" y="2196738"/>
              <a:ext cx="16573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dirty="0"/>
                <a:t>학과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DA27D01-B2F9-5C7D-4DEC-C7C72B101AF4}"/>
              </a:ext>
            </a:extLst>
          </p:cNvPr>
          <p:cNvGrpSpPr/>
          <p:nvPr/>
        </p:nvGrpSpPr>
        <p:grpSpPr>
          <a:xfrm>
            <a:off x="7583424" y="2326548"/>
            <a:ext cx="4246626" cy="731520"/>
            <a:chOff x="7583424" y="2112264"/>
            <a:chExt cx="4246626" cy="731520"/>
          </a:xfrm>
        </p:grpSpPr>
        <p:sp>
          <p:nvSpPr>
            <p:cNvPr id="29" name="Shape 4">
              <a:extLst>
                <a:ext uri="{FF2B5EF4-FFF2-40B4-BE49-F238E27FC236}">
                  <a16:creationId xmlns:a16="http://schemas.microsoft.com/office/drawing/2014/main" id="{1C21A8C7-119E-05FC-BF73-635D02637705}"/>
                </a:ext>
              </a:extLst>
            </p:cNvPr>
            <p:cNvSpPr/>
            <p:nvPr/>
          </p:nvSpPr>
          <p:spPr>
            <a:xfrm>
              <a:off x="7583424" y="2112264"/>
              <a:ext cx="4246626" cy="731520"/>
            </a:xfrm>
            <a:prstGeom prst="rect">
              <a:avLst/>
            </a:prstGeom>
            <a:solidFill>
              <a:srgbClr val="EAF2EF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ko-KR" altLang="en-US" sz="2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0CB05D6-E79A-0032-A422-AE869622F603}"/>
                </a:ext>
              </a:extLst>
            </p:cNvPr>
            <p:cNvSpPr txBox="1"/>
            <p:nvPr/>
          </p:nvSpPr>
          <p:spPr>
            <a:xfrm>
              <a:off x="8217789" y="2154858"/>
              <a:ext cx="33646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dirty="0"/>
                <a:t>인공지능학과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1EDA585-0AB1-C52C-9243-8D03512644CB}"/>
              </a:ext>
            </a:extLst>
          </p:cNvPr>
          <p:cNvGrpSpPr/>
          <p:nvPr/>
        </p:nvGrpSpPr>
        <p:grpSpPr>
          <a:xfrm>
            <a:off x="5024501" y="3381233"/>
            <a:ext cx="2438400" cy="731520"/>
            <a:chOff x="5027168" y="2112264"/>
            <a:chExt cx="2438400" cy="731520"/>
          </a:xfrm>
        </p:grpSpPr>
        <p:sp>
          <p:nvSpPr>
            <p:cNvPr id="37" name="Shape 2">
              <a:extLst>
                <a:ext uri="{FF2B5EF4-FFF2-40B4-BE49-F238E27FC236}">
                  <a16:creationId xmlns:a16="http://schemas.microsoft.com/office/drawing/2014/main" id="{AEA6B9C9-C54F-D569-B898-9205931481BB}"/>
                </a:ext>
              </a:extLst>
            </p:cNvPr>
            <p:cNvSpPr/>
            <p:nvPr/>
          </p:nvSpPr>
          <p:spPr>
            <a:xfrm>
              <a:off x="5027168" y="2112264"/>
              <a:ext cx="2438400" cy="7315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ko-KR" altLang="en-US" sz="24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11B8AA3-70AE-5FA6-1ABC-FF3B7CFF6284}"/>
                </a:ext>
              </a:extLst>
            </p:cNvPr>
            <p:cNvSpPr txBox="1"/>
            <p:nvPr/>
          </p:nvSpPr>
          <p:spPr>
            <a:xfrm>
              <a:off x="5417693" y="2196738"/>
              <a:ext cx="16573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dirty="0"/>
                <a:t>이름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FB091A3-00E9-C133-7962-6DDD1D902422}"/>
              </a:ext>
            </a:extLst>
          </p:cNvPr>
          <p:cNvGrpSpPr/>
          <p:nvPr/>
        </p:nvGrpSpPr>
        <p:grpSpPr>
          <a:xfrm>
            <a:off x="7580757" y="3381233"/>
            <a:ext cx="4611243" cy="731520"/>
            <a:chOff x="7583424" y="2112264"/>
            <a:chExt cx="4611243" cy="731520"/>
          </a:xfrm>
        </p:grpSpPr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8AD3F4DF-3E02-63BE-40FF-722C57FC0233}"/>
                </a:ext>
              </a:extLst>
            </p:cNvPr>
            <p:cNvSpPr/>
            <p:nvPr/>
          </p:nvSpPr>
          <p:spPr>
            <a:xfrm>
              <a:off x="7583424" y="2112264"/>
              <a:ext cx="4246626" cy="731520"/>
            </a:xfrm>
            <a:prstGeom prst="rect">
              <a:avLst/>
            </a:prstGeom>
            <a:solidFill>
              <a:srgbClr val="EAF2EF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ko-KR" altLang="en-US" sz="24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B208B65-C946-9445-5C55-35D961B49E68}"/>
                </a:ext>
              </a:extLst>
            </p:cNvPr>
            <p:cNvSpPr txBox="1"/>
            <p:nvPr/>
          </p:nvSpPr>
          <p:spPr>
            <a:xfrm>
              <a:off x="8830056" y="2154858"/>
              <a:ext cx="33646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dirty="0"/>
                <a:t>백인원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42CFA1A-F618-4FDD-A4D4-007B50D02B0B}"/>
              </a:ext>
            </a:extLst>
          </p:cNvPr>
          <p:cNvGrpSpPr/>
          <p:nvPr/>
        </p:nvGrpSpPr>
        <p:grpSpPr>
          <a:xfrm>
            <a:off x="5024501" y="4517422"/>
            <a:ext cx="2438400" cy="731520"/>
            <a:chOff x="5027168" y="2112264"/>
            <a:chExt cx="2438400" cy="731520"/>
          </a:xfrm>
        </p:grpSpPr>
        <p:sp>
          <p:nvSpPr>
            <p:cNvPr id="43" name="Shape 2">
              <a:extLst>
                <a:ext uri="{FF2B5EF4-FFF2-40B4-BE49-F238E27FC236}">
                  <a16:creationId xmlns:a16="http://schemas.microsoft.com/office/drawing/2014/main" id="{77977EE3-1009-A358-C85D-B075014927A1}"/>
                </a:ext>
              </a:extLst>
            </p:cNvPr>
            <p:cNvSpPr/>
            <p:nvPr/>
          </p:nvSpPr>
          <p:spPr>
            <a:xfrm>
              <a:off x="5027168" y="2112264"/>
              <a:ext cx="2438400" cy="7315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ko-KR" altLang="en-US" sz="24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19F43C4-C4A0-7F7E-45EF-3019A6F4F851}"/>
                </a:ext>
              </a:extLst>
            </p:cNvPr>
            <p:cNvSpPr txBox="1"/>
            <p:nvPr/>
          </p:nvSpPr>
          <p:spPr>
            <a:xfrm>
              <a:off x="5417693" y="2196738"/>
              <a:ext cx="16573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dirty="0"/>
                <a:t>인사말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388E9D7-103E-4557-F760-72D82A15EAD4}"/>
              </a:ext>
            </a:extLst>
          </p:cNvPr>
          <p:cNvGrpSpPr/>
          <p:nvPr/>
        </p:nvGrpSpPr>
        <p:grpSpPr>
          <a:xfrm>
            <a:off x="7580757" y="4517422"/>
            <a:ext cx="4364482" cy="731520"/>
            <a:chOff x="7583424" y="2112264"/>
            <a:chExt cx="4364482" cy="731520"/>
          </a:xfrm>
        </p:grpSpPr>
        <p:sp>
          <p:nvSpPr>
            <p:cNvPr id="46" name="Shape 4">
              <a:extLst>
                <a:ext uri="{FF2B5EF4-FFF2-40B4-BE49-F238E27FC236}">
                  <a16:creationId xmlns:a16="http://schemas.microsoft.com/office/drawing/2014/main" id="{96FD446C-745E-13AB-D39F-F1AF7F52F95C}"/>
                </a:ext>
              </a:extLst>
            </p:cNvPr>
            <p:cNvSpPr/>
            <p:nvPr/>
          </p:nvSpPr>
          <p:spPr>
            <a:xfrm>
              <a:off x="7583424" y="2112264"/>
              <a:ext cx="4246626" cy="731520"/>
            </a:xfrm>
            <a:prstGeom prst="rect">
              <a:avLst/>
            </a:prstGeom>
            <a:solidFill>
              <a:srgbClr val="EAF2EF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ko-KR" altLang="en-US" sz="24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5006E41-5136-ECE4-D7E4-3B5C65FAC3FC}"/>
                </a:ext>
              </a:extLst>
            </p:cNvPr>
            <p:cNvSpPr txBox="1"/>
            <p:nvPr/>
          </p:nvSpPr>
          <p:spPr>
            <a:xfrm>
              <a:off x="7701280" y="2154858"/>
              <a:ext cx="42466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dirty="0"/>
                <a:t>편하게 </a:t>
              </a:r>
              <a:r>
                <a:rPr lang="en-US" altLang="ko-KR" sz="3600" dirty="0"/>
                <a:t>DM </a:t>
              </a:r>
              <a:r>
                <a:rPr lang="ko-KR" altLang="en-US" sz="3600" dirty="0"/>
                <a:t>주세요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0782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C1BF-BB57-E9DA-17E3-74C93663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083669-9892-A29B-E180-F67071FD77C2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B36944-7068-D347-3A15-50BFAB61A2A1}"/>
              </a:ext>
            </a:extLst>
          </p:cNvPr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3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주제</a:t>
            </a:r>
            <a:endParaRPr lang="en-US" sz="3467" dirty="0"/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C0E6EB92-1FCA-5B67-9611-34C545438C6C}"/>
              </a:ext>
            </a:extLst>
          </p:cNvPr>
          <p:cNvSpPr/>
          <p:nvPr/>
        </p:nvSpPr>
        <p:spPr>
          <a:xfrm>
            <a:off x="139566" y="2590801"/>
            <a:ext cx="2821808" cy="2587592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solidFill>
                  <a:schemeClr val="tx1"/>
                </a:solidFill>
              </a:rPr>
              <a:t>용서란</a:t>
            </a:r>
            <a:r>
              <a:rPr lang="en-US" altLang="ko-KR" sz="3200" dirty="0">
                <a:solidFill>
                  <a:schemeClr val="tx1"/>
                </a:solidFill>
              </a:rPr>
              <a:t>?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CC55E92E-7713-1CA1-6229-7286E090122A}"/>
              </a:ext>
            </a:extLst>
          </p:cNvPr>
          <p:cNvSpPr/>
          <p:nvPr/>
        </p:nvSpPr>
        <p:spPr>
          <a:xfrm>
            <a:off x="4897655" y="2646944"/>
            <a:ext cx="2821808" cy="2656576"/>
          </a:xfrm>
          <a:prstGeom prst="flowChartConnector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SOF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B48376-EE7A-DC4E-B030-33EF831D1689}"/>
              </a:ext>
            </a:extLst>
          </p:cNvPr>
          <p:cNvSpPr/>
          <p:nvPr/>
        </p:nvSpPr>
        <p:spPr>
          <a:xfrm>
            <a:off x="9076621" y="3052809"/>
            <a:ext cx="2707907" cy="20333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solidFill>
                  <a:schemeClr val="tx1"/>
                </a:solidFill>
              </a:rPr>
              <a:t>대표 강점</a:t>
            </a:r>
          </a:p>
        </p:txBody>
      </p:sp>
      <p:sp>
        <p:nvSpPr>
          <p:cNvPr id="8" name="십자형 7">
            <a:extLst>
              <a:ext uri="{FF2B5EF4-FFF2-40B4-BE49-F238E27FC236}">
                <a16:creationId xmlns:a16="http://schemas.microsoft.com/office/drawing/2014/main" id="{BB3B27E4-BEFE-F929-0BE1-44528335B697}"/>
              </a:ext>
            </a:extLst>
          </p:cNvPr>
          <p:cNvSpPr/>
          <p:nvPr/>
        </p:nvSpPr>
        <p:spPr>
          <a:xfrm>
            <a:off x="3465897" y="3442230"/>
            <a:ext cx="927235" cy="875902"/>
          </a:xfrm>
          <a:prstGeom prst="plus">
            <a:avLst>
              <a:gd name="adj" fmla="val 3500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ADF5E8-2383-AFC6-E84B-5085975521F7}"/>
              </a:ext>
            </a:extLst>
          </p:cNvPr>
          <p:cNvSpPr/>
          <p:nvPr/>
        </p:nvSpPr>
        <p:spPr>
          <a:xfrm>
            <a:off x="8075596" y="3788741"/>
            <a:ext cx="644892" cy="182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1921555-B977-9C36-589C-00B0FA844EA5}"/>
              </a:ext>
            </a:extLst>
          </p:cNvPr>
          <p:cNvSpPr/>
          <p:nvPr/>
        </p:nvSpPr>
        <p:spPr>
          <a:xfrm>
            <a:off x="8075596" y="4069480"/>
            <a:ext cx="644892" cy="182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3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487680" y="1584960"/>
            <a:ext cx="2438400" cy="731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ko-KR" altLang="en-US" sz="2400">
              <a:solidFill>
                <a:sysClr val="windowText" lastClr="00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584960"/>
            <a:ext cx="243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733" b="1" dirty="0">
                <a:solidFill>
                  <a:sysClr val="windowText" lastClr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ＳＯＦ</a:t>
            </a:r>
            <a:endParaRPr lang="en-US" sz="1733" dirty="0">
              <a:solidFill>
                <a:sysClr val="windowText" lastClr="00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048000" y="1584960"/>
            <a:ext cx="8656320" cy="731520"/>
          </a:xfrm>
          <a:prstGeom prst="rect">
            <a:avLst/>
          </a:prstGeom>
          <a:solidFill>
            <a:srgbClr val="EAF2EF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ko-KR" altLang="en-US" sz="2400" b="1"/>
          </a:p>
        </p:txBody>
      </p:sp>
      <p:sp>
        <p:nvSpPr>
          <p:cNvPr id="7" name="Text 5"/>
          <p:cNvSpPr/>
          <p:nvPr/>
        </p:nvSpPr>
        <p:spPr>
          <a:xfrm>
            <a:off x="3169920" y="15849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733" b="1" dirty="0">
                <a:solidFill>
                  <a:srgbClr val="2D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 (Situation of Forgive</a:t>
            </a:r>
            <a:endParaRPr lang="en-US" sz="1733" b="1" dirty="0"/>
          </a:p>
        </p:txBody>
      </p:sp>
      <p:sp>
        <p:nvSpPr>
          <p:cNvPr id="8" name="Shape 6"/>
          <p:cNvSpPr/>
          <p:nvPr/>
        </p:nvSpPr>
        <p:spPr>
          <a:xfrm>
            <a:off x="487680" y="2584704"/>
            <a:ext cx="2438400" cy="731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487680" y="2584704"/>
            <a:ext cx="243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733" b="1" dirty="0">
                <a:solidFill>
                  <a:sysClr val="windowText" lastClr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용서해야 하는 이유</a:t>
            </a:r>
            <a:endParaRPr lang="en-US" sz="1733" dirty="0">
              <a:solidFill>
                <a:sysClr val="windowText" lastClr="00000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48000" y="2584704"/>
            <a:ext cx="8656320" cy="731520"/>
          </a:xfrm>
          <a:prstGeom prst="rect">
            <a:avLst/>
          </a:prstGeom>
          <a:solidFill>
            <a:srgbClr val="FFF5EC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ko-KR" altLang="en-US" sz="2400" b="1" dirty="0"/>
          </a:p>
        </p:txBody>
      </p:sp>
      <p:sp>
        <p:nvSpPr>
          <p:cNvPr id="11" name="Text 9"/>
          <p:cNvSpPr/>
          <p:nvPr/>
        </p:nvSpPr>
        <p:spPr>
          <a:xfrm>
            <a:off x="3169920" y="2584704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733" b="1" dirty="0">
                <a:solidFill>
                  <a:srgbClr val="2D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왜 용서를 해야만 하는가</a:t>
            </a:r>
            <a:endParaRPr lang="en-US" sz="1733" b="1" dirty="0"/>
          </a:p>
        </p:txBody>
      </p:sp>
      <p:sp>
        <p:nvSpPr>
          <p:cNvPr id="12" name="Shape 10"/>
          <p:cNvSpPr/>
          <p:nvPr/>
        </p:nvSpPr>
        <p:spPr>
          <a:xfrm>
            <a:off x="487680" y="3584448"/>
            <a:ext cx="2438400" cy="731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11"/>
          <p:cNvSpPr/>
          <p:nvPr/>
        </p:nvSpPr>
        <p:spPr>
          <a:xfrm>
            <a:off x="487680" y="3584448"/>
            <a:ext cx="243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733" b="1" dirty="0">
                <a:solidFill>
                  <a:sysClr val="windowText" lastClr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용서　방법</a:t>
            </a:r>
            <a:endParaRPr lang="en-US" sz="1733" dirty="0">
              <a:solidFill>
                <a:sysClr val="windowText" lastClr="00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048000" y="3584448"/>
            <a:ext cx="8656320" cy="731520"/>
          </a:xfrm>
          <a:prstGeom prst="rect">
            <a:avLst/>
          </a:prstGeom>
          <a:solidFill>
            <a:srgbClr val="EAF2EF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ko-KR" altLang="en-US" sz="2400" b="1"/>
          </a:p>
        </p:txBody>
      </p:sp>
      <p:sp>
        <p:nvSpPr>
          <p:cNvPr id="15" name="Text 13"/>
          <p:cNvSpPr/>
          <p:nvPr/>
        </p:nvSpPr>
        <p:spPr>
          <a:xfrm>
            <a:off x="3169920" y="358444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733" b="1" dirty="0">
                <a:solidFill>
                  <a:srgbClr val="2D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용서는 어떻게 해야 하는가</a:t>
            </a:r>
            <a:endParaRPr lang="en-US" sz="1733" b="1" dirty="0"/>
          </a:p>
        </p:txBody>
      </p:sp>
      <p:sp>
        <p:nvSpPr>
          <p:cNvPr id="16" name="Shape 14"/>
          <p:cNvSpPr/>
          <p:nvPr/>
        </p:nvSpPr>
        <p:spPr>
          <a:xfrm>
            <a:off x="487680" y="4584192"/>
            <a:ext cx="2438400" cy="731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5"/>
          <p:cNvSpPr/>
          <p:nvPr/>
        </p:nvSpPr>
        <p:spPr>
          <a:xfrm>
            <a:off x="487680" y="4584192"/>
            <a:ext cx="243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733" b="1" dirty="0">
                <a:solidFill>
                  <a:sysClr val="windowText" lastClr="000000"/>
                </a:solidFill>
                <a:latin typeface="Malgun Gothic" pitchFamily="34" charset="0"/>
                <a:ea typeface="Malgun Gothic" pitchFamily="34" charset="-122"/>
              </a:rPr>
              <a:t>마무리　멘트</a:t>
            </a:r>
            <a:endParaRPr lang="en-US" sz="1733" dirty="0">
              <a:solidFill>
                <a:sysClr val="windowText" lastClr="00000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048000" y="4584192"/>
            <a:ext cx="8656320" cy="731520"/>
          </a:xfrm>
          <a:prstGeom prst="rect">
            <a:avLst/>
          </a:prstGeom>
          <a:solidFill>
            <a:srgbClr val="FFF5EC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ko-KR" altLang="en-US" sz="2400" b="1" dirty="0"/>
          </a:p>
        </p:txBody>
      </p:sp>
      <p:sp>
        <p:nvSpPr>
          <p:cNvPr id="19" name="Text 17"/>
          <p:cNvSpPr/>
          <p:nvPr/>
        </p:nvSpPr>
        <p:spPr>
          <a:xfrm>
            <a:off x="3169920" y="458419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733" b="1" dirty="0">
                <a:solidFill>
                  <a:srgbClr val="2D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멘트</a:t>
            </a:r>
            <a:endParaRPr lang="en-US" sz="1733" b="1" dirty="0"/>
          </a:p>
        </p:txBody>
      </p:sp>
      <p:sp>
        <p:nvSpPr>
          <p:cNvPr id="20" name="Shape 18"/>
          <p:cNvSpPr/>
          <p:nvPr/>
        </p:nvSpPr>
        <p:spPr>
          <a:xfrm>
            <a:off x="487680" y="5583936"/>
            <a:ext cx="2438400" cy="731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Text 19"/>
          <p:cNvSpPr/>
          <p:nvPr/>
        </p:nvSpPr>
        <p:spPr>
          <a:xfrm>
            <a:off x="487680" y="5583936"/>
            <a:ext cx="243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733" b="1" dirty="0">
                <a:solidFill>
                  <a:sysClr val="windowText" lastClr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　소감</a:t>
            </a:r>
            <a:endParaRPr lang="en-US" sz="1733" dirty="0">
              <a:solidFill>
                <a:sysClr val="windowText" lastClr="00000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048000" y="5583936"/>
            <a:ext cx="8656320" cy="731520"/>
          </a:xfrm>
          <a:prstGeom prst="rect">
            <a:avLst/>
          </a:prstGeom>
          <a:solidFill>
            <a:srgbClr val="EAF2EF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ko-KR" altLang="en-US" sz="2400" b="1"/>
          </a:p>
        </p:txBody>
      </p:sp>
      <p:sp>
        <p:nvSpPr>
          <p:cNvPr id="23" name="Text 21"/>
          <p:cNvSpPr/>
          <p:nvPr/>
        </p:nvSpPr>
        <p:spPr>
          <a:xfrm>
            <a:off x="3169920" y="5583936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733" b="1" dirty="0">
                <a:solidFill>
                  <a:srgbClr val="2D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소감</a:t>
            </a:r>
            <a:endParaRPr lang="en-US" sz="1733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7ADB1-3370-83FE-39D4-16A74EBC5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B4BCE6F-57B9-E7DD-E733-84A5B9EC4200}"/>
              </a:ext>
            </a:extLst>
          </p:cNvPr>
          <p:cNvCxnSpPr/>
          <p:nvPr/>
        </p:nvCxnSpPr>
        <p:spPr>
          <a:xfrm>
            <a:off x="649224" y="1143000"/>
            <a:ext cx="109819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20158E-C0B7-7CF9-9D5D-F8D543F59ABE}"/>
              </a:ext>
            </a:extLst>
          </p:cNvPr>
          <p:cNvSpPr txBox="1"/>
          <p:nvPr/>
        </p:nvSpPr>
        <p:spPr>
          <a:xfrm>
            <a:off x="713232" y="374903"/>
            <a:ext cx="2679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마무리 멘트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9607F01-7B4A-5425-F849-7071BCE0C9CD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77B0532-F2A5-E9C5-B0DE-BB69B35AC5B7}"/>
              </a:ext>
            </a:extLst>
          </p:cNvPr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3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SOF</a:t>
            </a:r>
            <a:endParaRPr lang="en-US" sz="3467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B571683-5238-09B2-B170-75B8E1A66A8C}"/>
              </a:ext>
            </a:extLst>
          </p:cNvPr>
          <p:cNvSpPr/>
          <p:nvPr/>
        </p:nvSpPr>
        <p:spPr>
          <a:xfrm>
            <a:off x="179672" y="1633086"/>
            <a:ext cx="11832656" cy="5005458"/>
          </a:xfrm>
          <a:prstGeom prst="rect">
            <a:avLst/>
          </a:prstGeom>
          <a:solidFill>
            <a:srgbClr val="EAF2EF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DBCC7-C2C7-DDA9-477C-44FF27FC311E}"/>
              </a:ext>
            </a:extLst>
          </p:cNvPr>
          <p:cNvSpPr txBox="1"/>
          <p:nvPr/>
        </p:nvSpPr>
        <p:spPr>
          <a:xfrm>
            <a:off x="1345371" y="5870664"/>
            <a:ext cx="3392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특정 상황을 가정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055050-B37B-3196-844C-95522D82D5A1}"/>
              </a:ext>
            </a:extLst>
          </p:cNvPr>
          <p:cNvSpPr txBox="1"/>
          <p:nvPr/>
        </p:nvSpPr>
        <p:spPr>
          <a:xfrm>
            <a:off x="8070920" y="5870663"/>
            <a:ext cx="3392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용서하기</a:t>
            </a:r>
          </a:p>
        </p:txBody>
      </p:sp>
      <p:pic>
        <p:nvPicPr>
          <p:cNvPr id="10" name="Picture 4" descr="彼女に怒る彼氏のイラスト">
            <a:extLst>
              <a:ext uri="{FF2B5EF4-FFF2-40B4-BE49-F238E27FC236}">
                <a16:creationId xmlns:a16="http://schemas.microsoft.com/office/drawing/2014/main" id="{22349C5D-8852-9F34-65CB-406D91274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878" y="1901240"/>
            <a:ext cx="3786320" cy="378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許している人のイラスト">
            <a:extLst>
              <a:ext uri="{FF2B5EF4-FFF2-40B4-BE49-F238E27FC236}">
                <a16:creationId xmlns:a16="http://schemas.microsoft.com/office/drawing/2014/main" id="{6988E5C5-00F0-7C45-D4D7-A41B4A3C3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221" y="1978283"/>
            <a:ext cx="3941408" cy="394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2B364C3D-E101-EAB6-2F04-494AF1C70E05}"/>
              </a:ext>
            </a:extLst>
          </p:cNvPr>
          <p:cNvSpPr/>
          <p:nvPr/>
        </p:nvSpPr>
        <p:spPr>
          <a:xfrm>
            <a:off x="5333616" y="3948987"/>
            <a:ext cx="1079497" cy="595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42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A8485-7CE0-FD20-3BA9-C46E6DCBC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74D059C-02F1-BEE0-8011-69185AA8CCFD}"/>
              </a:ext>
            </a:extLst>
          </p:cNvPr>
          <p:cNvCxnSpPr/>
          <p:nvPr/>
        </p:nvCxnSpPr>
        <p:spPr>
          <a:xfrm>
            <a:off x="649224" y="1143000"/>
            <a:ext cx="109819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4E95140-02D7-6BCB-1650-2C2944BBB5E1}"/>
              </a:ext>
            </a:extLst>
          </p:cNvPr>
          <p:cNvSpPr txBox="1"/>
          <p:nvPr/>
        </p:nvSpPr>
        <p:spPr>
          <a:xfrm>
            <a:off x="713232" y="374903"/>
            <a:ext cx="2679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마무리 멘트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6287624-B030-A189-CB19-21610B45C3E8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F9EED2F-3157-AD07-70A7-9E14F5B2F718}"/>
              </a:ext>
            </a:extLst>
          </p:cNvPr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3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SOF</a:t>
            </a:r>
            <a:endParaRPr lang="en-US" sz="3467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25CAF59-B5F0-9FB8-C0E4-21F453001750}"/>
              </a:ext>
            </a:extLst>
          </p:cNvPr>
          <p:cNvSpPr/>
          <p:nvPr/>
        </p:nvSpPr>
        <p:spPr>
          <a:xfrm>
            <a:off x="179672" y="1633086"/>
            <a:ext cx="11832656" cy="5005458"/>
          </a:xfrm>
          <a:prstGeom prst="rect">
            <a:avLst/>
          </a:prstGeom>
          <a:solidFill>
            <a:srgbClr val="EAF2EF"/>
          </a:solidFill>
          <a:ln/>
        </p:spPr>
        <p:txBody>
          <a:bodyPr/>
          <a:lstStyle/>
          <a:p>
            <a:endParaRPr lang="ko-KR" altLang="en-US" sz="2400"/>
          </a:p>
        </p:txBody>
      </p:sp>
      <p:pic>
        <p:nvPicPr>
          <p:cNvPr id="1026" name="Picture 2" descr="怒る女性のイラスト（5段階） | かわいいフリー素材集 いらすとや">
            <a:extLst>
              <a:ext uri="{FF2B5EF4-FFF2-40B4-BE49-F238E27FC236}">
                <a16:creationId xmlns:a16="http://schemas.microsoft.com/office/drawing/2014/main" id="{C010AF8B-2810-D0B5-8980-76C30E612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32" y="3284871"/>
            <a:ext cx="1952510" cy="264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71A533E5-C5E2-026D-4630-FC452E83F092}"/>
              </a:ext>
            </a:extLst>
          </p:cNvPr>
          <p:cNvSpPr/>
          <p:nvPr/>
        </p:nvSpPr>
        <p:spPr>
          <a:xfrm>
            <a:off x="2816352" y="1871472"/>
            <a:ext cx="4315968" cy="2441448"/>
          </a:xfrm>
          <a:prstGeom prst="wedgeRoundRectCallout">
            <a:avLst>
              <a:gd name="adj1" fmla="val -44923"/>
              <a:gd name="adj2" fmla="val 6378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ysClr val="windowText" lastClr="000000"/>
                </a:solidFill>
              </a:rPr>
              <a:t>어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2000" dirty="0">
                <a:solidFill>
                  <a:sysClr val="windowText" lastClr="000000"/>
                </a:solidFill>
              </a:rPr>
              <a:t>자기야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. </a:t>
            </a:r>
            <a:r>
              <a:rPr lang="ko-KR" altLang="en-US" sz="2000" dirty="0">
                <a:solidFill>
                  <a:sysClr val="windowText" lastClr="000000"/>
                </a:solidFill>
              </a:rPr>
              <a:t>이제 연락되네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? 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 err="1">
                <a:solidFill>
                  <a:sysClr val="windowText" lastClr="000000"/>
                </a:solidFill>
              </a:rPr>
              <a:t>친구들이랑</a:t>
            </a:r>
            <a:r>
              <a:rPr lang="ko-KR" altLang="en-US" sz="2000" dirty="0">
                <a:solidFill>
                  <a:sysClr val="windowText" lastClr="000000"/>
                </a:solidFill>
              </a:rPr>
              <a:t> 재밌게 논다더니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... 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 err="1">
                <a:solidFill>
                  <a:sysClr val="windowText" lastClr="000000"/>
                </a:solidFill>
              </a:rPr>
              <a:t>과팅</a:t>
            </a:r>
            <a:r>
              <a:rPr lang="ko-KR" altLang="en-US" sz="2000" dirty="0">
                <a:solidFill>
                  <a:sysClr val="windowText" lastClr="000000"/>
                </a:solidFill>
              </a:rPr>
              <a:t> 나갔다는 얘기가 </a:t>
            </a:r>
            <a:endParaRPr lang="en-US" altLang="ko-KR" sz="20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ysClr val="windowText" lastClr="000000"/>
                </a:solidFill>
              </a:rPr>
              <a:t>내 귀에까지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2000" dirty="0">
                <a:solidFill>
                  <a:sysClr val="windowText" lastClr="000000"/>
                </a:solidFill>
              </a:rPr>
              <a:t>들리게 해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?</a:t>
            </a:r>
            <a:endParaRPr lang="ko-KR" altLang="en-US" sz="2000" dirty="0">
              <a:solidFill>
                <a:sysClr val="windowText" lastClr="000000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D434BE8-ECDE-F41E-A0A5-363FA6FF891B}"/>
              </a:ext>
            </a:extLst>
          </p:cNvPr>
          <p:cNvGrpSpPr/>
          <p:nvPr/>
        </p:nvGrpSpPr>
        <p:grpSpPr>
          <a:xfrm>
            <a:off x="4139184" y="1871472"/>
            <a:ext cx="7829730" cy="4399138"/>
            <a:chOff x="4139184" y="1871472"/>
            <a:chExt cx="7829730" cy="4399138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36B7BC14-90B2-9DEF-B8EC-58A02F39E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99480" l="9961" r="98828">
                          <a14:foregroundMark x1="39063" y1="9185" x2="41406" y2="0"/>
                          <a14:foregroundMark x1="43164" y1="68458" x2="42330" y2="68930"/>
                          <a14:foregroundMark x1="16979" y1="98752" x2="16797" y2="99653"/>
                          <a14:foregroundMark x1="89258" y1="76430" x2="96973" y2="93934"/>
                          <a14:foregroundMark x1="96973" y1="93934" x2="98828" y2="95147"/>
                          <a14:foregroundMark x1="23460" y1="84617" x2="23903" y2="83538"/>
                          <a14:foregroundMark x1="43214" y1="72916" x2="44531" y2="72444"/>
                          <a14:foregroundMark x1="26334" y1="82495" x2="22768" y2="89224"/>
                          <a14:foregroundMark x1="43750" y1="69671" x2="25391" y2="77990"/>
                          <a14:foregroundMark x1="25391" y1="77990" x2="17578" y2="99307"/>
                          <a14:backgroundMark x1="17090" y1="99133" x2="17164" y2="98884"/>
                          <a14:backgroundMark x1="20898" y1="81109" x2="20281" y2="83833"/>
                          <a14:backgroundMark x1="22110" y1="78844" x2="20605" y2="81802"/>
                          <a14:backgroundMark x1="24092" y1="74946" x2="23518" y2="7607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282930" y="3630168"/>
              <a:ext cx="4685984" cy="2640442"/>
            </a:xfrm>
            <a:prstGeom prst="rect">
              <a:avLst/>
            </a:prstGeom>
          </p:spPr>
        </p:pic>
        <p:sp>
          <p:nvSpPr>
            <p:cNvPr id="17" name="말풍선: 모서리가 둥근 사각형 16">
              <a:extLst>
                <a:ext uri="{FF2B5EF4-FFF2-40B4-BE49-F238E27FC236}">
                  <a16:creationId xmlns:a16="http://schemas.microsoft.com/office/drawing/2014/main" id="{F2385072-DEB3-E9E8-EFDD-673BC2D3ACE6}"/>
                </a:ext>
              </a:extLst>
            </p:cNvPr>
            <p:cNvSpPr/>
            <p:nvPr/>
          </p:nvSpPr>
          <p:spPr>
            <a:xfrm>
              <a:off x="4139184" y="1871472"/>
              <a:ext cx="4315968" cy="2441448"/>
            </a:xfrm>
            <a:prstGeom prst="wedgeRoundRectCallout">
              <a:avLst>
                <a:gd name="adj1" fmla="val 48085"/>
                <a:gd name="adj2" fmla="val 69025"/>
                <a:gd name="adj3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2000" dirty="0">
                  <a:solidFill>
                    <a:schemeClr val="tx1"/>
                  </a:solidFill>
                </a:rPr>
                <a:t>미안해</a:t>
              </a:r>
              <a:r>
                <a:rPr lang="en-US" altLang="ko-KR" sz="2000" dirty="0">
                  <a:solidFill>
                    <a:schemeClr val="tx1"/>
                  </a:solidFill>
                </a:rPr>
                <a:t>...</a:t>
              </a:r>
              <a:r>
                <a:rPr lang="ko-KR" altLang="en-US" sz="2000" dirty="0">
                  <a:solidFill>
                    <a:schemeClr val="tx1"/>
                  </a:solidFill>
                </a:rPr>
                <a:t>내 </a:t>
              </a:r>
              <a:r>
                <a:rPr lang="en-US" altLang="ko-KR" sz="2000" dirty="0">
                  <a:solidFill>
                    <a:schemeClr val="tx1"/>
                  </a:solidFill>
                </a:rPr>
                <a:t>23</a:t>
              </a:r>
              <a:r>
                <a:rPr lang="ko-KR" altLang="en-US" sz="2000" dirty="0">
                  <a:solidFill>
                    <a:schemeClr val="tx1"/>
                  </a:solidFill>
                </a:rPr>
                <a:t>년 </a:t>
              </a:r>
              <a:r>
                <a:rPr lang="ko-KR" altLang="en-US" sz="2000" dirty="0" err="1">
                  <a:solidFill>
                    <a:schemeClr val="tx1"/>
                  </a:solidFill>
                </a:rPr>
                <a:t>모솔</a:t>
              </a:r>
              <a:r>
                <a:rPr lang="ko-KR" altLang="en-US" sz="2000" dirty="0">
                  <a:solidFill>
                    <a:schemeClr val="tx1"/>
                  </a:solidFill>
                </a:rPr>
                <a:t> 친구들이 </a:t>
              </a:r>
              <a:endParaRPr lang="en-US" altLang="ko-KR" sz="2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000" dirty="0">
                  <a:solidFill>
                    <a:schemeClr val="tx1"/>
                  </a:solidFill>
                </a:rPr>
                <a:t>자리만 채워달라고 해서 </a:t>
              </a:r>
              <a:endParaRPr lang="en-US" altLang="ko-KR" sz="2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000" dirty="0">
                  <a:solidFill>
                    <a:schemeClr val="tx1"/>
                  </a:solidFill>
                </a:rPr>
                <a:t>어쩔 수 없었어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129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BDEBB-5E1E-4034-5510-B30F2035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8C4103-2895-5187-BCC0-EC8FDB846177}"/>
              </a:ext>
            </a:extLst>
          </p:cNvPr>
          <p:cNvCxnSpPr/>
          <p:nvPr/>
        </p:nvCxnSpPr>
        <p:spPr>
          <a:xfrm>
            <a:off x="649224" y="1143000"/>
            <a:ext cx="109819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E164E1A-D183-BCB3-2FDB-A73FD56D7EAB}"/>
              </a:ext>
            </a:extLst>
          </p:cNvPr>
          <p:cNvSpPr txBox="1"/>
          <p:nvPr/>
        </p:nvSpPr>
        <p:spPr>
          <a:xfrm>
            <a:off x="713232" y="374903"/>
            <a:ext cx="2679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마무리 멘트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FA4C557-2350-E4B6-117C-5BFA61954331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6E38469-FD03-D9C0-5BE8-AECD2A04FE2C}"/>
              </a:ext>
            </a:extLst>
          </p:cNvPr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3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SOF</a:t>
            </a:r>
            <a:endParaRPr lang="en-US" sz="3467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D3A81DE-C76C-4752-1769-D15AB2192200}"/>
              </a:ext>
            </a:extLst>
          </p:cNvPr>
          <p:cNvSpPr/>
          <p:nvPr/>
        </p:nvSpPr>
        <p:spPr>
          <a:xfrm>
            <a:off x="223868" y="1633086"/>
            <a:ext cx="11832656" cy="5005458"/>
          </a:xfrm>
          <a:prstGeom prst="rect">
            <a:avLst/>
          </a:prstGeom>
          <a:solidFill>
            <a:srgbClr val="EAF2EF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9196CD55-65E9-42E9-BEAF-4B62918484F0}"/>
              </a:ext>
            </a:extLst>
          </p:cNvPr>
          <p:cNvSpPr/>
          <p:nvPr/>
        </p:nvSpPr>
        <p:spPr>
          <a:xfrm>
            <a:off x="3493008" y="1916310"/>
            <a:ext cx="4315968" cy="2441448"/>
          </a:xfrm>
          <a:prstGeom prst="wedgeRoundRectCallout">
            <a:avLst>
              <a:gd name="adj1" fmla="val -44923"/>
              <a:gd name="adj2" fmla="val 6378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chemeClr val="tx1"/>
                </a:solidFill>
              </a:rPr>
              <a:t>친구들 기 살려주고 싶었던 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chemeClr val="tx1"/>
                </a:solidFill>
              </a:rPr>
              <a:t>그 마음이 어떤 건지는 이해가 가</a:t>
            </a:r>
            <a:r>
              <a:rPr lang="en-US" altLang="ko-KR" sz="2000" dirty="0">
                <a:solidFill>
                  <a:schemeClr val="tx1"/>
                </a:solidFill>
              </a:rPr>
              <a:t>. </a:t>
            </a:r>
            <a:r>
              <a:rPr lang="ko-KR" altLang="en-US" sz="2000" dirty="0">
                <a:solidFill>
                  <a:schemeClr val="tx1"/>
                </a:solidFill>
              </a:rPr>
              <a:t>자기가 그렇게 미안해하고</a:t>
            </a:r>
            <a:r>
              <a:rPr lang="en-US" altLang="ko-KR" sz="2000" dirty="0">
                <a:solidFill>
                  <a:schemeClr val="tx1"/>
                </a:solidFill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chemeClr val="tx1"/>
                </a:solidFill>
              </a:rPr>
              <a:t>왜 그랬는지 솔직하게 말해주니까 자기를 </a:t>
            </a:r>
            <a:r>
              <a:rPr lang="ko-KR" altLang="en-US" sz="2000" dirty="0" err="1">
                <a:solidFill>
                  <a:schemeClr val="tx1"/>
                </a:solidFill>
              </a:rPr>
              <a:t>용서할게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7073098-4682-2322-0FDA-1119C2888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0" b="97574" l="9961" r="99219">
                        <a14:foregroundMark x1="38184" y1="11092" x2="40723" y2="693"/>
                        <a14:foregroundMark x1="43750" y1="68631" x2="25098" y2="77816"/>
                        <a14:foregroundMark x1="25098" y1="77816" x2="18359" y2="97574"/>
                        <a14:foregroundMark x1="80762" y1="71750" x2="86426" y2="75043"/>
                        <a14:foregroundMark x1="86426" y1="75043" x2="99219" y2="97054"/>
                        <a14:foregroundMark x1="65723" y1="87695" x2="60352" y2="92374"/>
                        <a14:foregroundMark x1="60352" y1="92374" x2="47266" y2="92721"/>
                        <a14:foregroundMark x1="47266" y1="92721" x2="45996" y2="920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3175" y="3429000"/>
            <a:ext cx="5363634" cy="3022282"/>
          </a:xfrm>
          <a:prstGeom prst="rect">
            <a:avLst/>
          </a:prstGeom>
        </p:spPr>
      </p:pic>
      <p:pic>
        <p:nvPicPr>
          <p:cNvPr id="1028" name="Picture 4" descr="笑う女性のイラスト（5段階） | かわいいフリー素材集 いらすとや">
            <a:extLst>
              <a:ext uri="{FF2B5EF4-FFF2-40B4-BE49-F238E27FC236}">
                <a16:creationId xmlns:a16="http://schemas.microsoft.com/office/drawing/2014/main" id="{C00CE250-2CFB-8D8C-E110-31CB08242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030" y="3364992"/>
            <a:ext cx="2121789" cy="286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833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0C172A3-DF15-7FFD-31E4-A9509EB0A164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06D4E0C-DFE4-435F-2032-4F93FF898845}"/>
              </a:ext>
            </a:extLst>
          </p:cNvPr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3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용서해야 하는 이유</a:t>
            </a:r>
            <a:endParaRPr lang="en-US" sz="3467" dirty="0"/>
          </a:p>
        </p:txBody>
      </p:sp>
      <p:pic>
        <p:nvPicPr>
          <p:cNvPr id="2052" name="Picture 4" descr="人脈・コネのイラスト">
            <a:extLst>
              <a:ext uri="{FF2B5EF4-FFF2-40B4-BE49-F238E27FC236}">
                <a16:creationId xmlns:a16="http://schemas.microsoft.com/office/drawing/2014/main" id="{9B88335B-B4AA-4361-F145-153D12CE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62683"/>
            <a:ext cx="4550496" cy="455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AC48185C-DCC6-C359-4D14-70FE5E3CC4A0}"/>
              </a:ext>
            </a:extLst>
          </p:cNvPr>
          <p:cNvSpPr/>
          <p:nvPr/>
        </p:nvSpPr>
        <p:spPr>
          <a:xfrm>
            <a:off x="5848951" y="2014173"/>
            <a:ext cx="5885436" cy="4049818"/>
          </a:xfrm>
          <a:prstGeom prst="rect">
            <a:avLst/>
          </a:prstGeom>
          <a:solidFill>
            <a:srgbClr val="EAF2EF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C40B0-C80B-FCBB-83F8-E03CB491B890}"/>
              </a:ext>
            </a:extLst>
          </p:cNvPr>
          <p:cNvSpPr txBox="1"/>
          <p:nvPr/>
        </p:nvSpPr>
        <p:spPr>
          <a:xfrm>
            <a:off x="6003551" y="2284952"/>
            <a:ext cx="5576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남을 위한 것이 아닌 나를 위함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1ACAEB-CE32-28E9-0D1D-7732A3A307E7}"/>
              </a:ext>
            </a:extLst>
          </p:cNvPr>
          <p:cNvSpPr txBox="1"/>
          <p:nvPr/>
        </p:nvSpPr>
        <p:spPr>
          <a:xfrm>
            <a:off x="5941883" y="3548995"/>
            <a:ext cx="60960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/>
              <a:t>남에게 베푼 관대함은 자신에게 돌아옴</a:t>
            </a:r>
            <a:endParaRPr lang="en-US" altLang="ko-K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/>
              <a:t>인간관계가 원만해짐</a:t>
            </a:r>
            <a:endParaRPr lang="en-US" altLang="ko-K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/>
              <a:t>내 평가가 올라감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714E6F6-02A7-67F0-748C-6C39ED445FE1}"/>
              </a:ext>
            </a:extLst>
          </p:cNvPr>
          <p:cNvCxnSpPr/>
          <p:nvPr/>
        </p:nvCxnSpPr>
        <p:spPr>
          <a:xfrm>
            <a:off x="6006164" y="2906830"/>
            <a:ext cx="55762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377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F90AC-0340-664B-8FF8-6B8D0725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너는 누구니: 빨간 옷 입은 외국 남자애가 아하! 하는 사진 : 네이버 블로그">
            <a:extLst>
              <a:ext uri="{FF2B5EF4-FFF2-40B4-BE49-F238E27FC236}">
                <a16:creationId xmlns:a16="http://schemas.microsoft.com/office/drawing/2014/main" id="{F90663DB-A2C9-1EC4-C3DB-9DEF858AE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38" b="98502" l="0" r="92593">
                        <a14:foregroundMark x1="8995" y1="58052" x2="0" y2="69288"/>
                        <a14:foregroundMark x1="1058" y1="93633" x2="4233" y2="98876"/>
                        <a14:foregroundMark x1="84656" y1="89139" x2="93122" y2="74906"/>
                        <a14:foregroundMark x1="93122" y1="74906" x2="92593" y2="62172"/>
                        <a14:foregroundMark x1="92593" y1="62172" x2="87831" y2="632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89" y="3483517"/>
            <a:ext cx="2345500" cy="331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1CC14AFC-FEE2-7B26-EB08-DF061764BA47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FD57701-5AC8-8DD5-008B-6D69021B9F9B}"/>
              </a:ext>
            </a:extLst>
          </p:cNvPr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3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용서하는 방법</a:t>
            </a:r>
            <a:endParaRPr lang="en-US" sz="3467" dirty="0"/>
          </a:p>
        </p:txBody>
      </p:sp>
      <p:pic>
        <p:nvPicPr>
          <p:cNvPr id="13314" name="Picture 2" descr="怒る男性のイラスト（5段階）">
            <a:extLst>
              <a:ext uri="{FF2B5EF4-FFF2-40B4-BE49-F238E27FC236}">
                <a16:creationId xmlns:a16="http://schemas.microsoft.com/office/drawing/2014/main" id="{310A012D-EB39-7253-4843-3D88C71B30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49" t="49990" r="12847" b="4072"/>
          <a:stretch>
            <a:fillRect/>
          </a:stretch>
        </p:blipFill>
        <p:spPr bwMode="auto">
          <a:xfrm>
            <a:off x="728008" y="1708176"/>
            <a:ext cx="2554708" cy="294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 descr="너는 누구니: 빨간 옷 입은 외국 남자애가 아하! 하는 사진 : 네이버 블로그">
            <a:extLst>
              <a:ext uri="{FF2B5EF4-FFF2-40B4-BE49-F238E27FC236}">
                <a16:creationId xmlns:a16="http://schemas.microsoft.com/office/drawing/2014/main" id="{CD57F5C2-7CB1-69D5-7752-1EF4B6AA9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983" b="97479" l="6604" r="99057">
                        <a14:foregroundMark x1="8962" y1="46218" x2="7075" y2="59664"/>
                        <a14:foregroundMark x1="7075" y1="59664" x2="9434" y2="60924"/>
                        <a14:foregroundMark x1="31604" y1="88235" x2="32547" y2="98319"/>
                        <a14:foregroundMark x1="80660" y1="59244" x2="99057" y2="65966"/>
                        <a14:foregroundMark x1="61321" y1="9664" x2="80189" y2="7983"/>
                        <a14:foregroundMark x1="80189" y1="7983" x2="75943" y2="121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599" y="4184827"/>
            <a:ext cx="2307840" cy="2590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急いで謝る人のイラスト（男性）">
            <a:extLst>
              <a:ext uri="{FF2B5EF4-FFF2-40B4-BE49-F238E27FC236}">
                <a16:creationId xmlns:a16="http://schemas.microsoft.com/office/drawing/2014/main" id="{334EDC7E-E7C0-FF6B-D4AC-B6078003F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722" y="2690902"/>
            <a:ext cx="2449357" cy="2449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許している人のイラスト">
            <a:extLst>
              <a:ext uri="{FF2B5EF4-FFF2-40B4-BE49-F238E27FC236}">
                <a16:creationId xmlns:a16="http://schemas.microsoft.com/office/drawing/2014/main" id="{78794D65-AE35-EA55-83F2-6854EB9B2D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89" b="4039"/>
          <a:stretch>
            <a:fillRect/>
          </a:stretch>
        </p:blipFill>
        <p:spPr bwMode="auto">
          <a:xfrm flipH="1">
            <a:off x="6351890" y="1133856"/>
            <a:ext cx="1784644" cy="378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CD2B841-01BF-9EA0-338A-950282273302}"/>
              </a:ext>
            </a:extLst>
          </p:cNvPr>
          <p:cNvCxnSpPr/>
          <p:nvPr/>
        </p:nvCxnSpPr>
        <p:spPr>
          <a:xfrm>
            <a:off x="5925312" y="1508760"/>
            <a:ext cx="0" cy="52669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414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27AF0FFC-6FD2-CCA3-3B22-35DA38F786F4}"/>
              </a:ext>
            </a:extLst>
          </p:cNvPr>
          <p:cNvSpPr/>
          <p:nvPr/>
        </p:nvSpPr>
        <p:spPr>
          <a:xfrm>
            <a:off x="4126028" y="1762706"/>
            <a:ext cx="7645717" cy="4700979"/>
          </a:xfrm>
          <a:prstGeom prst="rect">
            <a:avLst/>
          </a:prstGeom>
          <a:solidFill>
            <a:srgbClr val="EAF2EF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4C706DBD-FF53-006A-3FE6-B91EB63417E0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E750524-6E63-E923-850B-195BEDE9474A}"/>
              </a:ext>
            </a:extLst>
          </p:cNvPr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3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용서하는 방법</a:t>
            </a:r>
            <a:endParaRPr lang="en-US" sz="346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3839D1-00BB-FA05-3884-0DC6733414E3}"/>
              </a:ext>
            </a:extLst>
          </p:cNvPr>
          <p:cNvSpPr txBox="1"/>
          <p:nvPr/>
        </p:nvSpPr>
        <p:spPr>
          <a:xfrm>
            <a:off x="4367069" y="1762706"/>
            <a:ext cx="7645718" cy="421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AutoNum type="arabicPeriod"/>
            </a:pPr>
            <a:r>
              <a:rPr lang="ko-KR" altLang="en-US" sz="2800" dirty="0"/>
              <a:t>침착하게 대응할 것</a:t>
            </a:r>
            <a:endParaRPr lang="en-US" altLang="ko-KR" sz="2800" dirty="0"/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ko-KR" altLang="en-US" sz="2800" dirty="0"/>
              <a:t>상대방이 왜 잘못을 저질렀는지 이해할 것</a:t>
            </a:r>
            <a:endParaRPr lang="en-US" altLang="ko-KR" sz="2800" dirty="0"/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ko-KR" altLang="en-US" sz="2800" dirty="0"/>
              <a:t>내가 받은 상처를 마주할 것</a:t>
            </a:r>
            <a:endParaRPr lang="en-US" altLang="ko-KR" sz="2800" dirty="0"/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ko-KR" altLang="en-US" sz="2800" dirty="0"/>
              <a:t>이 일에 대해서 잊을 것</a:t>
            </a:r>
            <a:endParaRPr lang="en-US" altLang="ko-KR" sz="2800" dirty="0"/>
          </a:p>
        </p:txBody>
      </p:sp>
      <p:pic>
        <p:nvPicPr>
          <p:cNvPr id="10" name="Picture 2" descr="너는 누구니: 빨간 옷 입은 외국 남자애가 아하! 하는 사진 : 네이버 블로그">
            <a:extLst>
              <a:ext uri="{FF2B5EF4-FFF2-40B4-BE49-F238E27FC236}">
                <a16:creationId xmlns:a16="http://schemas.microsoft.com/office/drawing/2014/main" id="{E63B0DAC-927A-4237-38E4-BA339B18E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89" b="99237" l="1563" r="99479">
                        <a14:foregroundMark x1="32292" y1="9542" x2="56771" y2="4198"/>
                        <a14:foregroundMark x1="56771" y1="4198" x2="75521" y2="9542"/>
                        <a14:foregroundMark x1="75521" y1="9542" x2="76042" y2="11450"/>
                        <a14:foregroundMark x1="36979" y1="6489" x2="55729" y2="763"/>
                        <a14:foregroundMark x1="55729" y1="763" x2="68750" y2="6489"/>
                        <a14:foregroundMark x1="68750" y1="6489" x2="69271" y2="6870"/>
                        <a14:foregroundMark x1="26042" y1="40840" x2="521" y2="83206"/>
                        <a14:foregroundMark x1="521" y1="83206" x2="2083" y2="95420"/>
                        <a14:foregroundMark x1="2083" y1="95420" x2="5208" y2="99237"/>
                        <a14:foregroundMark x1="40625" y1="51145" x2="32813" y2="53817"/>
                        <a14:foregroundMark x1="68229" y1="51908" x2="85417" y2="56107"/>
                        <a14:foregroundMark x1="85417" y1="56107" x2="99479" y2="65267"/>
                        <a14:foregroundMark x1="46875" y1="43511" x2="55729" y2="442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54157"/>
            <a:ext cx="3018314" cy="411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427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6AF62-E21C-BE96-4B18-5068A3AC9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24503DF-9404-BEDB-CB68-44E6DD35EB15}"/>
              </a:ext>
            </a:extLst>
          </p:cNvPr>
          <p:cNvSpPr/>
          <p:nvPr/>
        </p:nvSpPr>
        <p:spPr>
          <a:xfrm>
            <a:off x="4562856" y="3310128"/>
            <a:ext cx="7019544" cy="13411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07ED13-3081-D195-DDA7-5EF917F4C987}"/>
              </a:ext>
            </a:extLst>
          </p:cNvPr>
          <p:cNvCxnSpPr/>
          <p:nvPr/>
        </p:nvCxnSpPr>
        <p:spPr>
          <a:xfrm>
            <a:off x="649224" y="1143000"/>
            <a:ext cx="109819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5D73DE8-DF1A-4D26-BFF5-185346A7E78A}"/>
              </a:ext>
            </a:extLst>
          </p:cNvPr>
          <p:cNvSpPr txBox="1"/>
          <p:nvPr/>
        </p:nvSpPr>
        <p:spPr>
          <a:xfrm>
            <a:off x="713232" y="374903"/>
            <a:ext cx="2679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마무리 멘트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8D35909-E97C-099D-2736-3ACE62D216BD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6D3BEF7-DAF2-BF8D-9F49-05037D8A7DE1}"/>
              </a:ext>
            </a:extLst>
          </p:cNvPr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3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마무리 멘트</a:t>
            </a:r>
            <a:endParaRPr lang="en-US" sz="3467" dirty="0"/>
          </a:p>
        </p:txBody>
      </p:sp>
      <p:pic>
        <p:nvPicPr>
          <p:cNvPr id="1026" name="Picture 2" descr="自助グループのイラスト（笑顔）">
            <a:extLst>
              <a:ext uri="{FF2B5EF4-FFF2-40B4-BE49-F238E27FC236}">
                <a16:creationId xmlns:a16="http://schemas.microsoft.com/office/drawing/2014/main" id="{6571F1F4-6245-663C-4259-D22AE788C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44" y="2276856"/>
            <a:ext cx="3739896" cy="373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55E158-EEE6-EA99-2B2D-CB4F7A7A901F}"/>
              </a:ext>
            </a:extLst>
          </p:cNvPr>
          <p:cNvSpPr txBox="1"/>
          <p:nvPr/>
        </p:nvSpPr>
        <p:spPr>
          <a:xfrm>
            <a:off x="4636008" y="3429000"/>
            <a:ext cx="7799832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b="1" dirty="0"/>
              <a:t>“</a:t>
            </a:r>
            <a:r>
              <a:rPr lang="ko-KR" altLang="en-US" sz="2800" b="1" dirty="0"/>
              <a:t>용서는 문제를 해결하는 가장 쉬운 방법</a:t>
            </a:r>
            <a:r>
              <a:rPr lang="en-US" altLang="ko-KR" sz="2800"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2408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68764-E25A-40F6-EF69-C50A47A9F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E616562-DAB5-E0B3-49D4-6F0F879F3EDB}"/>
              </a:ext>
            </a:extLst>
          </p:cNvPr>
          <p:cNvCxnSpPr/>
          <p:nvPr/>
        </p:nvCxnSpPr>
        <p:spPr>
          <a:xfrm>
            <a:off x="649224" y="1143000"/>
            <a:ext cx="109819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D306C15-3E03-9402-628F-3F5BD6D76DE0}"/>
              </a:ext>
            </a:extLst>
          </p:cNvPr>
          <p:cNvSpPr txBox="1"/>
          <p:nvPr/>
        </p:nvSpPr>
        <p:spPr>
          <a:xfrm>
            <a:off x="713232" y="374903"/>
            <a:ext cx="2679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마무리 멘트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B253611-FD0D-D161-9DC9-67C1F73CD915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F1D23F5-C559-2CDE-468D-3277B995A1E3}"/>
              </a:ext>
            </a:extLst>
          </p:cNvPr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3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활동 소감</a:t>
            </a:r>
            <a:endParaRPr lang="en-US" sz="3467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19AEE8-D7DB-3CEA-9DD8-2EF426BA5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992" y="1560576"/>
            <a:ext cx="9010015" cy="505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47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04095-0AC7-AF11-5F7A-2DDE10752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1FEA6BD-7C56-269C-E803-CCE297D1FBBE}"/>
              </a:ext>
            </a:extLst>
          </p:cNvPr>
          <p:cNvCxnSpPr/>
          <p:nvPr/>
        </p:nvCxnSpPr>
        <p:spPr>
          <a:xfrm>
            <a:off x="649224" y="1143000"/>
            <a:ext cx="109819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4722C23-94A7-ADB9-1DDD-0E20F8291069}"/>
              </a:ext>
            </a:extLst>
          </p:cNvPr>
          <p:cNvSpPr txBox="1"/>
          <p:nvPr/>
        </p:nvSpPr>
        <p:spPr>
          <a:xfrm>
            <a:off x="713232" y="374903"/>
            <a:ext cx="2679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마무리 멘트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186DA2E-0F29-4C62-7D73-A1FBFAA73140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5D905E5-1231-D1CE-D17D-6DA5CB11CC1E}"/>
              </a:ext>
            </a:extLst>
          </p:cNvPr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3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질의 응답</a:t>
            </a:r>
            <a:endParaRPr lang="en-US" sz="3467" dirty="0"/>
          </a:p>
        </p:txBody>
      </p:sp>
      <p:pic>
        <p:nvPicPr>
          <p:cNvPr id="2050" name="Picture 2" descr="頭にクエスチョンマークを浮かべた人のイラスト（男性） | かわいい ...">
            <a:extLst>
              <a:ext uri="{FF2B5EF4-FFF2-40B4-BE49-F238E27FC236}">
                <a16:creationId xmlns:a16="http://schemas.microsoft.com/office/drawing/2014/main" id="{488107BB-EC7C-E054-D3C8-195F13738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213" b="94779" l="9901" r="89604">
                        <a14:foregroundMark x1="38614" y1="80321" x2="63861" y2="85944"/>
                        <a14:foregroundMark x1="63861" y1="85944" x2="59901" y2="78715"/>
                        <a14:foregroundMark x1="46535" y1="27711" x2="47030" y2="3614"/>
                        <a14:foregroundMark x1="47030" y1="3614" x2="56436" y2="25703"/>
                        <a14:foregroundMark x1="56436" y1="25703" x2="48020" y2="29719"/>
                        <a14:foregroundMark x1="38119" y1="76305" x2="62376" y2="93976"/>
                        <a14:foregroundMark x1="62376" y1="93976" x2="56436" y2="77108"/>
                        <a14:foregroundMark x1="37129" y1="82329" x2="63861" y2="94779"/>
                        <a14:foregroundMark x1="63861" y1="94779" x2="64851" y2="943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65" y="2286001"/>
            <a:ext cx="3460288" cy="426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공유] 빨간옷 그 아이 사진 모음! 아, 그 빡빡이 빨간 옷!? 빡빡이짤 : 네이버 블로그">
            <a:extLst>
              <a:ext uri="{FF2B5EF4-FFF2-40B4-BE49-F238E27FC236}">
                <a16:creationId xmlns:a16="http://schemas.microsoft.com/office/drawing/2014/main" id="{EC509A4D-6748-4CF6-3310-132813485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821" y="3015996"/>
            <a:ext cx="2279025" cy="346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03D21BAB-95D2-D3DB-B946-F538AD7A9BE9}"/>
              </a:ext>
            </a:extLst>
          </p:cNvPr>
          <p:cNvSpPr/>
          <p:nvPr/>
        </p:nvSpPr>
        <p:spPr>
          <a:xfrm>
            <a:off x="4107169" y="2118359"/>
            <a:ext cx="4322086" cy="2992374"/>
          </a:xfrm>
          <a:prstGeom prst="wedgeEllipseCallout">
            <a:avLst>
              <a:gd name="adj1" fmla="val -46795"/>
              <a:gd name="adj2" fmla="val 38151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dirty="0">
                <a:solidFill>
                  <a:sysClr val="windowText" lastClr="000000"/>
                </a:solidFill>
              </a:rPr>
              <a:t>Q &amp; A</a:t>
            </a:r>
            <a:endParaRPr lang="ko-KR" altLang="en-US" sz="5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852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A9B2A-F83B-CBD6-4ECB-C37F43BB5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80FEBD-9F9A-CBD1-8664-1C4AF8EE01CA}"/>
              </a:ext>
            </a:extLst>
          </p:cNvPr>
          <p:cNvCxnSpPr/>
          <p:nvPr/>
        </p:nvCxnSpPr>
        <p:spPr>
          <a:xfrm>
            <a:off x="649224" y="1143000"/>
            <a:ext cx="109819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1048DF0-2B51-6CC1-4772-B6FEDAFE4643}"/>
              </a:ext>
            </a:extLst>
          </p:cNvPr>
          <p:cNvSpPr txBox="1"/>
          <p:nvPr/>
        </p:nvSpPr>
        <p:spPr>
          <a:xfrm>
            <a:off x="713232" y="374903"/>
            <a:ext cx="2679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마무리 멘트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1A2B455-75BF-7DBF-1232-7F23D3572EFA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392E081-0060-BD08-42D9-F9D9BB14328D}"/>
              </a:ext>
            </a:extLst>
          </p:cNvPr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3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인스타</a:t>
            </a:r>
            <a:endParaRPr lang="en-US" sz="3467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DE0ED-3AB1-1F9D-BDD3-74E607AEFB54}"/>
              </a:ext>
            </a:extLst>
          </p:cNvPr>
          <p:cNvSpPr txBox="1"/>
          <p:nvPr/>
        </p:nvSpPr>
        <p:spPr>
          <a:xfrm>
            <a:off x="3691128" y="3429000"/>
            <a:ext cx="59984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hole_in_one0102</a:t>
            </a:r>
            <a:endParaRPr lang="ko-KR" altLang="en-US" sz="6000" dirty="0"/>
          </a:p>
        </p:txBody>
      </p:sp>
      <p:pic>
        <p:nvPicPr>
          <p:cNvPr id="5122" name="Picture 2" descr="인스타그램 - 나무위키">
            <a:extLst>
              <a:ext uri="{FF2B5EF4-FFF2-40B4-BE49-F238E27FC236}">
                <a16:creationId xmlns:a16="http://schemas.microsoft.com/office/drawing/2014/main" id="{0CC85B51-9836-2974-CCAE-856C48B96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366" y="3369045"/>
            <a:ext cx="1135571" cy="113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478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866</Words>
  <Application>Microsoft Office PowerPoint</Application>
  <PresentationFormat>와이드스크린</PresentationFormat>
  <Paragraphs>102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맑은 고딕</vt:lpstr>
      <vt:lpstr>Arial</vt:lpstr>
      <vt:lpstr>Calibri</vt:lpstr>
      <vt:lpstr>Office 테마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백인원</dc:creator>
  <cp:lastModifiedBy>백인원</cp:lastModifiedBy>
  <cp:revision>8</cp:revision>
  <dcterms:created xsi:type="dcterms:W3CDTF">2026-05-06T05:47:31Z</dcterms:created>
  <dcterms:modified xsi:type="dcterms:W3CDTF">2026-05-19T08:42:38Z</dcterms:modified>
</cp:coreProperties>
</file>