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  <p:sldMasterId id="2147483744" r:id="rId5"/>
  </p:sldMasterIdLst>
  <p:notesMasterIdLst>
    <p:notesMasterId r:id="rId73"/>
  </p:notesMasterIdLst>
  <p:sldIdLst>
    <p:sldId id="276" r:id="rId6"/>
    <p:sldId id="786" r:id="rId7"/>
    <p:sldId id="787" r:id="rId8"/>
    <p:sldId id="788" r:id="rId9"/>
    <p:sldId id="789" r:id="rId10"/>
    <p:sldId id="799" r:id="rId11"/>
    <p:sldId id="790" r:id="rId12"/>
    <p:sldId id="800" r:id="rId13"/>
    <p:sldId id="801" r:id="rId14"/>
    <p:sldId id="802" r:id="rId15"/>
    <p:sldId id="803" r:id="rId16"/>
    <p:sldId id="804" r:id="rId17"/>
    <p:sldId id="805" r:id="rId18"/>
    <p:sldId id="806" r:id="rId19"/>
    <p:sldId id="807" r:id="rId20"/>
    <p:sldId id="808" r:id="rId21"/>
    <p:sldId id="809" r:id="rId22"/>
    <p:sldId id="810" r:id="rId23"/>
    <p:sldId id="811" r:id="rId24"/>
    <p:sldId id="812" r:id="rId25"/>
    <p:sldId id="813" r:id="rId26"/>
    <p:sldId id="814" r:id="rId27"/>
    <p:sldId id="815" r:id="rId28"/>
    <p:sldId id="816" r:id="rId29"/>
    <p:sldId id="817" r:id="rId30"/>
    <p:sldId id="818" r:id="rId31"/>
    <p:sldId id="819" r:id="rId32"/>
    <p:sldId id="820" r:id="rId33"/>
    <p:sldId id="751" r:id="rId34"/>
    <p:sldId id="752" r:id="rId35"/>
    <p:sldId id="753" r:id="rId36"/>
    <p:sldId id="754" r:id="rId37"/>
    <p:sldId id="263" r:id="rId38"/>
    <p:sldId id="535" r:id="rId39"/>
    <p:sldId id="264" r:id="rId40"/>
    <p:sldId id="537" r:id="rId41"/>
    <p:sldId id="538" r:id="rId42"/>
    <p:sldId id="539" r:id="rId43"/>
    <p:sldId id="821" r:id="rId44"/>
    <p:sldId id="822" r:id="rId45"/>
    <p:sldId id="823" r:id="rId46"/>
    <p:sldId id="824" r:id="rId47"/>
    <p:sldId id="825" r:id="rId48"/>
    <p:sldId id="826" r:id="rId49"/>
    <p:sldId id="827" r:id="rId50"/>
    <p:sldId id="828" r:id="rId51"/>
    <p:sldId id="829" r:id="rId52"/>
    <p:sldId id="830" r:id="rId53"/>
    <p:sldId id="831" r:id="rId54"/>
    <p:sldId id="832" r:id="rId55"/>
    <p:sldId id="833" r:id="rId56"/>
    <p:sldId id="834" r:id="rId57"/>
    <p:sldId id="835" r:id="rId58"/>
    <p:sldId id="836" r:id="rId59"/>
    <p:sldId id="837" r:id="rId60"/>
    <p:sldId id="838" r:id="rId61"/>
    <p:sldId id="265" r:id="rId62"/>
    <p:sldId id="755" r:id="rId63"/>
    <p:sldId id="756" r:id="rId64"/>
    <p:sldId id="271" r:id="rId65"/>
    <p:sldId id="273" r:id="rId66"/>
    <p:sldId id="757" r:id="rId67"/>
    <p:sldId id="548" r:id="rId68"/>
    <p:sldId id="272" r:id="rId69"/>
    <p:sldId id="544" r:id="rId70"/>
    <p:sldId id="549" r:id="rId71"/>
    <p:sldId id="550" r:id="rId7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76" Type="http://schemas.openxmlformats.org/officeDocument/2006/relationships/theme" Target="theme/theme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slide" Target="slides/slide5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notesMaster" Target="notesMasters/notesMaster1.xml"/><Relationship Id="rId78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은성" userId="451a94f3-e55a-4745-8884-f48fbe464410" providerId="ADAL" clId="{9142F04D-EB9E-4595-856E-00F8626B3388}"/>
    <pc:docChg chg="modSld">
      <pc:chgData name="오은성" userId="451a94f3-e55a-4745-8884-f48fbe464410" providerId="ADAL" clId="{9142F04D-EB9E-4595-856E-00F8626B3388}" dt="2026-03-14T15:55:21.970" v="7" actId="20577"/>
      <pc:docMkLst>
        <pc:docMk/>
      </pc:docMkLst>
      <pc:sldChg chg="modSp mod">
        <pc:chgData name="오은성" userId="451a94f3-e55a-4745-8884-f48fbe464410" providerId="ADAL" clId="{9142F04D-EB9E-4595-856E-00F8626B3388}" dt="2026-03-14T15:55:21.970" v="7" actId="20577"/>
        <pc:sldMkLst>
          <pc:docMk/>
          <pc:sldMk cId="3160632788" sldId="276"/>
        </pc:sldMkLst>
        <pc:spChg chg="mod">
          <ac:chgData name="오은성" userId="451a94f3-e55a-4745-8884-f48fbe464410" providerId="ADAL" clId="{9142F04D-EB9E-4595-856E-00F8626B3388}" dt="2026-03-14T15:55:21.970" v="7" actId="20577"/>
          <ac:spMkLst>
            <pc:docMk/>
            <pc:sldMk cId="3160632788" sldId="276"/>
            <ac:spMk id="2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04-02T16:50:12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8696 8237 0,'35'0'63,"1"0"-48,69 53-15,-52-17 16,159 34-16,35 36 15,0-36-15,-177-34 0,177 34 16,-35 36-16,-141-88 16,87 35-16,-87-18 15,-54-35-15,-17 18 172,-17-1-156,-1 1-1,-35 0-15,18-1 16,-18 1-16,35-1 0,-17 1 16,18-18-1,-1 18-15,0-18 16,1 0 0,-1 17-16,-17 1 0,-18 0 15,18 17-15,-36-17 16,53-18-16,-17 17 15,17-17 1</inkml:trace>
  <inkml:trace contextRef="#ctx0" brushRef="#br0" timeOffset="706.67">10689 8537 0,'35'0'62,"1"-17"-46,-1 17-16,-17 0 16,-1 0-16,1 0 15,0 0-15,-1-18 16,1 18-16,-18-18 15,17 18-15,1-17 16,0 17 0,-1 0-16,1-18 15</inkml:trace>
  <inkml:trace contextRef="#ctx0" brushRef="#br0" timeOffset="1425.83">10848 8696 0,'18'-18'16,"-1"18"-16,1-17 0,-1 17 47,1 0-16,-18-18 0,18 18-31,-1 0 16,1-18 15,-18 1-15,18 17 15</inkml:trace>
  <inkml:trace contextRef="#ctx0" brushRef="#br0" timeOffset="3455.03">7691 7814 0,'0'35'47,"0"-17"-32,-18 0-15,18 17 16,-18 0-16,18-17 16,0-1-1,0 1 1,0 0 140,0-1-125,-17 1 110,17 0-125,0-1 93,0 1-46,0 0-48,0-1 79,0 71 31,0-52-109,0-19-16,0 19 15,0-72 63,0 19-46</inkml:trace>
  <inkml:trace contextRef="#ctx0" brushRef="#br0" timeOffset="5164">8043 10689 0,'18'0'47,"17"0"-47,-35-17 15,18 17 1,0 0-1,17 0 32,-18 0-31,-17 17 15,0 1-15,0-1-1,0 1 1,0 0-16,0-1 16,-17 19-1,-1-36 1,18 17-16,-17 1 16,-1 0-16,0-18 62,159 35 141,89 35-203,-19-17 16,-140-53-16,88 36 15,88 16-15,-71 1 16,-105-35-16,52 17 16,-52-35-16,-54 0 15</inkml:trace>
  <inkml:trace contextRef="#ctx0" brushRef="#br0" timeOffset="6247.99">13176 7250 0,'0'17'32,"0"1"15,0-1-32,-17 1 1,17 0-1</inkml:trace>
  <inkml:trace contextRef="#ctx0" brushRef="#br0" timeOffset="6958.68">13458 7250 0,'0'35'15,"-17"0"-15,-1-17 16,18 35-16,-17-18 16,-1 36-16,-17 17 0,-1 35 15,19-70-15,-19 71 16,-16 34-16,16-69 16,36-72-16,-17 36 15,17-35-15,0-1 0,0-70 125,35 36-109</inkml:trace>
  <inkml:trace contextRef="#ctx0" brushRef="#br0" timeOffset="8084.22">13458 7320 0,'36'0'93,"-19"0"-61,-17 18-32,18-18 0,0 0 15,-18 17-15,0 1 16,17 0 0,1-1-16,-18 1 15,0 0-15,0-1 16,0 1-16,0 0 15,0 17-15,18 0 16,-18 0-16,0-17 16,17 35-16,1 17 0,17 1 15,-17-36-15,-1 1 16,19 16-16,-19-16 16,-17-19-16,18-17 15,-18 18-15,18-18 16,-18 18-16,17-1 31,1 1 0,0 0-15,-18-1-16,0 19 16,17-1-16,1-35 0,-1 35 15,1-35 1,-18 18-16,18-18 31,-18-18 47,0 0-62</inkml:trace>
  <inkml:trace contextRef="#ctx0" brushRef="#br0" timeOffset="9521.9">13317 7726 0,'36'0'109,"-19"0"-93,1-18-16,0 18 16,17-17-16,-35-1 15,35 18-15,-35-18 16,18 18-1,-1 0 32,1 0 16,0 0-63,17 0 15,0 0 1</inkml:trace>
  <inkml:trace contextRef="#ctx0" brushRef="#br0" timeOffset="10450.93">13899 7144 0,'0'17'109,"-17"36"-93,-1-35-16,1 17 15,17-17-15,-18-1 0,0 19 16,18-19-16,0 1 31,0 0 32,-17-1-48,17 1 1,0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D9F59-4412-4C1B-9AFC-37D0F19DD34A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DDB46-C8B9-4E58-802E-B5D5985C5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460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6CA48A-C2EC-40C8-B749-566CD4BBC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957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60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2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 useBgFill="1">
        <p:nvSpPr>
          <p:cNvPr id="20" name="Freeform 10"/>
          <p:cNvSpPr>
            <a:spLocks/>
          </p:cNvSpPr>
          <p:nvPr userDrawn="1"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0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42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353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68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343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05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457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27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856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725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22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609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732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108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071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FF00"/>
                </a:solidFill>
              </a:defRPr>
            </a:lvl1pPr>
          </a:lstStyle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456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  <a:lvl5pPr>
              <a:defRPr sz="1200"/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807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643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1247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636639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4730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1462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049937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73315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6487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705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200" b="0" i="0" u="none" strike="noStrike" kern="1200" cap="none" spc="0" normalizeH="0" baseline="0" noProof="0">
              <a:ln>
                <a:noFill/>
              </a:ln>
              <a:solidFill>
                <a:srgbClr val="481C1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0" b="0" i="0" u="none" strike="noStrike" kern="1200" cap="none" spc="0" normalizeH="0" baseline="0" noProof="0">
              <a:ln>
                <a:noFill/>
              </a:ln>
              <a:solidFill>
                <a:srgbClr val="005E5C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8473F8-2F3F-4CC2-BF55-F7E08080265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775F55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775F55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775F55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775F55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775F55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775F55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/42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63500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1" y="773705"/>
            <a:ext cx="8963994" cy="5669958"/>
          </a:xfrm>
        </p:spPr>
        <p:txBody>
          <a:bodyPr>
            <a:normAutofit/>
          </a:bodyPr>
          <a:lstStyle>
            <a:lvl1pPr marL="355600" indent="-261938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70000"/>
              <a:buFont typeface="맑은 고딕" panose="020B0503020000020004" pitchFamily="50" charset="-127"/>
              <a:buChar char="■"/>
              <a:defRPr sz="2000" b="1"/>
            </a:lvl1pPr>
            <a:lvl2pPr marL="627063" indent="-169863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§"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1168400" indent="-185738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2489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4A73E1A6-FD5B-410B-8D77-29923B500F0F}" type="datetimeFigureOut">
              <a:rPr lang="ko-KR" altLang="en-US" smtClean="0"/>
              <a:pPr/>
              <a:t>2026-03-15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16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5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hf hdr="0" ft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5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43608" y="404664"/>
            <a:ext cx="7772400" cy="1656184"/>
          </a:xfrm>
        </p:spPr>
        <p:txBody>
          <a:bodyPr/>
          <a:lstStyle/>
          <a:p>
            <a:r>
              <a:rPr lang="ko-KR" altLang="en-US"/>
              <a:t>자바 프로그래밍응용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652120" y="4005064"/>
            <a:ext cx="2952328" cy="1027588"/>
          </a:xfrm>
        </p:spPr>
        <p:txBody>
          <a:bodyPr>
            <a:normAutofit/>
          </a:bodyPr>
          <a:lstStyle/>
          <a:p>
            <a:endParaRPr lang="en-US" altLang="ko-KR" b="1" dirty="0"/>
          </a:p>
          <a:p>
            <a:r>
              <a:rPr lang="ko-KR" altLang="en-US" b="1" dirty="0"/>
              <a:t>강의 자 </a:t>
            </a:r>
            <a:r>
              <a:rPr lang="en-US" altLang="ko-KR" b="1" dirty="0"/>
              <a:t>: </a:t>
            </a:r>
            <a:r>
              <a:rPr lang="ko-KR" altLang="en-US" b="1" dirty="0"/>
              <a:t>오 은 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FEC2D8-E928-4A76-A864-29F4D0681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996952"/>
            <a:ext cx="4829852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32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 </a:t>
            </a:r>
            <a:r>
              <a:rPr lang="en-US" altLang="ko-KR" dirty="0"/>
              <a:t>if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2071702"/>
          </a:xfrm>
        </p:spPr>
        <p:txBody>
          <a:bodyPr>
            <a:normAutofit/>
          </a:bodyPr>
          <a:lstStyle/>
          <a:p>
            <a:r>
              <a:rPr lang="ko-KR" altLang="en-US" dirty="0"/>
              <a:t>단순 </a:t>
            </a:r>
            <a:r>
              <a:rPr lang="en-US" altLang="ko-KR" dirty="0"/>
              <a:t>if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en-US" altLang="ko-KR" dirty="0"/>
              <a:t>if</a:t>
            </a:r>
            <a:r>
              <a:rPr lang="ko-KR" altLang="en-US" dirty="0"/>
              <a:t>의 괄호 안에 </a:t>
            </a:r>
            <a:r>
              <a:rPr lang="ko-KR" altLang="en-US" dirty="0" err="1"/>
              <a:t>조건식</a:t>
            </a:r>
            <a:r>
              <a:rPr lang="en-US" altLang="ko-KR" dirty="0"/>
              <a:t>(</a:t>
            </a:r>
            <a:r>
              <a:rPr lang="ko-KR" altLang="en-US" dirty="0"/>
              <a:t>논리형 변수나 논리 연산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sz="1600" dirty="0"/>
              <a:t>실행문장이 단일 문장인 경우 둘러싸는 </a:t>
            </a:r>
            <a:r>
              <a:rPr lang="en-US" altLang="ko-KR" sz="1600" dirty="0"/>
              <a:t>{, }</a:t>
            </a:r>
            <a:r>
              <a:rPr lang="ko-KR" altLang="en-US" sz="1600" dirty="0"/>
              <a:t> 생략 가능</a:t>
            </a:r>
            <a:endParaRPr lang="en-US" altLang="ko-KR" sz="1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835894" y="5373216"/>
            <a:ext cx="4572000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if(n%2 == 0) {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(n + "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은 짝수입니다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.");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}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467877"/>
            <a:ext cx="574929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5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2-10 : if</a:t>
            </a:r>
            <a:r>
              <a:rPr lang="ko-KR" altLang="en-US" dirty="0"/>
              <a:t>문 사용하기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3568" y="1812354"/>
            <a:ext cx="5798448" cy="26776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SuccessOrFail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 (String[]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Scanner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Scanner(System.in);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점수를 입력하시오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");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score =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 (score &gt;= 80)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축하합니다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!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합격입니다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39552" y="1340768"/>
            <a:ext cx="677942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시험 점수가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80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점이 이상이면 합격 판별을 하는 프로그램을 작성하시오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68335" y="4963085"/>
            <a:ext cx="5798448" cy="523220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점수를 입력하시오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축하합니다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!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합격입니다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0308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조건문</a:t>
            </a:r>
            <a:r>
              <a:rPr lang="ko-KR" altLang="en-US" dirty="0"/>
              <a:t> </a:t>
            </a:r>
            <a:r>
              <a:rPr lang="en-US" altLang="ko-KR" dirty="0"/>
              <a:t>– if-else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1785950"/>
          </a:xfrm>
        </p:spPr>
        <p:txBody>
          <a:bodyPr/>
          <a:lstStyle/>
          <a:p>
            <a:r>
              <a:rPr lang="en-US" altLang="ko-KR"/>
              <a:t>if-else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/>
              <a:t>조건식이 </a:t>
            </a:r>
            <a:r>
              <a:rPr lang="en-US" altLang="ko-KR"/>
              <a:t>true</a:t>
            </a:r>
            <a:r>
              <a:rPr lang="ko-KR" altLang="en-US"/>
              <a:t>면 실행문장</a:t>
            </a:r>
            <a:r>
              <a:rPr lang="en-US" altLang="ko-KR"/>
              <a:t>1</a:t>
            </a:r>
            <a:r>
              <a:rPr lang="ko-KR" altLang="en-US"/>
              <a:t> 실행 후</a:t>
            </a:r>
            <a:r>
              <a:rPr lang="en-US" altLang="ko-KR"/>
              <a:t> </a:t>
            </a:r>
            <a:r>
              <a:rPr lang="en-US" altLang="ko-KR" dirty="0"/>
              <a:t>if-else</a:t>
            </a:r>
            <a:r>
              <a:rPr lang="ko-KR" altLang="en-US"/>
              <a:t>문을 벗어남</a:t>
            </a:r>
            <a:endParaRPr lang="en-US" altLang="ko-KR"/>
          </a:p>
          <a:p>
            <a:pPr lvl="1"/>
            <a:r>
              <a:rPr lang="en-US" altLang="ko-KR"/>
              <a:t>false</a:t>
            </a:r>
            <a:r>
              <a:rPr lang="ko-KR" altLang="en-US" dirty="0"/>
              <a:t>인 경우에 </a:t>
            </a:r>
            <a:r>
              <a:rPr lang="ko-KR" altLang="en-US"/>
              <a:t>실행문장</a:t>
            </a:r>
            <a:r>
              <a:rPr lang="en-US" altLang="ko-KR"/>
              <a:t>2</a:t>
            </a:r>
            <a:r>
              <a:rPr lang="ko-KR" altLang="en-US"/>
              <a:t> 실행후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 dirty="0"/>
              <a:t>if-else</a:t>
            </a:r>
            <a:r>
              <a:rPr lang="ko-KR" altLang="en-US"/>
              <a:t>문을 벗어남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071810"/>
            <a:ext cx="5330190" cy="279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12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2-11 : if-else</a:t>
            </a:r>
            <a:r>
              <a:rPr lang="ko-KR" altLang="en-US" dirty="0"/>
              <a:t> 사용하기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67" y="1772816"/>
            <a:ext cx="5798448" cy="37548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MultipleOfThree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 (String[]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Scanner in = new Scanner(System.in);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수를 입력하시오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");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number =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in.nextInt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 (number % 3 == 0)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("3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 배수입니다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else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("3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 배수가 아닙니다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scanner.close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552" y="1400829"/>
            <a:ext cx="5700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입력된 수가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배수인지 판별하는 프로그램을 작성하시오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98967" y="5699027"/>
            <a:ext cx="5798448" cy="461665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수를 입력하시오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129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 배수입니다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124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3326350"/>
            <a:ext cx="8229600" cy="147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 b="0"/>
              <a:t>짝수</a:t>
            </a:r>
            <a:r>
              <a:rPr lang="en-US" altLang="ko-KR" b="0"/>
              <a:t>, </a:t>
            </a:r>
            <a:r>
              <a:rPr lang="ko-KR" altLang="en-US" b="0"/>
              <a:t>홀수 구별하기</a:t>
            </a: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899592" y="2207200"/>
            <a:ext cx="781553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>
                <a:latin typeface="굴림체" panose="020B0609000101010101" pitchFamily="49" charset="-127"/>
                <a:ea typeface="굴림체" panose="020B0609000101010101" pitchFamily="49" charset="-127"/>
              </a:rPr>
              <a:t>키보드에서 입력 받은 정수가 홀수인지 짝수인지를 말해 주는 프로그램을 작성하여 보자</a:t>
            </a:r>
            <a:r>
              <a:rPr lang="en-US" altLang="ko-KR" sz="2800">
                <a:latin typeface="굴림체" panose="020B0609000101010101" pitchFamily="49" charset="-127"/>
                <a:ea typeface="굴림체" panose="020B0609000101010101" pitchFamily="49" charset="-127"/>
              </a:rPr>
              <a:t>. </a:t>
            </a:r>
            <a:endParaRPr lang="ko-KR" altLang="en-US" sz="280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978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다중 </a:t>
            </a:r>
            <a:r>
              <a:rPr lang="en-US" altLang="ko-KR" dirty="0"/>
              <a:t>if-else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59"/>
            <a:ext cx="8153400" cy="1169651"/>
          </a:xfrm>
        </p:spPr>
        <p:txBody>
          <a:bodyPr>
            <a:normAutofit lnSpcReduction="10000"/>
          </a:bodyPr>
          <a:lstStyle/>
          <a:p>
            <a:pPr fontAlgn="base"/>
            <a:r>
              <a:rPr lang="ko-KR" altLang="en-US" dirty="0"/>
              <a:t>다중 </a:t>
            </a:r>
            <a:r>
              <a:rPr lang="en-US" altLang="ko-KR" dirty="0"/>
              <a:t>if-else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 fontAlgn="base"/>
            <a:r>
              <a:rPr lang="en-US" altLang="ko-KR" dirty="0"/>
              <a:t>if-else</a:t>
            </a:r>
            <a:r>
              <a:rPr lang="ko-KR" altLang="en-US" dirty="0"/>
              <a:t>가 연속되는 모양</a:t>
            </a:r>
          </a:p>
          <a:p>
            <a:pPr lvl="2"/>
            <a:r>
              <a:rPr lang="ko-KR" altLang="en-US" dirty="0" err="1"/>
              <a:t>조건문이</a:t>
            </a:r>
            <a:r>
              <a:rPr lang="ko-KR" altLang="en-US" dirty="0"/>
              <a:t> 너무 많은 경우</a:t>
            </a:r>
            <a:r>
              <a:rPr lang="en-US" altLang="ko-KR" dirty="0"/>
              <a:t>, switch </a:t>
            </a:r>
            <a:r>
              <a:rPr lang="ko-KR" altLang="en-US" dirty="0"/>
              <a:t>문 사용 권장                                                                               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348880"/>
            <a:ext cx="721614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656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다중 </a:t>
            </a:r>
            <a:r>
              <a:rPr lang="en-US" altLang="ko-KR"/>
              <a:t>if-else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사용자로부터 받은 정수가 양수인지</a:t>
            </a:r>
            <a:r>
              <a:rPr lang="en-US" altLang="ko-KR"/>
              <a:t>, 0</a:t>
            </a:r>
            <a:r>
              <a:rPr lang="ko-KR" altLang="en-US"/>
              <a:t>인지</a:t>
            </a:r>
            <a:r>
              <a:rPr lang="en-US" altLang="ko-KR"/>
              <a:t>, </a:t>
            </a:r>
            <a:r>
              <a:rPr lang="ko-KR" altLang="en-US"/>
              <a:t>음수인지를 검사해보자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gray">
          <a:xfrm>
            <a:off x="864382" y="3571569"/>
            <a:ext cx="8153400" cy="861134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  <a:miter/>
          </a:ln>
        </p:spPr>
        <p:txBody>
          <a:bodyPr vert="horz" lIns="91440" tIns="45720" rIns="91440" bIns="4572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/>
              <a:buChar char="¢"/>
              <a:defRPr lang="en-US" sz="20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85000"/>
              <a:buFont typeface="Wingdings"/>
              <a:buChar char="¤"/>
              <a:defRPr lang="en-US" sz="18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85000"/>
              <a:buFont typeface="Wingdings"/>
              <a:buChar char="¤"/>
              <a:defRPr lang="en-US" sz="16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6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정수를 </a:t>
            </a:r>
            <a:r>
              <a:rPr kumimoji="0" lang="ko-KR" alt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입력하시오</a:t>
            </a: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: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양수입니다</a:t>
            </a: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.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65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gray">
          <a:xfrm>
            <a:off x="612648" y="1475627"/>
            <a:ext cx="8153400" cy="496956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/>
          </a:ln>
        </p:spPr>
        <p:txBody>
          <a:bodyPr vert="horz" lIns="91440" tIns="45720" rIns="91440" bIns="4572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/>
              <a:buChar char="¢"/>
              <a:defRPr lang="en-US" sz="20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85000"/>
              <a:buFont typeface="Wingdings"/>
              <a:buChar char="¤"/>
              <a:defRPr lang="en-US" sz="18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85000"/>
              <a:buFont typeface="Wingdings"/>
              <a:buChar char="¤"/>
              <a:defRPr lang="en-US" sz="16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6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import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java.util.Scanner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public class Nested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public static void main(String[]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Scanner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sc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= new Scanner(System.in);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정수를 </a:t>
            </a:r>
            <a:r>
              <a:rPr kumimoji="0" lang="ko-KR" alt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입력하시오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: 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number1 =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sc.nextInt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                   if(number1 &gt; 0 )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  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양수입니다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.");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                  else if (number1 ==0 )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("0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입니다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.");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                  else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음수입니다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.");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0007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957" y="192609"/>
            <a:ext cx="7306430" cy="709865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확인학습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779DE4-6DEC-443A-BED5-969DB0C4FEAC}"/>
              </a:ext>
            </a:extLst>
          </p:cNvPr>
          <p:cNvSpPr/>
          <p:nvPr/>
        </p:nvSpPr>
        <p:spPr>
          <a:xfrm>
            <a:off x="471506" y="2464896"/>
            <a:ext cx="82524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사용자로부터 두 개의 정수를 입력 받아서 둘 중에 큰 수를 출력하는 프로그램을 작성하여 보자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두개의 정수가 같으면 같습니다 출력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0484B86-F005-47C0-B6B8-8263749D3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36" y="3890102"/>
            <a:ext cx="7678373" cy="1409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7946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LAB: </a:t>
            </a:r>
            <a:r>
              <a:rPr lang="ko-KR" altLang="en-US" b="0"/>
              <a:t>성적에 따라 학점 결정하기</a:t>
            </a:r>
            <a:endParaRPr lang="ko-KR" alt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775" y="2537128"/>
            <a:ext cx="8153400" cy="2621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0498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80803"/>
            <a:ext cx="8077645" cy="629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4624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switch </a:t>
            </a:r>
            <a:r>
              <a:rPr lang="ko-KR" altLang="en-US"/>
              <a:t>선택 구조</a:t>
            </a: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300"/>
            <a:ext cx="8229600" cy="447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8FB73B2-C318-4340-B226-3970FF68DB7F}"/>
                  </a:ext>
                </a:extLst>
              </p14:cNvPr>
              <p14:cNvContentPartPr/>
              <p14:nvPr/>
            </p14:nvContentPartPr>
            <p14:xfrm>
              <a:off x="2749680" y="2571840"/>
              <a:ext cx="2267280" cy="146700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8FB73B2-C318-4340-B226-3970FF68DB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0320" y="2562480"/>
                <a:ext cx="2286000" cy="148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2708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사용자가 값을 입력하면 화면에 “하나”</a:t>
            </a:r>
            <a:r>
              <a:rPr lang="en-US" altLang="ko-KR"/>
              <a:t>, “</a:t>
            </a:r>
            <a:r>
              <a:rPr lang="ko-KR" altLang="en-US"/>
              <a:t>둘”과 같이 출력하는 코드를 작성하여 보자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정수</a:t>
            </a:r>
            <a:r>
              <a:rPr lang="en-US" altLang="ko-KR"/>
              <a:t>-&gt; </a:t>
            </a:r>
            <a:r>
              <a:rPr lang="ko-KR" altLang="en-US"/>
              <a:t>한글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73" y="3813284"/>
            <a:ext cx="908685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1989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96752"/>
            <a:ext cx="8136807" cy="501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0970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만약 </a:t>
            </a:r>
            <a:r>
              <a:rPr lang="en-US" altLang="ko-KR"/>
              <a:t>break</a:t>
            </a:r>
            <a:r>
              <a:rPr lang="ko-KR" altLang="en-US"/>
              <a:t> 문이</a:t>
            </a:r>
            <a:r>
              <a:rPr lang="en-US" altLang="ko-KR"/>
              <a:t> </a:t>
            </a:r>
            <a:r>
              <a:rPr lang="ko-KR" altLang="en-US"/>
              <a:t>없다면</a:t>
            </a:r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0358"/>
            <a:ext cx="8229600" cy="448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6404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/>
              <a:t>LAB: </a:t>
            </a:r>
            <a:r>
              <a:rPr lang="ko-KR" altLang="en-US" b="0"/>
              <a:t>월의 일수 출력하기</a:t>
            </a:r>
            <a:endParaRPr lang="ko-KR" altLang="en-US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9144000" cy="2754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376" y="1273063"/>
            <a:ext cx="1784757" cy="152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0282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663" y="210393"/>
            <a:ext cx="6780264" cy="632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4236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: switch </a:t>
            </a:r>
            <a:r>
              <a:rPr lang="ko-KR" altLang="en-US" dirty="0"/>
              <a:t>문으로 학점 매기기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870596-DAFA-46D2-82A7-2B6B5F8E0EA4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24675" y="1412776"/>
            <a:ext cx="2468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2-12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성적 매기는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코드를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switch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문으로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작성하라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707904" y="1340768"/>
            <a:ext cx="4320480" cy="5447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import 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java.util.Scanner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public class 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GradingSwitch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 {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public static void main (String[] 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args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) {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Scanner 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scanner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 = new Scanner(System.in);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char grade;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점수를 입력하세요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(0~100): ");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 score = 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scanner.nextInt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();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switch (score/10)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{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case 10: // score = 100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case 9: // score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90~99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grade = 'A';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break;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case 8: // score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80~89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grade = 'B';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break;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case 7: // score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70~79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grade = 'C';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break;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case 6: // score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60~69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grade = 'D';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break;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default: // score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59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이하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grade = 'F';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}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학점은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"+grade+"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입니다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");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scanner.close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();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}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}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43608" y="6326748"/>
            <a:ext cx="2520280" cy="461665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점수를 입력하세요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(0~100):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89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학점은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3936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2000" dirty="0"/>
              <a:t>예제 </a:t>
            </a:r>
            <a:r>
              <a:rPr lang="en-US" altLang="ko-KR" sz="2000" dirty="0"/>
              <a:t>1</a:t>
            </a:r>
            <a:r>
              <a:rPr lang="en-US" altLang="ko-KR" sz="2000" b="0" dirty="0"/>
              <a:t> :</a:t>
            </a:r>
            <a:r>
              <a:rPr lang="ko-KR" altLang="en-US" sz="2000" dirty="0"/>
              <a:t>두개의 정수를 입력 받아서 입력 받은 연산기호의 </a:t>
            </a:r>
            <a:br>
              <a:rPr lang="ko-KR" altLang="en-US" sz="2000" dirty="0"/>
            </a:br>
            <a:r>
              <a:rPr lang="ko-KR" altLang="en-US" sz="2000" dirty="0"/>
              <a:t>연산 수행 후 출력해주세요 </a:t>
            </a:r>
            <a:r>
              <a:rPr lang="en-US" altLang="ko-KR" sz="2000" dirty="0"/>
              <a:t>(if</a:t>
            </a:r>
            <a:r>
              <a:rPr lang="ko-KR" altLang="en-US" sz="2000" dirty="0"/>
              <a:t>문 사용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C8B28C-8E30-4C7B-9A5F-41D555DEA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420888"/>
            <a:ext cx="7632848" cy="15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155FBCF-B558-4035-8466-041E1D807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47368"/>
            <a:ext cx="1200150" cy="13049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3543A7-2C90-42FE-9CDD-5FEB38304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4293096"/>
            <a:ext cx="7632848" cy="15678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75369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8C58C71-967B-4EC1-BB40-87305F31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703127"/>
            <a:ext cx="7776864" cy="6111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152838DC-D427-4862-9EE2-8C41CBCAA5E6}"/>
              </a:ext>
            </a:extLst>
          </p:cNvPr>
          <p:cNvSpPr txBox="1">
            <a:spLocks/>
          </p:cNvSpPr>
          <p:nvPr/>
        </p:nvSpPr>
        <p:spPr>
          <a:xfrm>
            <a:off x="467544" y="16549"/>
            <a:ext cx="6247606" cy="543594"/>
          </a:xfrm>
          <a:prstGeom prst="rect">
            <a:avLst/>
          </a:prstGeom>
        </p:spPr>
        <p:txBody>
          <a:bodyPr/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SOLUTION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1201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865969" y="927098"/>
            <a:ext cx="6993939" cy="709865"/>
          </a:xfrm>
        </p:spPr>
        <p:txBody>
          <a:bodyPr>
            <a:normAutofit fontScale="90000"/>
          </a:bodyPr>
          <a:lstStyle/>
          <a:p>
            <a:br>
              <a:rPr lang="en-US" altLang="ko-KR" sz="2000" b="0" dirty="0"/>
            </a:br>
            <a:r>
              <a:rPr lang="ko-KR" altLang="en-US" sz="2000" b="0" dirty="0"/>
              <a:t>예제</a:t>
            </a:r>
            <a:r>
              <a:rPr lang="en-US" altLang="ko-KR" sz="2000" b="0" dirty="0"/>
              <a:t>2: </a:t>
            </a:r>
            <a:r>
              <a:rPr lang="ko-KR" altLang="en-US" sz="2000" dirty="0"/>
              <a:t>두개의 정수를 입력 받아서 입력 받은 연산기호의 </a:t>
            </a:r>
            <a:br>
              <a:rPr lang="ko-KR" altLang="en-US" sz="2000" dirty="0"/>
            </a:br>
            <a:r>
              <a:rPr lang="ko-KR" altLang="en-US" sz="2000" dirty="0"/>
              <a:t>연산 수행 후 출력해주세요 </a:t>
            </a:r>
            <a:r>
              <a:rPr lang="en-US" altLang="ko-KR" sz="2000" dirty="0"/>
              <a:t>(switch</a:t>
            </a:r>
            <a:r>
              <a:rPr lang="ko-KR" altLang="en-US" sz="2000" dirty="0"/>
              <a:t>문  사용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55FBCF-B558-4035-8466-041E1D807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7368"/>
            <a:ext cx="1200150" cy="13049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66C51EC-88CC-47CF-9549-4F6FED82F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236" y="2604324"/>
            <a:ext cx="6993940" cy="9910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9B39BCF-300F-4379-90EF-526ABE2B9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236" y="4210954"/>
            <a:ext cx="7042680" cy="9910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140937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548F7CC-3AEF-4E60-91EB-1032F9D9C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0768"/>
            <a:ext cx="7772400" cy="51720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제목 2">
            <a:extLst>
              <a:ext uri="{FF2B5EF4-FFF2-40B4-BE49-F238E27FC236}">
                <a16:creationId xmlns:a16="http://schemas.microsoft.com/office/drawing/2014/main" id="{B6E1B024-6E15-476E-A09C-91FB11001C9B}"/>
              </a:ext>
            </a:extLst>
          </p:cNvPr>
          <p:cNvSpPr txBox="1">
            <a:spLocks/>
          </p:cNvSpPr>
          <p:nvPr/>
        </p:nvSpPr>
        <p:spPr>
          <a:xfrm>
            <a:off x="731900" y="584854"/>
            <a:ext cx="6583299" cy="543594"/>
          </a:xfrm>
          <a:prstGeom prst="rect">
            <a:avLst/>
          </a:prstGeom>
        </p:spPr>
        <p:txBody>
          <a:bodyPr/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Switch~case</a:t>
            </a:r>
            <a:r>
              <a:rPr kumimoji="0" lang="en-US" altLang="ko-KR" sz="3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문으로 </a:t>
            </a:r>
            <a:r>
              <a:rPr kumimoji="0" lang="ko-KR" altLang="en-US" sz="3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바꾸어보자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8328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실습 예제</a:t>
            </a:r>
            <a:r>
              <a:rPr lang="en-US" altLang="ko-KR" dirty="0"/>
              <a:t>: </a:t>
            </a:r>
            <a:r>
              <a:rPr lang="ko-KR" altLang="en-US" dirty="0"/>
              <a:t>세개의</a:t>
            </a:r>
            <a:r>
              <a:rPr lang="en-US" altLang="ko-KR" dirty="0"/>
              <a:t>  </a:t>
            </a:r>
            <a:r>
              <a:rPr lang="ko-KR" altLang="en-US" dirty="0"/>
              <a:t>정수를 입력 받아 가장 큰 수를 출력 해주세요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CD8F78-A903-46BF-BCAA-016BB54A2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573685"/>
            <a:ext cx="7056784" cy="14216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546A361-9A67-408B-B3BB-8A3EEFC07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420888"/>
            <a:ext cx="120015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1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597521" y="247590"/>
            <a:ext cx="6939087" cy="709865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 예제</a:t>
            </a:r>
            <a:r>
              <a:rPr lang="en-US" altLang="ko-KR" dirty="0"/>
              <a:t>1: </a:t>
            </a:r>
            <a:r>
              <a:rPr lang="ko-KR" altLang="en-US" dirty="0"/>
              <a:t>세개의</a:t>
            </a:r>
            <a:r>
              <a:rPr lang="en-US" altLang="ko-KR" dirty="0"/>
              <a:t>  </a:t>
            </a:r>
            <a:r>
              <a:rPr lang="ko-KR" altLang="en-US" dirty="0"/>
              <a:t>정수를 입력 받아 가장 큰 수를 출력 해주세요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CD8F78-A903-46BF-BCAA-016BB54A2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573685"/>
            <a:ext cx="7056784" cy="14216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546A361-9A67-408B-B3BB-8A3EEFC07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420888"/>
            <a:ext cx="120015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83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B42FAF4-0336-487B-83C5-9F26FFB87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70861"/>
            <a:ext cx="7488832" cy="57785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3A1927B7-05E6-466C-B8D6-F2D79E6D733C}"/>
              </a:ext>
            </a:extLst>
          </p:cNvPr>
          <p:cNvSpPr txBox="1">
            <a:spLocks/>
          </p:cNvSpPr>
          <p:nvPr/>
        </p:nvSpPr>
        <p:spPr>
          <a:xfrm>
            <a:off x="288017" y="75075"/>
            <a:ext cx="6247606" cy="543594"/>
          </a:xfrm>
          <a:prstGeom prst="rect">
            <a:avLst/>
          </a:prstGeom>
        </p:spPr>
        <p:txBody>
          <a:bodyPr/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SOLUTION</a:t>
            </a:r>
            <a:r>
              <a:rPr kumimoji="0" lang="ko-KR" altLang="en-US" sz="3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4750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A12C97-3961-43F7-ACF0-6BC03128A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if else</a:t>
            </a:r>
            <a:r>
              <a:rPr lang="ko-KR" altLang="en-US"/>
              <a:t>와 조건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31E76C-330F-4AC2-A0B4-5E61ABF11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if else </a:t>
            </a:r>
            <a:r>
              <a:rPr lang="ko-KR" altLang="en-US"/>
              <a:t>대신 조건 연산자를 이용해서 같은 코드를 작성할 수 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600D14-7CAD-4C06-8D14-5A6AE5ED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ACC712-894F-4003-BE1B-9983A6AAF6F7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2B2CF3-D6A4-41E1-8A43-F3BFD452A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17" y="2921256"/>
            <a:ext cx="8757166" cy="234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076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A1927B7-05E6-466C-B8D6-F2D79E6D733C}"/>
              </a:ext>
            </a:extLst>
          </p:cNvPr>
          <p:cNvSpPr txBox="1">
            <a:spLocks/>
          </p:cNvSpPr>
          <p:nvPr/>
        </p:nvSpPr>
        <p:spPr>
          <a:xfrm>
            <a:off x="580980" y="632523"/>
            <a:ext cx="6247606" cy="543594"/>
          </a:xfrm>
          <a:prstGeom prst="rect">
            <a:avLst/>
          </a:prstGeom>
        </p:spPr>
        <p:txBody>
          <a:bodyPr/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SOLUTION</a:t>
            </a:r>
            <a:r>
              <a:rPr kumimoji="0" lang="ko-KR" altLang="en-US" sz="33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28E393-3807-47EC-896B-A8E3FC377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56" y="1412775"/>
            <a:ext cx="6560740" cy="44640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785413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7306F54-40F8-4BF6-8040-6FBA0B627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7027" y="402581"/>
            <a:ext cx="3238500" cy="523220"/>
          </a:xfrm>
          <a:noFill/>
        </p:spPr>
        <p:txBody>
          <a:bodyPr>
            <a:spAutoFit/>
          </a:bodyPr>
          <a:lstStyle/>
          <a:p>
            <a:pPr algn="l" eaLnBrk="1" hangingPunct="1"/>
            <a:r>
              <a:rPr lang="en-US" altLang="ja-JP" sz="2800" b="1" dirty="0"/>
              <a:t> </a:t>
            </a:r>
            <a:r>
              <a:rPr lang="en-US" altLang="ko-KR" sz="2800" b="1" dirty="0"/>
              <a:t> </a:t>
            </a:r>
            <a:r>
              <a:rPr lang="ko-KR" altLang="en-US" sz="2800" b="1" dirty="0" err="1"/>
              <a:t>반복문</a:t>
            </a:r>
            <a:r>
              <a:rPr lang="ko-KR" altLang="en-US" sz="2800" b="1" dirty="0"/>
              <a:t> 이란</a:t>
            </a:r>
            <a:r>
              <a:rPr lang="en-US" altLang="ko-KR" sz="2800" b="1" dirty="0"/>
              <a:t>?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CCF8528-98B2-4644-9AC2-7C40270A4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7786" y="2556663"/>
            <a:ext cx="8588428" cy="3540456"/>
          </a:xfr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ko-KR" altLang="en-US" sz="2400" b="1" dirty="0" err="1"/>
              <a:t>반복문의</a:t>
            </a:r>
            <a:r>
              <a:rPr lang="ko-KR" altLang="en-US" sz="2400" b="1" dirty="0"/>
              <a:t> 기능</a:t>
            </a:r>
          </a:p>
          <a:p>
            <a:pPr lvl="1" eaLnBrk="1" hangingPunct="1">
              <a:lnSpc>
                <a:spcPct val="120000"/>
              </a:lnSpc>
            </a:pPr>
            <a:r>
              <a:rPr lang="ko-KR" altLang="en-US" sz="2000" b="1" dirty="0"/>
              <a:t>특정 영역을 특정 조건이 만족하는 동안에 반복 실행하기 위한 문장</a:t>
            </a:r>
            <a:br>
              <a:rPr lang="ko-KR" altLang="en-US" sz="2000" b="1" dirty="0"/>
            </a:br>
            <a:endParaRPr lang="ko-KR" altLang="en-US" sz="2000" b="1" dirty="0"/>
          </a:p>
          <a:p>
            <a:pPr eaLnBrk="1" hangingPunct="1">
              <a:lnSpc>
                <a:spcPct val="120000"/>
              </a:lnSpc>
            </a:pPr>
            <a:r>
              <a:rPr lang="ko-KR" altLang="en-US" sz="2400" b="1" dirty="0"/>
              <a:t>세 가지 형태의 </a:t>
            </a:r>
            <a:r>
              <a:rPr lang="ko-KR" altLang="en-US" sz="2400" b="1" dirty="0" err="1"/>
              <a:t>반복문</a:t>
            </a:r>
            <a:endParaRPr lang="en-US" altLang="ko-KR" sz="2400" b="1" dirty="0"/>
          </a:p>
          <a:p>
            <a:pPr lvl="1">
              <a:lnSpc>
                <a:spcPct val="120000"/>
              </a:lnSpc>
            </a:pPr>
            <a:r>
              <a:rPr lang="en-US" altLang="ko-KR" sz="2400" b="1" dirty="0"/>
              <a:t>for</a:t>
            </a:r>
            <a:r>
              <a:rPr lang="ko-KR" altLang="en-US" sz="2400" b="1" dirty="0"/>
              <a:t>문에 의한 반복</a:t>
            </a:r>
            <a:endParaRPr lang="ko-KR" altLang="en-US" sz="2200" b="1" dirty="0"/>
          </a:p>
          <a:p>
            <a:pPr lvl="1" eaLnBrk="1" hangingPunct="1">
              <a:lnSpc>
                <a:spcPct val="120000"/>
              </a:lnSpc>
            </a:pPr>
            <a:r>
              <a:rPr lang="en-US" altLang="ko-KR" sz="2000" b="1" dirty="0"/>
              <a:t>while</a:t>
            </a:r>
            <a:r>
              <a:rPr lang="ko-KR" altLang="en-US" sz="2000" b="1" dirty="0"/>
              <a:t>문에 의한 반복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ko-KR" sz="2000" b="1" dirty="0"/>
              <a:t>do ~ while</a:t>
            </a:r>
            <a:r>
              <a:rPr lang="ko-KR" altLang="en-US" sz="2000" b="1" dirty="0"/>
              <a:t>문에 의한 반복</a:t>
            </a:r>
          </a:p>
        </p:txBody>
      </p:sp>
    </p:spTree>
    <p:extLst>
      <p:ext uri="{BB962C8B-B14F-4D97-AF65-F5344CB8AC3E}">
        <p14:creationId xmlns:p14="http://schemas.microsoft.com/office/powerpoint/2010/main" val="25819042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700070"/>
          </a:xfrm>
        </p:spPr>
        <p:txBody>
          <a:bodyPr/>
          <a:lstStyle/>
          <a:p>
            <a:r>
              <a:rPr lang="en-US" altLang="ko-KR" dirty="0"/>
              <a:t>for </a:t>
            </a:r>
            <a:r>
              <a:rPr lang="ko-KR" altLang="en-US" dirty="0"/>
              <a:t>문의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40" name="슬라이드 번호 개체 틀 3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340768"/>
            <a:ext cx="6046470" cy="365760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691680" y="5229200"/>
            <a:ext cx="5031224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=0;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&lt;10;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++) { //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0~9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까지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번 반복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); // 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까지 출력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652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 </a:t>
            </a:r>
            <a:r>
              <a:rPr lang="ko-KR" altLang="en-US" dirty="0"/>
              <a:t>문의 실행 과정을 나타내는 순서도</a:t>
            </a:r>
          </a:p>
        </p:txBody>
      </p:sp>
      <p:sp>
        <p:nvSpPr>
          <p:cNvPr id="35" name="슬라이드 번호 개체 틀 3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772816"/>
            <a:ext cx="6336704" cy="426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189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문의 예시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42910" y="1697044"/>
            <a:ext cx="3214710" cy="10001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&lt; 10;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++)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27356" y="1368310"/>
            <a:ext cx="26308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까지 정수 출력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355976" y="1711325"/>
            <a:ext cx="3287858" cy="7629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&lt; 10;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++) 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42910" y="3216966"/>
            <a:ext cx="7000924" cy="572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for(</a:t>
            </a:r>
            <a:r>
              <a:rPr kumimoji="0" lang="nn-NO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int i = 0</a:t>
            </a: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; i &lt; 10; i++)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변수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문을 벗어나서 사용할 수 없음</a:t>
            </a:r>
            <a:endParaRPr kumimoji="0" lang="nn-N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	System.out.print(i);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57158" y="2859776"/>
            <a:ext cx="27414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반복문에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변수 선언 가능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857620" y="4483126"/>
            <a:ext cx="3786214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,  sum;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for(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= 0, sum=0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&lt;= 100;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++) 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	sum +=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;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57158" y="4054498"/>
            <a:ext cx="29915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까지의 합 구하기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42910" y="4483126"/>
            <a:ext cx="3000396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sum = 0;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for(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= 0;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&lt;= 100;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++) 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	sum +=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;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42910" y="5426640"/>
            <a:ext cx="3000396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sum = 0;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for(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int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= 100;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&gt;= 0;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--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) 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	sum +=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;</a:t>
            </a:r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383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700070"/>
          </a:xfrm>
        </p:spPr>
        <p:txBody>
          <a:bodyPr/>
          <a:lstStyle/>
          <a:p>
            <a:r>
              <a:rPr lang="en-US" altLang="ko-KR" dirty="0"/>
              <a:t>while </a:t>
            </a:r>
            <a:r>
              <a:rPr lang="ko-KR" altLang="en-US" dirty="0"/>
              <a:t>문의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5563" y="5085184"/>
            <a:ext cx="5000660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반복 조건이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true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이면 반복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false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이면 반복 종료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반복 조건이 없으면 컴파일 오류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처음부터 반복조건을 통과한 후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작업문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수행</a:t>
            </a:r>
          </a:p>
        </p:txBody>
      </p:sp>
      <p:sp>
        <p:nvSpPr>
          <p:cNvPr id="28" name="슬라이드 번호 개체 틀 2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556792"/>
            <a:ext cx="4804410" cy="308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937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while </a:t>
            </a:r>
            <a:r>
              <a:rPr lang="ko-KR" altLang="en-US"/>
              <a:t>문의</a:t>
            </a:r>
            <a:r>
              <a:rPr lang="en-US" altLang="ko-KR"/>
              <a:t> </a:t>
            </a:r>
            <a:r>
              <a:rPr lang="ko-KR" altLang="en-US"/>
              <a:t>구조</a:t>
            </a:r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54811"/>
            <a:ext cx="8229600" cy="2419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3027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700070"/>
          </a:xfrm>
        </p:spPr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문의 실행 과정을 나타내는 순서도</a:t>
            </a:r>
          </a:p>
        </p:txBody>
      </p:sp>
      <p:sp>
        <p:nvSpPr>
          <p:cNvPr id="30" name="슬라이드 번호 개체 틀 2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844824"/>
            <a:ext cx="6268030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14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en-US" altLang="ko-KR" b="0"/>
              <a:t>0</a:t>
            </a:r>
            <a:r>
              <a:rPr lang="ko-KR" altLang="en-US" b="0"/>
              <a:t>부터 </a:t>
            </a:r>
            <a:r>
              <a:rPr lang="en-US" altLang="ko-KR" b="0"/>
              <a:t>9</a:t>
            </a:r>
            <a:r>
              <a:rPr lang="ko-KR" altLang="en-US" b="0"/>
              <a:t>까지 출력하기</a:t>
            </a:r>
            <a:endParaRPr lang="ko-KR" altLang="en-US"/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16832"/>
            <a:ext cx="8686800" cy="4654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CA6DD1-FC7E-4E96-A304-CEDB78A62B62}"/>
              </a:ext>
            </a:extLst>
          </p:cNvPr>
          <p:cNvSpPr txBox="1"/>
          <p:nvPr/>
        </p:nvSpPr>
        <p:spPr>
          <a:xfrm>
            <a:off x="3707904" y="436510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맑은 고딕" panose="020B0503020000020004" pitchFamily="50" charset="-127"/>
                <a:cs typeface="+mn-cs"/>
              </a:rPr>
              <a:t>초기값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D6A5D-C5E9-4582-9191-3F12384520C4}"/>
              </a:ext>
            </a:extLst>
          </p:cNvPr>
          <p:cNvSpPr txBox="1"/>
          <p:nvPr/>
        </p:nvSpPr>
        <p:spPr>
          <a:xfrm>
            <a:off x="4351185" y="467288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맑은 고딕" panose="020B0503020000020004" pitchFamily="50" charset="-127"/>
                <a:cs typeface="+mn-cs"/>
              </a:rPr>
              <a:t>증감치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EA381-F21F-4FAC-8C19-2C9C3C1A12A6}"/>
              </a:ext>
            </a:extLst>
          </p:cNvPr>
          <p:cNvSpPr txBox="1"/>
          <p:nvPr/>
        </p:nvSpPr>
        <p:spPr>
          <a:xfrm>
            <a:off x="3491880" y="533696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맑은 고딕" panose="020B0503020000020004" pitchFamily="50" charset="-127"/>
                <a:cs typeface="+mn-cs"/>
              </a:rPr>
              <a:t>반복치</a:t>
            </a:r>
          </a:p>
        </p:txBody>
      </p:sp>
    </p:spTree>
    <p:extLst>
      <p:ext uri="{BB962C8B-B14F-4D97-AF65-F5344CB8AC3E}">
        <p14:creationId xmlns:p14="http://schemas.microsoft.com/office/powerpoint/2010/main" val="35353868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구구단 출력</a:t>
            </a:r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5809"/>
            <a:ext cx="8229600" cy="2037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00602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27" y="1367554"/>
            <a:ext cx="8066457" cy="496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0290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1686" y="1700808"/>
            <a:ext cx="6964650" cy="41549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defTabSz="180000" fontAlgn="base" latinLnBrk="0">
              <a:defRPr sz="1400"/>
            </a:lvl1pPr>
          </a:lstStyle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WhileSample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main(String[]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count=0; // count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입력된 정수의 개수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sum=0; // sum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은 합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Scanner(System.in);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입력하고 마지막에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을 입력하세요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n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 입력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while(n != -1)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 // -1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 입력되면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while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문 벗어남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sum += n;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count++;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 입력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if(count == 0)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입력된 수가 없습니다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else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정수의 개수는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count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개이며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평균은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(double)sum/count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scanner.close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351840" cy="680120"/>
          </a:xfrm>
        </p:spPr>
        <p:txBody>
          <a:bodyPr>
            <a:noAutofit/>
          </a:bodyPr>
          <a:lstStyle/>
          <a:p>
            <a:r>
              <a:rPr lang="ko-KR" altLang="en-US" sz="2400" dirty="0"/>
              <a:t>예제 </a:t>
            </a:r>
            <a:r>
              <a:rPr lang="en-US" altLang="ko-KR" sz="2400" dirty="0"/>
              <a:t>3-2 : -1</a:t>
            </a:r>
            <a:r>
              <a:rPr lang="ko-KR" altLang="en-US" sz="2400" dirty="0"/>
              <a:t>이 입력될 때까지 입력된 수의 평균 구하기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560" y="1282991"/>
            <a:ext cx="7816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while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문을 이용하여 정수를 여러 개 입력 받고 평균을 출력하라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-1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입력되면 입력을 종료한다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1686" y="5922075"/>
            <a:ext cx="6962648" cy="646331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입력하고 마지막에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을 입력하세요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 30 –20 40 -1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정수의 개수는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개이며 평균은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15.0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사각형 설명선 8"/>
          <p:cNvSpPr/>
          <p:nvPr/>
        </p:nvSpPr>
        <p:spPr>
          <a:xfrm>
            <a:off x="4016062" y="6064350"/>
            <a:ext cx="1656184" cy="324036"/>
          </a:xfrm>
          <a:prstGeom prst="wedgeRoundRectCallout">
            <a:avLst>
              <a:gd name="adj1" fmla="val -180685"/>
              <a:gd name="adj2" fmla="val 537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은 마지막 입력을 뜻함</a:t>
            </a:r>
          </a:p>
        </p:txBody>
      </p:sp>
    </p:spTree>
    <p:extLst>
      <p:ext uri="{BB962C8B-B14F-4D97-AF65-F5344CB8AC3E}">
        <p14:creationId xmlns:p14="http://schemas.microsoft.com/office/powerpoint/2010/main" val="16189421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700070"/>
          </a:xfrm>
        </p:spPr>
        <p:txBody>
          <a:bodyPr/>
          <a:lstStyle/>
          <a:p>
            <a:r>
              <a:rPr lang="en-US" altLang="ko-KR" dirty="0"/>
              <a:t>do-while </a:t>
            </a:r>
            <a:r>
              <a:rPr lang="ko-KR" altLang="en-US" dirty="0"/>
              <a:t>문의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3767" y="5219612"/>
            <a:ext cx="411362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무조건 최소 한번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작업문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3768" y="5661248"/>
            <a:ext cx="4113627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반복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조건이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true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이면 반복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false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이면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반복 종료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반복 조건이 없으며 컴파일 오류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슬라이드 번호 개체 틀 3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927" y="1444022"/>
            <a:ext cx="56102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655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700070"/>
          </a:xfrm>
        </p:spPr>
        <p:txBody>
          <a:bodyPr/>
          <a:lstStyle/>
          <a:p>
            <a:r>
              <a:rPr lang="en-US" altLang="ko-KR" dirty="0"/>
              <a:t>do-while</a:t>
            </a:r>
            <a:r>
              <a:rPr lang="ko-KR" altLang="en-US" dirty="0"/>
              <a:t>문의 실행 과정을 나타내는 순서도</a:t>
            </a:r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844824"/>
            <a:ext cx="650557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43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중첩 반복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3648" y="3212976"/>
            <a:ext cx="6408712" cy="2246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=0; i&lt;100; i++) { // 100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개의 학교 성적을 모두 더한다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.....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.....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763688" y="3789040"/>
            <a:ext cx="5616624" cy="12241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j=0; j&lt;10000; j++) { // 10000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명의 학생 성적을 모두 더한다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   .....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   .....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1783100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중첩 반복</a:t>
            </a:r>
            <a:endParaRPr lang="en-US" altLang="ko-KR" dirty="0"/>
          </a:p>
          <a:p>
            <a:pPr lvl="1"/>
            <a:r>
              <a:rPr lang="ko-KR" altLang="en-US" dirty="0" err="1"/>
              <a:t>반복문이</a:t>
            </a:r>
            <a:r>
              <a:rPr lang="ko-KR" altLang="en-US" dirty="0"/>
              <a:t> 다른 </a:t>
            </a:r>
            <a:r>
              <a:rPr lang="ko-KR" altLang="en-US" dirty="0" err="1"/>
              <a:t>반복문을</a:t>
            </a:r>
            <a:r>
              <a:rPr lang="ko-KR" altLang="en-US" dirty="0"/>
              <a:t> 내포하는 구조</a:t>
            </a:r>
            <a:endParaRPr lang="en-US" altLang="ko-KR" dirty="0"/>
          </a:p>
          <a:p>
            <a:pPr lvl="1"/>
            <a:r>
              <a:rPr lang="ko-KR" altLang="en-US" dirty="0"/>
              <a:t>이론적으로는 몇 번이고 중첩 반복 가능</a:t>
            </a:r>
            <a:endParaRPr lang="en-US" altLang="ko-KR" dirty="0"/>
          </a:p>
          <a:p>
            <a:pPr lvl="1"/>
            <a:r>
              <a:rPr lang="ko-KR" altLang="en-US" dirty="0"/>
              <a:t>너무 많은 중첩 반복은 프로그램 구조를 복잡하게 하므로 </a:t>
            </a:r>
            <a:r>
              <a:rPr lang="en-US" altLang="ko-KR" sz="1600" dirty="0"/>
              <a:t>2</a:t>
            </a:r>
            <a:r>
              <a:rPr lang="ko-KR" altLang="en-US" dirty="0"/>
              <a:t>중 또는 </a:t>
            </a:r>
            <a:r>
              <a:rPr lang="en-US" altLang="ko-KR" sz="1600" dirty="0"/>
              <a:t>3</a:t>
            </a:r>
            <a:r>
              <a:rPr lang="ko-KR" altLang="en-US" dirty="0"/>
              <a:t>중 반복이 적당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403648" y="5556903"/>
            <a:ext cx="5734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10000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명의 학생이 있는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 대학의 모든 학생 성적의 합을 구할 때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문을 이용한 이중 중첩 구조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27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75517"/>
          </a:xfrm>
        </p:spPr>
        <p:txBody>
          <a:bodyPr/>
          <a:lstStyle/>
          <a:p>
            <a:r>
              <a:rPr lang="ko-KR" altLang="en-US" b="0" dirty="0"/>
              <a:t>예제</a:t>
            </a:r>
            <a:r>
              <a:rPr lang="en-US" altLang="ko-KR" b="0" dirty="0"/>
              <a:t>1</a:t>
            </a:r>
            <a:r>
              <a:rPr lang="ko-KR" altLang="en-US" b="0" dirty="0"/>
              <a:t> </a:t>
            </a:r>
            <a:r>
              <a:rPr lang="en-US" altLang="ko-KR" b="0" dirty="0"/>
              <a:t>: 2</a:t>
            </a:r>
            <a:r>
              <a:rPr lang="ko-KR" altLang="en-US" b="0" dirty="0"/>
              <a:t>단부터 </a:t>
            </a:r>
            <a:r>
              <a:rPr lang="en-US" altLang="ko-KR" b="0" dirty="0"/>
              <a:t>9</a:t>
            </a:r>
            <a:r>
              <a:rPr lang="ko-KR" altLang="en-US" b="0" dirty="0"/>
              <a:t>단까지 구구단을 작성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762A95-B94B-4C28-BB57-67EC0CC71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06" y="1690689"/>
            <a:ext cx="6890994" cy="4716377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2186A0B1-0554-4331-AB9A-54049E2C5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00113" y="3429000"/>
            <a:ext cx="1416550" cy="2799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57896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E52FCE1-FB39-482F-B3FF-33B0CC40B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1209675"/>
            <a:ext cx="8353425" cy="4438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6195494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2: 2</a:t>
            </a:r>
            <a:r>
              <a:rPr lang="ko-KR" altLang="en-US" dirty="0"/>
              <a:t>중 중첩을 이용한 구구단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939" y="1772816"/>
            <a:ext cx="7075976" cy="24622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defTabSz="180000" fontAlgn="base" latinLnBrk="0">
              <a:defRPr sz="1400"/>
            </a:lvl1pPr>
          </a:lstStyle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NestedLoop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main(String[]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=1;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&lt;10;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++)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 // 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단에서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단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j=1; j&lt;10;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j++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각 단의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구구셈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출력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+ "*" + j + "=" +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*j); //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구구셈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출력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('\t');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하나씩 탭으로 띄기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한 단이 끝나면 다음 줄로 커서 이동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6630" y="1342509"/>
            <a:ext cx="7983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 중첩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for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문을 사용하여 구구단을 출력하는 프로그램을 작성하시오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 줄에 한 단씩 출력한다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8965" y="4437112"/>
            <a:ext cx="7099379" cy="1754326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1*1=1	1*2=2	1*3=3	1*4=4	1*5=5	1*6=6	1*7=7	1*8=8	1*9=9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2*1=2	2*2=4	2*3=6	2*4=8	2*5=10	2*6=12	2*7=14	2*8=16	2*9=18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3*1=3	3*2=6	3*3=9	3*4=12	3*5=15	3*6=18	3*7=21	3*8=24	3*9=27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4*1=4	4*2=8	4*3=12	4*4=16	4*5=20	4*6=24	4*7=28	4*8=32	4*9=36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5*1=5	5*2=10	5*3=15	5*4=20	5*5=25	5*6=30	5*7=35	5*8=40	5*9=45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6*1=6	6*2=12	6*3=18	6*4=24	6*5=30	6*6=36	6*7=42	6*8=48	6*9=54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7*1=7	7*2=14	7*3=21	7*4=28	7*5=35	7*6=42	7*7=49	7*8=56	7*9=63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8*1=8	8*2=16	8*3=24	8*4=32	8*5=40	8*6=48	8*7=56	8*8=64	8*9=72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9*1=9	9*2=18	9*3=27	9*4=36	9*5=45	9*6=54	9*7=63	9*8=72	9*9=81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8724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문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>
          <a:xfrm>
            <a:off x="63500" y="594021"/>
            <a:ext cx="8963994" cy="5669958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구구단에서 변수 </a:t>
            </a:r>
            <a:r>
              <a:rPr lang="en-US" altLang="ko-KR" err="1"/>
              <a:t>i</a:t>
            </a:r>
            <a:r>
              <a:rPr lang="ko-KR" altLang="en-US"/>
              <a:t>와 </a:t>
            </a:r>
            <a:r>
              <a:rPr lang="en-US" altLang="ko-KR"/>
              <a:t>k</a:t>
            </a:r>
            <a:r>
              <a:rPr lang="ko-KR" altLang="en-US"/>
              <a:t>의 추출</a:t>
            </a:r>
            <a:r>
              <a:rPr lang="en-US" altLang="ko-KR"/>
              <a:t>(</a:t>
            </a:r>
            <a:r>
              <a:rPr lang="ko-KR" altLang="en-US"/>
              <a:t>가로를 먼저 출력하는 경우</a:t>
            </a:r>
            <a:r>
              <a:rPr lang="en-US" altLang="ko-KR"/>
              <a:t>)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68" y="1350662"/>
            <a:ext cx="7610257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01054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/>
              <a:t>Section</a:t>
            </a:r>
            <a:r>
              <a:rPr lang="en-US" altLang="ko-KR"/>
              <a:t> 02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문</a:t>
            </a:r>
            <a:r>
              <a:rPr lang="en-US" altLang="ko-KR"/>
              <a:t>(10)</a:t>
            </a:r>
            <a:endParaRPr lang="ko-KR" altLang="en-US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4852" y="1586077"/>
            <a:ext cx="7845925" cy="279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31625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406D77E-BDF3-489D-8F07-01AFEFEAD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8" y="1443877"/>
            <a:ext cx="8983744" cy="3826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941652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492896"/>
            <a:ext cx="7052310" cy="123063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2503180"/>
          </a:xfrm>
        </p:spPr>
        <p:txBody>
          <a:bodyPr>
            <a:normAutofit/>
          </a:bodyPr>
          <a:lstStyle/>
          <a:p>
            <a:r>
              <a:rPr lang="en-US" altLang="ko-KR" dirty="0"/>
              <a:t>continue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 err="1"/>
              <a:t>반복문을</a:t>
            </a:r>
            <a:r>
              <a:rPr lang="ko-KR" altLang="en-US" dirty="0"/>
              <a:t> 빠져 나가지 않으면서 다음 반복으로 진행</a:t>
            </a:r>
            <a:endParaRPr lang="en-US" altLang="ko-KR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모서리가 둥근 사각형 설명선 15"/>
          <p:cNvSpPr/>
          <p:nvPr/>
        </p:nvSpPr>
        <p:spPr>
          <a:xfrm>
            <a:off x="2411760" y="3814082"/>
            <a:ext cx="720080" cy="258126"/>
          </a:xfrm>
          <a:prstGeom prst="wedgeRoundRectCallout">
            <a:avLst>
              <a:gd name="adj1" fmla="val -30586"/>
              <a:gd name="adj2" fmla="val -32026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분기</a:t>
            </a:r>
          </a:p>
        </p:txBody>
      </p:sp>
      <p:sp>
        <p:nvSpPr>
          <p:cNvPr id="19" name="모서리가 둥근 사각형 설명선 18"/>
          <p:cNvSpPr/>
          <p:nvPr/>
        </p:nvSpPr>
        <p:spPr>
          <a:xfrm>
            <a:off x="4427984" y="4063075"/>
            <a:ext cx="890049" cy="345087"/>
          </a:xfrm>
          <a:prstGeom prst="wedgeRoundRectCallout">
            <a:avLst>
              <a:gd name="adj1" fmla="val 36283"/>
              <a:gd name="adj2" fmla="val -3374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조건식으로분기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모서리가 둥근 사각형 설명선 20"/>
          <p:cNvSpPr/>
          <p:nvPr/>
        </p:nvSpPr>
        <p:spPr>
          <a:xfrm>
            <a:off x="7308304" y="3943145"/>
            <a:ext cx="890049" cy="345087"/>
          </a:xfrm>
          <a:prstGeom prst="wedgeRoundRectCallout">
            <a:avLst>
              <a:gd name="adj1" fmla="val -38078"/>
              <a:gd name="adj2" fmla="val -24907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조건식으로분기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3573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break</a:t>
            </a:r>
            <a:r>
              <a:rPr lang="ko-KR" altLang="en-US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break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 err="1"/>
              <a:t>반복문</a:t>
            </a:r>
            <a:r>
              <a:rPr lang="ko-KR" altLang="en-US" dirty="0"/>
              <a:t> 하나를 완전히 빠져 나갈 때 사용</a:t>
            </a:r>
            <a:endParaRPr lang="en-US" altLang="ko-KR" dirty="0"/>
          </a:p>
          <a:p>
            <a:pPr lvl="2"/>
            <a:r>
              <a:rPr lang="ko-KR" altLang="en-US" dirty="0"/>
              <a:t>하나의 </a:t>
            </a:r>
            <a:r>
              <a:rPr lang="ko-KR" altLang="en-US" dirty="0" err="1"/>
              <a:t>반복문만</a:t>
            </a:r>
            <a:r>
              <a:rPr lang="ko-KR" altLang="en-US" dirty="0"/>
              <a:t> 벗어남</a:t>
            </a:r>
            <a:endParaRPr lang="en-US" altLang="ko-KR" dirty="0"/>
          </a:p>
          <a:p>
            <a:pPr lvl="2"/>
            <a:r>
              <a:rPr lang="ko-KR" altLang="en-US" dirty="0"/>
              <a:t>중첩 반복의 경우 안쪽 반복문의 </a:t>
            </a:r>
            <a:r>
              <a:rPr lang="en-US" altLang="ko-KR" dirty="0"/>
              <a:t>break </a:t>
            </a:r>
            <a:r>
              <a:rPr lang="ko-KR" altLang="en-US" dirty="0"/>
              <a:t>문이 실행되면 안쪽</a:t>
            </a:r>
            <a:r>
              <a:rPr lang="en-US" altLang="ko-KR" dirty="0"/>
              <a:t> </a:t>
            </a:r>
            <a:r>
              <a:rPr lang="ko-KR" altLang="en-US" dirty="0" err="1"/>
              <a:t>반복문만</a:t>
            </a:r>
            <a:r>
              <a:rPr lang="ko-KR" altLang="en-US" dirty="0"/>
              <a:t> 벗어남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3356992"/>
            <a:ext cx="7178040" cy="250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672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628650" y="184006"/>
            <a:ext cx="7886700" cy="768496"/>
          </a:xfrm>
        </p:spPr>
        <p:txBody>
          <a:bodyPr/>
          <a:lstStyle/>
          <a:p>
            <a:r>
              <a:rPr lang="en-US" altLang="ko-KR" dirty="0"/>
              <a:t>break</a:t>
            </a:r>
            <a:r>
              <a:rPr lang="ko-KR" altLang="en-US" dirty="0"/>
              <a:t> </a:t>
            </a:r>
            <a:r>
              <a:rPr lang="en-US" altLang="ko-KR" dirty="0"/>
              <a:t>/continue</a:t>
            </a:r>
            <a:r>
              <a:rPr lang="ko-KR" altLang="en-US" dirty="0"/>
              <a:t>문 </a:t>
            </a:r>
            <a:r>
              <a:rPr lang="en-US" altLang="ko-KR" dirty="0"/>
              <a:t>for </a:t>
            </a:r>
            <a:r>
              <a:rPr lang="ko-KR" altLang="en-US" dirty="0"/>
              <a:t>실습 예제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F83C6CB-347C-4ED0-ADD3-4AA75AAB0BB9}"/>
              </a:ext>
            </a:extLst>
          </p:cNvPr>
          <p:cNvGrpSpPr/>
          <p:nvPr/>
        </p:nvGrpSpPr>
        <p:grpSpPr>
          <a:xfrm>
            <a:off x="503345" y="1497473"/>
            <a:ext cx="8012005" cy="5004278"/>
            <a:chOff x="503345" y="1284349"/>
            <a:chExt cx="8012005" cy="500427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A023E00-C825-4A6B-9108-6918AFB12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2395" y="1284349"/>
              <a:ext cx="4743450" cy="23717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58E1B86-1416-4702-9CC8-55325EB44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677" y="1893255"/>
              <a:ext cx="2343150" cy="7810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5F76FF9-CBB8-4895-804A-DFDFC0CBC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345" y="3907377"/>
              <a:ext cx="4762500" cy="23812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C14F268-FA1D-4B3E-8470-5E8E8D405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19725" y="4532743"/>
              <a:ext cx="3095625" cy="8286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</p:spTree>
    <p:extLst>
      <p:ext uri="{BB962C8B-B14F-4D97-AF65-F5344CB8AC3E}">
        <p14:creationId xmlns:p14="http://schemas.microsoft.com/office/powerpoint/2010/main" val="7501010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548751" y="214310"/>
            <a:ext cx="7886700" cy="768496"/>
          </a:xfrm>
        </p:spPr>
        <p:txBody>
          <a:bodyPr/>
          <a:lstStyle/>
          <a:p>
            <a:r>
              <a:rPr lang="en-US" altLang="ko-KR" dirty="0"/>
              <a:t>break</a:t>
            </a:r>
            <a:r>
              <a:rPr lang="ko-KR" altLang="en-US" dirty="0"/>
              <a:t> </a:t>
            </a:r>
            <a:r>
              <a:rPr lang="en-US" altLang="ko-KR" dirty="0"/>
              <a:t>/continue</a:t>
            </a:r>
            <a:r>
              <a:rPr lang="ko-KR" altLang="en-US" dirty="0"/>
              <a:t>문 </a:t>
            </a:r>
            <a:r>
              <a:rPr lang="en-US" altLang="ko-KR" dirty="0"/>
              <a:t>while </a:t>
            </a:r>
            <a:r>
              <a:rPr lang="ko-KR" altLang="en-US" dirty="0"/>
              <a:t>실습 예제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D080763-0D04-4C7F-AE91-1382C092ABE2}"/>
              </a:ext>
            </a:extLst>
          </p:cNvPr>
          <p:cNvGrpSpPr/>
          <p:nvPr/>
        </p:nvGrpSpPr>
        <p:grpSpPr>
          <a:xfrm>
            <a:off x="628650" y="1662667"/>
            <a:ext cx="7600995" cy="4781334"/>
            <a:chOff x="628650" y="1217490"/>
            <a:chExt cx="7600995" cy="4781334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3333514E-78E8-4A30-ADEC-C1A33A3B0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1" y="1217490"/>
              <a:ext cx="4066884" cy="23069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41EA276-C336-4709-9D12-A3906DA44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2570" y="1809472"/>
              <a:ext cx="3267075" cy="8953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755AFA6-8430-4204-AA61-AE4945D96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650" y="3691878"/>
              <a:ext cx="4019559" cy="23069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809AF9D-33C3-4419-B642-020A2BD74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2569" y="4153179"/>
              <a:ext cx="3267075" cy="8953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</p:spTree>
    <p:extLst>
      <p:ext uri="{BB962C8B-B14F-4D97-AF65-F5344CB8AC3E}">
        <p14:creationId xmlns:p14="http://schemas.microsoft.com/office/powerpoint/2010/main" val="951628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1560" y="228600"/>
            <a:ext cx="8496944" cy="680120"/>
          </a:xfrm>
        </p:spPr>
        <p:txBody>
          <a:bodyPr>
            <a:normAutofit fontScale="90000"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3 : continue </a:t>
            </a:r>
            <a:r>
              <a:rPr lang="ko-KR" altLang="en-US" dirty="0"/>
              <a:t>문을 이용하여 양수 합 구하기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560" y="1855693"/>
            <a:ext cx="5300026" cy="44012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defTabSz="180000" fontAlgn="base" latinLnBrk="0">
              <a:defRPr sz="1400"/>
            </a:lvl1pPr>
          </a:lstStyle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ContinueExample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main(String[]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Scanner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Scanner(System.in);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 입력하세요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sum=0;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=0;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&lt;5;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++)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n =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키보드에서 정수 입력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if(n&lt;=0) 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continue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양수가 아닌 경우 다음 반복으로 진행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else 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sum += n;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양수인 경우 덧셈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양수의 합은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sum);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scanner.close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675" y="1358375"/>
            <a:ext cx="7816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개의 정수를 입력 받고 그 중 양수들만 합하여 출력하는 프로그램을 작성하라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22218" y="4646651"/>
            <a:ext cx="2332822" cy="1600438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 입력하세요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-2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-4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양수의 합은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21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 5"/>
          <p:cNvSpPr/>
          <p:nvPr/>
        </p:nvSpPr>
        <p:spPr>
          <a:xfrm>
            <a:off x="2599218" y="3556415"/>
            <a:ext cx="2962575" cy="785510"/>
          </a:xfrm>
          <a:custGeom>
            <a:avLst/>
            <a:gdLst>
              <a:gd name="connsiteX0" fmla="*/ 2953283 w 3028961"/>
              <a:gd name="connsiteY0" fmla="*/ 785510 h 785510"/>
              <a:gd name="connsiteX1" fmla="*/ 3006377 w 3028961"/>
              <a:gd name="connsiteY1" fmla="*/ 443348 h 785510"/>
              <a:gd name="connsiteX2" fmla="*/ 2752705 w 3028961"/>
              <a:gd name="connsiteY2" fmla="*/ 195575 h 785510"/>
              <a:gd name="connsiteX3" fmla="*/ 422460 w 3028961"/>
              <a:gd name="connsiteY3" fmla="*/ 896 h 785510"/>
              <a:gd name="connsiteX4" fmla="*/ 9505 w 3028961"/>
              <a:gd name="connsiteY4" fmla="*/ 136581 h 785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8961" h="785510">
                <a:moveTo>
                  <a:pt x="2953283" y="785510"/>
                </a:moveTo>
                <a:cubicBezTo>
                  <a:pt x="2996545" y="663590"/>
                  <a:pt x="3039807" y="541670"/>
                  <a:pt x="3006377" y="443348"/>
                </a:cubicBezTo>
                <a:cubicBezTo>
                  <a:pt x="2972947" y="345026"/>
                  <a:pt x="3183358" y="269317"/>
                  <a:pt x="2752705" y="195575"/>
                </a:cubicBezTo>
                <a:cubicBezTo>
                  <a:pt x="2322052" y="121833"/>
                  <a:pt x="879660" y="10728"/>
                  <a:pt x="422460" y="896"/>
                </a:cubicBezTo>
                <a:cubicBezTo>
                  <a:pt x="-34740" y="-8936"/>
                  <a:pt x="-12618" y="63822"/>
                  <a:pt x="9505" y="136581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37682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78253"/>
          </a:xfrm>
        </p:spPr>
        <p:txBody>
          <a:bodyPr>
            <a:normAutofit fontScale="90000"/>
          </a:bodyPr>
          <a:lstStyle/>
          <a:p>
            <a:r>
              <a:rPr lang="ko-KR" altLang="en-US" b="0" dirty="0"/>
              <a:t>예제</a:t>
            </a:r>
            <a:r>
              <a:rPr lang="en-US" altLang="ko-KR" b="0" dirty="0"/>
              <a:t>: while</a:t>
            </a:r>
            <a:r>
              <a:rPr lang="ko-KR" altLang="en-US" b="0" dirty="0"/>
              <a:t>문 무한루프 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D8E9153-772A-4E34-B84F-0C7E2D1749E0}"/>
              </a:ext>
            </a:extLst>
          </p:cNvPr>
          <p:cNvGrpSpPr/>
          <p:nvPr/>
        </p:nvGrpSpPr>
        <p:grpSpPr>
          <a:xfrm>
            <a:off x="143730" y="2353846"/>
            <a:ext cx="8856539" cy="4139028"/>
            <a:chOff x="101030" y="930121"/>
            <a:chExt cx="9042970" cy="415026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7599399-CF91-4AD1-8167-65C7B2C43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030" y="930121"/>
              <a:ext cx="6326404" cy="415026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9730760-3DF9-4172-AFFE-15133856D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5425" y="1705484"/>
              <a:ext cx="3838575" cy="2257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</p:spTree>
    <p:extLst>
      <p:ext uri="{BB962C8B-B14F-4D97-AF65-F5344CB8AC3E}">
        <p14:creationId xmlns:p14="http://schemas.microsoft.com/office/powerpoint/2010/main" val="6562868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5787" y="141353"/>
            <a:ext cx="7893913" cy="788971"/>
          </a:xfrm>
        </p:spPr>
        <p:txBody>
          <a:bodyPr>
            <a:noAutofit/>
          </a:bodyPr>
          <a:lstStyle/>
          <a:p>
            <a:r>
              <a:rPr lang="ko-KR" altLang="en-US" sz="1800" b="0" dirty="0"/>
              <a:t>예제</a:t>
            </a:r>
            <a:r>
              <a:rPr lang="en-US" altLang="ko-KR" sz="1800" b="0" dirty="0"/>
              <a:t>: </a:t>
            </a:r>
            <a:r>
              <a:rPr lang="ko-KR" altLang="en-US" sz="1800" dirty="0"/>
              <a:t>구구단을 짜되 </a:t>
            </a:r>
            <a:r>
              <a:rPr lang="en-US" altLang="ko-KR" sz="1800" dirty="0"/>
              <a:t>5</a:t>
            </a:r>
            <a:r>
              <a:rPr lang="ko-KR" altLang="en-US" sz="1800" dirty="0"/>
              <a:t>단과 </a:t>
            </a:r>
            <a:r>
              <a:rPr lang="en-US" altLang="ko-KR" sz="1800" dirty="0"/>
              <a:t>9</a:t>
            </a:r>
            <a:r>
              <a:rPr lang="ko-KR" altLang="en-US" sz="1800" dirty="0"/>
              <a:t>단을 제외하고 출력하고 곱해지는 값이 단보다 크면 탈출 </a:t>
            </a:r>
            <a:r>
              <a:rPr lang="ko-KR" altLang="en-US" sz="1800" dirty="0" err="1"/>
              <a:t>하시오</a:t>
            </a:r>
            <a:r>
              <a:rPr lang="ko-KR" altLang="en-US" sz="1800" dirty="0"/>
              <a:t> 예를 들어 </a:t>
            </a:r>
            <a:r>
              <a:rPr lang="en-US" altLang="ko-KR" sz="1800" dirty="0"/>
              <a:t>2</a:t>
            </a:r>
            <a:r>
              <a:rPr lang="ko-KR" altLang="en-US" sz="1800" dirty="0"/>
              <a:t>단은 </a:t>
            </a:r>
            <a:r>
              <a:rPr lang="en-US" altLang="ko-KR" sz="1800" dirty="0"/>
              <a:t>2*2 </a:t>
            </a:r>
            <a:r>
              <a:rPr lang="ko-KR" altLang="en-US" sz="1800" dirty="0"/>
              <a:t>까지만 </a:t>
            </a:r>
            <a:r>
              <a:rPr lang="en-US" altLang="ko-KR" sz="1800" dirty="0"/>
              <a:t>3</a:t>
            </a:r>
            <a:r>
              <a:rPr lang="ko-KR" altLang="en-US" sz="1800" dirty="0"/>
              <a:t>단은 </a:t>
            </a:r>
            <a:r>
              <a:rPr lang="en-US" altLang="ko-KR" sz="1800" dirty="0"/>
              <a:t>3*3 </a:t>
            </a:r>
            <a:r>
              <a:rPr lang="ko-KR" altLang="en-US" sz="1800" dirty="0"/>
              <a:t>까지만 </a:t>
            </a:r>
            <a:r>
              <a:rPr lang="en-US" altLang="ko-KR" sz="1800" dirty="0"/>
              <a:t>....</a:t>
            </a:r>
            <a:endParaRPr lang="ko-KR" altLang="en-US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DC2601-D6A4-44A9-BB7C-BCCCCD5C9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616011"/>
            <a:ext cx="4091948" cy="50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958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0A4E57-56BB-4CDE-812F-C785F8879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76" y="750809"/>
            <a:ext cx="8113849" cy="47533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577645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1686" y="1700808"/>
            <a:ext cx="6964650" cy="41549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defTabSz="180000" fontAlgn="base" latinLnBrk="0">
              <a:defRPr sz="1400"/>
            </a:lvl1pPr>
          </a:lstStyle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WhileSample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main(String[]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count=0; // count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입력된 정수의 개수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sum=0; // sum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은 합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Scanner(System.in);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입력하고 마지막에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을 입력하세요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n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 입력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while(n != -1)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 // -1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 입력되면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while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문 벗어남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sum += n;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count++;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 입력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if(count == 0)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입력된 수가 없습니다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else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정수의 개수는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count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개이며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평균은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(double)sum/count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scanner.close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351840" cy="680120"/>
          </a:xfrm>
        </p:spPr>
        <p:txBody>
          <a:bodyPr>
            <a:noAutofit/>
          </a:bodyPr>
          <a:lstStyle/>
          <a:p>
            <a:r>
              <a:rPr lang="ko-KR" altLang="en-US" sz="2400" dirty="0"/>
              <a:t>예제 </a:t>
            </a:r>
            <a:r>
              <a:rPr lang="en-US" altLang="ko-KR" sz="2400" dirty="0"/>
              <a:t>3-2 : -1</a:t>
            </a:r>
            <a:r>
              <a:rPr lang="ko-KR" altLang="en-US" sz="2400" dirty="0"/>
              <a:t>이 입력될 때까지 입력된 수의 평균 구하기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560" y="1282991"/>
            <a:ext cx="7816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while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문을 이용하여 정수를 여러 개 입력 받고 평균을 출력하라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-1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입력되면 입력을 종료한다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1686" y="5922075"/>
            <a:ext cx="6962648" cy="646331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입력하고 마지막에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을 입력하세요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 30 –20 40 -1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정수의 개수는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개이며 평균은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15.0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사각형 설명선 8"/>
          <p:cNvSpPr/>
          <p:nvPr/>
        </p:nvSpPr>
        <p:spPr>
          <a:xfrm>
            <a:off x="4016062" y="6064350"/>
            <a:ext cx="1656184" cy="324036"/>
          </a:xfrm>
          <a:prstGeom prst="wedgeRoundRectCallout">
            <a:avLst>
              <a:gd name="adj1" fmla="val -180685"/>
              <a:gd name="adj2" fmla="val 537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은 마지막 입력을 뜻함</a:t>
            </a:r>
          </a:p>
        </p:txBody>
      </p:sp>
    </p:spTree>
    <p:extLst>
      <p:ext uri="{BB962C8B-B14F-4D97-AF65-F5344CB8AC3E}">
        <p14:creationId xmlns:p14="http://schemas.microsoft.com/office/powerpoint/2010/main" val="32910276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700070"/>
          </a:xfrm>
        </p:spPr>
        <p:txBody>
          <a:bodyPr/>
          <a:lstStyle/>
          <a:p>
            <a:r>
              <a:rPr lang="en-US" altLang="ko-KR" dirty="0"/>
              <a:t>do-while </a:t>
            </a:r>
            <a:r>
              <a:rPr lang="ko-KR" altLang="en-US" dirty="0"/>
              <a:t>문의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3767" y="5219612"/>
            <a:ext cx="411362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무조건 최소 한번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작업문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3768" y="5661248"/>
            <a:ext cx="4113627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반복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조건이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true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이면 반복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false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이면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반복 종료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반복 조건이 없으며 컴파일 오류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슬라이드 번호 개체 틀 3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927" y="1444022"/>
            <a:ext cx="56102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0400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700070"/>
          </a:xfrm>
        </p:spPr>
        <p:txBody>
          <a:bodyPr/>
          <a:lstStyle/>
          <a:p>
            <a:r>
              <a:rPr lang="en-US" altLang="ko-KR" dirty="0"/>
              <a:t>do-while</a:t>
            </a:r>
            <a:r>
              <a:rPr lang="ko-KR" altLang="en-US" dirty="0"/>
              <a:t>문의 실행 과정을 나타내는 순서도</a:t>
            </a:r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844824"/>
            <a:ext cx="650557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584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492896"/>
            <a:ext cx="7052310" cy="123063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2503180"/>
          </a:xfrm>
        </p:spPr>
        <p:txBody>
          <a:bodyPr>
            <a:normAutofit/>
          </a:bodyPr>
          <a:lstStyle/>
          <a:p>
            <a:r>
              <a:rPr lang="en-US" altLang="ko-KR" dirty="0"/>
              <a:t>continue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 err="1"/>
              <a:t>반복문을</a:t>
            </a:r>
            <a:r>
              <a:rPr lang="ko-KR" altLang="en-US" dirty="0"/>
              <a:t> 빠져 나가지 않으면서 다음 반복으로 진행</a:t>
            </a:r>
            <a:endParaRPr lang="en-US" altLang="ko-KR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모서리가 둥근 사각형 설명선 15"/>
          <p:cNvSpPr/>
          <p:nvPr/>
        </p:nvSpPr>
        <p:spPr>
          <a:xfrm>
            <a:off x="2411760" y="3814082"/>
            <a:ext cx="720080" cy="258126"/>
          </a:xfrm>
          <a:prstGeom prst="wedgeRoundRectCallout">
            <a:avLst>
              <a:gd name="adj1" fmla="val -30586"/>
              <a:gd name="adj2" fmla="val -32026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분기</a:t>
            </a:r>
          </a:p>
        </p:txBody>
      </p:sp>
      <p:sp>
        <p:nvSpPr>
          <p:cNvPr id="19" name="모서리가 둥근 사각형 설명선 18"/>
          <p:cNvSpPr/>
          <p:nvPr/>
        </p:nvSpPr>
        <p:spPr>
          <a:xfrm>
            <a:off x="4427984" y="4063075"/>
            <a:ext cx="890049" cy="345087"/>
          </a:xfrm>
          <a:prstGeom prst="wedgeRoundRectCallout">
            <a:avLst>
              <a:gd name="adj1" fmla="val 36283"/>
              <a:gd name="adj2" fmla="val -3374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조건식으로분기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모서리가 둥근 사각형 설명선 20"/>
          <p:cNvSpPr/>
          <p:nvPr/>
        </p:nvSpPr>
        <p:spPr>
          <a:xfrm>
            <a:off x="7308304" y="3943145"/>
            <a:ext cx="890049" cy="345087"/>
          </a:xfrm>
          <a:prstGeom prst="wedgeRoundRectCallout">
            <a:avLst>
              <a:gd name="adj1" fmla="val -38078"/>
              <a:gd name="adj2" fmla="val -24907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조건식으로분기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04601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break</a:t>
            </a:r>
            <a:r>
              <a:rPr lang="ko-KR" altLang="en-US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break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 err="1"/>
              <a:t>반복문</a:t>
            </a:r>
            <a:r>
              <a:rPr lang="ko-KR" altLang="en-US" dirty="0"/>
              <a:t> 하나를 완전히 빠져 나갈 때 사용</a:t>
            </a:r>
            <a:endParaRPr lang="en-US" altLang="ko-KR" dirty="0"/>
          </a:p>
          <a:p>
            <a:pPr lvl="2"/>
            <a:r>
              <a:rPr lang="ko-KR" altLang="en-US" dirty="0"/>
              <a:t>하나의 </a:t>
            </a:r>
            <a:r>
              <a:rPr lang="ko-KR" altLang="en-US" dirty="0" err="1"/>
              <a:t>반복문만</a:t>
            </a:r>
            <a:r>
              <a:rPr lang="ko-KR" altLang="en-US" dirty="0"/>
              <a:t> 벗어남</a:t>
            </a:r>
            <a:endParaRPr lang="en-US" altLang="ko-KR" dirty="0"/>
          </a:p>
          <a:p>
            <a:pPr lvl="2"/>
            <a:r>
              <a:rPr lang="ko-KR" altLang="en-US" dirty="0"/>
              <a:t>중첩 반복의 경우 안쪽 반복문의 </a:t>
            </a:r>
            <a:r>
              <a:rPr lang="en-US" altLang="ko-KR" dirty="0"/>
              <a:t>break </a:t>
            </a:r>
            <a:r>
              <a:rPr lang="ko-KR" altLang="en-US" dirty="0"/>
              <a:t>문이 실행되면 안쪽</a:t>
            </a:r>
            <a:r>
              <a:rPr lang="en-US" altLang="ko-KR" dirty="0"/>
              <a:t> </a:t>
            </a:r>
            <a:r>
              <a:rPr lang="ko-KR" altLang="en-US" dirty="0" err="1"/>
              <a:t>반복문만</a:t>
            </a:r>
            <a:r>
              <a:rPr lang="ko-KR" altLang="en-US" dirty="0"/>
              <a:t> 벗어남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3356992"/>
            <a:ext cx="7178040" cy="250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792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628650" y="184006"/>
            <a:ext cx="7886700" cy="768496"/>
          </a:xfrm>
        </p:spPr>
        <p:txBody>
          <a:bodyPr/>
          <a:lstStyle/>
          <a:p>
            <a:r>
              <a:rPr lang="en-US" altLang="ko-KR" dirty="0"/>
              <a:t>break</a:t>
            </a:r>
            <a:r>
              <a:rPr lang="ko-KR" altLang="en-US" dirty="0"/>
              <a:t> </a:t>
            </a:r>
            <a:r>
              <a:rPr lang="en-US" altLang="ko-KR" dirty="0"/>
              <a:t>/continue</a:t>
            </a:r>
            <a:r>
              <a:rPr lang="ko-KR" altLang="en-US" dirty="0"/>
              <a:t>문 </a:t>
            </a:r>
            <a:r>
              <a:rPr lang="en-US" altLang="ko-KR" dirty="0"/>
              <a:t>for </a:t>
            </a:r>
            <a:r>
              <a:rPr lang="ko-KR" altLang="en-US" dirty="0"/>
              <a:t>실습 예제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F83C6CB-347C-4ED0-ADD3-4AA75AAB0BB9}"/>
              </a:ext>
            </a:extLst>
          </p:cNvPr>
          <p:cNvGrpSpPr/>
          <p:nvPr/>
        </p:nvGrpSpPr>
        <p:grpSpPr>
          <a:xfrm>
            <a:off x="503345" y="1497473"/>
            <a:ext cx="8012005" cy="5004278"/>
            <a:chOff x="503345" y="1284349"/>
            <a:chExt cx="8012005" cy="500427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A023E00-C825-4A6B-9108-6918AFB12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2395" y="1284349"/>
              <a:ext cx="4743450" cy="23717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58E1B86-1416-4702-9CC8-55325EB44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677" y="1893255"/>
              <a:ext cx="2343150" cy="7810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5F76FF9-CBB8-4895-804A-DFDFC0CBC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345" y="3907377"/>
              <a:ext cx="4762500" cy="23812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C14F268-FA1D-4B3E-8470-5E8E8D405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19725" y="4532743"/>
              <a:ext cx="3095625" cy="8286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</p:spTree>
    <p:extLst>
      <p:ext uri="{BB962C8B-B14F-4D97-AF65-F5344CB8AC3E}">
        <p14:creationId xmlns:p14="http://schemas.microsoft.com/office/powerpoint/2010/main" val="19323286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548751" y="214310"/>
            <a:ext cx="7886700" cy="768496"/>
          </a:xfrm>
        </p:spPr>
        <p:txBody>
          <a:bodyPr/>
          <a:lstStyle/>
          <a:p>
            <a:r>
              <a:rPr lang="en-US" altLang="ko-KR" dirty="0"/>
              <a:t>break</a:t>
            </a:r>
            <a:r>
              <a:rPr lang="ko-KR" altLang="en-US" dirty="0"/>
              <a:t> </a:t>
            </a:r>
            <a:r>
              <a:rPr lang="en-US" altLang="ko-KR" dirty="0"/>
              <a:t>/continue</a:t>
            </a:r>
            <a:r>
              <a:rPr lang="ko-KR" altLang="en-US" dirty="0"/>
              <a:t>문 </a:t>
            </a:r>
            <a:r>
              <a:rPr lang="en-US" altLang="ko-KR" dirty="0"/>
              <a:t>while </a:t>
            </a:r>
            <a:r>
              <a:rPr lang="ko-KR" altLang="en-US" dirty="0"/>
              <a:t>실습 예제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D080763-0D04-4C7F-AE91-1382C092ABE2}"/>
              </a:ext>
            </a:extLst>
          </p:cNvPr>
          <p:cNvGrpSpPr/>
          <p:nvPr/>
        </p:nvGrpSpPr>
        <p:grpSpPr>
          <a:xfrm>
            <a:off x="628650" y="1662667"/>
            <a:ext cx="7600995" cy="4781334"/>
            <a:chOff x="628650" y="1217490"/>
            <a:chExt cx="7600995" cy="4781334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3333514E-78E8-4A30-ADEC-C1A33A3B0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1" y="1217490"/>
              <a:ext cx="4066884" cy="23069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41EA276-C336-4709-9D12-A3906DA44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2570" y="1809472"/>
              <a:ext cx="3267075" cy="8953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755AFA6-8430-4204-AA61-AE4945D96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650" y="3691878"/>
              <a:ext cx="4019559" cy="23069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809AF9D-33C3-4419-B642-020A2BD74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2569" y="4153179"/>
              <a:ext cx="3267075" cy="8953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</p:spTree>
    <p:extLst>
      <p:ext uri="{BB962C8B-B14F-4D97-AF65-F5344CB8AC3E}">
        <p14:creationId xmlns:p14="http://schemas.microsoft.com/office/powerpoint/2010/main" val="25886872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1560" y="228600"/>
            <a:ext cx="8496944" cy="680120"/>
          </a:xfrm>
        </p:spPr>
        <p:txBody>
          <a:bodyPr>
            <a:normAutofit fontScale="90000"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3 : continue </a:t>
            </a:r>
            <a:r>
              <a:rPr lang="ko-KR" altLang="en-US" dirty="0"/>
              <a:t>문을 이용하여 양수 합 구하기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560" y="1855693"/>
            <a:ext cx="5300026" cy="44012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defTabSz="180000" fontAlgn="base" latinLnBrk="0">
              <a:defRPr sz="1400"/>
            </a:lvl1pPr>
          </a:lstStyle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ContinueExample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main(String[]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Scanner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Scanner(System.in);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 입력하세요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sum=0;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=0;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&lt;5;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++)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n =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키보드에서 정수 입력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if(n&lt;=0) 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continue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양수가 아닌 경우 다음 반복으로 진행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else 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sum += n;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양수인 경우 덧셈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양수의 합은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sum);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scanner.close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675" y="1358375"/>
            <a:ext cx="7816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개의 정수를 입력 받고 그 중 양수들만 합하여 출력하는 프로그램을 작성하라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22218" y="4646651"/>
            <a:ext cx="2332822" cy="1600438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 입력하세요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-2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-4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양수의 합은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21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 5"/>
          <p:cNvSpPr/>
          <p:nvPr/>
        </p:nvSpPr>
        <p:spPr>
          <a:xfrm>
            <a:off x="2599218" y="3556415"/>
            <a:ext cx="2962575" cy="785510"/>
          </a:xfrm>
          <a:custGeom>
            <a:avLst/>
            <a:gdLst>
              <a:gd name="connsiteX0" fmla="*/ 2953283 w 3028961"/>
              <a:gd name="connsiteY0" fmla="*/ 785510 h 785510"/>
              <a:gd name="connsiteX1" fmla="*/ 3006377 w 3028961"/>
              <a:gd name="connsiteY1" fmla="*/ 443348 h 785510"/>
              <a:gd name="connsiteX2" fmla="*/ 2752705 w 3028961"/>
              <a:gd name="connsiteY2" fmla="*/ 195575 h 785510"/>
              <a:gd name="connsiteX3" fmla="*/ 422460 w 3028961"/>
              <a:gd name="connsiteY3" fmla="*/ 896 h 785510"/>
              <a:gd name="connsiteX4" fmla="*/ 9505 w 3028961"/>
              <a:gd name="connsiteY4" fmla="*/ 136581 h 785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8961" h="785510">
                <a:moveTo>
                  <a:pt x="2953283" y="785510"/>
                </a:moveTo>
                <a:cubicBezTo>
                  <a:pt x="2996545" y="663590"/>
                  <a:pt x="3039807" y="541670"/>
                  <a:pt x="3006377" y="443348"/>
                </a:cubicBezTo>
                <a:cubicBezTo>
                  <a:pt x="2972947" y="345026"/>
                  <a:pt x="3183358" y="269317"/>
                  <a:pt x="2752705" y="195575"/>
                </a:cubicBezTo>
                <a:cubicBezTo>
                  <a:pt x="2322052" y="121833"/>
                  <a:pt x="879660" y="10728"/>
                  <a:pt x="422460" y="896"/>
                </a:cubicBezTo>
                <a:cubicBezTo>
                  <a:pt x="-34740" y="-8936"/>
                  <a:pt x="-12618" y="63822"/>
                  <a:pt x="9505" y="136581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4180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78253"/>
          </a:xfrm>
        </p:spPr>
        <p:txBody>
          <a:bodyPr>
            <a:normAutofit fontScale="90000"/>
          </a:bodyPr>
          <a:lstStyle/>
          <a:p>
            <a:r>
              <a:rPr lang="ko-KR" altLang="en-US" b="0" dirty="0"/>
              <a:t>예제</a:t>
            </a:r>
            <a:r>
              <a:rPr lang="en-US" altLang="ko-KR" b="0" dirty="0"/>
              <a:t>: while</a:t>
            </a:r>
            <a:r>
              <a:rPr lang="ko-KR" altLang="en-US" b="0" dirty="0"/>
              <a:t>문 무한루프 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D8E9153-772A-4E34-B84F-0C7E2D1749E0}"/>
              </a:ext>
            </a:extLst>
          </p:cNvPr>
          <p:cNvGrpSpPr/>
          <p:nvPr/>
        </p:nvGrpSpPr>
        <p:grpSpPr>
          <a:xfrm>
            <a:off x="143730" y="2353846"/>
            <a:ext cx="8856539" cy="4139028"/>
            <a:chOff x="101030" y="930121"/>
            <a:chExt cx="9042970" cy="415026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7599399-CF91-4AD1-8167-65C7B2C43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030" y="930121"/>
              <a:ext cx="6326404" cy="415026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9730760-3DF9-4172-AFFE-15133856D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5425" y="1705484"/>
              <a:ext cx="3838575" cy="2257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</p:spTree>
    <p:extLst>
      <p:ext uri="{BB962C8B-B14F-4D97-AF65-F5344CB8AC3E}">
        <p14:creationId xmlns:p14="http://schemas.microsoft.com/office/powerpoint/2010/main" val="18049576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5787" y="141353"/>
            <a:ext cx="7893913" cy="788971"/>
          </a:xfrm>
        </p:spPr>
        <p:txBody>
          <a:bodyPr>
            <a:noAutofit/>
          </a:bodyPr>
          <a:lstStyle/>
          <a:p>
            <a:r>
              <a:rPr lang="ko-KR" altLang="en-US" sz="1800" b="0" dirty="0"/>
              <a:t>예제</a:t>
            </a:r>
            <a:r>
              <a:rPr lang="en-US" altLang="ko-KR" sz="1800" b="0" dirty="0"/>
              <a:t>: </a:t>
            </a:r>
            <a:r>
              <a:rPr lang="ko-KR" altLang="en-US" sz="1800" dirty="0"/>
              <a:t>구구단을 짜되 </a:t>
            </a:r>
            <a:r>
              <a:rPr lang="en-US" altLang="ko-KR" sz="1800" dirty="0"/>
              <a:t>5</a:t>
            </a:r>
            <a:r>
              <a:rPr lang="ko-KR" altLang="en-US" sz="1800" dirty="0"/>
              <a:t>단과 </a:t>
            </a:r>
            <a:r>
              <a:rPr lang="en-US" altLang="ko-KR" sz="1800" dirty="0"/>
              <a:t>9</a:t>
            </a:r>
            <a:r>
              <a:rPr lang="ko-KR" altLang="en-US" sz="1800" dirty="0"/>
              <a:t>단을 제외하고 출력하고 곱해지는 값이 단보다 크면 탈출 </a:t>
            </a:r>
            <a:r>
              <a:rPr lang="ko-KR" altLang="en-US" sz="1800" dirty="0" err="1"/>
              <a:t>하시오</a:t>
            </a:r>
            <a:r>
              <a:rPr lang="ko-KR" altLang="en-US" sz="1800" dirty="0"/>
              <a:t> 예를 들어 </a:t>
            </a:r>
            <a:r>
              <a:rPr lang="en-US" altLang="ko-KR" sz="1800" dirty="0"/>
              <a:t>2</a:t>
            </a:r>
            <a:r>
              <a:rPr lang="ko-KR" altLang="en-US" sz="1800" dirty="0"/>
              <a:t>단은 </a:t>
            </a:r>
            <a:r>
              <a:rPr lang="en-US" altLang="ko-KR" sz="1800" dirty="0"/>
              <a:t>2*2 </a:t>
            </a:r>
            <a:r>
              <a:rPr lang="ko-KR" altLang="en-US" sz="1800" dirty="0"/>
              <a:t>까지만 </a:t>
            </a:r>
            <a:r>
              <a:rPr lang="en-US" altLang="ko-KR" sz="1800" dirty="0"/>
              <a:t>3</a:t>
            </a:r>
            <a:r>
              <a:rPr lang="ko-KR" altLang="en-US" sz="1800" dirty="0"/>
              <a:t>단은 </a:t>
            </a:r>
            <a:r>
              <a:rPr lang="en-US" altLang="ko-KR" sz="1800" dirty="0"/>
              <a:t>3*3 </a:t>
            </a:r>
            <a:r>
              <a:rPr lang="ko-KR" altLang="en-US" sz="1800" dirty="0"/>
              <a:t>까지만 </a:t>
            </a:r>
            <a:r>
              <a:rPr lang="en-US" altLang="ko-KR" sz="1800" dirty="0"/>
              <a:t>....</a:t>
            </a:r>
            <a:endParaRPr lang="ko-KR" altLang="en-US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DC2601-D6A4-44A9-BB7C-BCCCCD5C9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616011"/>
            <a:ext cx="4091948" cy="50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090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0A4E57-56BB-4CDE-812F-C785F8879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76" y="750809"/>
            <a:ext cx="8113849" cy="47533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513152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이온(회의실)">
  <a:themeElements>
    <a:clrScheme name="이온(회의실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이온(회의실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(회의실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63F3F86B8564408C355D68F45A30F8" ma:contentTypeVersion="7" ma:contentTypeDescription="Create a new document." ma:contentTypeScope="" ma:versionID="f577b17cddb3cfa273a7c62723bccc67">
  <xsd:schema xmlns:xsd="http://www.w3.org/2001/XMLSchema" xmlns:xs="http://www.w3.org/2001/XMLSchema" xmlns:p="http://schemas.microsoft.com/office/2006/metadata/properties" xmlns:ns3="61eae400-1c71-451c-aeb3-9b02b189ef4d" targetNamespace="http://schemas.microsoft.com/office/2006/metadata/properties" ma:root="true" ma:fieldsID="1065bd026407ac9b6e927748b13693b2" ns3:_="">
    <xsd:import namespace="61eae400-1c71-451c-aeb3-9b02b189ef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ae400-1c71-451c-aeb3-9b02b189ef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53C193-8EB4-4F01-8210-CB6C287EDBE2}">
  <ds:schemaRefs>
    <ds:schemaRef ds:uri="http://schemas.microsoft.com/office/2006/metadata/properties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61eae400-1c71-451c-aeb3-9b02b189ef4d"/>
  </ds:schemaRefs>
</ds:datastoreItem>
</file>

<file path=customXml/itemProps2.xml><?xml version="1.0" encoding="utf-8"?>
<ds:datastoreItem xmlns:ds="http://schemas.openxmlformats.org/officeDocument/2006/customXml" ds:itemID="{67A74F1F-3D73-45DC-9598-4088A06F02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C5DB62-18EC-44F9-BEBF-DC5759BBD0CB}">
  <ds:schemaRefs>
    <ds:schemaRef ds:uri="61eae400-1c71-451c-aeb3-9b02b189ef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2825</Words>
  <Application>Microsoft Office PowerPoint</Application>
  <PresentationFormat>화면 슬라이드 쇼(4:3)</PresentationFormat>
  <Paragraphs>409</Paragraphs>
  <Slides>67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67</vt:i4>
      </vt:variant>
    </vt:vector>
  </HeadingPairs>
  <TitlesOfParts>
    <vt:vector size="78" baseType="lpstr">
      <vt:lpstr>굴림체</vt:lpstr>
      <vt:lpstr>맑은 고딕</vt:lpstr>
      <vt:lpstr>휴먼편지체</vt:lpstr>
      <vt:lpstr>Arial</vt:lpstr>
      <vt:lpstr>Century Gothic</vt:lpstr>
      <vt:lpstr>Century Schoolbook</vt:lpstr>
      <vt:lpstr>Wingdings</vt:lpstr>
      <vt:lpstr>Wingdings 2</vt:lpstr>
      <vt:lpstr>Wingdings 3</vt:lpstr>
      <vt:lpstr>이온(회의실)</vt:lpstr>
      <vt:lpstr>가을</vt:lpstr>
      <vt:lpstr>자바 프로그래밍응용</vt:lpstr>
      <vt:lpstr>단순 if문</vt:lpstr>
      <vt:lpstr>예제 2-10 : if문 사용하기 </vt:lpstr>
      <vt:lpstr>조건문 – if-else</vt:lpstr>
      <vt:lpstr>예제 2-11 : if-else 사용하기 </vt:lpstr>
      <vt:lpstr>예제: 짝수, 홀수 구별하기</vt:lpstr>
      <vt:lpstr>다중 if-else 문</vt:lpstr>
      <vt:lpstr>예제: 다중 if-else 문</vt:lpstr>
      <vt:lpstr>예제:</vt:lpstr>
      <vt:lpstr>확인학습</vt:lpstr>
      <vt:lpstr>LAB: 성적에 따라 학점 결정하기</vt:lpstr>
      <vt:lpstr>PowerPoint 프레젠테이션</vt:lpstr>
      <vt:lpstr>switch 선택 구조</vt:lpstr>
      <vt:lpstr>예제: 정수-&gt; 한글</vt:lpstr>
      <vt:lpstr>PowerPoint 프레젠테이션</vt:lpstr>
      <vt:lpstr>만약 break 문이 없다면</vt:lpstr>
      <vt:lpstr>LAB: 월의 일수 출력하기</vt:lpstr>
      <vt:lpstr>PowerPoint 프레젠테이션</vt:lpstr>
      <vt:lpstr>예제 : switch 문으로 학점 매기기</vt:lpstr>
      <vt:lpstr>예제 1 :두개의 정수를 입력 받아서 입력 받은 연산기호의  연산 수행 후 출력해주세요 (if문 사용)</vt:lpstr>
      <vt:lpstr>PowerPoint 프레젠테이션</vt:lpstr>
      <vt:lpstr> 예제2: 두개의 정수를 입력 받아서 입력 받은 연산기호의  연산 수행 후 출력해주세요 (switch문  사용)</vt:lpstr>
      <vt:lpstr>PowerPoint 프레젠테이션</vt:lpstr>
      <vt:lpstr>실습 예제: 세개의  정수를 입력 받아 가장 큰 수를 출력 해주세요 </vt:lpstr>
      <vt:lpstr> 예제1: 세개의  정수를 입력 받아 가장 큰 수를 출력 해주세요 </vt:lpstr>
      <vt:lpstr>PowerPoint 프레젠테이션</vt:lpstr>
      <vt:lpstr>if else와 조건 연산자</vt:lpstr>
      <vt:lpstr>PowerPoint 프레젠테이션</vt:lpstr>
      <vt:lpstr>  반복문 이란?</vt:lpstr>
      <vt:lpstr>for 문의 구성</vt:lpstr>
      <vt:lpstr>for 문의 실행 과정을 나타내는 순서도</vt:lpstr>
      <vt:lpstr>for문의 예시</vt:lpstr>
      <vt:lpstr>while 문의 구성</vt:lpstr>
      <vt:lpstr>while 문의 구조</vt:lpstr>
      <vt:lpstr>while문의 실행 과정을 나타내는 순서도</vt:lpstr>
      <vt:lpstr>예제: 0부터 9까지 출력하기</vt:lpstr>
      <vt:lpstr>예제: 구구단 출력</vt:lpstr>
      <vt:lpstr>PowerPoint 프레젠테이션</vt:lpstr>
      <vt:lpstr>예제 3-2 : -1이 입력될 때까지 입력된 수의 평균 구하기</vt:lpstr>
      <vt:lpstr>do-while 문의 구성</vt:lpstr>
      <vt:lpstr>do-while문의 실행 과정을 나타내는 순서도</vt:lpstr>
      <vt:lpstr>중첩 반복</vt:lpstr>
      <vt:lpstr>예제1 : 2단부터 9단까지 구구단을 작성</vt:lpstr>
      <vt:lpstr>PowerPoint 프레젠테이션</vt:lpstr>
      <vt:lpstr>예제 2: 2중 중첩을 이용한 구구단</vt:lpstr>
      <vt:lpstr>중첩 for 문</vt:lpstr>
      <vt:lpstr>Section 02 중첩 for 문(10)</vt:lpstr>
      <vt:lpstr>PowerPoint 프레젠테이션</vt:lpstr>
      <vt:lpstr>continue문</vt:lpstr>
      <vt:lpstr>break문</vt:lpstr>
      <vt:lpstr>break /continue문 for 실습 예제</vt:lpstr>
      <vt:lpstr>break /continue문 while 실습 예제</vt:lpstr>
      <vt:lpstr>예제 3 : continue 문을 이용하여 양수 합 구하기</vt:lpstr>
      <vt:lpstr>예제: while문 무한루프 </vt:lpstr>
      <vt:lpstr>예제: 구구단을 짜되 5단과 9단을 제외하고 출력하고 곱해지는 값이 단보다 크면 탈출 하시오 예를 들어 2단은 2*2 까지만 3단은 3*3 까지만 ....</vt:lpstr>
      <vt:lpstr>PowerPoint 프레젠테이션</vt:lpstr>
      <vt:lpstr>예제 3-2 : -1이 입력될 때까지 입력된 수의 평균 구하기</vt:lpstr>
      <vt:lpstr>do-while 문의 구성</vt:lpstr>
      <vt:lpstr>do-while문의 실행 과정을 나타내는 순서도</vt:lpstr>
      <vt:lpstr>continue문</vt:lpstr>
      <vt:lpstr>break문</vt:lpstr>
      <vt:lpstr>break /continue문 for 실습 예제</vt:lpstr>
      <vt:lpstr>break /continue문 while 실습 예제</vt:lpstr>
      <vt:lpstr>예제 3 : continue 문을 이용하여 양수 합 구하기</vt:lpstr>
      <vt:lpstr>예제: while문 무한루프 </vt:lpstr>
      <vt:lpstr>예제: 구구단을 짜되 5단과 9단을 제외하고 출력하고 곱해지는 값이 단보다 크면 탈출 하시오 예를 들어 2단은 2*2 까지만 3단은 3*3 까지만 ....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객체지향 프로그래밍</dc:title>
  <dc:creator>rxr</dc:creator>
  <cp:lastModifiedBy>오은성</cp:lastModifiedBy>
  <cp:revision>14</cp:revision>
  <dcterms:created xsi:type="dcterms:W3CDTF">2020-08-28T02:52:27Z</dcterms:created>
  <dcterms:modified xsi:type="dcterms:W3CDTF">2026-03-14T15:55:22Z</dcterms:modified>
</cp:coreProperties>
</file>