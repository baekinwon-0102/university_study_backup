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  <p:sldMasterId id="2147483744" r:id="rId5"/>
    <p:sldMasterId id="2147483756" r:id="rId6"/>
  </p:sldMasterIdLst>
  <p:notesMasterIdLst>
    <p:notesMasterId r:id="rId48"/>
  </p:notesMasterIdLst>
  <p:sldIdLst>
    <p:sldId id="276" r:id="rId7"/>
    <p:sldId id="750" r:id="rId8"/>
    <p:sldId id="324" r:id="rId9"/>
    <p:sldId id="325" r:id="rId10"/>
    <p:sldId id="326" r:id="rId11"/>
    <p:sldId id="260" r:id="rId12"/>
    <p:sldId id="261" r:id="rId13"/>
    <p:sldId id="262" r:id="rId14"/>
    <p:sldId id="327" r:id="rId15"/>
    <p:sldId id="328" r:id="rId16"/>
    <p:sldId id="329" r:id="rId17"/>
    <p:sldId id="264" r:id="rId18"/>
    <p:sldId id="265" r:id="rId19"/>
    <p:sldId id="266" r:id="rId20"/>
    <p:sldId id="267" r:id="rId21"/>
    <p:sldId id="268" r:id="rId22"/>
    <p:sldId id="331" r:id="rId23"/>
    <p:sldId id="314" r:id="rId24"/>
    <p:sldId id="751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753" r:id="rId33"/>
    <p:sldId id="315" r:id="rId34"/>
    <p:sldId id="316" r:id="rId35"/>
    <p:sldId id="317" r:id="rId36"/>
    <p:sldId id="318" r:id="rId37"/>
    <p:sldId id="319" r:id="rId38"/>
    <p:sldId id="730" r:id="rId39"/>
    <p:sldId id="731" r:id="rId40"/>
    <p:sldId id="732" r:id="rId41"/>
    <p:sldId id="733" r:id="rId42"/>
    <p:sldId id="703" r:id="rId43"/>
    <p:sldId id="734" r:id="rId44"/>
    <p:sldId id="754" r:id="rId45"/>
    <p:sldId id="735" r:id="rId46"/>
    <p:sldId id="736" r:id="rId4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234FD2-24B6-446C-A51D-4A82078EC7E2}" v="71" dt="2024-04-07T07:06:47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은성" userId="451a94f3-e55a-4745-8884-f48fbe464410" providerId="ADAL" clId="{C1234FD2-24B6-446C-A51D-4A82078EC7E2}"/>
    <pc:docChg chg="custSel addSld delSld modSld">
      <pc:chgData name="오은성" userId="451a94f3-e55a-4745-8884-f48fbe464410" providerId="ADAL" clId="{C1234FD2-24B6-446C-A51D-4A82078EC7E2}" dt="2024-04-07T07:06:47.140" v="134" actId="1076"/>
      <pc:docMkLst>
        <pc:docMk/>
      </pc:docMkLst>
      <pc:sldChg chg="add">
        <pc:chgData name="오은성" userId="451a94f3-e55a-4745-8884-f48fbe464410" providerId="ADAL" clId="{C1234FD2-24B6-446C-A51D-4A82078EC7E2}" dt="2024-04-07T06:40:23.239" v="60"/>
        <pc:sldMkLst>
          <pc:docMk/>
          <pc:sldMk cId="1373393714" sldId="315"/>
        </pc:sldMkLst>
      </pc:sldChg>
      <pc:sldChg chg="modSp add mod">
        <pc:chgData name="오은성" userId="451a94f3-e55a-4745-8884-f48fbe464410" providerId="ADAL" clId="{C1234FD2-24B6-446C-A51D-4A82078EC7E2}" dt="2024-04-07T06:40:23.293" v="61" actId="27636"/>
        <pc:sldMkLst>
          <pc:docMk/>
          <pc:sldMk cId="2951587891" sldId="316"/>
        </pc:sldMkLst>
        <pc:spChg chg="mod">
          <ac:chgData name="오은성" userId="451a94f3-e55a-4745-8884-f48fbe464410" providerId="ADAL" clId="{C1234FD2-24B6-446C-A51D-4A82078EC7E2}" dt="2024-04-07T06:40:23.293" v="61" actId="27636"/>
          <ac:spMkLst>
            <pc:docMk/>
            <pc:sldMk cId="2951587891" sldId="316"/>
            <ac:spMk id="2" creationId="{00000000-0000-0000-0000-000000000000}"/>
          </ac:spMkLst>
        </pc:spChg>
      </pc:sldChg>
      <pc:sldChg chg="add">
        <pc:chgData name="오은성" userId="451a94f3-e55a-4745-8884-f48fbe464410" providerId="ADAL" clId="{C1234FD2-24B6-446C-A51D-4A82078EC7E2}" dt="2024-04-07T06:40:23.239" v="60"/>
        <pc:sldMkLst>
          <pc:docMk/>
          <pc:sldMk cId="3491472714" sldId="317"/>
        </pc:sldMkLst>
      </pc:sldChg>
      <pc:sldChg chg="modSp add mod">
        <pc:chgData name="오은성" userId="451a94f3-e55a-4745-8884-f48fbe464410" providerId="ADAL" clId="{C1234FD2-24B6-446C-A51D-4A82078EC7E2}" dt="2024-04-07T07:06:47.140" v="134" actId="1076"/>
        <pc:sldMkLst>
          <pc:docMk/>
          <pc:sldMk cId="190904149" sldId="318"/>
        </pc:sldMkLst>
        <pc:spChg chg="mod">
          <ac:chgData name="오은성" userId="451a94f3-e55a-4745-8884-f48fbe464410" providerId="ADAL" clId="{C1234FD2-24B6-446C-A51D-4A82078EC7E2}" dt="2024-04-07T07:06:07.126" v="101" actId="1076"/>
          <ac:spMkLst>
            <pc:docMk/>
            <pc:sldMk cId="190904149" sldId="318"/>
            <ac:spMk id="2" creationId="{00000000-0000-0000-0000-000000000000}"/>
          </ac:spMkLst>
        </pc:spChg>
        <pc:spChg chg="mod">
          <ac:chgData name="오은성" userId="451a94f3-e55a-4745-8884-f48fbe464410" providerId="ADAL" clId="{C1234FD2-24B6-446C-A51D-4A82078EC7E2}" dt="2024-04-07T07:06:38.044" v="133"/>
          <ac:spMkLst>
            <pc:docMk/>
            <pc:sldMk cId="190904149" sldId="318"/>
            <ac:spMk id="3" creationId="{00000000-0000-0000-0000-000000000000}"/>
          </ac:spMkLst>
        </pc:spChg>
        <pc:spChg chg="mod">
          <ac:chgData name="오은성" userId="451a94f3-e55a-4745-8884-f48fbe464410" providerId="ADAL" clId="{C1234FD2-24B6-446C-A51D-4A82078EC7E2}" dt="2024-04-07T07:06:02.793" v="100" actId="1076"/>
          <ac:spMkLst>
            <pc:docMk/>
            <pc:sldMk cId="190904149" sldId="318"/>
            <ac:spMk id="6" creationId="{00000000-0000-0000-0000-000000000000}"/>
          </ac:spMkLst>
        </pc:spChg>
        <pc:spChg chg="mod">
          <ac:chgData name="오은성" userId="451a94f3-e55a-4745-8884-f48fbe464410" providerId="ADAL" clId="{C1234FD2-24B6-446C-A51D-4A82078EC7E2}" dt="2024-04-07T07:06:47.140" v="134" actId="1076"/>
          <ac:spMkLst>
            <pc:docMk/>
            <pc:sldMk cId="190904149" sldId="318"/>
            <ac:spMk id="7" creationId="{00000000-0000-0000-0000-000000000000}"/>
          </ac:spMkLst>
        </pc:spChg>
      </pc:sldChg>
      <pc:sldChg chg="add">
        <pc:chgData name="오은성" userId="451a94f3-e55a-4745-8884-f48fbe464410" providerId="ADAL" clId="{C1234FD2-24B6-446C-A51D-4A82078EC7E2}" dt="2024-04-07T06:40:23.239" v="60"/>
        <pc:sldMkLst>
          <pc:docMk/>
          <pc:sldMk cId="1522195016" sldId="319"/>
        </pc:sldMkLst>
      </pc:sldChg>
      <pc:sldChg chg="modSp add mod">
        <pc:chgData name="오은성" userId="451a94f3-e55a-4745-8884-f48fbe464410" providerId="ADAL" clId="{C1234FD2-24B6-446C-A51D-4A82078EC7E2}" dt="2024-04-07T06:40:23.326" v="64" actId="27636"/>
        <pc:sldMkLst>
          <pc:docMk/>
          <pc:sldMk cId="28898203" sldId="703"/>
        </pc:sldMkLst>
        <pc:spChg chg="mod">
          <ac:chgData name="오은성" userId="451a94f3-e55a-4745-8884-f48fbe464410" providerId="ADAL" clId="{C1234FD2-24B6-446C-A51D-4A82078EC7E2}" dt="2024-04-07T06:40:23.326" v="64" actId="27636"/>
          <ac:spMkLst>
            <pc:docMk/>
            <pc:sldMk cId="28898203" sldId="703"/>
            <ac:spMk id="5" creationId="{00000000-0000-0000-0000-000000000000}"/>
          </ac:spMkLst>
        </pc:spChg>
      </pc:sldChg>
      <pc:sldChg chg="add">
        <pc:chgData name="오은성" userId="451a94f3-e55a-4745-8884-f48fbe464410" providerId="ADAL" clId="{C1234FD2-24B6-446C-A51D-4A82078EC7E2}" dt="2024-04-07T06:40:23.239" v="60"/>
        <pc:sldMkLst>
          <pc:docMk/>
          <pc:sldMk cId="2586778096" sldId="730"/>
        </pc:sldMkLst>
      </pc:sldChg>
      <pc:sldChg chg="modSp add mod">
        <pc:chgData name="오은성" userId="451a94f3-e55a-4745-8884-f48fbe464410" providerId="ADAL" clId="{C1234FD2-24B6-446C-A51D-4A82078EC7E2}" dt="2024-04-07T06:40:23.312" v="62" actId="27636"/>
        <pc:sldMkLst>
          <pc:docMk/>
          <pc:sldMk cId="2737199884" sldId="731"/>
        </pc:sldMkLst>
        <pc:spChg chg="mod">
          <ac:chgData name="오은성" userId="451a94f3-e55a-4745-8884-f48fbe464410" providerId="ADAL" clId="{C1234FD2-24B6-446C-A51D-4A82078EC7E2}" dt="2024-04-07T06:40:23.312" v="62" actId="27636"/>
          <ac:spMkLst>
            <pc:docMk/>
            <pc:sldMk cId="2737199884" sldId="731"/>
            <ac:spMk id="4" creationId="{00000000-0000-0000-0000-000000000000}"/>
          </ac:spMkLst>
        </pc:spChg>
      </pc:sldChg>
      <pc:sldChg chg="modSp add mod">
        <pc:chgData name="오은성" userId="451a94f3-e55a-4745-8884-f48fbe464410" providerId="ADAL" clId="{C1234FD2-24B6-446C-A51D-4A82078EC7E2}" dt="2024-04-07T06:40:23.321" v="63" actId="27636"/>
        <pc:sldMkLst>
          <pc:docMk/>
          <pc:sldMk cId="3331549106" sldId="732"/>
        </pc:sldMkLst>
        <pc:spChg chg="mod">
          <ac:chgData name="오은성" userId="451a94f3-e55a-4745-8884-f48fbe464410" providerId="ADAL" clId="{C1234FD2-24B6-446C-A51D-4A82078EC7E2}" dt="2024-04-07T06:40:23.321" v="63" actId="27636"/>
          <ac:spMkLst>
            <pc:docMk/>
            <pc:sldMk cId="3331549106" sldId="732"/>
            <ac:spMk id="3" creationId="{00000000-0000-0000-0000-000000000000}"/>
          </ac:spMkLst>
        </pc:spChg>
      </pc:sldChg>
      <pc:sldChg chg="add">
        <pc:chgData name="오은성" userId="451a94f3-e55a-4745-8884-f48fbe464410" providerId="ADAL" clId="{C1234FD2-24B6-446C-A51D-4A82078EC7E2}" dt="2024-04-07T06:40:23.239" v="60"/>
        <pc:sldMkLst>
          <pc:docMk/>
          <pc:sldMk cId="1904545125" sldId="733"/>
        </pc:sldMkLst>
      </pc:sldChg>
      <pc:sldChg chg="modSp add mod">
        <pc:chgData name="오은성" userId="451a94f3-e55a-4745-8884-f48fbe464410" providerId="ADAL" clId="{C1234FD2-24B6-446C-A51D-4A82078EC7E2}" dt="2024-04-07T06:40:23.338" v="65" actId="27636"/>
        <pc:sldMkLst>
          <pc:docMk/>
          <pc:sldMk cId="3837772085" sldId="734"/>
        </pc:sldMkLst>
        <pc:spChg chg="mod">
          <ac:chgData name="오은성" userId="451a94f3-e55a-4745-8884-f48fbe464410" providerId="ADAL" clId="{C1234FD2-24B6-446C-A51D-4A82078EC7E2}" dt="2024-04-07T06:40:23.338" v="65" actId="27636"/>
          <ac:spMkLst>
            <pc:docMk/>
            <pc:sldMk cId="3837772085" sldId="734"/>
            <ac:spMk id="3" creationId="{00000000-0000-0000-0000-000000000000}"/>
          </ac:spMkLst>
        </pc:spChg>
      </pc:sldChg>
      <pc:sldChg chg="modSp add mod">
        <pc:chgData name="오은성" userId="451a94f3-e55a-4745-8884-f48fbe464410" providerId="ADAL" clId="{C1234FD2-24B6-446C-A51D-4A82078EC7E2}" dt="2024-04-07T06:40:23.352" v="67" actId="27636"/>
        <pc:sldMkLst>
          <pc:docMk/>
          <pc:sldMk cId="2209302363" sldId="735"/>
        </pc:sldMkLst>
        <pc:spChg chg="mod">
          <ac:chgData name="오은성" userId="451a94f3-e55a-4745-8884-f48fbe464410" providerId="ADAL" clId="{C1234FD2-24B6-446C-A51D-4A82078EC7E2}" dt="2024-04-07T06:40:23.352" v="67" actId="27636"/>
          <ac:spMkLst>
            <pc:docMk/>
            <pc:sldMk cId="2209302363" sldId="735"/>
            <ac:spMk id="8" creationId="{00000000-0000-0000-0000-000000000000}"/>
          </ac:spMkLst>
        </pc:spChg>
      </pc:sldChg>
      <pc:sldChg chg="add">
        <pc:chgData name="오은성" userId="451a94f3-e55a-4745-8884-f48fbe464410" providerId="ADAL" clId="{C1234FD2-24B6-446C-A51D-4A82078EC7E2}" dt="2024-04-07T06:40:23.239" v="60"/>
        <pc:sldMkLst>
          <pc:docMk/>
          <pc:sldMk cId="199723328" sldId="736"/>
        </pc:sldMkLst>
      </pc:sldChg>
      <pc:sldChg chg="addSp modSp new del mod">
        <pc:chgData name="오은성" userId="451a94f3-e55a-4745-8884-f48fbe464410" providerId="ADAL" clId="{C1234FD2-24B6-446C-A51D-4A82078EC7E2}" dt="2024-04-06T07:49:30.015" v="59" actId="47"/>
        <pc:sldMkLst>
          <pc:docMk/>
          <pc:sldMk cId="259393909" sldId="752"/>
        </pc:sldMkLst>
        <pc:picChg chg="add mod">
          <ac:chgData name="오은성" userId="451a94f3-e55a-4745-8884-f48fbe464410" providerId="ADAL" clId="{C1234FD2-24B6-446C-A51D-4A82078EC7E2}" dt="2024-04-06T07:48:11.267" v="9" actId="1076"/>
          <ac:picMkLst>
            <pc:docMk/>
            <pc:sldMk cId="259393909" sldId="752"/>
            <ac:picMk id="4" creationId="{43EDC406-351E-E0BF-1998-E0C0D6C303B4}"/>
          </ac:picMkLst>
        </pc:picChg>
      </pc:sldChg>
      <pc:sldChg chg="addSp modSp new mod">
        <pc:chgData name="오은성" userId="451a94f3-e55a-4745-8884-f48fbe464410" providerId="ADAL" clId="{C1234FD2-24B6-446C-A51D-4A82078EC7E2}" dt="2024-04-06T07:49:18.288" v="58"/>
        <pc:sldMkLst>
          <pc:docMk/>
          <pc:sldMk cId="4249555145" sldId="753"/>
        </pc:sldMkLst>
        <pc:spChg chg="mod">
          <ac:chgData name="오은성" userId="451a94f3-e55a-4745-8884-f48fbe464410" providerId="ADAL" clId="{C1234FD2-24B6-446C-A51D-4A82078EC7E2}" dt="2024-04-06T07:49:18.288" v="58"/>
          <ac:spMkLst>
            <pc:docMk/>
            <pc:sldMk cId="4249555145" sldId="753"/>
            <ac:spMk id="2" creationId="{7D5EB6F5-31A3-9C37-1FF4-0C8C2081E8C2}"/>
          </ac:spMkLst>
        </pc:spChg>
        <pc:spChg chg="mod">
          <ac:chgData name="오은성" userId="451a94f3-e55a-4745-8884-f48fbe464410" providerId="ADAL" clId="{C1234FD2-24B6-446C-A51D-4A82078EC7E2}" dt="2024-04-06T07:49:11.650" v="33" actId="27636"/>
          <ac:spMkLst>
            <pc:docMk/>
            <pc:sldMk cId="4249555145" sldId="753"/>
            <ac:spMk id="3" creationId="{960BCC7A-F231-2423-79BC-2045C58768D5}"/>
          </ac:spMkLst>
        </pc:spChg>
        <pc:picChg chg="add mod">
          <ac:chgData name="오은성" userId="451a94f3-e55a-4745-8884-f48fbe464410" providerId="ADAL" clId="{C1234FD2-24B6-446C-A51D-4A82078EC7E2}" dt="2024-04-06T07:49:05.470" v="18" actId="13822"/>
          <ac:picMkLst>
            <pc:docMk/>
            <pc:sldMk cId="4249555145" sldId="753"/>
            <ac:picMk id="5" creationId="{F8597276-0D80-4241-A33E-B48F1E31C046}"/>
          </ac:picMkLst>
        </pc:picChg>
      </pc:sldChg>
      <pc:sldChg chg="modSp add mod">
        <pc:chgData name="오은성" userId="451a94f3-e55a-4745-8884-f48fbe464410" providerId="ADAL" clId="{C1234FD2-24B6-446C-A51D-4A82078EC7E2}" dt="2024-04-07T06:40:23.344" v="66" actId="27636"/>
        <pc:sldMkLst>
          <pc:docMk/>
          <pc:sldMk cId="1744859449" sldId="754"/>
        </pc:sldMkLst>
        <pc:spChg chg="mod">
          <ac:chgData name="오은성" userId="451a94f3-e55a-4745-8884-f48fbe464410" providerId="ADAL" clId="{C1234FD2-24B6-446C-A51D-4A82078EC7E2}" dt="2024-04-07T06:40:23.344" v="66" actId="27636"/>
          <ac:spMkLst>
            <pc:docMk/>
            <pc:sldMk cId="1744859449" sldId="75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D9F59-4412-4C1B-9AFC-37D0F19DD34A}" type="datetimeFigureOut">
              <a:rPr lang="ko-KR" altLang="en-US" smtClean="0"/>
              <a:t>2024-04-07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DDB46-C8B9-4E58-802E-B5D5985C5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460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6CA48A-C2EC-40C8-B749-566CD4BBC886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044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0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2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 useBgFill="1">
        <p:nvSpPr>
          <p:cNvPr id="20" name="Freeform 10"/>
          <p:cNvSpPr>
            <a:spLocks/>
          </p:cNvSpPr>
          <p:nvPr userDrawn="1"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0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42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35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68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34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05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45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27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56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725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22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609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732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108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071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FF00"/>
                </a:solidFill>
              </a:defRPr>
            </a:lvl1pPr>
          </a:lstStyle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010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  <a:lvl5pPr>
              <a:defRPr sz="12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373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994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8231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2177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1427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9051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504662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97919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2909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866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064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+mj-ea"/>
                <a:ea typeface="+mj-ea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  <a:lvl5pPr>
              <a:defRPr sz="1200">
                <a:latin typeface="+mj-ea"/>
                <a:ea typeface="+mj-ea"/>
              </a:defRPr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1111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578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282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205147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490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1541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299734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96472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9120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715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2024-04-07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16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369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75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43608" y="404664"/>
            <a:ext cx="7772400" cy="1656184"/>
          </a:xfrm>
        </p:spPr>
        <p:txBody>
          <a:bodyPr/>
          <a:lstStyle/>
          <a:p>
            <a:r>
              <a:rPr lang="ko-KR" altLang="en-US"/>
              <a:t>자바 프로그래밍 응용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513420" y="4005064"/>
            <a:ext cx="3091028" cy="1027588"/>
          </a:xfrm>
        </p:spPr>
        <p:txBody>
          <a:bodyPr>
            <a:normAutofit/>
          </a:bodyPr>
          <a:lstStyle/>
          <a:p>
            <a:r>
              <a:rPr lang="ko-KR" altLang="en-US" b="1"/>
              <a:t>객체지향언어</a:t>
            </a:r>
            <a:r>
              <a:rPr lang="en-US" altLang="ko-KR" b="1"/>
              <a:t>(</a:t>
            </a:r>
            <a:r>
              <a:rPr lang="ko-KR" altLang="en-US" b="1"/>
              <a:t>클래스와 객체</a:t>
            </a:r>
            <a:r>
              <a:rPr lang="en-US" altLang="ko-KR" b="1"/>
              <a:t>)</a:t>
            </a:r>
          </a:p>
          <a:p>
            <a:r>
              <a:rPr lang="ko-KR" altLang="en-US" b="1"/>
              <a:t>강의 자 </a:t>
            </a:r>
            <a:r>
              <a:rPr lang="en-US" altLang="ko-KR" b="1"/>
              <a:t>: </a:t>
            </a:r>
            <a:r>
              <a:rPr lang="ko-KR" altLang="en-US" b="1"/>
              <a:t>오 은 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FEC2D8-E928-4A76-A864-29F4D0681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996952"/>
            <a:ext cx="482985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3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6108" y="1956921"/>
            <a:ext cx="6124124" cy="430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200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b="1"/>
              <a:t>객체지향언어의 특징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b="1"/>
              <a:t>클래스와 객체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b="1"/>
              <a:t>클래스의 멤버변수 메서드 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b="1"/>
              <a:t>자바클래스 만들기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b="1"/>
              <a:t>생성자</a:t>
            </a:r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b="1"/>
              <a:t>과제</a:t>
            </a:r>
            <a:endParaRPr lang="ko-KR" alt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37432-4659-4F26-9A95-9872FEC42B02}"/>
              </a:ext>
            </a:extLst>
          </p:cNvPr>
          <p:cNvSpPr txBox="1"/>
          <p:nvPr/>
        </p:nvSpPr>
        <p:spPr>
          <a:xfrm>
            <a:off x="2051720" y="908720"/>
            <a:ext cx="4608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>
                <a:solidFill>
                  <a:schemeClr val="bg1"/>
                </a:solidFill>
              </a:rPr>
              <a:t>목차</a:t>
            </a:r>
            <a:endParaRPr lang="ko-KR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95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세상 모든 것이 객체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/>
              <a:t>세상 모든 것이 객체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 err="1"/>
              <a:t>실세계</a:t>
            </a:r>
            <a:r>
              <a:rPr lang="ko-KR" altLang="en-US"/>
              <a:t> 객체의 특징</a:t>
            </a:r>
            <a:endParaRPr lang="en-US" altLang="ko-KR"/>
          </a:p>
          <a:p>
            <a:pPr lvl="2"/>
            <a:r>
              <a:rPr lang="ko-KR" altLang="en-US"/>
              <a:t>객체마다 고유한 특성</a:t>
            </a:r>
            <a:r>
              <a:rPr lang="en-US" altLang="ko-KR"/>
              <a:t>(state)</a:t>
            </a:r>
            <a:r>
              <a:rPr lang="ko-KR" altLang="en-US"/>
              <a:t>와 행동</a:t>
            </a:r>
            <a:r>
              <a:rPr lang="en-US" altLang="ko-KR"/>
              <a:t>(behavior)</a:t>
            </a:r>
            <a:r>
              <a:rPr lang="ko-KR" altLang="en-US"/>
              <a:t>를 가짐</a:t>
            </a:r>
            <a:endParaRPr lang="en-US" altLang="ko-KR"/>
          </a:p>
          <a:p>
            <a:pPr lvl="2"/>
            <a:r>
              <a:rPr lang="ko-KR" altLang="en-US"/>
              <a:t>다른 객체들과 정보를 주고 받는 등</a:t>
            </a:r>
            <a:r>
              <a:rPr lang="en-US" altLang="ko-KR"/>
              <a:t>, </a:t>
            </a:r>
            <a:r>
              <a:rPr lang="ko-KR" altLang="en-US"/>
              <a:t>상호작용하면서 존재</a:t>
            </a:r>
            <a:endParaRPr lang="en-US" altLang="ko-KR"/>
          </a:p>
          <a:p>
            <a:pPr lvl="1"/>
            <a:r>
              <a:rPr lang="ko-KR" altLang="en-US"/>
              <a:t>컴퓨터 프로그램에서 객체 사례</a:t>
            </a:r>
            <a:endParaRPr lang="en-US" altLang="ko-KR"/>
          </a:p>
          <a:p>
            <a:pPr lvl="2"/>
            <a:r>
              <a:rPr lang="ko-KR" altLang="en-US" err="1"/>
              <a:t>테트리스</a:t>
            </a:r>
            <a:r>
              <a:rPr lang="ko-KR" altLang="en-US"/>
              <a:t> 게임의 각 블록들</a:t>
            </a:r>
            <a:endParaRPr lang="en-US" altLang="ko-KR"/>
          </a:p>
          <a:p>
            <a:pPr lvl="2"/>
            <a:r>
              <a:rPr lang="ko-KR" altLang="en-US"/>
              <a:t>한글 프로그램의 메뉴나 버튼들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587" y="1844824"/>
            <a:ext cx="7458869" cy="1848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2736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852936"/>
            <a:ext cx="6716484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객체 지향 특성 </a:t>
            </a:r>
            <a:r>
              <a:rPr lang="en-US" altLang="ko-KR"/>
              <a:t>: </a:t>
            </a:r>
            <a:r>
              <a:rPr lang="ko-KR" altLang="en-US"/>
              <a:t>캡슐화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캡슐화 </a:t>
            </a:r>
            <a:r>
              <a:rPr lang="en-US" altLang="ko-KR"/>
              <a:t>: </a:t>
            </a:r>
            <a:r>
              <a:rPr lang="ko-KR" altLang="en-US"/>
              <a:t>객체를 캡슐로 싸서 내부를 볼 수 없게 하는 것</a:t>
            </a:r>
            <a:endParaRPr lang="en-US" altLang="ko-KR"/>
          </a:p>
          <a:p>
            <a:pPr lvl="1"/>
            <a:r>
              <a:rPr lang="ko-KR" altLang="en-US"/>
              <a:t>객체의 본질적인 특징</a:t>
            </a:r>
            <a:endParaRPr lang="en-US" altLang="ko-KR"/>
          </a:p>
          <a:p>
            <a:pPr lvl="2"/>
            <a:r>
              <a:rPr lang="ko-KR" altLang="en-US"/>
              <a:t>외부의 접근으로부터 객체 보호</a:t>
            </a:r>
            <a:endParaRPr lang="en-US" altLang="ko-KR"/>
          </a:p>
          <a:p>
            <a:pPr lvl="2"/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24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자바의 캡슐화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/>
              <a:t>클래스</a:t>
            </a:r>
            <a:r>
              <a:rPr lang="en-US" altLang="ko-KR"/>
              <a:t>(class):</a:t>
            </a:r>
            <a:r>
              <a:rPr lang="ko-KR" altLang="en-US"/>
              <a:t> 객체 모양을 선언한 틀</a:t>
            </a:r>
            <a:r>
              <a:rPr lang="en-US" altLang="ko-KR"/>
              <a:t>(</a:t>
            </a:r>
            <a:r>
              <a:rPr lang="ko-KR" altLang="en-US"/>
              <a:t>캡슐화</a:t>
            </a:r>
            <a:r>
              <a:rPr lang="en-US" altLang="ko-KR"/>
              <a:t>)</a:t>
            </a:r>
          </a:p>
          <a:p>
            <a:pPr lvl="2"/>
            <a:r>
              <a:rPr lang="ko-KR" altLang="en-US" err="1"/>
              <a:t>메소드</a:t>
            </a:r>
            <a:r>
              <a:rPr lang="en-US" altLang="ko-KR"/>
              <a:t>(</a:t>
            </a:r>
            <a:r>
              <a:rPr lang="ko-KR" altLang="en-US"/>
              <a:t>멤버 함수</a:t>
            </a:r>
            <a:r>
              <a:rPr lang="en-US" altLang="ko-KR"/>
              <a:t>)</a:t>
            </a:r>
            <a:r>
              <a:rPr lang="ko-KR" altLang="en-US"/>
              <a:t>와 필드</a:t>
            </a:r>
            <a:r>
              <a:rPr lang="en-US" altLang="ko-KR"/>
              <a:t>(</a:t>
            </a:r>
            <a:r>
              <a:rPr lang="ko-KR" altLang="en-US"/>
              <a:t>멤버 변수</a:t>
            </a:r>
            <a:r>
              <a:rPr lang="en-US" altLang="ko-KR"/>
              <a:t>)</a:t>
            </a:r>
            <a:r>
              <a:rPr lang="ko-KR" altLang="en-US"/>
              <a:t>는 모두 클래스 내에 구현</a:t>
            </a:r>
            <a:endParaRPr lang="en-US" altLang="ko-KR"/>
          </a:p>
          <a:p>
            <a:pPr lvl="1"/>
            <a:r>
              <a:rPr lang="ko-KR" altLang="en-US"/>
              <a:t>객체</a:t>
            </a:r>
            <a:endParaRPr lang="en-US" altLang="ko-KR"/>
          </a:p>
          <a:p>
            <a:pPr lvl="2"/>
            <a:r>
              <a:rPr lang="ko-KR" altLang="en-US"/>
              <a:t>클래스의 모양대로 생성된 실체</a:t>
            </a:r>
            <a:r>
              <a:rPr lang="en-US" altLang="ko-KR"/>
              <a:t>(instance)</a:t>
            </a:r>
          </a:p>
          <a:p>
            <a:pPr lvl="2"/>
            <a:r>
              <a:rPr lang="ko-KR" altLang="en-US"/>
              <a:t>객체 내 데이터에 대한 보호</a:t>
            </a:r>
            <a:r>
              <a:rPr lang="en-US" altLang="ko-KR"/>
              <a:t>, </a:t>
            </a:r>
            <a:r>
              <a:rPr lang="ko-KR" altLang="en-US"/>
              <a:t>외부 접근 제한</a:t>
            </a:r>
            <a:endParaRPr lang="en-US" altLang="ko-KR"/>
          </a:p>
          <a:p>
            <a:pPr lvl="3"/>
            <a:r>
              <a:rPr lang="ko-KR" altLang="en-US"/>
              <a:t>객체 외부에서는 비공개 멤버</a:t>
            </a:r>
            <a:r>
              <a:rPr lang="en-US" altLang="ko-KR"/>
              <a:t>(</a:t>
            </a:r>
            <a:r>
              <a:rPr lang="ko-KR" altLang="en-US"/>
              <a:t>필드</a:t>
            </a:r>
            <a:r>
              <a:rPr lang="en-US" altLang="ko-KR"/>
              <a:t>, </a:t>
            </a:r>
            <a:r>
              <a:rPr lang="ko-KR" altLang="en-US" err="1"/>
              <a:t>메소드</a:t>
            </a:r>
            <a:r>
              <a:rPr lang="en-US" altLang="ko-KR"/>
              <a:t>)</a:t>
            </a:r>
            <a:r>
              <a:rPr lang="ko-KR" altLang="en-US"/>
              <a:t>에 직접 접근할 수 없음</a:t>
            </a:r>
            <a:endParaRPr lang="en-US" altLang="ko-KR"/>
          </a:p>
          <a:p>
            <a:pPr lvl="3"/>
            <a:r>
              <a:rPr lang="ko-KR" altLang="en-US"/>
              <a:t>객체 외부에서는 공개된 </a:t>
            </a:r>
            <a:r>
              <a:rPr lang="ko-KR" altLang="en-US" err="1"/>
              <a:t>메소드를</a:t>
            </a:r>
            <a:r>
              <a:rPr lang="ko-KR" altLang="en-US"/>
              <a:t> 통해 비공개 멤버 접근</a:t>
            </a:r>
            <a:endParaRPr lang="en-US" altLang="ko-KR"/>
          </a:p>
          <a:p>
            <a:pPr lvl="1"/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005064"/>
            <a:ext cx="7118330" cy="243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66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객체 지향의 특성 </a:t>
            </a:r>
            <a:r>
              <a:rPr lang="en-US" altLang="ko-KR"/>
              <a:t>: </a:t>
            </a:r>
            <a:r>
              <a:rPr lang="ko-KR" altLang="en-US"/>
              <a:t>상속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2664296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/>
              <a:t>상속</a:t>
            </a:r>
            <a:endParaRPr lang="en-US" altLang="ko-KR"/>
          </a:p>
          <a:p>
            <a:pPr lvl="1"/>
            <a:r>
              <a:rPr lang="ko-KR" altLang="en-US"/>
              <a:t>상위 개체의 속성이 하위 개체에 물려짐</a:t>
            </a:r>
            <a:endParaRPr lang="en-US" altLang="ko-KR"/>
          </a:p>
          <a:p>
            <a:pPr lvl="1"/>
            <a:r>
              <a:rPr lang="ko-KR" altLang="en-US"/>
              <a:t>하위 객체가 상위 개체의 속성을 모두 가지는 관계</a:t>
            </a:r>
            <a:endParaRPr lang="en-US" altLang="ko-KR"/>
          </a:p>
          <a:p>
            <a:r>
              <a:rPr lang="ko-KR" altLang="en-US" err="1"/>
              <a:t>실세계의</a:t>
            </a:r>
            <a:r>
              <a:rPr lang="ko-KR" altLang="en-US"/>
              <a:t> 상속 사례</a:t>
            </a:r>
            <a:endParaRPr lang="en-US" altLang="ko-KR"/>
          </a:p>
          <a:p>
            <a:pPr lvl="1"/>
            <a:r>
              <a:rPr lang="ko-KR" altLang="en-US"/>
              <a:t>유전적 상속 관계</a:t>
            </a:r>
            <a:endParaRPr lang="en-US" altLang="ko-KR"/>
          </a:p>
          <a:p>
            <a:pPr lvl="2"/>
            <a:r>
              <a:rPr lang="ko-KR" altLang="en-US"/>
              <a:t>나무는 식물의 속성과 생물의 속성을 모두 가짐</a:t>
            </a:r>
            <a:endParaRPr lang="en-US" altLang="ko-KR"/>
          </a:p>
          <a:p>
            <a:pPr lvl="3"/>
            <a:r>
              <a:rPr lang="ko-KR" altLang="en-US"/>
              <a:t>그러므로 나무는 식물이다</a:t>
            </a:r>
            <a:r>
              <a:rPr lang="en-US" altLang="ko-KR"/>
              <a:t>. </a:t>
            </a:r>
            <a:r>
              <a:rPr lang="ko-KR" altLang="en-US"/>
              <a:t>나무는 </a:t>
            </a:r>
            <a:r>
              <a:rPr lang="ko-KR" altLang="en-US" err="1"/>
              <a:t>생물이다하고</a:t>
            </a:r>
            <a:r>
              <a:rPr lang="ko-KR" altLang="en-US"/>
              <a:t> 할 수 있음</a:t>
            </a:r>
            <a:endParaRPr lang="en-US" altLang="ko-KR"/>
          </a:p>
          <a:p>
            <a:pPr lvl="2"/>
            <a:r>
              <a:rPr lang="ko-KR" altLang="en-US"/>
              <a:t>사람은 생물의 속성은 가지지만 식물의 속성은 가지고 있지 않음</a:t>
            </a:r>
            <a:endParaRPr lang="en-US" altLang="ko-KR"/>
          </a:p>
          <a:p>
            <a:pPr lvl="3"/>
            <a:r>
              <a:rPr lang="ko-KR" altLang="en-US"/>
              <a:t>그러므로 사람은 생물이다라고 할 수 있지만</a:t>
            </a:r>
            <a:r>
              <a:rPr lang="en-US" altLang="ko-KR"/>
              <a:t>, </a:t>
            </a:r>
            <a:r>
              <a:rPr lang="ko-KR" altLang="en-US"/>
              <a:t>하지만 사람은 식물이다라고 할 수 없음</a:t>
            </a:r>
            <a:endParaRPr lang="en-US" altLang="ko-KR"/>
          </a:p>
          <a:p>
            <a:endParaRPr lang="en-US" altLang="ko-KR"/>
          </a:p>
          <a:p>
            <a:pPr lvl="1"/>
            <a:endParaRPr lang="ko-KR" altLang="en-US"/>
          </a:p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933056"/>
            <a:ext cx="5616624" cy="242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0421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780928"/>
            <a:ext cx="6480720" cy="3763685"/>
          </a:xfrm>
          <a:prstGeom prst="rect">
            <a:avLst/>
          </a:prstGeom>
        </p:spPr>
      </p:pic>
      <p:sp>
        <p:nvSpPr>
          <p:cNvPr id="27" name="제목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자바의 상속</a:t>
            </a:r>
          </a:p>
        </p:txBody>
      </p:sp>
      <p:sp>
        <p:nvSpPr>
          <p:cNvPr id="32" name="내용 개체 틀 31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811370"/>
          </a:xfrm>
        </p:spPr>
        <p:txBody>
          <a:bodyPr>
            <a:normAutofit/>
          </a:bodyPr>
          <a:lstStyle/>
          <a:p>
            <a:r>
              <a:rPr lang="ko-KR" altLang="en-US" sz="2000"/>
              <a:t>상속</a:t>
            </a:r>
            <a:endParaRPr lang="en-US" altLang="ko-KR" sz="2000"/>
          </a:p>
          <a:p>
            <a:pPr lvl="1"/>
            <a:r>
              <a:rPr lang="ko-KR" altLang="en-US" sz="1800"/>
              <a:t>자식 클래스가 부모 클래스의 속성 물려받고</a:t>
            </a:r>
            <a:r>
              <a:rPr lang="en-US" altLang="ko-KR" sz="1800"/>
              <a:t>,</a:t>
            </a:r>
            <a:r>
              <a:rPr lang="ko-KR" altLang="en-US" sz="1800"/>
              <a:t> 기능 확장</a:t>
            </a:r>
            <a:endParaRPr lang="en-US" altLang="ko-KR" sz="1800"/>
          </a:p>
          <a:p>
            <a:pPr lvl="2"/>
            <a:r>
              <a:rPr lang="ko-KR" altLang="en-US" sz="1600"/>
              <a:t>부모 클래스 </a:t>
            </a:r>
            <a:r>
              <a:rPr lang="en-US" altLang="ko-KR" sz="1600"/>
              <a:t>: </a:t>
            </a:r>
            <a:r>
              <a:rPr lang="ko-KR" altLang="en-US" sz="1600" err="1"/>
              <a:t>수퍼</a:t>
            </a:r>
            <a:r>
              <a:rPr lang="ko-KR" altLang="en-US" sz="1600"/>
              <a:t> 클래스</a:t>
            </a:r>
            <a:endParaRPr lang="en-US" altLang="ko-KR" sz="1600"/>
          </a:p>
          <a:p>
            <a:pPr lvl="2"/>
            <a:r>
              <a:rPr lang="ko-KR" altLang="en-US" sz="1600"/>
              <a:t>하위 클래스 </a:t>
            </a:r>
            <a:r>
              <a:rPr lang="en-US" altLang="ko-KR" sz="1600"/>
              <a:t>: </a:t>
            </a:r>
            <a:r>
              <a:rPr lang="ko-KR" altLang="en-US" sz="1600"/>
              <a:t>서브 클래스</a:t>
            </a:r>
            <a:r>
              <a:rPr lang="en-US" altLang="ko-KR" sz="1600"/>
              <a:t>. </a:t>
            </a:r>
            <a:r>
              <a:rPr lang="ko-KR" altLang="en-US" sz="1600" err="1"/>
              <a:t>수퍼</a:t>
            </a:r>
            <a:r>
              <a:rPr lang="ko-KR" altLang="en-US" sz="1600"/>
              <a:t> 클래스를 재사용하고</a:t>
            </a:r>
            <a:r>
              <a:rPr lang="en-US" altLang="ko-KR" sz="1600"/>
              <a:t>  </a:t>
            </a:r>
            <a:r>
              <a:rPr lang="ko-KR" altLang="en-US" sz="1600"/>
              <a:t>새로운 특성 추가 </a:t>
            </a:r>
            <a:endParaRPr lang="en-US" altLang="ko-KR" sz="1600"/>
          </a:p>
          <a:p>
            <a:endParaRPr lang="ko-KR" altLang="en-US" sz="200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6444208" y="3501008"/>
            <a:ext cx="2472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sz="1200"/>
              <a:t>* </a:t>
            </a:r>
            <a:r>
              <a:rPr lang="ko-KR" altLang="en-US" sz="1200"/>
              <a:t>자바는 클래스 다중 상속 없음</a:t>
            </a:r>
            <a:r>
              <a:rPr lang="en-US" altLang="ko-KR" sz="1200"/>
              <a:t>.  </a:t>
            </a:r>
          </a:p>
          <a:p>
            <a:pPr marL="0" lvl="1"/>
            <a:r>
              <a:rPr lang="en-US" altLang="ko-KR" sz="1200"/>
              <a:t>  </a:t>
            </a:r>
            <a:r>
              <a:rPr lang="ko-KR" altLang="en-US" sz="1200"/>
              <a:t>인터페이스 다중 상속 허용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148876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객체 지향의 특성 </a:t>
            </a:r>
            <a:r>
              <a:rPr lang="en-US" altLang="ko-KR"/>
              <a:t>: </a:t>
            </a:r>
            <a:r>
              <a:rPr lang="ko-KR" altLang="en-US"/>
              <a:t>다형성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1783100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err="1"/>
              <a:t>다형성</a:t>
            </a:r>
            <a:endParaRPr lang="en-US" altLang="ko-KR"/>
          </a:p>
          <a:p>
            <a:pPr lvl="1"/>
            <a:r>
              <a:rPr lang="ko-KR" altLang="en-US"/>
              <a:t>같은 이름의 </a:t>
            </a:r>
            <a:r>
              <a:rPr lang="ko-KR" altLang="en-US" err="1"/>
              <a:t>메소드가</a:t>
            </a:r>
            <a:r>
              <a:rPr lang="ko-KR" altLang="en-US"/>
              <a:t> 클래스나 객체에 따라 다르게 동작하도록 구현</a:t>
            </a:r>
            <a:endParaRPr lang="en-US" altLang="ko-KR"/>
          </a:p>
          <a:p>
            <a:pPr lvl="1"/>
            <a:r>
              <a:rPr lang="ko-KR" altLang="en-US" err="1"/>
              <a:t>다형성</a:t>
            </a:r>
            <a:r>
              <a:rPr lang="ko-KR" altLang="en-US"/>
              <a:t> 사례</a:t>
            </a:r>
            <a:endParaRPr lang="en-US" altLang="ko-KR"/>
          </a:p>
          <a:p>
            <a:pPr lvl="2"/>
            <a:r>
              <a:rPr lang="ko-KR" altLang="en-US" err="1"/>
              <a:t>메소드</a:t>
            </a:r>
            <a:r>
              <a:rPr lang="ko-KR" altLang="en-US"/>
              <a:t> 오버로딩 </a:t>
            </a:r>
            <a:r>
              <a:rPr lang="en-US" altLang="ko-KR"/>
              <a:t>: </a:t>
            </a:r>
            <a:r>
              <a:rPr lang="ko-KR" altLang="en-US"/>
              <a:t>같은 이름이지만 다르게 작동하는 여러 </a:t>
            </a:r>
            <a:r>
              <a:rPr lang="ko-KR" altLang="en-US" err="1"/>
              <a:t>메소드</a:t>
            </a:r>
            <a:endParaRPr lang="en-US" altLang="ko-KR"/>
          </a:p>
          <a:p>
            <a:pPr lvl="2"/>
            <a:r>
              <a:rPr lang="ko-KR" altLang="en-US" err="1"/>
              <a:t>메소드</a:t>
            </a:r>
            <a:r>
              <a:rPr lang="ko-KR" altLang="en-US"/>
              <a:t> </a:t>
            </a:r>
            <a:r>
              <a:rPr lang="ko-KR" altLang="en-US" err="1"/>
              <a:t>오버라이딩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슈퍼클래스의 </a:t>
            </a:r>
            <a:r>
              <a:rPr lang="ko-KR" altLang="en-US" err="1"/>
              <a:t>메소드를</a:t>
            </a:r>
            <a:r>
              <a:rPr lang="ko-KR" altLang="en-US"/>
              <a:t> 서브 클래스마다 다르게 구현</a:t>
            </a:r>
            <a:endParaRPr lang="en-US" altLang="ko-KR"/>
          </a:p>
          <a:p>
            <a:pPr marL="365760" lvl="1" indent="0">
              <a:buNone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140968"/>
            <a:ext cx="5234533" cy="309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7639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객체 지향 언어의 목적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/>
              <a:t>1. </a:t>
            </a:r>
            <a:r>
              <a:rPr lang="ko-KR" altLang="en-US"/>
              <a:t>소프트웨어의 생산성 향상</a:t>
            </a:r>
            <a:endParaRPr lang="en-US" altLang="ko-KR"/>
          </a:p>
          <a:p>
            <a:pPr lvl="1"/>
            <a:r>
              <a:rPr lang="ko-KR" altLang="en-US"/>
              <a:t>컴퓨터 산업 발전에 따라 소프트웨어의 생명 주기</a:t>
            </a:r>
            <a:r>
              <a:rPr lang="en-US" altLang="ko-KR"/>
              <a:t>(life cycle)</a:t>
            </a:r>
            <a:r>
              <a:rPr lang="ko-KR" altLang="en-US"/>
              <a:t> 단축</a:t>
            </a:r>
            <a:endParaRPr lang="en-US" altLang="ko-KR"/>
          </a:p>
          <a:p>
            <a:pPr lvl="2"/>
            <a:r>
              <a:rPr lang="ko-KR" altLang="en-US"/>
              <a:t>소프트웨어를 빠른 속도로 생산할 필요성 증대</a:t>
            </a:r>
            <a:endParaRPr lang="en-US" altLang="ko-KR"/>
          </a:p>
          <a:p>
            <a:pPr lvl="1"/>
            <a:r>
              <a:rPr lang="ko-KR" altLang="en-US"/>
              <a:t>객체 지향 언어</a:t>
            </a:r>
            <a:endParaRPr lang="en-US" altLang="ko-KR"/>
          </a:p>
          <a:p>
            <a:pPr lvl="2"/>
            <a:r>
              <a:rPr lang="ko-KR" altLang="en-US"/>
              <a:t>상속</a:t>
            </a:r>
            <a:r>
              <a:rPr lang="en-US" altLang="ko-KR"/>
              <a:t>, </a:t>
            </a:r>
            <a:r>
              <a:rPr lang="ko-KR" altLang="en-US" err="1"/>
              <a:t>다형성</a:t>
            </a:r>
            <a:r>
              <a:rPr lang="en-US" altLang="ko-KR"/>
              <a:t>, </a:t>
            </a:r>
            <a:r>
              <a:rPr lang="ko-KR" altLang="en-US"/>
              <a:t>객체</a:t>
            </a:r>
            <a:r>
              <a:rPr lang="en-US" altLang="ko-KR"/>
              <a:t>, </a:t>
            </a:r>
            <a:r>
              <a:rPr lang="ko-KR" altLang="en-US"/>
              <a:t>캡슐화 등 소프트웨어 재사용을 위한 여러 장치 내장</a:t>
            </a:r>
            <a:endParaRPr lang="en-US" altLang="ko-KR"/>
          </a:p>
          <a:p>
            <a:pPr lvl="2"/>
            <a:r>
              <a:rPr lang="ko-KR" altLang="en-US"/>
              <a:t>소프트웨어 재사용과 부분 수정 빠름</a:t>
            </a:r>
            <a:endParaRPr lang="en-US" altLang="ko-KR"/>
          </a:p>
          <a:p>
            <a:pPr lvl="2"/>
            <a:r>
              <a:rPr lang="ko-KR" altLang="en-US"/>
              <a:t>소프트웨어를 다시 만드는 부담 대폭 줄임</a:t>
            </a:r>
            <a:endParaRPr lang="en-US" altLang="ko-KR"/>
          </a:p>
          <a:p>
            <a:pPr lvl="2"/>
            <a:r>
              <a:rPr lang="ko-KR" altLang="en-US"/>
              <a:t>소프트웨어 생산성 향상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2. </a:t>
            </a:r>
            <a:r>
              <a:rPr lang="ko-KR" altLang="en-US" err="1"/>
              <a:t>실세계에</a:t>
            </a:r>
            <a:r>
              <a:rPr lang="ko-KR" altLang="en-US"/>
              <a:t> 대한 쉬운 모델링</a:t>
            </a:r>
            <a:endParaRPr lang="en-US" altLang="ko-KR"/>
          </a:p>
          <a:p>
            <a:pPr lvl="1"/>
            <a:r>
              <a:rPr lang="ko-KR" altLang="en-US"/>
              <a:t>컴퓨터 초기 시대의 프로그래밍</a:t>
            </a:r>
            <a:endParaRPr lang="en-US" altLang="ko-KR"/>
          </a:p>
          <a:p>
            <a:pPr lvl="2"/>
            <a:r>
              <a:rPr lang="ko-KR" altLang="en-US"/>
              <a:t>수학 계산</a:t>
            </a:r>
            <a:r>
              <a:rPr lang="en-US" altLang="ko-KR"/>
              <a:t>/</a:t>
            </a:r>
            <a:r>
              <a:rPr lang="ko-KR" altLang="en-US"/>
              <a:t>통계 처리를 하는 등 처리 과정</a:t>
            </a:r>
            <a:r>
              <a:rPr lang="en-US" altLang="ko-KR"/>
              <a:t>, </a:t>
            </a:r>
            <a:r>
              <a:rPr lang="ko-KR" altLang="en-US"/>
              <a:t>계산 절차 중요</a:t>
            </a:r>
            <a:endParaRPr lang="en-US" altLang="ko-KR"/>
          </a:p>
          <a:p>
            <a:pPr lvl="1"/>
            <a:r>
              <a:rPr lang="ko-KR" altLang="en-US"/>
              <a:t>현대의 프로그래밍</a:t>
            </a:r>
            <a:endParaRPr lang="en-US" altLang="ko-KR"/>
          </a:p>
          <a:p>
            <a:pPr lvl="2"/>
            <a:r>
              <a:rPr lang="ko-KR" altLang="en-US"/>
              <a:t>컴퓨터가 산업 전반에 활용</a:t>
            </a:r>
            <a:endParaRPr lang="en-US" altLang="ko-KR"/>
          </a:p>
          <a:p>
            <a:pPr lvl="2"/>
            <a:r>
              <a:rPr lang="ko-KR" altLang="en-US" err="1"/>
              <a:t>실세계에서</a:t>
            </a:r>
            <a:r>
              <a:rPr lang="ko-KR" altLang="en-US"/>
              <a:t> 발생하는 일을 프로그래밍</a:t>
            </a:r>
            <a:endParaRPr lang="en-US" altLang="ko-KR"/>
          </a:p>
          <a:p>
            <a:pPr lvl="2"/>
            <a:r>
              <a:rPr lang="ko-KR" altLang="en-US" err="1"/>
              <a:t>실세계에서는</a:t>
            </a:r>
            <a:r>
              <a:rPr lang="ko-KR" altLang="en-US"/>
              <a:t> 절차나 과정보다 물체</a:t>
            </a:r>
            <a:r>
              <a:rPr lang="en-US" altLang="ko-KR"/>
              <a:t>(</a:t>
            </a:r>
            <a:r>
              <a:rPr lang="ko-KR" altLang="en-US"/>
              <a:t>객체</a:t>
            </a:r>
            <a:r>
              <a:rPr lang="en-US" altLang="ko-KR"/>
              <a:t>)</a:t>
            </a:r>
            <a:r>
              <a:rPr lang="ko-KR" altLang="en-US"/>
              <a:t>들의 상호 작용으로 묘사하는 것이 용이</a:t>
            </a:r>
            <a:endParaRPr lang="en-US" altLang="ko-KR"/>
          </a:p>
          <a:p>
            <a:pPr lvl="1"/>
            <a:r>
              <a:rPr lang="ko-KR" altLang="en-US"/>
              <a:t>객체 지향 언어</a:t>
            </a:r>
            <a:endParaRPr lang="en-US" altLang="ko-KR"/>
          </a:p>
          <a:p>
            <a:pPr lvl="2"/>
            <a:r>
              <a:rPr lang="ko-KR" altLang="en-US" err="1"/>
              <a:t>실세계의</a:t>
            </a:r>
            <a:r>
              <a:rPr lang="ko-KR" altLang="en-US"/>
              <a:t> 일을 보다 쉽게 프로그래밍하기 위한 객체 중심적 언어</a:t>
            </a:r>
          </a:p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30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절차 지향 프로그래밍과 객체 지향 프로그래밍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sz="1800"/>
              <a:t>절차 지향 프로그래밍</a:t>
            </a:r>
            <a:endParaRPr lang="en-US" altLang="ko-KR" sz="1800"/>
          </a:p>
          <a:p>
            <a:pPr lvl="1"/>
            <a:r>
              <a:rPr lang="ko-KR" altLang="en-US" sz="1600"/>
              <a:t>작업 순서 표현</a:t>
            </a:r>
            <a:endParaRPr lang="en-US" altLang="ko-KR" sz="1600"/>
          </a:p>
          <a:p>
            <a:pPr lvl="1"/>
            <a:r>
              <a:rPr lang="ko-KR" altLang="en-US" sz="1600"/>
              <a:t>작업을 함수로 작성한</a:t>
            </a:r>
            <a:r>
              <a:rPr lang="en-US" altLang="ko-KR" sz="1600"/>
              <a:t>, </a:t>
            </a:r>
            <a:r>
              <a:rPr lang="ko-KR" altLang="en-US" sz="1600"/>
              <a:t>함수들의 집합</a:t>
            </a:r>
            <a:endParaRPr lang="en-US" altLang="ko-KR" sz="1600"/>
          </a:p>
          <a:p>
            <a:r>
              <a:rPr lang="ko-KR" altLang="en-US" sz="1800"/>
              <a:t>객체 지향 프로그래밍</a:t>
            </a:r>
            <a:endParaRPr lang="en-US" altLang="ko-KR" sz="1800"/>
          </a:p>
          <a:p>
            <a:pPr lvl="1"/>
            <a:r>
              <a:rPr lang="ko-KR" altLang="en-US" sz="1600"/>
              <a:t>객체들간의 상호 작용으로 표현</a:t>
            </a:r>
            <a:endParaRPr lang="en-US" altLang="ko-KR" sz="1600"/>
          </a:p>
          <a:p>
            <a:pPr lvl="1"/>
            <a:r>
              <a:rPr lang="ko-KR" altLang="en-US" sz="1600"/>
              <a:t>클래스 혹은 객체들의 집합으로 프로그램 작성</a:t>
            </a:r>
            <a:endParaRPr lang="en-US" altLang="ko-KR" sz="1600"/>
          </a:p>
          <a:p>
            <a:pPr lvl="2"/>
            <a:endParaRPr lang="en-US" altLang="ko-KR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1029758" y="4587240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커피 자판기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40194" y="6165304"/>
            <a:ext cx="3480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객체지향적 프로그래밍의 객체들의 상호 관련성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4364" y="6165303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절차지향적 프로그래밍의 실행 절차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214" y="3503425"/>
            <a:ext cx="3304401" cy="2661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484785"/>
            <a:ext cx="208126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7232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클래스와</a:t>
            </a:r>
            <a:r>
              <a:rPr lang="en-US" altLang="ko-KR"/>
              <a:t> </a:t>
            </a:r>
            <a:r>
              <a:rPr lang="ko-KR" altLang="en-US"/>
              <a:t>객체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클래스</a:t>
            </a:r>
            <a:endParaRPr lang="en-US" altLang="ko-KR"/>
          </a:p>
          <a:p>
            <a:pPr lvl="1"/>
            <a:r>
              <a:rPr lang="ko-KR" altLang="en-US"/>
              <a:t>객체를 만들어내기 위한 설계도 혹은 틀</a:t>
            </a:r>
            <a:endParaRPr lang="en-US" altLang="ko-KR"/>
          </a:p>
          <a:p>
            <a:pPr lvl="1"/>
            <a:r>
              <a:rPr lang="ko-KR" altLang="en-US"/>
              <a:t>객체의 속성</a:t>
            </a:r>
            <a:r>
              <a:rPr lang="en-US" altLang="ko-KR"/>
              <a:t>(state)</a:t>
            </a:r>
            <a:r>
              <a:rPr lang="ko-KR" altLang="en-US"/>
              <a:t>과 행동</a:t>
            </a:r>
            <a:r>
              <a:rPr lang="en-US" altLang="ko-KR"/>
              <a:t>(behavior)</a:t>
            </a:r>
            <a:r>
              <a:rPr lang="ko-KR" altLang="en-US"/>
              <a:t> 포함</a:t>
            </a:r>
            <a:endParaRPr lang="en-US" altLang="ko-KR"/>
          </a:p>
          <a:p>
            <a:r>
              <a:rPr lang="ko-KR" altLang="en-US"/>
              <a:t>객체</a:t>
            </a:r>
            <a:endParaRPr lang="en-US" altLang="ko-KR"/>
          </a:p>
          <a:p>
            <a:pPr lvl="1"/>
            <a:r>
              <a:rPr lang="ko-KR" altLang="en-US"/>
              <a:t>클래스의 모양 그대로 찍어낸 실체</a:t>
            </a:r>
            <a:endParaRPr lang="en-US" altLang="ko-KR"/>
          </a:p>
          <a:p>
            <a:pPr lvl="2"/>
            <a:r>
              <a:rPr lang="ko-KR" altLang="en-US"/>
              <a:t>프로그램 실행 중에 생성되는 실체</a:t>
            </a:r>
            <a:endParaRPr lang="en-US" altLang="ko-KR"/>
          </a:p>
          <a:p>
            <a:pPr lvl="2"/>
            <a:r>
              <a:rPr lang="ko-KR" altLang="en-US"/>
              <a:t>메모리 공간을 갖는 구체적인</a:t>
            </a:r>
            <a:r>
              <a:rPr lang="en-US" altLang="ko-KR"/>
              <a:t> </a:t>
            </a:r>
            <a:r>
              <a:rPr lang="ko-KR" altLang="en-US"/>
              <a:t>실체</a:t>
            </a:r>
            <a:endParaRPr lang="en-US" altLang="ko-KR"/>
          </a:p>
          <a:p>
            <a:pPr lvl="2"/>
            <a:r>
              <a:rPr lang="ko-KR" altLang="en-US" err="1"/>
              <a:t>인스턴스</a:t>
            </a:r>
            <a:r>
              <a:rPr lang="en-US" altLang="ko-KR"/>
              <a:t>(instance)</a:t>
            </a:r>
            <a:r>
              <a:rPr lang="ko-KR" altLang="en-US"/>
              <a:t>라고도 부름</a:t>
            </a:r>
            <a:endParaRPr lang="en-US" altLang="ko-KR"/>
          </a:p>
          <a:p>
            <a:r>
              <a:rPr lang="ko-KR" altLang="en-US"/>
              <a:t>사례</a:t>
            </a:r>
            <a:endParaRPr lang="en-US" altLang="ko-KR"/>
          </a:p>
          <a:p>
            <a:pPr lvl="1"/>
            <a:r>
              <a:rPr lang="ko-KR" altLang="en-US"/>
              <a:t>클래스</a:t>
            </a:r>
            <a:r>
              <a:rPr lang="en-US" altLang="ko-KR"/>
              <a:t>: </a:t>
            </a:r>
            <a:r>
              <a:rPr lang="ko-KR" altLang="en-US"/>
              <a:t>소나타자동차</a:t>
            </a:r>
            <a:r>
              <a:rPr lang="en-US" altLang="ko-KR"/>
              <a:t>, 	</a:t>
            </a:r>
            <a:r>
              <a:rPr lang="ko-KR" altLang="en-US"/>
              <a:t>객체</a:t>
            </a:r>
            <a:r>
              <a:rPr lang="en-US" altLang="ko-KR"/>
              <a:t>: </a:t>
            </a:r>
            <a:r>
              <a:rPr lang="ko-KR" altLang="en-US"/>
              <a:t>출고된 실제 소나타 </a:t>
            </a:r>
            <a:r>
              <a:rPr lang="en-US" altLang="ko-KR"/>
              <a:t>100</a:t>
            </a:r>
            <a:r>
              <a:rPr lang="ko-KR" altLang="en-US"/>
              <a:t>대</a:t>
            </a:r>
          </a:p>
          <a:p>
            <a:pPr lvl="1"/>
            <a:r>
              <a:rPr lang="ko-KR" altLang="en-US"/>
              <a:t>클래스</a:t>
            </a:r>
            <a:r>
              <a:rPr lang="en-US" altLang="ko-KR"/>
              <a:t>: </a:t>
            </a:r>
            <a:r>
              <a:rPr lang="ko-KR" altLang="en-US"/>
              <a:t>사람</a:t>
            </a:r>
            <a:r>
              <a:rPr lang="en-US" altLang="ko-KR"/>
              <a:t>, 		</a:t>
            </a:r>
            <a:r>
              <a:rPr lang="ko-KR" altLang="en-US"/>
              <a:t>객체</a:t>
            </a:r>
            <a:r>
              <a:rPr lang="en-US" altLang="ko-KR"/>
              <a:t>: </a:t>
            </a:r>
            <a:r>
              <a:rPr lang="ko-KR" altLang="en-US"/>
              <a:t>나</a:t>
            </a:r>
            <a:r>
              <a:rPr lang="en-US" altLang="ko-KR"/>
              <a:t>, </a:t>
            </a:r>
            <a:r>
              <a:rPr lang="ko-KR" altLang="en-US"/>
              <a:t>너</a:t>
            </a:r>
            <a:r>
              <a:rPr lang="en-US" altLang="ko-KR"/>
              <a:t>, </a:t>
            </a:r>
            <a:r>
              <a:rPr lang="ko-KR" altLang="en-US"/>
              <a:t>윗집사람</a:t>
            </a:r>
            <a:r>
              <a:rPr lang="en-US" altLang="ko-KR"/>
              <a:t>, </a:t>
            </a:r>
            <a:r>
              <a:rPr lang="ko-KR" altLang="en-US"/>
              <a:t>아랫집사람</a:t>
            </a:r>
            <a:endParaRPr lang="en-US" altLang="ko-KR"/>
          </a:p>
          <a:p>
            <a:pPr lvl="1"/>
            <a:r>
              <a:rPr lang="ko-KR" altLang="en-US"/>
              <a:t>클래스</a:t>
            </a:r>
            <a:r>
              <a:rPr lang="en-US" altLang="ko-KR"/>
              <a:t>: </a:t>
            </a:r>
            <a:r>
              <a:rPr lang="ko-KR" altLang="en-US" err="1"/>
              <a:t>붕어빵틀</a:t>
            </a:r>
            <a:r>
              <a:rPr lang="en-US" altLang="ko-KR"/>
              <a:t>, 		</a:t>
            </a:r>
            <a:r>
              <a:rPr lang="ko-KR" altLang="en-US"/>
              <a:t>객체</a:t>
            </a:r>
            <a:r>
              <a:rPr lang="en-US" altLang="ko-KR"/>
              <a:t>: </a:t>
            </a:r>
            <a:r>
              <a:rPr lang="ko-KR" altLang="en-US"/>
              <a:t>구워낸 붕어빵들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639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클래스와 객체와의 관계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047175"/>
            <a:ext cx="7182247" cy="247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모서리가 둥근 사각형 설명선 4"/>
          <p:cNvSpPr/>
          <p:nvPr/>
        </p:nvSpPr>
        <p:spPr>
          <a:xfrm>
            <a:off x="2987824" y="1639797"/>
            <a:ext cx="3816424" cy="1008112"/>
          </a:xfrm>
          <a:prstGeom prst="wedgeRoundRectCallout">
            <a:avLst>
              <a:gd name="adj1" fmla="val -19648"/>
              <a:gd name="adj2" fmla="val 8588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붕어빵 틀은 클래스이며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이 틀의 형태로 구워진 붕어빵은 바로 객체입니다</a:t>
            </a:r>
            <a:r>
              <a:rPr lang="en-US" altLang="ko-KR" sz="1200">
                <a:solidFill>
                  <a:schemeClr val="tx1"/>
                </a:solidFill>
              </a:rPr>
              <a:t>. </a:t>
            </a:r>
            <a:r>
              <a:rPr lang="ko-KR" altLang="en-US" sz="1200">
                <a:solidFill>
                  <a:schemeClr val="tx1"/>
                </a:solidFill>
              </a:rPr>
              <a:t>붕어빵은 틀의 모양대로 만들어지지만 서로 조금씩 다릅니다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치즈붕어빵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크림붕어빵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 err="1">
                <a:solidFill>
                  <a:schemeClr val="tx1"/>
                </a:solidFill>
              </a:rPr>
              <a:t>앙코붕어빵</a:t>
            </a:r>
            <a:r>
              <a:rPr lang="ko-KR" altLang="en-US" sz="1200">
                <a:solidFill>
                  <a:schemeClr val="tx1"/>
                </a:solidFill>
              </a:rPr>
              <a:t> 등이 있습니다</a:t>
            </a:r>
            <a:r>
              <a:rPr lang="en-US" altLang="ko-KR" sz="1200">
                <a:solidFill>
                  <a:schemeClr val="tx1"/>
                </a:solidFill>
              </a:rPr>
              <a:t>. </a:t>
            </a:r>
            <a:r>
              <a:rPr lang="ko-KR" altLang="en-US" sz="1200">
                <a:solidFill>
                  <a:schemeClr val="tx1"/>
                </a:solidFill>
              </a:rPr>
              <a:t>그래도 이들은 모두 붕어빵입니다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741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사람을 사례로 든 클래스와 객체 사례</a:t>
            </a: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83568" y="6420523"/>
            <a:ext cx="78497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solidFill>
                  <a:schemeClr val="bg2">
                    <a:lumMod val="10000"/>
                  </a:schemeClr>
                </a:solidFill>
              </a:rPr>
              <a:t>* </a:t>
            </a:r>
            <a:r>
              <a:rPr lang="ko-KR" altLang="en-US" sz="1400">
                <a:solidFill>
                  <a:schemeClr val="bg2">
                    <a:lumMod val="10000"/>
                  </a:schemeClr>
                </a:solidFill>
              </a:rPr>
              <a:t>객체들은 클래스에 선언된 </a:t>
            </a:r>
            <a:r>
              <a:rPr lang="ko-KR" altLang="en-US" sz="1400" b="1">
                <a:solidFill>
                  <a:schemeClr val="bg2">
                    <a:lumMod val="10000"/>
                  </a:schemeClr>
                </a:solidFill>
              </a:rPr>
              <a:t>동일한 속성</a:t>
            </a:r>
            <a:r>
              <a:rPr lang="ko-KR" altLang="en-US" sz="1400">
                <a:solidFill>
                  <a:schemeClr val="bg2">
                    <a:lumMod val="10000"/>
                  </a:schemeClr>
                </a:solidFill>
              </a:rPr>
              <a:t>을 가지지만</a:t>
            </a:r>
            <a:r>
              <a:rPr lang="en-US" altLang="ko-KR" sz="140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ko-KR" altLang="en-US" sz="1400">
                <a:solidFill>
                  <a:schemeClr val="bg2">
                    <a:lumMod val="10000"/>
                  </a:schemeClr>
                </a:solidFill>
              </a:rPr>
              <a:t>객체마다 </a:t>
            </a:r>
            <a:r>
              <a:rPr lang="ko-KR" altLang="en-US" sz="1400" b="1">
                <a:solidFill>
                  <a:schemeClr val="bg2">
                    <a:lumMod val="10000"/>
                  </a:schemeClr>
                </a:solidFill>
              </a:rPr>
              <a:t>서로 다른 고유한 값</a:t>
            </a:r>
            <a:r>
              <a:rPr lang="ko-KR" altLang="en-US" sz="1400">
                <a:solidFill>
                  <a:schemeClr val="bg2">
                    <a:lumMod val="10000"/>
                  </a:schemeClr>
                </a:solidFill>
              </a:rPr>
              <a:t>으로 구분됨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337652"/>
            <a:ext cx="7143750" cy="489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11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클래스 구성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72816"/>
            <a:ext cx="7332023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58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클래스 구성 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/>
              <a:t>클래스 선언</a:t>
            </a:r>
            <a:r>
              <a:rPr lang="en-US" altLang="ko-KR"/>
              <a:t>, class</a:t>
            </a:r>
            <a:r>
              <a:rPr lang="ko-KR" altLang="en-US"/>
              <a:t> </a:t>
            </a:r>
            <a:r>
              <a:rPr lang="en-US" altLang="ko-KR"/>
              <a:t>Circle</a:t>
            </a:r>
            <a:r>
              <a:rPr lang="ko-KR" altLang="en-US"/>
              <a:t> </a:t>
            </a:r>
            <a:endParaRPr lang="en-US" altLang="ko-KR"/>
          </a:p>
          <a:p>
            <a:pPr lvl="1"/>
            <a:r>
              <a:rPr lang="en-US" altLang="ko-KR"/>
              <a:t>class </a:t>
            </a:r>
            <a:r>
              <a:rPr lang="ko-KR" altLang="en-US"/>
              <a:t>키워드로 선언</a:t>
            </a:r>
            <a:endParaRPr lang="en-US" altLang="ko-KR"/>
          </a:p>
          <a:p>
            <a:pPr lvl="1"/>
            <a:r>
              <a:rPr lang="ko-KR" altLang="en-US"/>
              <a:t>클래스는 </a:t>
            </a:r>
            <a:r>
              <a:rPr lang="en-US" altLang="ko-KR"/>
              <a:t>{</a:t>
            </a:r>
            <a:r>
              <a:rPr lang="ko-KR" altLang="en-US"/>
              <a:t>로 시작하여 </a:t>
            </a:r>
            <a:r>
              <a:rPr lang="en-US" altLang="ko-KR"/>
              <a:t>}</a:t>
            </a:r>
            <a:r>
              <a:rPr lang="ko-KR" altLang="en-US"/>
              <a:t>로 닫으며 이곳에 모든 필드와 </a:t>
            </a:r>
            <a:r>
              <a:rPr lang="ko-KR" altLang="en-US" err="1"/>
              <a:t>메소드</a:t>
            </a:r>
            <a:r>
              <a:rPr lang="ko-KR" altLang="en-US"/>
              <a:t> 구현</a:t>
            </a:r>
            <a:endParaRPr lang="en-US" altLang="ko-KR"/>
          </a:p>
          <a:p>
            <a:pPr lvl="1"/>
            <a:r>
              <a:rPr lang="en-US" altLang="ko-KR"/>
              <a:t>class</a:t>
            </a:r>
            <a:r>
              <a:rPr lang="ko-KR" altLang="en-US"/>
              <a:t> </a:t>
            </a:r>
            <a:r>
              <a:rPr lang="en-US" altLang="ko-KR"/>
              <a:t>Circle</a:t>
            </a:r>
            <a:r>
              <a:rPr lang="ko-KR" altLang="en-US"/>
              <a:t>은 </a:t>
            </a:r>
            <a:r>
              <a:rPr lang="en-US" altLang="ko-KR"/>
              <a:t>Circle </a:t>
            </a:r>
            <a:r>
              <a:rPr lang="ko-KR" altLang="en-US"/>
              <a:t>이름의 클래스 선언</a:t>
            </a:r>
            <a:endParaRPr lang="en-US" altLang="ko-KR"/>
          </a:p>
          <a:p>
            <a:pPr lvl="1"/>
            <a:r>
              <a:rPr lang="ko-KR" altLang="en-US"/>
              <a:t>클래스 접근 권한</a:t>
            </a:r>
            <a:r>
              <a:rPr lang="en-US" altLang="ko-KR"/>
              <a:t>, public</a:t>
            </a:r>
          </a:p>
          <a:p>
            <a:pPr lvl="2"/>
            <a:r>
              <a:rPr lang="ko-KR" altLang="en-US"/>
              <a:t>다른 클래스들에서 </a:t>
            </a:r>
            <a:r>
              <a:rPr lang="en-US" altLang="ko-KR"/>
              <a:t>Circle </a:t>
            </a:r>
            <a:r>
              <a:rPr lang="ko-KR" altLang="en-US"/>
              <a:t>클래스를 사용하거나 접근할 수 있음을 선언</a:t>
            </a:r>
            <a:endParaRPr lang="en-US" altLang="ko-KR"/>
          </a:p>
          <a:p>
            <a:r>
              <a:rPr lang="ko-KR" altLang="en-US"/>
              <a:t>필드와 </a:t>
            </a:r>
            <a:r>
              <a:rPr lang="ko-KR" altLang="en-US" err="1"/>
              <a:t>메소드</a:t>
            </a:r>
            <a:endParaRPr lang="en-US" altLang="ko-KR"/>
          </a:p>
          <a:p>
            <a:pPr lvl="1"/>
            <a:r>
              <a:rPr lang="ko-KR" altLang="en-US"/>
              <a:t>필드 </a:t>
            </a:r>
            <a:r>
              <a:rPr lang="en-US" altLang="ko-KR"/>
              <a:t>(field) : </a:t>
            </a:r>
            <a:r>
              <a:rPr lang="ko-KR" altLang="en-US"/>
              <a:t>객체 내에 값을 저장하는 멤버 변수</a:t>
            </a:r>
            <a:endParaRPr lang="en-US" altLang="ko-KR"/>
          </a:p>
          <a:p>
            <a:pPr lvl="1"/>
            <a:r>
              <a:rPr lang="ko-KR" altLang="en-US" err="1"/>
              <a:t>메소드</a:t>
            </a:r>
            <a:r>
              <a:rPr lang="en-US" altLang="ko-KR"/>
              <a:t> (method)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함수이며 객체의 행동</a:t>
            </a:r>
            <a:r>
              <a:rPr lang="en-US" altLang="ko-KR"/>
              <a:t>(</a:t>
            </a:r>
            <a:r>
              <a:rPr lang="ko-KR" altLang="en-US"/>
              <a:t>행위</a:t>
            </a:r>
            <a:r>
              <a:rPr lang="en-US" altLang="ko-KR"/>
              <a:t>)</a:t>
            </a:r>
            <a:r>
              <a:rPr lang="ko-KR" altLang="en-US"/>
              <a:t>를 구현</a:t>
            </a:r>
            <a:endParaRPr lang="en-US" altLang="ko-KR"/>
          </a:p>
          <a:p>
            <a:r>
              <a:rPr lang="ko-KR" altLang="en-US"/>
              <a:t>필드의 접근 지정자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public</a:t>
            </a:r>
          </a:p>
          <a:p>
            <a:pPr lvl="1"/>
            <a:r>
              <a:rPr lang="ko-KR" altLang="en-US"/>
              <a:t>필드나 </a:t>
            </a:r>
            <a:r>
              <a:rPr lang="ko-KR" altLang="en-US" err="1"/>
              <a:t>메소드</a:t>
            </a:r>
            <a:r>
              <a:rPr lang="ko-KR" altLang="en-US"/>
              <a:t> 앞에 붙어 다른 클래스의 접근 허용을 표시</a:t>
            </a:r>
            <a:endParaRPr lang="en-US" altLang="ko-KR"/>
          </a:p>
          <a:p>
            <a:pPr lvl="1"/>
            <a:r>
              <a:rPr lang="en-US" altLang="ko-KR"/>
              <a:t>public </a:t>
            </a:r>
            <a:r>
              <a:rPr lang="ko-KR" altLang="en-US"/>
              <a:t>접근 지정자 </a:t>
            </a:r>
            <a:r>
              <a:rPr lang="en-US" altLang="ko-KR"/>
              <a:t>: </a:t>
            </a:r>
            <a:r>
              <a:rPr lang="ko-KR" altLang="en-US"/>
              <a:t>다른 모든 클래스의 접근 허용</a:t>
            </a:r>
            <a:endParaRPr lang="en-US" altLang="ko-KR"/>
          </a:p>
          <a:p>
            <a:r>
              <a:rPr lang="ko-KR" altLang="en-US" err="1"/>
              <a:t>생성자</a:t>
            </a:r>
            <a:endParaRPr lang="en-US" altLang="ko-KR"/>
          </a:p>
          <a:p>
            <a:pPr lvl="1"/>
            <a:r>
              <a:rPr lang="ko-KR" altLang="en-US"/>
              <a:t>클래스의 이름과 동일한 특별한</a:t>
            </a:r>
            <a:r>
              <a:rPr lang="en-US" altLang="ko-KR"/>
              <a:t> </a:t>
            </a:r>
            <a:r>
              <a:rPr lang="ko-KR" altLang="en-US" err="1"/>
              <a:t>메소드</a:t>
            </a:r>
            <a:endParaRPr lang="en-US" altLang="ko-KR"/>
          </a:p>
          <a:p>
            <a:pPr lvl="1"/>
            <a:r>
              <a:rPr lang="ko-KR" altLang="en-US"/>
              <a:t>객체가 생성될 때 자동으로 한 번 호출되는 </a:t>
            </a:r>
            <a:r>
              <a:rPr lang="ko-KR" altLang="en-US" err="1"/>
              <a:t>메소드</a:t>
            </a:r>
            <a:endParaRPr lang="en-US" altLang="ko-KR"/>
          </a:p>
          <a:p>
            <a:pPr lvl="1"/>
            <a:r>
              <a:rPr lang="ko-KR" altLang="en-US"/>
              <a:t>개발자는 객체를 초기화하는데 필요한 코드 작성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104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객체 생성 및 접근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객체 생성</a:t>
            </a:r>
            <a:endParaRPr lang="en-US" altLang="ko-KR"/>
          </a:p>
          <a:p>
            <a:pPr lvl="1"/>
            <a:r>
              <a:rPr lang="ko-KR" altLang="en-US" b="1"/>
              <a:t>반드시 </a:t>
            </a:r>
            <a:r>
              <a:rPr lang="en-US" altLang="ko-KR" b="1"/>
              <a:t>new </a:t>
            </a:r>
            <a:r>
              <a:rPr lang="ko-KR" altLang="en-US" b="1"/>
              <a:t>키워드를 </a:t>
            </a:r>
            <a:r>
              <a:rPr lang="ko-KR" altLang="en-US"/>
              <a:t>이용하여 생성</a:t>
            </a:r>
            <a:endParaRPr lang="en-US" altLang="ko-KR"/>
          </a:p>
          <a:p>
            <a:pPr lvl="2"/>
            <a:r>
              <a:rPr lang="en-US" altLang="ko-KR"/>
              <a:t>new</a:t>
            </a:r>
            <a:r>
              <a:rPr lang="ko-KR" altLang="en-US"/>
              <a:t>는 객체의 </a:t>
            </a:r>
            <a:r>
              <a:rPr lang="ko-KR" altLang="en-US" err="1"/>
              <a:t>생성자</a:t>
            </a:r>
            <a:r>
              <a:rPr lang="ko-KR" altLang="en-US"/>
              <a:t> 호출</a:t>
            </a:r>
            <a:endParaRPr lang="en-US" altLang="ko-KR"/>
          </a:p>
          <a:p>
            <a:r>
              <a:rPr lang="ko-KR" altLang="en-US"/>
              <a:t>객체 생성 과정</a:t>
            </a:r>
            <a:endParaRPr lang="en-US" altLang="ko-KR"/>
          </a:p>
          <a:p>
            <a:pPr lvl="1"/>
            <a:r>
              <a:rPr lang="ko-KR" altLang="en-US"/>
              <a:t>객체에 대한 </a:t>
            </a:r>
            <a:r>
              <a:rPr lang="ko-KR" altLang="en-US" err="1"/>
              <a:t>레퍼런스</a:t>
            </a:r>
            <a:r>
              <a:rPr lang="ko-KR" altLang="en-US"/>
              <a:t> 변수 선언</a:t>
            </a:r>
            <a:endParaRPr lang="en-US" altLang="ko-KR"/>
          </a:p>
          <a:p>
            <a:pPr lvl="1"/>
            <a:r>
              <a:rPr lang="ko-KR" altLang="en-US"/>
              <a:t>객체 생성</a:t>
            </a:r>
            <a:endParaRPr lang="en-US" altLang="ko-KR"/>
          </a:p>
          <a:p>
            <a:pPr lvl="2"/>
            <a:r>
              <a:rPr lang="ko-KR" altLang="en-US"/>
              <a:t>클래스</a:t>
            </a:r>
            <a:r>
              <a:rPr lang="en-US" altLang="ko-KR"/>
              <a:t> </a:t>
            </a:r>
            <a:r>
              <a:rPr lang="ko-KR" altLang="en-US"/>
              <a:t>타입 크기의 메모리 할당</a:t>
            </a:r>
          </a:p>
          <a:p>
            <a:pPr lvl="2"/>
            <a:r>
              <a:rPr lang="ko-KR" altLang="en-US"/>
              <a:t>객체 내 </a:t>
            </a:r>
            <a:r>
              <a:rPr lang="ko-KR" altLang="en-US" err="1"/>
              <a:t>생성자</a:t>
            </a:r>
            <a:r>
              <a:rPr lang="ko-KR" altLang="en-US"/>
              <a:t> 코드 실행</a:t>
            </a:r>
            <a:endParaRPr lang="en-US" altLang="ko-KR"/>
          </a:p>
          <a:p>
            <a:r>
              <a:rPr lang="ko-KR" altLang="en-US"/>
              <a:t>객체의 멤버 접근</a:t>
            </a:r>
            <a:endParaRPr lang="en-US" altLang="ko-KR"/>
          </a:p>
          <a:p>
            <a:pPr lvl="1"/>
            <a:r>
              <a:rPr lang="ko-KR" altLang="en-US"/>
              <a:t>객체 </a:t>
            </a:r>
            <a:r>
              <a:rPr lang="ko-KR" altLang="en-US" err="1"/>
              <a:t>레퍼런스</a:t>
            </a:r>
            <a:r>
              <a:rPr lang="en-US" altLang="ko-KR"/>
              <a:t>.</a:t>
            </a:r>
            <a:r>
              <a:rPr lang="ko-KR" altLang="en-US"/>
              <a:t>멤버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878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예제 </a:t>
            </a:r>
            <a:r>
              <a:rPr lang="en-US" altLang="ko-KR"/>
              <a:t>4-1 : Circle </a:t>
            </a:r>
            <a:r>
              <a:rPr lang="ko-KR" altLang="en-US"/>
              <a:t>클래스의 객체 생성 및 활용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02402" y="1277926"/>
            <a:ext cx="78488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반지름과 이름을 가진 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Circle 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클래스를 작성하고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, Circle 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클래스의 객체를 생성하라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14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그리고 객체가 생성된 모습을 그려보라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05432" y="1827759"/>
            <a:ext cx="5184576" cy="43242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b="1"/>
              <a:t>public class Circle {</a:t>
            </a:r>
          </a:p>
          <a:p>
            <a:pPr defTabSz="180000"/>
            <a:r>
              <a:rPr lang="en-US" altLang="ko-KR" sz="1100" b="1"/>
              <a:t>	</a:t>
            </a:r>
            <a:r>
              <a:rPr lang="en-US" altLang="ko-KR" sz="1100" b="1" err="1"/>
              <a:t>int</a:t>
            </a:r>
            <a:r>
              <a:rPr lang="en-US" altLang="ko-KR" sz="1100" b="1"/>
              <a:t> radius; </a:t>
            </a:r>
            <a:r>
              <a:rPr lang="en-US" altLang="ko-KR" sz="1100"/>
              <a:t>					// </a:t>
            </a:r>
            <a:r>
              <a:rPr lang="ko-KR" altLang="en-US" sz="1100"/>
              <a:t>원의 반지름 필드</a:t>
            </a:r>
          </a:p>
          <a:p>
            <a:pPr defTabSz="180000"/>
            <a:r>
              <a:rPr lang="en-US" altLang="ko-KR" sz="1100"/>
              <a:t>	</a:t>
            </a:r>
            <a:r>
              <a:rPr lang="en-US" altLang="ko-KR" sz="1100" b="1"/>
              <a:t>String name; </a:t>
            </a:r>
            <a:r>
              <a:rPr lang="en-US" altLang="ko-KR" sz="1100"/>
              <a:t>				// </a:t>
            </a:r>
            <a:r>
              <a:rPr lang="ko-KR" altLang="en-US" sz="1100"/>
              <a:t>원의 이름 필드</a:t>
            </a:r>
          </a:p>
          <a:p>
            <a:pPr defTabSz="180000"/>
            <a:endParaRPr lang="en-US" altLang="ko-KR" sz="1100"/>
          </a:p>
          <a:p>
            <a:pPr defTabSz="180000"/>
            <a:r>
              <a:rPr lang="en-US" altLang="ko-KR" sz="1100"/>
              <a:t>	</a:t>
            </a:r>
            <a:r>
              <a:rPr lang="en-US" altLang="ko-KR" sz="1100" b="1"/>
              <a:t>public</a:t>
            </a:r>
            <a:r>
              <a:rPr lang="ko-KR" altLang="en-US" sz="1100" b="1"/>
              <a:t> </a:t>
            </a:r>
            <a:r>
              <a:rPr lang="en-US" altLang="ko-KR" sz="1100" b="1"/>
              <a:t>Circle() { }	</a:t>
            </a:r>
            <a:r>
              <a:rPr lang="en-US" altLang="ko-KR" sz="1100"/>
              <a:t>		// </a:t>
            </a:r>
            <a:r>
              <a:rPr lang="ko-KR" altLang="en-US" sz="1100"/>
              <a:t>원의 </a:t>
            </a:r>
            <a:r>
              <a:rPr lang="ko-KR" altLang="en-US" sz="1100" err="1"/>
              <a:t>생성자</a:t>
            </a:r>
            <a:endParaRPr lang="en-US" altLang="ko-KR" sz="1100"/>
          </a:p>
          <a:p>
            <a:pPr defTabSz="180000"/>
            <a:endParaRPr lang="en-US" altLang="ko-KR" sz="1100"/>
          </a:p>
          <a:p>
            <a:pPr defTabSz="180000"/>
            <a:r>
              <a:rPr lang="en-US" altLang="ko-KR" sz="1100"/>
              <a:t>	</a:t>
            </a:r>
            <a:r>
              <a:rPr lang="en-US" altLang="ko-KR" sz="1100" b="1"/>
              <a:t>public double </a:t>
            </a:r>
            <a:r>
              <a:rPr lang="en-US" altLang="ko-KR" sz="1100" b="1" err="1"/>
              <a:t>getArea</a:t>
            </a:r>
            <a:r>
              <a:rPr lang="en-US" altLang="ko-KR" sz="1100" b="1"/>
              <a:t>() </a:t>
            </a:r>
            <a:r>
              <a:rPr lang="en-US" altLang="ko-KR" sz="1100"/>
              <a:t>{ 	// </a:t>
            </a:r>
            <a:r>
              <a:rPr lang="ko-KR" altLang="en-US" sz="1100"/>
              <a:t>원의 면적 계산 </a:t>
            </a:r>
            <a:r>
              <a:rPr lang="ko-KR" altLang="en-US" sz="1100" err="1"/>
              <a:t>메소드</a:t>
            </a:r>
            <a:endParaRPr lang="ko-KR" altLang="en-US" sz="1100"/>
          </a:p>
          <a:p>
            <a:pPr defTabSz="180000"/>
            <a:r>
              <a:rPr lang="en-US" altLang="ko-KR" sz="1100"/>
              <a:t>		return 3.14*radius*radius;</a:t>
            </a:r>
          </a:p>
          <a:p>
            <a:pPr defTabSz="180000"/>
            <a:r>
              <a:rPr lang="en-US" altLang="ko-KR" sz="1100"/>
              <a:t>	}</a:t>
            </a:r>
          </a:p>
          <a:p>
            <a:pPr defTabSz="180000"/>
            <a:endParaRPr lang="en-US" altLang="ko-KR" sz="1100"/>
          </a:p>
          <a:p>
            <a:pPr defTabSz="180000"/>
            <a:r>
              <a:rPr lang="en-US" altLang="ko-KR" sz="1100"/>
              <a:t>	public static void main(String[] </a:t>
            </a:r>
            <a:r>
              <a:rPr lang="en-US" altLang="ko-KR" sz="1100" err="1"/>
              <a:t>args</a:t>
            </a:r>
            <a:r>
              <a:rPr lang="en-US" altLang="ko-KR" sz="1100"/>
              <a:t>) {</a:t>
            </a:r>
          </a:p>
          <a:p>
            <a:pPr defTabSz="180000"/>
            <a:r>
              <a:rPr lang="en-US" altLang="ko-KR" sz="1100"/>
              <a:t>		</a:t>
            </a:r>
            <a:r>
              <a:rPr lang="en-US" altLang="ko-KR" sz="1100" b="1"/>
              <a:t>Circle pizza; </a:t>
            </a:r>
          </a:p>
          <a:p>
            <a:pPr defTabSz="180000"/>
            <a:r>
              <a:rPr lang="en-US" altLang="ko-KR" sz="1100"/>
              <a:t>		</a:t>
            </a:r>
            <a:r>
              <a:rPr lang="en-US" altLang="ko-KR" sz="1100" b="1"/>
              <a:t>pizza = new Circle(); 					</a:t>
            </a:r>
            <a:r>
              <a:rPr lang="en-US" altLang="ko-KR" sz="1100"/>
              <a:t>// Circle </a:t>
            </a:r>
            <a:r>
              <a:rPr lang="ko-KR" altLang="en-US" sz="1100"/>
              <a:t>객체 생성</a:t>
            </a:r>
          </a:p>
          <a:p>
            <a:pPr defTabSz="180000"/>
            <a:r>
              <a:rPr lang="en-US" altLang="ko-KR" sz="1100"/>
              <a:t>		</a:t>
            </a:r>
            <a:r>
              <a:rPr lang="en-US" altLang="ko-KR" sz="1100" err="1"/>
              <a:t>pizza.radius</a:t>
            </a:r>
            <a:r>
              <a:rPr lang="en-US" altLang="ko-KR" sz="1100"/>
              <a:t> = 10; 						// </a:t>
            </a:r>
            <a:r>
              <a:rPr lang="ko-KR" altLang="en-US" sz="1100"/>
              <a:t>피자의 반지름을 </a:t>
            </a:r>
            <a:r>
              <a:rPr lang="en-US" altLang="ko-KR" sz="1100"/>
              <a:t>10</a:t>
            </a:r>
            <a:r>
              <a:rPr lang="ko-KR" altLang="en-US" sz="1100"/>
              <a:t>으로 설정</a:t>
            </a:r>
          </a:p>
          <a:p>
            <a:pPr defTabSz="180000"/>
            <a:r>
              <a:rPr lang="en-US" altLang="ko-KR" sz="1100"/>
              <a:t>		pizza.name = "</a:t>
            </a:r>
            <a:r>
              <a:rPr lang="ko-KR" altLang="en-US" sz="1100" err="1"/>
              <a:t>자바피자</a:t>
            </a:r>
            <a:r>
              <a:rPr lang="en-US" altLang="ko-KR" sz="1100"/>
              <a:t>"; 			// </a:t>
            </a:r>
            <a:r>
              <a:rPr lang="ko-KR" altLang="en-US" sz="1100"/>
              <a:t>피자의 이름 설정</a:t>
            </a:r>
          </a:p>
          <a:p>
            <a:pPr defTabSz="180000"/>
            <a:r>
              <a:rPr lang="en-US" altLang="ko-KR" sz="1100"/>
              <a:t>		double area = </a:t>
            </a:r>
            <a:r>
              <a:rPr lang="en-US" altLang="ko-KR" sz="1100" err="1"/>
              <a:t>pizza.getArea</a:t>
            </a:r>
            <a:r>
              <a:rPr lang="en-US" altLang="ko-KR" sz="1100"/>
              <a:t>(); 		// </a:t>
            </a:r>
            <a:r>
              <a:rPr lang="ko-KR" altLang="en-US" sz="1100"/>
              <a:t>피자의 면적 알아내기</a:t>
            </a:r>
          </a:p>
          <a:p>
            <a:pPr defTabSz="180000"/>
            <a:r>
              <a:rPr lang="en-US" altLang="ko-KR" sz="1100"/>
              <a:t>		</a:t>
            </a:r>
            <a:r>
              <a:rPr lang="en-US" altLang="ko-KR" sz="1100" err="1"/>
              <a:t>System.out.println</a:t>
            </a:r>
            <a:r>
              <a:rPr lang="en-US" altLang="ko-KR" sz="1100"/>
              <a:t>(pizza.name + "</a:t>
            </a:r>
            <a:r>
              <a:rPr lang="ko-KR" altLang="en-US" sz="1100"/>
              <a:t>의 면적은 </a:t>
            </a:r>
            <a:r>
              <a:rPr lang="en-US" altLang="ko-KR" sz="1100"/>
              <a:t>" + area);</a:t>
            </a:r>
          </a:p>
          <a:p>
            <a:pPr defTabSz="180000"/>
            <a:endParaRPr lang="en-US" altLang="ko-KR" sz="1100"/>
          </a:p>
          <a:p>
            <a:pPr defTabSz="180000"/>
            <a:r>
              <a:rPr lang="en-US" altLang="ko-KR" sz="1100"/>
              <a:t>		</a:t>
            </a:r>
            <a:r>
              <a:rPr lang="en-US" altLang="ko-KR" sz="1100" b="1"/>
              <a:t>Circle donut = new Circle(); 		</a:t>
            </a:r>
            <a:r>
              <a:rPr lang="en-US" altLang="ko-KR" sz="1100"/>
              <a:t>// Circle </a:t>
            </a:r>
            <a:r>
              <a:rPr lang="ko-KR" altLang="en-US" sz="1100"/>
              <a:t>객체 생성</a:t>
            </a:r>
          </a:p>
          <a:p>
            <a:pPr defTabSz="180000"/>
            <a:r>
              <a:rPr lang="en-US" altLang="ko-KR" sz="1100"/>
              <a:t>		</a:t>
            </a:r>
            <a:r>
              <a:rPr lang="en-US" altLang="ko-KR" sz="1100" err="1"/>
              <a:t>donut.radius</a:t>
            </a:r>
            <a:r>
              <a:rPr lang="en-US" altLang="ko-KR" sz="1100"/>
              <a:t> = 2; 						// </a:t>
            </a:r>
            <a:r>
              <a:rPr lang="ko-KR" altLang="en-US" sz="1100"/>
              <a:t>도넛의 반지름을 </a:t>
            </a:r>
            <a:r>
              <a:rPr lang="en-US" altLang="ko-KR" sz="1100"/>
              <a:t>2</a:t>
            </a:r>
            <a:r>
              <a:rPr lang="ko-KR" altLang="en-US" sz="1100"/>
              <a:t>로 설정</a:t>
            </a:r>
          </a:p>
          <a:p>
            <a:pPr defTabSz="180000"/>
            <a:r>
              <a:rPr lang="en-US" altLang="ko-KR" sz="1100"/>
              <a:t>		donut.name = "</a:t>
            </a:r>
            <a:r>
              <a:rPr lang="ko-KR" altLang="en-US" sz="1100" err="1"/>
              <a:t>자바도넛</a:t>
            </a:r>
            <a:r>
              <a:rPr lang="en-US" altLang="ko-KR" sz="1100"/>
              <a:t>"; 			// </a:t>
            </a:r>
            <a:r>
              <a:rPr lang="ko-KR" altLang="en-US" sz="1100"/>
              <a:t>도넛의 이름 설정</a:t>
            </a:r>
          </a:p>
          <a:p>
            <a:pPr defTabSz="180000"/>
            <a:r>
              <a:rPr lang="en-US" altLang="ko-KR" sz="1100"/>
              <a:t>		area = </a:t>
            </a:r>
            <a:r>
              <a:rPr lang="en-US" altLang="ko-KR" sz="1100" err="1"/>
              <a:t>donut.getArea</a:t>
            </a:r>
            <a:r>
              <a:rPr lang="en-US" altLang="ko-KR" sz="1100"/>
              <a:t>(); 				// </a:t>
            </a:r>
            <a:r>
              <a:rPr lang="ko-KR" altLang="en-US" sz="1100"/>
              <a:t>도넛의 면적 알아내기</a:t>
            </a:r>
          </a:p>
          <a:p>
            <a:pPr defTabSz="180000"/>
            <a:r>
              <a:rPr lang="en-US" altLang="ko-KR" sz="1100"/>
              <a:t>		</a:t>
            </a:r>
            <a:r>
              <a:rPr lang="en-US" altLang="ko-KR" sz="1100" err="1"/>
              <a:t>System.out.println</a:t>
            </a:r>
            <a:r>
              <a:rPr lang="en-US" altLang="ko-KR" sz="1100"/>
              <a:t>(donut.name + "</a:t>
            </a:r>
            <a:r>
              <a:rPr lang="ko-KR" altLang="en-US" sz="1100"/>
              <a:t>의 면적은 </a:t>
            </a:r>
            <a:r>
              <a:rPr lang="en-US" altLang="ko-KR" sz="1100"/>
              <a:t>" + area);</a:t>
            </a:r>
          </a:p>
          <a:p>
            <a:pPr defTabSz="180000"/>
            <a:r>
              <a:rPr lang="en-US" altLang="ko-KR" sz="1100"/>
              <a:t>	}</a:t>
            </a:r>
          </a:p>
          <a:p>
            <a:pPr defTabSz="180000"/>
            <a:r>
              <a:rPr lang="en-US" altLang="ko-KR" sz="1100"/>
              <a:t>}</a:t>
            </a:r>
            <a:endParaRPr lang="ko-KR" altLang="en-US" sz="1100"/>
          </a:p>
        </p:txBody>
      </p:sp>
      <p:sp>
        <p:nvSpPr>
          <p:cNvPr id="8" name="직사각형 7"/>
          <p:cNvSpPr/>
          <p:nvPr/>
        </p:nvSpPr>
        <p:spPr>
          <a:xfrm>
            <a:off x="553214" y="6335106"/>
            <a:ext cx="5184576" cy="461665"/>
          </a:xfrm>
          <a:prstGeom prst="rect">
            <a:avLst/>
          </a:prstGeom>
          <a:solidFill>
            <a:srgbClr val="DAEEC4"/>
          </a:solidFill>
        </p:spPr>
        <p:txBody>
          <a:bodyPr wrap="square">
            <a:spAutoFit/>
          </a:bodyPr>
          <a:lstStyle/>
          <a:p>
            <a:r>
              <a:rPr lang="ko-KR" altLang="en-US" sz="1200"/>
              <a:t>자바피자의 면적은 </a:t>
            </a:r>
            <a:r>
              <a:rPr lang="en-US" altLang="ko-KR" sz="1200"/>
              <a:t>314.0</a:t>
            </a:r>
          </a:p>
          <a:p>
            <a:r>
              <a:rPr lang="ko-KR" altLang="en-US" sz="1200"/>
              <a:t>자바도넛의 면적은 </a:t>
            </a:r>
            <a:r>
              <a:rPr lang="en-US" altLang="ko-KR" sz="1200"/>
              <a:t>12.56</a:t>
            </a:r>
            <a:endParaRPr lang="ko-KR" altLang="en-US" sz="12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051" y="1796735"/>
            <a:ext cx="2358538" cy="2002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051" y="4098904"/>
            <a:ext cx="2358538" cy="2053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156176" y="2924944"/>
            <a:ext cx="10518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public Circle() { }</a:t>
            </a:r>
            <a:endParaRPr lang="ko-KR" altLang="en-US" sz="900"/>
          </a:p>
        </p:txBody>
      </p:sp>
      <p:sp>
        <p:nvSpPr>
          <p:cNvPr id="10" name="TextBox 9"/>
          <p:cNvSpPr txBox="1"/>
          <p:nvPr/>
        </p:nvSpPr>
        <p:spPr>
          <a:xfrm>
            <a:off x="6156175" y="5301208"/>
            <a:ext cx="10518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/>
              <a:t>public Circle() { }</a:t>
            </a:r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539989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07504" y="126559"/>
            <a:ext cx="2520280" cy="568863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객체 생성과 활용</a:t>
            </a:r>
            <a:endParaRPr kumimoji="0" lang="en-US" altLang="ko-KR" sz="21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레퍼런스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 변수 선언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   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Circle pizza;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객체 생성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  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-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new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연산자 이용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   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pizza =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new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 Circle();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객체 멤버 접근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   -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점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(.)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연산자 이용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나무L" panose="02030600000101010101" pitchFamily="18" charset="-127"/>
              <a:ea typeface="HY나무L" panose="02030600000101010101" pitchFamily="18" charset="-127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   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pizza.radius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 = 10;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   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area =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pizza.getArea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Y나무L" panose="02030600000101010101" pitchFamily="18" charset="-127"/>
                <a:ea typeface="HY나무L" panose="02030600000101010101" pitchFamily="18" charset="-127"/>
                <a:cs typeface="+mj-cs"/>
              </a:rPr>
              <a:t>();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나무L" panose="02030600000101010101" pitchFamily="18" charset="-127"/>
              <a:ea typeface="HY나무L" panose="02030600000101010101" pitchFamily="18" charset="-127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54427"/>
            <a:ext cx="6077704" cy="6548462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104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4027" y="314539"/>
            <a:ext cx="7306430" cy="709865"/>
          </a:xfrm>
        </p:spPr>
        <p:txBody>
          <a:bodyPr>
            <a:normAutofit/>
          </a:bodyPr>
          <a:lstStyle/>
          <a:p>
            <a:r>
              <a:rPr lang="en-US" altLang="ko-KR" sz="4000"/>
              <a:t>(</a:t>
            </a:r>
            <a:r>
              <a:rPr lang="ko-KR" altLang="en-US" sz="4000"/>
              <a:t>예제 </a:t>
            </a:r>
            <a:r>
              <a:rPr lang="en-US" altLang="ko-KR" sz="4000"/>
              <a:t>4-1 </a:t>
            </a:r>
            <a:r>
              <a:rPr lang="ko-KR" altLang="en-US" sz="4000"/>
              <a:t>교재 와 다른 표현</a:t>
            </a:r>
            <a:r>
              <a:rPr lang="en-US" altLang="ko-KR" sz="4000"/>
              <a:t>)</a:t>
            </a:r>
            <a:endParaRPr lang="ko-KR" altLang="en-US" sz="400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86" y="1157287"/>
            <a:ext cx="7423006" cy="56035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837568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z="3600"/>
              <a:t>메소드</a:t>
            </a:r>
          </a:p>
        </p:txBody>
      </p:sp>
      <p:sp>
        <p:nvSpPr>
          <p:cNvPr id="50179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메소드는 입력을 받아서 처리를 하고 결과를 반환하는 가상적인 상자와 같다</a:t>
            </a:r>
            <a:r>
              <a:rPr lang="en-US" altLang="ko-KR"/>
              <a:t>. </a:t>
            </a:r>
            <a:endParaRPr lang="ko-KR" altLang="en-US"/>
          </a:p>
          <a:p>
            <a:pPr eaLnBrk="1" hangingPunct="1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912" y="2893452"/>
            <a:ext cx="6809903" cy="2555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519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메소드의 구조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2100771"/>
            <a:ext cx="701992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86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매개변수와 인수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2326806"/>
            <a:ext cx="8153400" cy="3042587"/>
          </a:xfrm>
        </p:spPr>
      </p:pic>
    </p:spTree>
    <p:extLst>
      <p:ext uri="{BB962C8B-B14F-4D97-AF65-F5344CB8AC3E}">
        <p14:creationId xmlns:p14="http://schemas.microsoft.com/office/powerpoint/2010/main" val="3502906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29173"/>
          </a:xfrm>
        </p:spPr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1: </a:t>
            </a:r>
            <a:r>
              <a:rPr lang="ko-KR" altLang="en-US"/>
              <a:t>함수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48988" y="997047"/>
            <a:ext cx="7739062" cy="549582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class Math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int add(int x, int y)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return </a:t>
            </a:r>
            <a:r>
              <a:rPr kumimoji="0" lang="en-US" altLang="ko-KR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x+y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}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int minus(int x, int y)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return x-y;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}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}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" panose="020B0600000101010101" pitchFamily="50" charset="-127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public class Ex02 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public static void main(String[] </a:t>
            </a:r>
            <a:r>
              <a:rPr kumimoji="0" lang="en-US" altLang="ko-KR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args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Math m1 = new Math();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</a:t>
            </a:r>
            <a:r>
              <a:rPr kumimoji="0" lang="en-US" altLang="ko-KR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System.out.println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("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두수의 합은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:"+m1.add(10, 20));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</a:t>
            </a:r>
            <a:r>
              <a:rPr kumimoji="0" lang="en-US" altLang="ko-KR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System.out.println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("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두수의 차는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:"+m1.minus(10, 20));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}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}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410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메서드 중복 정의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자바에서는 같은 이름의 </a:t>
            </a:r>
            <a:r>
              <a:rPr lang="ko-KR" altLang="en-US" err="1"/>
              <a:t>메소드가</a:t>
            </a:r>
            <a:r>
              <a:rPr lang="ko-KR" altLang="en-US"/>
              <a:t> 여러 개 존재할 수 있다</a:t>
            </a:r>
            <a:r>
              <a:rPr lang="en-US" altLang="ko-KR"/>
              <a:t>. </a:t>
            </a:r>
            <a:r>
              <a:rPr lang="ko-KR" altLang="en-US"/>
              <a:t>이것을 </a:t>
            </a:r>
            <a:r>
              <a:rPr lang="ko-KR" altLang="en-US" b="1" err="1"/>
              <a:t>메소드</a:t>
            </a:r>
            <a:r>
              <a:rPr lang="ko-KR" altLang="en-US" b="1"/>
              <a:t> </a:t>
            </a:r>
            <a:r>
              <a:rPr lang="ko-KR" altLang="en-US" b="1" err="1"/>
              <a:t>중복정의</a:t>
            </a:r>
            <a:r>
              <a:rPr lang="en-US" altLang="ko-KR" b="1"/>
              <a:t>(method overloading)</a:t>
            </a:r>
            <a:r>
              <a:rPr lang="ko-KR" altLang="en-US"/>
              <a:t>이라고 한다</a:t>
            </a:r>
            <a:r>
              <a:rPr lang="en-US" altLang="ko-KR"/>
              <a:t>. </a:t>
            </a:r>
            <a:endParaRPr lang="ko-KR" altLang="en-US"/>
          </a:p>
          <a:p>
            <a:endParaRPr lang="ko-KR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480" y="3105339"/>
            <a:ext cx="6606629" cy="2968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3978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28806" y="1919336"/>
            <a:ext cx="7739062" cy="264361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public class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MyMath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// </a:t>
            </a:r>
            <a:r>
              <a:rPr kumimoji="0" lang="ko-KR" alt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정수값을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제곱하는 </a:t>
            </a:r>
            <a:r>
              <a:rPr kumimoji="0" lang="ko-KR" alt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메소드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" panose="020B0600000101010101" pitchFamily="50" charset="-127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</a:t>
            </a:r>
            <a:r>
              <a:rPr kumimoji="0" lang="en-US" altLang="ko-KR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square(</a:t>
            </a:r>
            <a:r>
              <a:rPr kumimoji="0" lang="en-US" altLang="ko-KR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return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*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}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// </a:t>
            </a:r>
            <a:r>
              <a:rPr kumimoji="0" lang="ko-KR" alt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실수값을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제곱하는 </a:t>
            </a:r>
            <a:r>
              <a:rPr kumimoji="0" lang="ko-KR" alt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메소드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" panose="020B0600000101010101" pitchFamily="50" charset="-127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double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square(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double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return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*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}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703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02469" y="2524406"/>
            <a:ext cx="7739062" cy="216528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public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class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MyMathTest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public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static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void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main(String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[]) 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MyMath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obj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=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new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MyMath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();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System.</a:t>
            </a:r>
            <a:r>
              <a:rPr kumimoji="0" lang="en-US" altLang="ko-KR" sz="1400" b="1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out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obj.square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(10));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System.</a:t>
            </a:r>
            <a:r>
              <a:rPr kumimoji="0" lang="en-US" altLang="ko-KR" sz="1400" b="1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out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obj.square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(3.14));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}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02469" y="5396509"/>
            <a:ext cx="7739062" cy="6635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100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9.8596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" y="5225279"/>
            <a:ext cx="680448" cy="83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334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EB6F5-31A3-9C37-1FF4-0C8C2081E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/>
              <a:t>실습예제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메서드 오버로딩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60BCC7A-F231-2423-79BC-2045C587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597276-0D80-4241-A33E-B48F1E31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376917"/>
            <a:ext cx="5009707" cy="529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249555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/>
              <a:t>생성자</a:t>
            </a:r>
            <a:r>
              <a:rPr lang="ko-KR" altLang="en-US"/>
              <a:t> 개념과 목적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err="1"/>
              <a:t>생성자</a:t>
            </a:r>
            <a:endParaRPr lang="en-US" altLang="ko-KR"/>
          </a:p>
          <a:p>
            <a:pPr lvl="1"/>
            <a:r>
              <a:rPr lang="ko-KR" altLang="en-US"/>
              <a:t>객체가 생성될 때 초기화 목적으로 실행되는 </a:t>
            </a:r>
            <a:r>
              <a:rPr lang="ko-KR" altLang="en-US" err="1"/>
              <a:t>메소드</a:t>
            </a:r>
            <a:endParaRPr lang="en-US" altLang="ko-KR"/>
          </a:p>
          <a:p>
            <a:pPr lvl="1"/>
            <a:r>
              <a:rPr lang="ko-KR" altLang="en-US"/>
              <a:t>객체가 생성되는 순간에 자동 호출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3088687"/>
            <a:ext cx="7704857" cy="293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3393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생성자</a:t>
            </a:r>
            <a:r>
              <a:rPr lang="en-US" altLang="ko-KR"/>
              <a:t>:</a:t>
            </a:r>
            <a:r>
              <a:rPr lang="ko-KR" altLang="en-US"/>
              <a:t>객체가 생성될 때 초기화 되는 특수한 메서드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1802217"/>
            <a:ext cx="7870867" cy="33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87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3249" y="71634"/>
            <a:ext cx="8757501" cy="1325563"/>
          </a:xfrm>
        </p:spPr>
        <p:txBody>
          <a:bodyPr>
            <a:normAutofit/>
          </a:bodyPr>
          <a:lstStyle/>
          <a:p>
            <a:r>
              <a:rPr lang="ko-KR" altLang="en-US" sz="3200"/>
              <a:t>예제 </a:t>
            </a:r>
            <a:r>
              <a:rPr lang="en-US" altLang="ko-KR" sz="3200"/>
              <a:t>4 : </a:t>
            </a:r>
            <a:r>
              <a:rPr lang="ko-KR" altLang="en-US" sz="3200"/>
              <a:t>두 개의 </a:t>
            </a:r>
            <a:r>
              <a:rPr lang="ko-KR" altLang="en-US" sz="3200" err="1"/>
              <a:t>생성자를</a:t>
            </a:r>
            <a:r>
              <a:rPr lang="ko-KR" altLang="en-US" sz="3200"/>
              <a:t> 가진 </a:t>
            </a:r>
            <a:r>
              <a:rPr lang="en-US" altLang="ko-KR" sz="3200"/>
              <a:t>Circle </a:t>
            </a:r>
            <a:r>
              <a:rPr lang="ko-KR" altLang="en-US" sz="3200"/>
              <a:t>클래스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54356" y="1268760"/>
            <a:ext cx="54578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두 개의 </a:t>
            </a:r>
            <a:r>
              <a:rPr kumimoji="0" lang="ko-KR" alt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생성자를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가진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Circle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클래스를 만들어 보라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22351" y="1712997"/>
            <a:ext cx="5729213" cy="47089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public class Circle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int radius;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String name;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public Circle() {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//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매개 변수 없는 생성자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	radius = 1; name = ""; // radius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초기값은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public Circle(int r, String n) {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매개 변수를 가진 생성자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	radius = r; name = n;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public double </a:t>
            </a:r>
            <a:r>
              <a:rPr kumimoji="0" lang="en-US" altLang="ko-KR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getArea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	return 3.14*radius*radius;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	Circle pizza =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new Circle(10, "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자바피자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");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// Circle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객체 생성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반지름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	double area = </a:t>
            </a:r>
            <a:r>
              <a:rPr kumimoji="0" lang="en-US" altLang="ko-KR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pizza.getArea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(pizza.name + "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면적은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" + area);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	Circle donut =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new Circle();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// Circle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객체 생성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반지름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	donut.name = "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도넛피자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";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	area = </a:t>
            </a:r>
            <a:r>
              <a:rPr kumimoji="0" lang="en-US" altLang="ko-KR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donut.getArea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(donut.name + "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면적은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" + area);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527007" y="5965216"/>
            <a:ext cx="1912789" cy="461665"/>
          </a:xfrm>
          <a:prstGeom prst="rect">
            <a:avLst/>
          </a:prstGeom>
          <a:solidFill>
            <a:srgbClr val="DAEEC4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자바피자의 면적은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314.0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도넛피자의 면적은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3.14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 7"/>
          <p:cNvSpPr/>
          <p:nvPr/>
        </p:nvSpPr>
        <p:spPr>
          <a:xfrm>
            <a:off x="2630690" y="3248201"/>
            <a:ext cx="1778097" cy="1322773"/>
          </a:xfrm>
          <a:custGeom>
            <a:avLst/>
            <a:gdLst>
              <a:gd name="connsiteX0" fmla="*/ 1358284 w 1778097"/>
              <a:gd name="connsiteY0" fmla="*/ 1322773 h 1322773"/>
              <a:gd name="connsiteX1" fmla="*/ 1695635 w 1778097"/>
              <a:gd name="connsiteY1" fmla="*/ 692458 h 1322773"/>
              <a:gd name="connsiteX2" fmla="*/ 0 w 1778097"/>
              <a:gd name="connsiteY2" fmla="*/ 0 h 1322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97" h="1322773">
                <a:moveTo>
                  <a:pt x="1358284" y="1322773"/>
                </a:moveTo>
                <a:cubicBezTo>
                  <a:pt x="1640150" y="1117846"/>
                  <a:pt x="1922016" y="912920"/>
                  <a:pt x="1695635" y="692458"/>
                </a:cubicBezTo>
                <a:cubicBezTo>
                  <a:pt x="1469254" y="471996"/>
                  <a:pt x="734627" y="235998"/>
                  <a:pt x="0" y="0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323528" y="2680030"/>
            <a:ext cx="1793381" cy="2618913"/>
          </a:xfrm>
          <a:custGeom>
            <a:avLst/>
            <a:gdLst>
              <a:gd name="connsiteX0" fmla="*/ 1793381 w 1793381"/>
              <a:gd name="connsiteY0" fmla="*/ 2618913 h 2618913"/>
              <a:gd name="connsiteX1" fmla="*/ 62236 w 1793381"/>
              <a:gd name="connsiteY1" fmla="*/ 2024109 h 2618913"/>
              <a:gd name="connsiteX2" fmla="*/ 550507 w 1793381"/>
              <a:gd name="connsiteY2" fmla="*/ 0 h 2618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3381" h="2618913">
                <a:moveTo>
                  <a:pt x="1793381" y="2618913"/>
                </a:moveTo>
                <a:cubicBezTo>
                  <a:pt x="1031381" y="2539753"/>
                  <a:pt x="269382" y="2460594"/>
                  <a:pt x="62236" y="2024109"/>
                </a:cubicBezTo>
                <a:cubicBezTo>
                  <a:pt x="-144910" y="1587624"/>
                  <a:pt x="202798" y="793812"/>
                  <a:pt x="550507" y="0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사각형 설명선 10"/>
          <p:cNvSpPr/>
          <p:nvPr/>
        </p:nvSpPr>
        <p:spPr>
          <a:xfrm>
            <a:off x="2090985" y="1988840"/>
            <a:ext cx="2304256" cy="299028"/>
          </a:xfrm>
          <a:prstGeom prst="wedgeRoundRectCallout">
            <a:avLst>
              <a:gd name="adj1" fmla="val -63547"/>
              <a:gd name="adj2" fmla="val 12745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생성자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이름은 클래스 이름과 동일</a:t>
            </a:r>
          </a:p>
        </p:txBody>
      </p:sp>
      <p:sp>
        <p:nvSpPr>
          <p:cNvPr id="12" name="모서리가 둥근 사각형 설명선 11"/>
          <p:cNvSpPr/>
          <p:nvPr/>
        </p:nvSpPr>
        <p:spPr>
          <a:xfrm>
            <a:off x="5436096" y="2949173"/>
            <a:ext cx="1802397" cy="299028"/>
          </a:xfrm>
          <a:prstGeom prst="wedgeRoundRectCallout">
            <a:avLst>
              <a:gd name="adj1" fmla="val -76481"/>
              <a:gd name="adj2" fmla="val 1760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생성자는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리턴 타입 없음</a:t>
            </a:r>
          </a:p>
        </p:txBody>
      </p:sp>
    </p:spTree>
    <p:extLst>
      <p:ext uri="{BB962C8B-B14F-4D97-AF65-F5344CB8AC3E}">
        <p14:creationId xmlns:p14="http://schemas.microsoft.com/office/powerpoint/2010/main" val="3491472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4652" y="80661"/>
            <a:ext cx="7886700" cy="1325563"/>
          </a:xfrm>
        </p:spPr>
        <p:txBody>
          <a:bodyPr>
            <a:normAutofit/>
          </a:bodyPr>
          <a:lstStyle/>
          <a:p>
            <a:r>
              <a:rPr lang="ko-KR" altLang="en-US"/>
              <a:t>생성자의 특징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ko-KR" altLang="en-US" sz="1600"/>
              <a:t>생성자 이름은 클래스 이름과 동일</a:t>
            </a:r>
            <a:endParaRPr lang="en-US" altLang="ko-KR" sz="1600"/>
          </a:p>
          <a:p>
            <a:pPr lvl="1"/>
            <a:r>
              <a:rPr lang="en-US" altLang="ko-KR" sz="1600"/>
              <a:t>=&gt; </a:t>
            </a:r>
            <a:r>
              <a:rPr lang="ko-KR" altLang="en-US" sz="1600"/>
              <a:t>반환형태가 없다</a:t>
            </a:r>
            <a:endParaRPr lang="en-US" altLang="ko-KR" sz="1600"/>
          </a:p>
          <a:p>
            <a:pPr lvl="1"/>
            <a:r>
              <a:rPr lang="ko-KR" altLang="en-US" sz="1600"/>
              <a:t>생성자는 여러 개 작성 가능</a:t>
            </a:r>
            <a:r>
              <a:rPr lang="en-US" altLang="ko-KR" sz="1600"/>
              <a:t>(</a:t>
            </a:r>
            <a:r>
              <a:rPr lang="ko-KR" altLang="en-US" sz="1600"/>
              <a:t>생성자 중복</a:t>
            </a:r>
            <a:r>
              <a:rPr lang="en-US" altLang="ko-KR" sz="1600"/>
              <a:t>): </a:t>
            </a:r>
            <a:r>
              <a:rPr lang="ko-KR" altLang="en-US" sz="1600"/>
              <a:t>생성자오버로딩</a:t>
            </a:r>
            <a:endParaRPr lang="en-US" altLang="ko-KR" sz="1600"/>
          </a:p>
          <a:p>
            <a:pPr lvl="1"/>
            <a:endParaRPr lang="en-US" altLang="ko-KR" sz="1600"/>
          </a:p>
          <a:p>
            <a:pPr lvl="1"/>
            <a:endParaRPr lang="en-US" altLang="ko-KR" sz="1600"/>
          </a:p>
          <a:p>
            <a:pPr lvl="1"/>
            <a:endParaRPr lang="en-US" altLang="ko-KR" sz="1600"/>
          </a:p>
          <a:p>
            <a:pPr lvl="1"/>
            <a:endParaRPr lang="en-US" altLang="ko-KR" sz="1600"/>
          </a:p>
          <a:p>
            <a:pPr lvl="1"/>
            <a:r>
              <a:rPr lang="ko-KR" altLang="en-US" sz="1600"/>
              <a:t>생성자는 객체 생성시 한 번만 호출</a:t>
            </a:r>
            <a:endParaRPr lang="en-US" altLang="ko-KR" sz="1600"/>
          </a:p>
          <a:p>
            <a:pPr lvl="2"/>
            <a:r>
              <a:rPr lang="ko-KR" altLang="en-US" sz="1400"/>
              <a:t>자바에서 객체 생성은 반드시 </a:t>
            </a:r>
            <a:r>
              <a:rPr lang="en-US" altLang="ko-KR" sz="1400"/>
              <a:t>new </a:t>
            </a:r>
            <a:r>
              <a:rPr lang="ko-KR" altLang="en-US" sz="1400"/>
              <a:t>연산자로 함</a:t>
            </a:r>
            <a:endParaRPr lang="en-US" altLang="ko-KR" sz="1400"/>
          </a:p>
          <a:p>
            <a:pPr lvl="2"/>
            <a:endParaRPr lang="en-US" altLang="ko-KR" sz="1400"/>
          </a:p>
          <a:p>
            <a:pPr lvl="2"/>
            <a:endParaRPr lang="en-US" altLang="ko-KR" sz="1400"/>
          </a:p>
          <a:p>
            <a:pPr lvl="2"/>
            <a:endParaRPr lang="en-US" altLang="ko-KR" sz="1400"/>
          </a:p>
          <a:p>
            <a:pPr lvl="1"/>
            <a:r>
              <a:rPr lang="ko-KR" altLang="en-US" sz="1600"/>
              <a:t>생성자의 목적은 객체 생성 시 초기화</a:t>
            </a:r>
            <a:endParaRPr lang="en-US" altLang="ko-KR" sz="1600"/>
          </a:p>
          <a:p>
            <a:pPr lvl="1"/>
            <a:r>
              <a:rPr lang="ko-KR" altLang="en-US" sz="1600"/>
              <a:t>생성자는 리턴 타입을 지정할 수 없음</a:t>
            </a:r>
            <a:endParaRPr lang="en-US" altLang="ko-KR" sz="1600"/>
          </a:p>
          <a:p>
            <a:pPr lvl="1"/>
            <a:endParaRPr lang="en-US" altLang="ko-KR" sz="1600"/>
          </a:p>
        </p:txBody>
      </p:sp>
      <p:sp>
        <p:nvSpPr>
          <p:cNvPr id="5" name="직사각형 4"/>
          <p:cNvSpPr/>
          <p:nvPr/>
        </p:nvSpPr>
        <p:spPr>
          <a:xfrm>
            <a:off x="1162948" y="2393038"/>
            <a:ext cx="6624736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public class Circle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public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Circle()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{...} //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매개 변수 없는 생성자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	public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Circle(int r, String n)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{...} // 2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개의 매개 변수를 가진 생성자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342489" y="4273938"/>
            <a:ext cx="662473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Circle pizza =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new Circle(10, "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자바피자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");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//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생성자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Circle(int r, String n)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호출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Circle donut =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new Circle();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생성자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Circle()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호출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275634" y="5757533"/>
            <a:ext cx="662473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public</a:t>
            </a:r>
            <a:r>
              <a:rPr kumimoji="0" lang="en-US" altLang="ko-KR" sz="1400" b="1" i="0" u="none" strike="sng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void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Circle()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{...} //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오류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void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도 사용 안 됨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07" y="5427349"/>
            <a:ext cx="359082" cy="27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904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33498" y="723900"/>
            <a:ext cx="7739062" cy="60190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class Pizza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{	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int size;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String type;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" panose="020B0600000101010101" pitchFamily="50" charset="-127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public Pizza() 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size = 12;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type = ＂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콤비네이션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";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}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" panose="020B0600000101010101" pitchFamily="50" charset="-127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public Pizza(int s, String t) 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size = s;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type = t;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}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" panose="020B0600000101010101" pitchFamily="50" charset="-127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public static void main(String[]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Pizza obj1 = new Pizza();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("("+obj1.type+ " , "+obj1.size+",)");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" panose="020B0600000101010101" pitchFamily="50" charset="-127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Pizza obj2 = new Pizza(24, "</a:t>
            </a:r>
            <a:r>
              <a:rPr kumimoji="0" lang="ko-KR" alt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포테이토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");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("("+obj2.type+ " , "+obj2.size+",)");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	}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54F72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}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733498" y="70121"/>
            <a:ext cx="7886700" cy="676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예제</a:t>
            </a:r>
            <a:r>
              <a:rPr kumimoji="0" lang="en-US" altLang="ko-KR" sz="3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5</a:t>
            </a:r>
            <a:r>
              <a:rPr kumimoji="0" lang="ko-KR" altLang="en-US" sz="3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en-US" altLang="ko-KR" sz="3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 : Circle </a:t>
            </a:r>
            <a:r>
              <a:rPr kumimoji="0" lang="ko-KR" altLang="en-US" sz="3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클래스의 객체 생성 및 활용</a:t>
            </a:r>
          </a:p>
        </p:txBody>
      </p:sp>
    </p:spTree>
    <p:extLst>
      <p:ext uri="{BB962C8B-B14F-4D97-AF65-F5344CB8AC3E}">
        <p14:creationId xmlns:p14="http://schemas.microsoft.com/office/powerpoint/2010/main" val="1522195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33498" y="723900"/>
            <a:ext cx="7739062" cy="60190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Class Pizza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{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int size;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String type;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public Pizza() {//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디폴트 생성자</a:t>
            </a:r>
            <a:endParaRPr lang="en-US" altLang="ko-KR" sz="1400">
              <a:latin typeface="Century Schoolbook" panose="02040604050505020304" pitchFamily="18" charset="0"/>
              <a:ea typeface="굴림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size=12;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type=“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콤비네이션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”;}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public Pizza(int size, String type) { //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생성자 </a:t>
            </a:r>
            <a:endParaRPr lang="en-US" altLang="ko-KR" sz="1400">
              <a:latin typeface="Century Schoolbook" panose="02040604050505020304" pitchFamily="18" charset="0"/>
              <a:ea typeface="굴림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this.size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=size;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this.type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=type;  }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public String 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toString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()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{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return "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피자의 크기는 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:"+size+ " 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종류는 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"+type+"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입니다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";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}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public class Ex01 {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public static void main(String[] 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args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) {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Pizza p1= new Pizza(15,"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불고기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");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System.out.println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(p1.toString());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Pizza p2= new Pizza();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System.out.println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(p2.toString());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}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6778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기본 생성자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기본 </a:t>
            </a:r>
            <a:r>
              <a:rPr lang="ko-KR" altLang="en-US" sz="2000" err="1"/>
              <a:t>생성자</a:t>
            </a:r>
            <a:r>
              <a:rPr lang="en-US" altLang="ko-KR" sz="2000"/>
              <a:t>(default constructor)</a:t>
            </a:r>
          </a:p>
          <a:p>
            <a:pPr lvl="1"/>
            <a:r>
              <a:rPr lang="ko-KR" altLang="en-US" sz="1800"/>
              <a:t>매개 변수 없고</a:t>
            </a:r>
            <a:r>
              <a:rPr lang="en-US" altLang="ko-KR" sz="1800"/>
              <a:t>, </a:t>
            </a:r>
            <a:r>
              <a:rPr lang="ko-KR" altLang="en-US" sz="1800"/>
              <a:t>아무 작업 없이 단순 </a:t>
            </a:r>
            <a:r>
              <a:rPr lang="ko-KR" altLang="en-US" sz="1800" err="1"/>
              <a:t>리턴하는</a:t>
            </a:r>
            <a:r>
              <a:rPr lang="ko-KR" altLang="en-US" sz="1800"/>
              <a:t> </a:t>
            </a:r>
            <a:r>
              <a:rPr lang="ko-KR" altLang="en-US" sz="1800" err="1"/>
              <a:t>생성자</a:t>
            </a:r>
            <a:endParaRPr lang="en-US" altLang="ko-KR" sz="1800"/>
          </a:p>
          <a:p>
            <a:pPr lvl="1"/>
            <a:endParaRPr lang="en-US" altLang="ko-KR" sz="1800"/>
          </a:p>
          <a:p>
            <a:pPr lvl="1"/>
            <a:endParaRPr lang="en-US" altLang="ko-KR" sz="1800"/>
          </a:p>
          <a:p>
            <a:pPr lvl="1"/>
            <a:endParaRPr lang="en-US" altLang="ko-KR" sz="1800"/>
          </a:p>
          <a:p>
            <a:pPr lvl="1"/>
            <a:endParaRPr lang="en-US" altLang="ko-KR" sz="1800"/>
          </a:p>
          <a:p>
            <a:pPr lvl="1"/>
            <a:r>
              <a:rPr lang="ko-KR" altLang="en-US" sz="1800"/>
              <a:t>디폴트 생성자라고도 불림</a:t>
            </a:r>
            <a:endParaRPr lang="en-US" altLang="ko-KR" sz="18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287251" y="2587590"/>
            <a:ext cx="5472608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/>
              <a:t>class Circle {</a:t>
            </a:r>
          </a:p>
          <a:p>
            <a:pPr defTabSz="180000"/>
            <a:r>
              <a:rPr lang="en-US" altLang="ko-KR" sz="1400"/>
              <a:t>	public Circle() { } // </a:t>
            </a:r>
            <a:r>
              <a:rPr lang="ko-KR" altLang="en-US" sz="1400"/>
              <a:t>기본 </a:t>
            </a:r>
            <a:r>
              <a:rPr lang="ko-KR" altLang="en-US" sz="1400" err="1"/>
              <a:t>생성자</a:t>
            </a:r>
            <a:endParaRPr lang="ko-KR" altLang="en-US" sz="1400"/>
          </a:p>
          <a:p>
            <a:pPr defTabSz="180000"/>
            <a:r>
              <a:rPr lang="en-US" altLang="ko-KR" sz="1400"/>
              <a:t>}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737199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32856"/>
            <a:ext cx="7479030" cy="443484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기본 생성자가 자동 생성되지 않는 경우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2719204"/>
          </a:xfrm>
        </p:spPr>
        <p:txBody>
          <a:bodyPr>
            <a:normAutofit/>
          </a:bodyPr>
          <a:lstStyle/>
          <a:p>
            <a:r>
              <a:rPr lang="ko-KR" altLang="en-US" sz="2000"/>
              <a:t>클래스에 생성자가 선언되어 있는 경우</a:t>
            </a:r>
            <a:endParaRPr lang="en-US" altLang="ko-KR" sz="2000"/>
          </a:p>
          <a:p>
            <a:pPr lvl="1"/>
            <a:r>
              <a:rPr lang="ko-KR" altLang="en-US" sz="1800"/>
              <a:t>컴파일러는 기본 </a:t>
            </a:r>
            <a:r>
              <a:rPr lang="ko-KR" altLang="en-US" sz="1800" err="1"/>
              <a:t>생성자를</a:t>
            </a:r>
            <a:r>
              <a:rPr lang="ko-KR" altLang="en-US" sz="1800"/>
              <a:t> 자동 생성해 주지 않는다</a:t>
            </a:r>
            <a:r>
              <a:rPr lang="en-US" altLang="ko-KR" sz="1800"/>
              <a:t>.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17" name="자유형 16"/>
          <p:cNvSpPr/>
          <p:nvPr/>
        </p:nvSpPr>
        <p:spPr>
          <a:xfrm>
            <a:off x="2699792" y="5661248"/>
            <a:ext cx="1242874" cy="106691"/>
          </a:xfrm>
          <a:custGeom>
            <a:avLst/>
            <a:gdLst>
              <a:gd name="connsiteX0" fmla="*/ 0 w 1242874"/>
              <a:gd name="connsiteY0" fmla="*/ 62302 h 106691"/>
              <a:gd name="connsiteX1" fmla="*/ 88777 w 1242874"/>
              <a:gd name="connsiteY1" fmla="*/ 159 h 106691"/>
              <a:gd name="connsiteX2" fmla="*/ 115410 w 1242874"/>
              <a:gd name="connsiteY2" fmla="*/ 9036 h 106691"/>
              <a:gd name="connsiteX3" fmla="*/ 230819 w 1242874"/>
              <a:gd name="connsiteY3" fmla="*/ 44547 h 106691"/>
              <a:gd name="connsiteX4" fmla="*/ 275208 w 1242874"/>
              <a:gd name="connsiteY4" fmla="*/ 26792 h 106691"/>
              <a:gd name="connsiteX5" fmla="*/ 301841 w 1242874"/>
              <a:gd name="connsiteY5" fmla="*/ 17914 h 106691"/>
              <a:gd name="connsiteX6" fmla="*/ 363984 w 1242874"/>
              <a:gd name="connsiteY6" fmla="*/ 71180 h 106691"/>
              <a:gd name="connsiteX7" fmla="*/ 443883 w 1242874"/>
              <a:gd name="connsiteY7" fmla="*/ 53425 h 106691"/>
              <a:gd name="connsiteX8" fmla="*/ 479394 w 1242874"/>
              <a:gd name="connsiteY8" fmla="*/ 35669 h 106691"/>
              <a:gd name="connsiteX9" fmla="*/ 506027 w 1242874"/>
              <a:gd name="connsiteY9" fmla="*/ 26792 h 106691"/>
              <a:gd name="connsiteX10" fmla="*/ 532660 w 1242874"/>
              <a:gd name="connsiteY10" fmla="*/ 44547 h 106691"/>
              <a:gd name="connsiteX11" fmla="*/ 550416 w 1242874"/>
              <a:gd name="connsiteY11" fmla="*/ 71180 h 106691"/>
              <a:gd name="connsiteX12" fmla="*/ 621437 w 1242874"/>
              <a:gd name="connsiteY12" fmla="*/ 62302 h 106691"/>
              <a:gd name="connsiteX13" fmla="*/ 665825 w 1242874"/>
              <a:gd name="connsiteY13" fmla="*/ 44547 h 106691"/>
              <a:gd name="connsiteX14" fmla="*/ 701336 w 1242874"/>
              <a:gd name="connsiteY14" fmla="*/ 26792 h 106691"/>
              <a:gd name="connsiteX15" fmla="*/ 736847 w 1242874"/>
              <a:gd name="connsiteY15" fmla="*/ 35669 h 106691"/>
              <a:gd name="connsiteX16" fmla="*/ 772357 w 1242874"/>
              <a:gd name="connsiteY16" fmla="*/ 80058 h 106691"/>
              <a:gd name="connsiteX17" fmla="*/ 807868 w 1242874"/>
              <a:gd name="connsiteY17" fmla="*/ 71180 h 106691"/>
              <a:gd name="connsiteX18" fmla="*/ 843379 w 1242874"/>
              <a:gd name="connsiteY18" fmla="*/ 53425 h 106691"/>
              <a:gd name="connsiteX19" fmla="*/ 905522 w 1242874"/>
              <a:gd name="connsiteY19" fmla="*/ 26792 h 106691"/>
              <a:gd name="connsiteX20" fmla="*/ 949911 w 1242874"/>
              <a:gd name="connsiteY20" fmla="*/ 62302 h 106691"/>
              <a:gd name="connsiteX21" fmla="*/ 985421 w 1242874"/>
              <a:gd name="connsiteY21" fmla="*/ 71180 h 106691"/>
              <a:gd name="connsiteX22" fmla="*/ 1012054 w 1242874"/>
              <a:gd name="connsiteY22" fmla="*/ 62302 h 106691"/>
              <a:gd name="connsiteX23" fmla="*/ 1065320 w 1242874"/>
              <a:gd name="connsiteY23" fmla="*/ 35669 h 106691"/>
              <a:gd name="connsiteX24" fmla="*/ 1091953 w 1242874"/>
              <a:gd name="connsiteY24" fmla="*/ 80058 h 106691"/>
              <a:gd name="connsiteX25" fmla="*/ 1100831 w 1242874"/>
              <a:gd name="connsiteY25" fmla="*/ 106691 h 106691"/>
              <a:gd name="connsiteX26" fmla="*/ 1145219 w 1242874"/>
              <a:gd name="connsiteY26" fmla="*/ 62302 h 106691"/>
              <a:gd name="connsiteX27" fmla="*/ 1207363 w 1242874"/>
              <a:gd name="connsiteY27" fmla="*/ 35669 h 106691"/>
              <a:gd name="connsiteX28" fmla="*/ 1242874 w 1242874"/>
              <a:gd name="connsiteY28" fmla="*/ 17914 h 106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42874" h="106691">
                <a:moveTo>
                  <a:pt x="0" y="62302"/>
                </a:moveTo>
                <a:cubicBezTo>
                  <a:pt x="12683" y="51733"/>
                  <a:pt x="61653" y="4034"/>
                  <a:pt x="88777" y="159"/>
                </a:cubicBezTo>
                <a:cubicBezTo>
                  <a:pt x="98041" y="-1164"/>
                  <a:pt x="106532" y="6077"/>
                  <a:pt x="115410" y="9036"/>
                </a:cubicBezTo>
                <a:cubicBezTo>
                  <a:pt x="176668" y="70295"/>
                  <a:pt x="139035" y="56021"/>
                  <a:pt x="230819" y="44547"/>
                </a:cubicBezTo>
                <a:cubicBezTo>
                  <a:pt x="245615" y="38629"/>
                  <a:pt x="260287" y="32387"/>
                  <a:pt x="275208" y="26792"/>
                </a:cubicBezTo>
                <a:cubicBezTo>
                  <a:pt x="283970" y="23506"/>
                  <a:pt x="292843" y="15343"/>
                  <a:pt x="301841" y="17914"/>
                </a:cubicBezTo>
                <a:cubicBezTo>
                  <a:pt x="317784" y="22469"/>
                  <a:pt x="352015" y="59211"/>
                  <a:pt x="363984" y="71180"/>
                </a:cubicBezTo>
                <a:cubicBezTo>
                  <a:pt x="376030" y="68771"/>
                  <a:pt x="429560" y="58796"/>
                  <a:pt x="443883" y="53425"/>
                </a:cubicBezTo>
                <a:cubicBezTo>
                  <a:pt x="456275" y="48778"/>
                  <a:pt x="467230" y="40882"/>
                  <a:pt x="479394" y="35669"/>
                </a:cubicBezTo>
                <a:cubicBezTo>
                  <a:pt x="487995" y="31983"/>
                  <a:pt x="497149" y="29751"/>
                  <a:pt x="506027" y="26792"/>
                </a:cubicBezTo>
                <a:cubicBezTo>
                  <a:pt x="514905" y="32710"/>
                  <a:pt x="525115" y="37003"/>
                  <a:pt x="532660" y="44547"/>
                </a:cubicBezTo>
                <a:cubicBezTo>
                  <a:pt x="540205" y="52092"/>
                  <a:pt x="539953" y="69088"/>
                  <a:pt x="550416" y="71180"/>
                </a:cubicBezTo>
                <a:cubicBezTo>
                  <a:pt x="573811" y="75859"/>
                  <a:pt x="597763" y="65261"/>
                  <a:pt x="621437" y="62302"/>
                </a:cubicBezTo>
                <a:cubicBezTo>
                  <a:pt x="636233" y="56384"/>
                  <a:pt x="651263" y="51019"/>
                  <a:pt x="665825" y="44547"/>
                </a:cubicBezTo>
                <a:cubicBezTo>
                  <a:pt x="677919" y="39172"/>
                  <a:pt x="688204" y="28434"/>
                  <a:pt x="701336" y="26792"/>
                </a:cubicBezTo>
                <a:cubicBezTo>
                  <a:pt x="713443" y="25279"/>
                  <a:pt x="725010" y="32710"/>
                  <a:pt x="736847" y="35669"/>
                </a:cubicBezTo>
                <a:cubicBezTo>
                  <a:pt x="739088" y="39030"/>
                  <a:pt x="762870" y="78477"/>
                  <a:pt x="772357" y="80058"/>
                </a:cubicBezTo>
                <a:cubicBezTo>
                  <a:pt x="784392" y="82064"/>
                  <a:pt x="796444" y="75464"/>
                  <a:pt x="807868" y="71180"/>
                </a:cubicBezTo>
                <a:cubicBezTo>
                  <a:pt x="820259" y="66533"/>
                  <a:pt x="831215" y="58638"/>
                  <a:pt x="843379" y="53425"/>
                </a:cubicBezTo>
                <a:cubicBezTo>
                  <a:pt x="934807" y="14242"/>
                  <a:pt x="787765" y="85671"/>
                  <a:pt x="905522" y="26792"/>
                </a:cubicBezTo>
                <a:cubicBezTo>
                  <a:pt x="992582" y="55810"/>
                  <a:pt x="869606" y="8765"/>
                  <a:pt x="949911" y="62302"/>
                </a:cubicBezTo>
                <a:cubicBezTo>
                  <a:pt x="960063" y="69070"/>
                  <a:pt x="973584" y="68221"/>
                  <a:pt x="985421" y="71180"/>
                </a:cubicBezTo>
                <a:cubicBezTo>
                  <a:pt x="994299" y="68221"/>
                  <a:pt x="1003684" y="66487"/>
                  <a:pt x="1012054" y="62302"/>
                </a:cubicBezTo>
                <a:cubicBezTo>
                  <a:pt x="1080893" y="27883"/>
                  <a:pt x="998377" y="57984"/>
                  <a:pt x="1065320" y="35669"/>
                </a:cubicBezTo>
                <a:cubicBezTo>
                  <a:pt x="1090470" y="111116"/>
                  <a:pt x="1055395" y="19126"/>
                  <a:pt x="1091953" y="80058"/>
                </a:cubicBezTo>
                <a:cubicBezTo>
                  <a:pt x="1096768" y="88082"/>
                  <a:pt x="1097872" y="97813"/>
                  <a:pt x="1100831" y="106691"/>
                </a:cubicBezTo>
                <a:cubicBezTo>
                  <a:pt x="1115627" y="91895"/>
                  <a:pt x="1125368" y="68919"/>
                  <a:pt x="1145219" y="62302"/>
                </a:cubicBezTo>
                <a:cubicBezTo>
                  <a:pt x="1175101" y="52342"/>
                  <a:pt x="1176643" y="53224"/>
                  <a:pt x="1207363" y="35669"/>
                </a:cubicBezTo>
                <a:cubicBezTo>
                  <a:pt x="1241307" y="16272"/>
                  <a:pt x="1221982" y="17914"/>
                  <a:pt x="1242874" y="17914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5491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33498" y="723900"/>
            <a:ext cx="7739062" cy="60190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class Pizza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{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int size;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String type;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String side;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public Pizza() {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size=12;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type="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콤비네이션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";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side="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없음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"; }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public Pizza(int size, String type){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this.size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=size;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this.type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=type; }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public Pizza(int size, String 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type,String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 side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	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{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this.size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=size;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this.type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=type;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this.side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=side;  }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public String </a:t>
            </a:r>
            <a:r>
              <a:rPr lang="en-US" altLang="ko-KR" sz="1400" err="1">
                <a:latin typeface="Century Schoolbook" panose="02040604050505020304" pitchFamily="18" charset="0"/>
                <a:ea typeface="굴림" panose="020B0600000101010101" pitchFamily="50" charset="-127"/>
              </a:rPr>
              <a:t>toString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()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{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return "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피자의 크기는 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:"+size+ " 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종류는 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"+type+"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추가메뉴는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:"+side+"</a:t>
            </a:r>
            <a:r>
              <a:rPr lang="ko-KR" altLang="en-US" sz="1400">
                <a:latin typeface="Century Schoolbook" panose="02040604050505020304" pitchFamily="18" charset="0"/>
                <a:ea typeface="굴림" panose="020B0600000101010101" pitchFamily="50" charset="-127"/>
              </a:rPr>
              <a:t>입니다</a:t>
            </a: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";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	}</a:t>
            </a:r>
          </a:p>
          <a:p>
            <a:pPr marL="0" indent="0">
              <a:buNone/>
            </a:pPr>
            <a:r>
              <a:rPr lang="en-US" altLang="ko-KR" sz="1400"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45451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this </a:t>
            </a:r>
            <a:r>
              <a:rPr lang="ko-KR" altLang="en-US" err="1"/>
              <a:t>레퍼런스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714348" y="1285860"/>
            <a:ext cx="7929618" cy="5286412"/>
          </a:xfrm>
        </p:spPr>
        <p:txBody>
          <a:bodyPr>
            <a:normAutofit/>
          </a:bodyPr>
          <a:lstStyle/>
          <a:p>
            <a:r>
              <a:rPr lang="en-US" altLang="ko-KR"/>
              <a:t>this</a:t>
            </a:r>
          </a:p>
          <a:p>
            <a:pPr lvl="1"/>
            <a:r>
              <a:rPr lang="ko-KR" altLang="en-US"/>
              <a:t>객체 자신에 대한 </a:t>
            </a:r>
            <a:r>
              <a:rPr lang="ko-KR" altLang="en-US" err="1"/>
              <a:t>레퍼런스</a:t>
            </a:r>
            <a:endParaRPr lang="en-US" altLang="ko-KR"/>
          </a:p>
          <a:p>
            <a:pPr lvl="2"/>
            <a:r>
              <a:rPr lang="ko-KR" altLang="en-US"/>
              <a:t>컴파일러에 의해 자동 관리</a:t>
            </a:r>
            <a:r>
              <a:rPr lang="en-US" altLang="ko-KR"/>
              <a:t>, </a:t>
            </a:r>
            <a:r>
              <a:rPr lang="ko-KR" altLang="en-US"/>
              <a:t>개발자는 사용하기만 하면 됨</a:t>
            </a:r>
            <a:endParaRPr lang="en-US" altLang="ko-KR"/>
          </a:p>
          <a:p>
            <a:pPr lvl="2"/>
            <a:r>
              <a:rPr lang="en-US" altLang="ko-KR" b="1">
                <a:solidFill>
                  <a:srgbClr val="FF0000"/>
                </a:solidFill>
              </a:rPr>
              <a:t>this.</a:t>
            </a:r>
            <a:r>
              <a:rPr lang="ko-KR" altLang="en-US" b="1">
                <a:solidFill>
                  <a:srgbClr val="FF0000"/>
                </a:solidFill>
              </a:rPr>
              <a:t>멤버 </a:t>
            </a:r>
            <a:r>
              <a:rPr lang="ko-KR" altLang="en-US"/>
              <a:t>형태로 멤버를 접근할 때 사용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788024" y="2981851"/>
            <a:ext cx="3384376" cy="26776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b="1"/>
              <a:t>public class Circle </a:t>
            </a:r>
            <a:r>
              <a:rPr lang="en-US" altLang="ko-KR" sz="1400"/>
              <a:t>{</a:t>
            </a:r>
          </a:p>
          <a:p>
            <a:pPr defTabSz="180000"/>
            <a:r>
              <a:rPr lang="en-US" altLang="ko-KR" sz="1400"/>
              <a:t>	</a:t>
            </a:r>
            <a:r>
              <a:rPr lang="en-US" altLang="ko-KR" sz="1400" err="1"/>
              <a:t>int</a:t>
            </a:r>
            <a:r>
              <a:rPr lang="en-US" altLang="ko-KR" sz="1400"/>
              <a:t> </a:t>
            </a:r>
            <a:r>
              <a:rPr lang="en-US" altLang="ko-KR" sz="1400">
                <a:solidFill>
                  <a:srgbClr val="0070C0"/>
                </a:solidFill>
              </a:rPr>
              <a:t>radius</a:t>
            </a:r>
            <a:r>
              <a:rPr lang="en-US" altLang="ko-KR" sz="1400"/>
              <a:t>;</a:t>
            </a:r>
          </a:p>
          <a:p>
            <a:pPr defTabSz="180000"/>
            <a:endParaRPr lang="en-US" altLang="ko-KR" sz="1400"/>
          </a:p>
          <a:p>
            <a:pPr defTabSz="180000"/>
            <a:r>
              <a:rPr lang="en-US" altLang="ko-KR" sz="1400"/>
              <a:t>	public Circle() { </a:t>
            </a:r>
            <a:r>
              <a:rPr lang="en-US" altLang="ko-KR" sz="1400" b="1" err="1"/>
              <a:t>this.</a:t>
            </a:r>
            <a:r>
              <a:rPr lang="en-US" altLang="ko-KR" sz="1400" err="1">
                <a:solidFill>
                  <a:srgbClr val="0070C0"/>
                </a:solidFill>
              </a:rPr>
              <a:t>radius</a:t>
            </a:r>
            <a:r>
              <a:rPr lang="en-US" altLang="ko-KR" sz="1400"/>
              <a:t> = 1; }</a:t>
            </a:r>
          </a:p>
          <a:p>
            <a:pPr defTabSz="180000"/>
            <a:r>
              <a:rPr lang="en-US" altLang="ko-KR" sz="1400"/>
              <a:t>	public Circle(</a:t>
            </a:r>
            <a:r>
              <a:rPr lang="en-US" altLang="ko-KR" sz="1400" err="1"/>
              <a:t>int</a:t>
            </a:r>
            <a:r>
              <a:rPr lang="en-US" altLang="ko-KR" sz="1400"/>
              <a:t> 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radius</a:t>
            </a:r>
            <a:r>
              <a:rPr lang="en-US" altLang="ko-KR" sz="1400"/>
              <a:t>) {</a:t>
            </a:r>
          </a:p>
          <a:p>
            <a:pPr defTabSz="180000"/>
            <a:r>
              <a:rPr lang="en-US" altLang="ko-KR" sz="1400" b="1"/>
              <a:t>		</a:t>
            </a:r>
            <a:r>
              <a:rPr lang="en-US" altLang="ko-KR" sz="1400" b="1" err="1"/>
              <a:t>this.</a:t>
            </a:r>
            <a:r>
              <a:rPr lang="en-US" altLang="ko-KR" sz="1400" err="1">
                <a:solidFill>
                  <a:srgbClr val="0070C0"/>
                </a:solidFill>
              </a:rPr>
              <a:t>radius</a:t>
            </a:r>
            <a:r>
              <a:rPr lang="en-US" altLang="ko-KR" sz="1400"/>
              <a:t> = 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</a:rPr>
              <a:t>radius</a:t>
            </a:r>
            <a:r>
              <a:rPr lang="en-US" altLang="ko-KR" sz="1400"/>
              <a:t>;</a:t>
            </a:r>
          </a:p>
          <a:p>
            <a:pPr defTabSz="180000"/>
            <a:r>
              <a:rPr lang="en-US" altLang="ko-KR" sz="1400"/>
              <a:t>	}</a:t>
            </a:r>
          </a:p>
          <a:p>
            <a:pPr defTabSz="180000"/>
            <a:r>
              <a:rPr lang="en-US" altLang="ko-KR" sz="1400"/>
              <a:t>	double </a:t>
            </a:r>
            <a:r>
              <a:rPr lang="en-US" altLang="ko-KR" sz="1400" err="1"/>
              <a:t>getArea</a:t>
            </a:r>
            <a:r>
              <a:rPr lang="en-US" altLang="ko-KR" sz="1400"/>
              <a:t>() { </a:t>
            </a:r>
          </a:p>
          <a:p>
            <a:pPr defTabSz="180000"/>
            <a:r>
              <a:rPr lang="en-US" altLang="ko-KR" sz="1400"/>
              <a:t>		return 3.14*</a:t>
            </a:r>
            <a:r>
              <a:rPr lang="en-US" altLang="ko-KR" sz="1400" b="1" err="1"/>
              <a:t>this.</a:t>
            </a:r>
            <a:r>
              <a:rPr lang="en-US" altLang="ko-KR" sz="1400" err="1">
                <a:solidFill>
                  <a:srgbClr val="0070C0"/>
                </a:solidFill>
              </a:rPr>
              <a:t>radius</a:t>
            </a:r>
            <a:r>
              <a:rPr lang="en-US" altLang="ko-KR" sz="1400"/>
              <a:t>*</a:t>
            </a:r>
            <a:r>
              <a:rPr lang="en-US" altLang="ko-KR" sz="1400" b="1" err="1"/>
              <a:t>this.</a:t>
            </a:r>
            <a:r>
              <a:rPr lang="en-US" altLang="ko-KR" sz="1400" err="1">
                <a:solidFill>
                  <a:srgbClr val="0070C0"/>
                </a:solidFill>
              </a:rPr>
              <a:t>radius</a:t>
            </a:r>
            <a:r>
              <a:rPr lang="en-US" altLang="ko-KR" sz="1400"/>
              <a:t>;</a:t>
            </a:r>
          </a:p>
          <a:p>
            <a:pPr defTabSz="180000"/>
            <a:r>
              <a:rPr lang="en-US" altLang="ko-KR" sz="1400"/>
              <a:t>	 }</a:t>
            </a:r>
          </a:p>
          <a:p>
            <a:pPr defTabSz="180000"/>
            <a:r>
              <a:rPr lang="en-US" altLang="ko-KR" sz="1400"/>
              <a:t>	...</a:t>
            </a:r>
          </a:p>
          <a:p>
            <a:pPr defTabSz="180000"/>
            <a:r>
              <a:rPr lang="en-US" altLang="ko-KR" sz="1400"/>
              <a:t>}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55576" y="2981851"/>
            <a:ext cx="3168352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b="1"/>
              <a:t>public class Circle </a:t>
            </a:r>
            <a:r>
              <a:rPr lang="en-US" altLang="ko-KR" sz="1400"/>
              <a:t>{</a:t>
            </a:r>
          </a:p>
          <a:p>
            <a:pPr defTabSz="180000"/>
            <a:r>
              <a:rPr lang="en-US" altLang="ko-KR" sz="1400"/>
              <a:t>	</a:t>
            </a:r>
            <a:r>
              <a:rPr lang="en-US" altLang="ko-KR" sz="1400" err="1"/>
              <a:t>int</a:t>
            </a:r>
            <a:r>
              <a:rPr lang="en-US" altLang="ko-KR" sz="1400"/>
              <a:t> radius;</a:t>
            </a:r>
          </a:p>
          <a:p>
            <a:pPr defTabSz="180000"/>
            <a:endParaRPr lang="en-US" altLang="ko-KR" sz="1400"/>
          </a:p>
          <a:p>
            <a:pPr defTabSz="180000"/>
            <a:r>
              <a:rPr lang="en-US" altLang="ko-KR" sz="1400"/>
              <a:t>	public Circle() { radius = 1; }</a:t>
            </a:r>
          </a:p>
          <a:p>
            <a:pPr defTabSz="180000"/>
            <a:r>
              <a:rPr lang="en-US" altLang="ko-KR" sz="1400"/>
              <a:t>	public Circle(</a:t>
            </a:r>
            <a:r>
              <a:rPr lang="en-US" altLang="ko-KR" sz="1400" err="1"/>
              <a:t>int</a:t>
            </a:r>
            <a:r>
              <a:rPr lang="en-US" altLang="ko-KR" sz="1400"/>
              <a:t> r) { radius = r; }</a:t>
            </a:r>
          </a:p>
          <a:p>
            <a:pPr defTabSz="180000"/>
            <a:r>
              <a:rPr lang="en-US" altLang="ko-KR" sz="1400"/>
              <a:t>	double </a:t>
            </a:r>
            <a:r>
              <a:rPr lang="en-US" altLang="ko-KR" sz="1400" err="1"/>
              <a:t>getArea</a:t>
            </a:r>
            <a:r>
              <a:rPr lang="en-US" altLang="ko-KR" sz="1400"/>
              <a:t>() {</a:t>
            </a:r>
          </a:p>
          <a:p>
            <a:pPr defTabSz="180000"/>
            <a:r>
              <a:rPr lang="en-US" altLang="ko-KR" sz="1400"/>
              <a:t>		return 3.14*radius*radius;</a:t>
            </a:r>
          </a:p>
          <a:p>
            <a:pPr defTabSz="180000"/>
            <a:r>
              <a:rPr lang="en-US" altLang="ko-KR" sz="1400"/>
              <a:t>	}</a:t>
            </a:r>
          </a:p>
          <a:p>
            <a:pPr defTabSz="180000"/>
            <a:r>
              <a:rPr lang="en-US" altLang="ko-KR" sz="1400"/>
              <a:t>	...</a:t>
            </a:r>
          </a:p>
          <a:p>
            <a:pPr defTabSz="180000"/>
            <a:r>
              <a:rPr lang="en-US" altLang="ko-KR" sz="1400"/>
              <a:t>}</a:t>
            </a:r>
          </a:p>
        </p:txBody>
      </p:sp>
      <p:sp>
        <p:nvSpPr>
          <p:cNvPr id="7" name="등호 6"/>
          <p:cNvSpPr/>
          <p:nvPr/>
        </p:nvSpPr>
        <p:spPr>
          <a:xfrm>
            <a:off x="4139952" y="3766491"/>
            <a:ext cx="360040" cy="36004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64088" y="5659507"/>
            <a:ext cx="2457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this</a:t>
            </a:r>
            <a:r>
              <a:rPr lang="ko-KR" altLang="en-US" sz="1400"/>
              <a:t>를 사용하여 수정한 경우</a:t>
            </a:r>
          </a:p>
        </p:txBody>
      </p:sp>
      <p:sp>
        <p:nvSpPr>
          <p:cNvPr id="9" name="자유형 8"/>
          <p:cNvSpPr/>
          <p:nvPr/>
        </p:nvSpPr>
        <p:spPr>
          <a:xfrm>
            <a:off x="4715884" y="3435658"/>
            <a:ext cx="1003309" cy="941941"/>
          </a:xfrm>
          <a:custGeom>
            <a:avLst/>
            <a:gdLst>
              <a:gd name="connsiteX0" fmla="*/ 1003309 w 1003309"/>
              <a:gd name="connsiteY0" fmla="*/ 834501 h 941941"/>
              <a:gd name="connsiteX1" fmla="*/ 736979 w 1003309"/>
              <a:gd name="connsiteY1" fmla="*/ 941033 h 941941"/>
              <a:gd name="connsiteX2" fmla="*/ 133297 w 1003309"/>
              <a:gd name="connsiteY2" fmla="*/ 781235 h 941941"/>
              <a:gd name="connsiteX3" fmla="*/ 35643 w 1003309"/>
              <a:gd name="connsiteY3" fmla="*/ 266330 h 941941"/>
              <a:gd name="connsiteX4" fmla="*/ 603814 w 1003309"/>
              <a:gd name="connsiteY4" fmla="*/ 0 h 941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309" h="941941">
                <a:moveTo>
                  <a:pt x="1003309" y="834501"/>
                </a:moveTo>
                <a:cubicBezTo>
                  <a:pt x="942645" y="892206"/>
                  <a:pt x="881981" y="949911"/>
                  <a:pt x="736979" y="941033"/>
                </a:cubicBezTo>
                <a:cubicBezTo>
                  <a:pt x="591977" y="932155"/>
                  <a:pt x="250186" y="893686"/>
                  <a:pt x="133297" y="781235"/>
                </a:cubicBezTo>
                <a:cubicBezTo>
                  <a:pt x="16408" y="668784"/>
                  <a:pt x="-42777" y="396536"/>
                  <a:pt x="35643" y="266330"/>
                </a:cubicBezTo>
                <a:cubicBezTo>
                  <a:pt x="114062" y="136124"/>
                  <a:pt x="358938" y="68062"/>
                  <a:pt x="603814" y="0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6740125" y="4074850"/>
            <a:ext cx="363704" cy="298664"/>
          </a:xfrm>
          <a:custGeom>
            <a:avLst/>
            <a:gdLst>
              <a:gd name="connsiteX0" fmla="*/ 0 w 363704"/>
              <a:gd name="connsiteY0" fmla="*/ 221942 h 298664"/>
              <a:gd name="connsiteX1" fmla="*/ 284085 w 363704"/>
              <a:gd name="connsiteY1" fmla="*/ 292964 h 298664"/>
              <a:gd name="connsiteX2" fmla="*/ 355107 w 363704"/>
              <a:gd name="connsiteY2" fmla="*/ 88777 h 298664"/>
              <a:gd name="connsiteX3" fmla="*/ 124287 w 363704"/>
              <a:gd name="connsiteY3" fmla="*/ 0 h 29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704" h="298664">
                <a:moveTo>
                  <a:pt x="0" y="221942"/>
                </a:moveTo>
                <a:cubicBezTo>
                  <a:pt x="112450" y="268550"/>
                  <a:pt x="224901" y="315158"/>
                  <a:pt x="284085" y="292964"/>
                </a:cubicBezTo>
                <a:cubicBezTo>
                  <a:pt x="343270" y="270770"/>
                  <a:pt x="381740" y="137604"/>
                  <a:pt x="355107" y="88777"/>
                </a:cubicBezTo>
                <a:cubicBezTo>
                  <a:pt x="328474" y="39950"/>
                  <a:pt x="226380" y="19975"/>
                  <a:pt x="124287" y="0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8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객체 속에서의 </a:t>
            </a:r>
            <a:r>
              <a:rPr lang="en-US" altLang="ko-KR"/>
              <a:t>this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38</a:t>
            </a:fld>
            <a:endParaRPr lang="ko-K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48531"/>
            <a:ext cx="8549692" cy="4582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7772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this </a:t>
            </a:r>
            <a:r>
              <a:rPr lang="ko-KR" altLang="en-US"/>
              <a:t>요약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00808"/>
            <a:ext cx="6866060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48594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this()</a:t>
            </a:r>
            <a:r>
              <a:rPr lang="ko-KR" altLang="en-US"/>
              <a:t>로 다른 생성자 호출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this()</a:t>
            </a:r>
          </a:p>
          <a:p>
            <a:pPr lvl="1"/>
            <a:r>
              <a:rPr lang="ko-KR" altLang="en-US"/>
              <a:t>같은 클래스의 다른 </a:t>
            </a:r>
            <a:r>
              <a:rPr lang="ko-KR" altLang="en-US" err="1"/>
              <a:t>생성자</a:t>
            </a:r>
            <a:r>
              <a:rPr lang="ko-KR" altLang="en-US"/>
              <a:t> 호출</a:t>
            </a:r>
            <a:endParaRPr lang="en-US" altLang="ko-KR"/>
          </a:p>
          <a:p>
            <a:pPr lvl="1"/>
            <a:r>
              <a:rPr lang="ko-KR" altLang="en-US" err="1"/>
              <a:t>생성자</a:t>
            </a:r>
            <a:r>
              <a:rPr lang="ko-KR" altLang="en-US"/>
              <a:t> 내에서만 사용 가능</a:t>
            </a:r>
            <a:endParaRPr lang="en-US" altLang="ko-KR"/>
          </a:p>
          <a:p>
            <a:pPr lvl="1"/>
            <a:r>
              <a:rPr lang="ko-KR" altLang="en-US" err="1"/>
              <a:t>생성자</a:t>
            </a:r>
            <a:r>
              <a:rPr lang="ko-KR" altLang="en-US"/>
              <a:t> 코드의 제일 처음에 있어야 함</a:t>
            </a:r>
            <a:endParaRPr lang="en-US" altLang="ko-KR"/>
          </a:p>
          <a:p>
            <a:pPr lvl="2"/>
            <a:r>
              <a:rPr lang="en-US" altLang="ko-KR"/>
              <a:t>this() </a:t>
            </a:r>
            <a:r>
              <a:rPr lang="ko-KR" altLang="en-US"/>
              <a:t>사용 실패 사례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619672" y="3645024"/>
            <a:ext cx="5544616" cy="7920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200"/>
              <a:t>public Book() {</a:t>
            </a:r>
          </a:p>
          <a:p>
            <a:pPr defTabSz="180000"/>
            <a:r>
              <a:rPr lang="en-US" altLang="ko-KR" sz="1200"/>
              <a:t>	</a:t>
            </a:r>
            <a:r>
              <a:rPr lang="en-US" altLang="ko-KR" sz="1200" err="1"/>
              <a:t>System.out.println</a:t>
            </a:r>
            <a:r>
              <a:rPr lang="en-US" altLang="ko-KR" sz="1200"/>
              <a:t>("</a:t>
            </a:r>
            <a:r>
              <a:rPr lang="ko-KR" altLang="en-US" sz="1200" err="1"/>
              <a:t>생성자</a:t>
            </a:r>
            <a:r>
              <a:rPr lang="ko-KR" altLang="en-US" sz="1200"/>
              <a:t> 호출됨</a:t>
            </a:r>
            <a:r>
              <a:rPr lang="en-US" altLang="ko-KR" sz="1200"/>
              <a:t>");</a:t>
            </a:r>
          </a:p>
          <a:p>
            <a:pPr defTabSz="180000"/>
            <a:r>
              <a:rPr lang="en-US" altLang="ko-KR" sz="1200"/>
              <a:t>	</a:t>
            </a:r>
            <a:r>
              <a:rPr lang="en-US" altLang="ko-KR" sz="1200" b="1"/>
              <a:t>this("", "", 0); </a:t>
            </a:r>
            <a:r>
              <a:rPr lang="en-US" altLang="ko-KR" sz="1200"/>
              <a:t>// </a:t>
            </a:r>
            <a:r>
              <a:rPr lang="ko-KR" altLang="en-US" sz="1200"/>
              <a:t>생성자의 첫 번째 문장이 아니기 때문에 컴파일 오류</a:t>
            </a:r>
          </a:p>
          <a:p>
            <a:pPr defTabSz="180000"/>
            <a:r>
              <a:rPr lang="en-US" altLang="ko-KR" sz="1200"/>
              <a:t>}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997029"/>
            <a:ext cx="359082" cy="27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93023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33498" y="113122"/>
            <a:ext cx="7739062" cy="662983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class Pizza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{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int size;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String type;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String side;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public Pizza() {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	this(12,"</a:t>
            </a:r>
            <a:r>
              <a:rPr lang="ko-KR" altLang="en-US" sz="1600">
                <a:latin typeface="Century Schoolbook" panose="02040604050505020304" pitchFamily="18" charset="0"/>
                <a:ea typeface="굴림" panose="020B0600000101010101" pitchFamily="50" charset="-127"/>
              </a:rPr>
              <a:t>콤비네이션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","</a:t>
            </a:r>
            <a:r>
              <a:rPr lang="ko-KR" altLang="en-US" sz="1600">
                <a:latin typeface="Century Schoolbook" panose="02040604050505020304" pitchFamily="18" charset="0"/>
                <a:ea typeface="굴림" panose="020B0600000101010101" pitchFamily="50" charset="-127"/>
              </a:rPr>
              <a:t>없음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");  }</a:t>
            </a:r>
          </a:p>
          <a:p>
            <a:pPr marL="0" indent="0">
              <a:buNone/>
            </a:pPr>
            <a:endParaRPr lang="en-US" altLang="ko-KR" sz="1600">
              <a:latin typeface="Century Schoolbook" panose="02040604050505020304" pitchFamily="18" charset="0"/>
              <a:ea typeface="굴림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public Pizza(int size, String type {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	this();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6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this.size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=size;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6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this.type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=type;}</a:t>
            </a:r>
          </a:p>
          <a:p>
            <a:pPr marL="0" indent="0">
              <a:buNone/>
            </a:pPr>
            <a:endParaRPr lang="en-US" altLang="ko-KR" sz="1600">
              <a:latin typeface="Century Schoolbook" panose="02040604050505020304" pitchFamily="18" charset="0"/>
              <a:ea typeface="굴림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public Pizza(int size, String </a:t>
            </a:r>
            <a:r>
              <a:rPr lang="en-US" altLang="ko-KR" sz="1600" err="1">
                <a:latin typeface="Century Schoolbook" panose="02040604050505020304" pitchFamily="18" charset="0"/>
                <a:ea typeface="굴림" panose="020B0600000101010101" pitchFamily="50" charset="-127"/>
              </a:rPr>
              <a:t>type,String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 side</a:t>
            </a:r>
            <a:r>
              <a:rPr lang="ko-KR" altLang="en-US" sz="1600">
                <a:latin typeface="Century Schoolbook" panose="02040604050505020304" pitchFamily="18" charset="0"/>
                <a:ea typeface="굴림" panose="020B0600000101010101" pitchFamily="50" charset="-127"/>
              </a:rPr>
              <a:t>	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{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6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this.size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=size;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6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this.type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=type;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		</a:t>
            </a:r>
            <a:r>
              <a:rPr lang="en-US" altLang="ko-KR" sz="1600" err="1">
                <a:latin typeface="Century Schoolbook" panose="02040604050505020304" pitchFamily="18" charset="0"/>
                <a:ea typeface="굴림" panose="020B0600000101010101" pitchFamily="50" charset="-127"/>
              </a:rPr>
              <a:t>this.side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=side;}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public String </a:t>
            </a:r>
            <a:r>
              <a:rPr lang="en-US" altLang="ko-KR" sz="1600" err="1">
                <a:latin typeface="Century Schoolbook" panose="02040604050505020304" pitchFamily="18" charset="0"/>
                <a:ea typeface="굴림" panose="020B0600000101010101" pitchFamily="50" charset="-127"/>
              </a:rPr>
              <a:t>toString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()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{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return "</a:t>
            </a:r>
            <a:r>
              <a:rPr lang="ko-KR" altLang="en-US" sz="1600">
                <a:latin typeface="Century Schoolbook" panose="02040604050505020304" pitchFamily="18" charset="0"/>
                <a:ea typeface="굴림" panose="020B0600000101010101" pitchFamily="50" charset="-127"/>
              </a:rPr>
              <a:t>피자의 크기는 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:"+size+ " </a:t>
            </a:r>
            <a:r>
              <a:rPr lang="ko-KR" altLang="en-US" sz="1600">
                <a:latin typeface="Century Schoolbook" panose="02040604050505020304" pitchFamily="18" charset="0"/>
                <a:ea typeface="굴림" panose="020B0600000101010101" pitchFamily="50" charset="-127"/>
              </a:rPr>
              <a:t>종류는 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"+type+"</a:t>
            </a:r>
            <a:r>
              <a:rPr lang="ko-KR" altLang="en-US" sz="1600">
                <a:latin typeface="Century Schoolbook" panose="02040604050505020304" pitchFamily="18" charset="0"/>
                <a:ea typeface="굴림" panose="020B0600000101010101" pitchFamily="50" charset="-127"/>
              </a:rPr>
              <a:t>추가메뉴는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:"+side+"</a:t>
            </a:r>
            <a:r>
              <a:rPr lang="ko-KR" altLang="en-US" sz="1600">
                <a:latin typeface="Century Schoolbook" panose="02040604050505020304" pitchFamily="18" charset="0"/>
                <a:ea typeface="굴림" panose="020B0600000101010101" pitchFamily="50" charset="-127"/>
              </a:rPr>
              <a:t>입니다</a:t>
            </a: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"; }</a:t>
            </a:r>
          </a:p>
          <a:p>
            <a:pPr marL="0" indent="0">
              <a:buNone/>
            </a:pPr>
            <a:r>
              <a:rPr lang="en-US" altLang="ko-KR" sz="1600"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7233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63F3F86B8564408C355D68F45A30F8" ma:contentTypeVersion="7" ma:contentTypeDescription="Create a new document." ma:contentTypeScope="" ma:versionID="f577b17cddb3cfa273a7c62723bccc67">
  <xsd:schema xmlns:xsd="http://www.w3.org/2001/XMLSchema" xmlns:xs="http://www.w3.org/2001/XMLSchema" xmlns:p="http://schemas.microsoft.com/office/2006/metadata/properties" xmlns:ns3="61eae400-1c71-451c-aeb3-9b02b189ef4d" targetNamespace="http://schemas.microsoft.com/office/2006/metadata/properties" ma:root="true" ma:fieldsID="1065bd026407ac9b6e927748b13693b2" ns3:_="">
    <xsd:import namespace="61eae400-1c71-451c-aeb3-9b02b189ef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ae400-1c71-451c-aeb3-9b02b189ef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C5DB62-18EC-44F9-BEBF-DC5759BBD0CB}">
  <ds:schemaRefs>
    <ds:schemaRef ds:uri="61eae400-1c71-451c-aeb3-9b02b189ef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753C193-8EB4-4F01-8210-CB6C287EDBE2}">
  <ds:schemaRefs>
    <ds:schemaRef ds:uri="61eae400-1c71-451c-aeb3-9b02b189ef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A74F1F-3D73-45DC-9598-4088A06F02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이온(회의실)</vt:lpstr>
      <vt:lpstr>가을</vt:lpstr>
      <vt:lpstr>1_가을</vt:lpstr>
      <vt:lpstr>자바 프로그래밍 응용</vt:lpstr>
      <vt:lpstr>PowerPoint Presentation</vt:lpstr>
      <vt:lpstr>세상 모든 것이 객체</vt:lpstr>
      <vt:lpstr>객체 지향 특성 : 캡슐화</vt:lpstr>
      <vt:lpstr>자바의 캡슐화</vt:lpstr>
      <vt:lpstr>객체 지향의 특성 : 상속</vt:lpstr>
      <vt:lpstr>자바의 상속</vt:lpstr>
      <vt:lpstr>객체 지향의 특성 : 다형성</vt:lpstr>
      <vt:lpstr>객체 지향 언어의 목적</vt:lpstr>
      <vt:lpstr>절차 지향 프로그래밍과 객체 지향 프로그래밍</vt:lpstr>
      <vt:lpstr>클래스와 객체</vt:lpstr>
      <vt:lpstr>클래스와 객체와의 관계</vt:lpstr>
      <vt:lpstr>사람을 사례로 든 클래스와 객체 사례</vt:lpstr>
      <vt:lpstr>클래스 구성</vt:lpstr>
      <vt:lpstr>클래스 구성 설명</vt:lpstr>
      <vt:lpstr>객체 생성 및 접근</vt:lpstr>
      <vt:lpstr>예제 4-1 : Circle 클래스의 객체 생성 및 활용</vt:lpstr>
      <vt:lpstr>PowerPoint Presentation</vt:lpstr>
      <vt:lpstr>(예제 4-1 교재 와 다른 표현)</vt:lpstr>
      <vt:lpstr>메소드</vt:lpstr>
      <vt:lpstr>메소드의 구조</vt:lpstr>
      <vt:lpstr>매개변수와 인수</vt:lpstr>
      <vt:lpstr>예제1: 함수</vt:lpstr>
      <vt:lpstr>메서드 중복 정의</vt:lpstr>
      <vt:lpstr>예제2</vt:lpstr>
      <vt:lpstr>예제2</vt:lpstr>
      <vt:lpstr>실습예제 : 메서드 오버로딩</vt:lpstr>
      <vt:lpstr>생성자 개념과 목적</vt:lpstr>
      <vt:lpstr>생성자:객체가 생성될 때 초기화 되는 특수한 메서드</vt:lpstr>
      <vt:lpstr>예제 4 : 두 개의 생성자를 가진 Circle 클래스</vt:lpstr>
      <vt:lpstr>생성자의 특징</vt:lpstr>
      <vt:lpstr>예제</vt:lpstr>
      <vt:lpstr>예제</vt:lpstr>
      <vt:lpstr>기본 생성자</vt:lpstr>
      <vt:lpstr>기본 생성자가 자동 생성되지 않는 경우</vt:lpstr>
      <vt:lpstr>예제</vt:lpstr>
      <vt:lpstr>this 레퍼런스</vt:lpstr>
      <vt:lpstr>객체 속에서의 this</vt:lpstr>
      <vt:lpstr>this 요약</vt:lpstr>
      <vt:lpstr>this()로 다른 생성자 호출</vt:lpstr>
      <vt:lpstr>예제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객체지향 프로그래밍</dc:title>
  <dc:creator>rxr</dc:creator>
  <cp:revision>1</cp:revision>
  <dcterms:created xsi:type="dcterms:W3CDTF">2020-08-28T02:52:27Z</dcterms:created>
  <dcterms:modified xsi:type="dcterms:W3CDTF">2024-04-07T07:07:22Z</dcterms:modified>
</cp:coreProperties>
</file>