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44" r:id="rId5"/>
  </p:sldMasterIdLst>
  <p:notesMasterIdLst>
    <p:notesMasterId r:id="rId74"/>
  </p:notesMasterIdLst>
  <p:sldIdLst>
    <p:sldId id="276" r:id="rId6"/>
    <p:sldId id="277" r:id="rId7"/>
    <p:sldId id="722" r:id="rId8"/>
    <p:sldId id="655" r:id="rId9"/>
    <p:sldId id="656" r:id="rId10"/>
    <p:sldId id="657" r:id="rId11"/>
    <p:sldId id="664" r:id="rId12"/>
    <p:sldId id="257" r:id="rId13"/>
    <p:sldId id="319" r:id="rId14"/>
    <p:sldId id="320" r:id="rId15"/>
    <p:sldId id="259" r:id="rId16"/>
    <p:sldId id="261" r:id="rId17"/>
    <p:sldId id="262" r:id="rId18"/>
    <p:sldId id="263" r:id="rId19"/>
    <p:sldId id="264" r:id="rId20"/>
    <p:sldId id="322" r:id="rId21"/>
    <p:sldId id="274" r:id="rId22"/>
    <p:sldId id="275" r:id="rId23"/>
    <p:sldId id="735" r:id="rId24"/>
    <p:sldId id="734" r:id="rId25"/>
    <p:sldId id="327" r:id="rId26"/>
    <p:sldId id="328" r:id="rId27"/>
    <p:sldId id="736" r:id="rId28"/>
    <p:sldId id="737" r:id="rId29"/>
    <p:sldId id="281" r:id="rId30"/>
    <p:sldId id="283" r:id="rId31"/>
    <p:sldId id="285" r:id="rId32"/>
    <p:sldId id="738" r:id="rId33"/>
    <p:sldId id="740" r:id="rId34"/>
    <p:sldId id="741" r:id="rId35"/>
    <p:sldId id="329" r:id="rId36"/>
    <p:sldId id="288" r:id="rId37"/>
    <p:sldId id="289" r:id="rId38"/>
    <p:sldId id="330" r:id="rId39"/>
    <p:sldId id="770" r:id="rId40"/>
    <p:sldId id="771" r:id="rId41"/>
    <p:sldId id="772" r:id="rId42"/>
    <p:sldId id="291" r:id="rId43"/>
    <p:sldId id="773" r:id="rId44"/>
    <p:sldId id="774" r:id="rId45"/>
    <p:sldId id="775" r:id="rId46"/>
    <p:sldId id="776" r:id="rId47"/>
    <p:sldId id="777" r:id="rId48"/>
    <p:sldId id="778" r:id="rId49"/>
    <p:sldId id="779" r:id="rId50"/>
    <p:sldId id="780" r:id="rId51"/>
    <p:sldId id="786" r:id="rId52"/>
    <p:sldId id="787" r:id="rId53"/>
    <p:sldId id="788" r:id="rId54"/>
    <p:sldId id="789" r:id="rId55"/>
    <p:sldId id="799" r:id="rId56"/>
    <p:sldId id="790" r:id="rId57"/>
    <p:sldId id="800" r:id="rId58"/>
    <p:sldId id="801" r:id="rId59"/>
    <p:sldId id="802" r:id="rId60"/>
    <p:sldId id="803" r:id="rId61"/>
    <p:sldId id="804" r:id="rId62"/>
    <p:sldId id="805" r:id="rId63"/>
    <p:sldId id="806" r:id="rId64"/>
    <p:sldId id="807" r:id="rId65"/>
    <p:sldId id="808" r:id="rId66"/>
    <p:sldId id="809" r:id="rId67"/>
    <p:sldId id="810" r:id="rId68"/>
    <p:sldId id="811" r:id="rId69"/>
    <p:sldId id="812" r:id="rId70"/>
    <p:sldId id="814" r:id="rId71"/>
    <p:sldId id="815" r:id="rId72"/>
    <p:sldId id="816" r:id="rId7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은성" userId="451a94f3-e55a-4745-8884-f48fbe464410" providerId="ADAL" clId="{9142F04D-EB9E-4595-856E-00F8626B3388}"/>
    <pc:docChg chg="delSld modSld">
      <pc:chgData name="오은성" userId="451a94f3-e55a-4745-8884-f48fbe464410" providerId="ADAL" clId="{9142F04D-EB9E-4595-856E-00F8626B3388}" dt="2026-03-07T06:47:40.202" v="9" actId="47"/>
      <pc:docMkLst>
        <pc:docMk/>
      </pc:docMkLst>
      <pc:sldChg chg="modSp mod">
        <pc:chgData name="오은성" userId="451a94f3-e55a-4745-8884-f48fbe464410" providerId="ADAL" clId="{9142F04D-EB9E-4595-856E-00F8626B3388}" dt="2026-03-07T06:47:02.298" v="8" actId="20577"/>
        <pc:sldMkLst>
          <pc:docMk/>
          <pc:sldMk cId="3160632788" sldId="276"/>
        </pc:sldMkLst>
        <pc:spChg chg="mod">
          <ac:chgData name="오은성" userId="451a94f3-e55a-4745-8884-f48fbe464410" providerId="ADAL" clId="{9142F04D-EB9E-4595-856E-00F8626B3388}" dt="2026-03-07T06:47:02.298" v="8" actId="20577"/>
          <ac:spMkLst>
            <pc:docMk/>
            <pc:sldMk cId="3160632788" sldId="276"/>
            <ac:spMk id="2" creationId="{00000000-0000-0000-0000-000000000000}"/>
          </ac:spMkLst>
        </pc:spChg>
      </pc:sldChg>
      <pc:sldChg chg="del">
        <pc:chgData name="오은성" userId="451a94f3-e55a-4745-8884-f48fbe464410" providerId="ADAL" clId="{9142F04D-EB9E-4595-856E-00F8626B3388}" dt="2026-03-07T06:47:40.202" v="9" actId="47"/>
        <pc:sldMkLst>
          <pc:docMk/>
          <pc:sldMk cId="620867139" sldId="28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0-04-02T16:50:12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8696 8237 0,'35'0'63,"1"0"-48,69 53-15,-52-17 16,159 34-16,35 36 15,0-36-15,-177-34 0,177 34 16,-35 36-16,-141-88 16,87 35-16,-87-18 15,-54-35-15,-17 18 172,-17-1-156,-1 1-1,-35 0-15,18-1 16,-18 1-16,35-1 0,-17 1 16,18-18-1,-1 18-15,0-18 16,1 0 0,-1 17-16,-17 1 0,-18 0 15,18 17-15,-36-17 16,53-18-16,-17 17 15,17-17 1</inkml:trace>
  <inkml:trace contextRef="#ctx0" brushRef="#br0" timeOffset="706.67">10689 8537 0,'35'0'62,"1"-17"-46,-1 17-16,-17 0 16,-1 0-16,1 0 15,0 0-15,-1-18 16,1 18-16,-18-18 15,17 18-15,1-17 16,0 17 0,-1 0-16,1-18 15</inkml:trace>
  <inkml:trace contextRef="#ctx0" brushRef="#br0" timeOffset="1425.83">10848 8696 0,'18'-18'16,"-1"18"-16,1-17 0,-1 17 47,1 0-16,-18-18 0,18 18-31,-1 0 16,1-18 15,-18 1-15,18 17 15</inkml:trace>
  <inkml:trace contextRef="#ctx0" brushRef="#br0" timeOffset="3455.03">7691 7814 0,'0'35'47,"0"-17"-32,-18 0-15,18 17 16,-18 0-16,18-17 16,0-1-1,0 1 1,0 0 140,0-1-125,-17 1 110,17 0-125,0-1 93,0 1-46,0 0-48,0-1 79,0 71 31,0-52-109,0-19-16,0 19 15,0-72 63,0 19-46</inkml:trace>
  <inkml:trace contextRef="#ctx0" brushRef="#br0" timeOffset="5164">8043 10689 0,'18'0'47,"17"0"-47,-35-17 15,18 17 1,0 0-1,17 0 32,-18 0-31,-17 17 15,0 1-15,0-1-1,0 1 1,0 0-16,0-1 16,-17 19-1,-1-36 1,18 17-16,-17 1 16,-1 0-16,0-18 62,159 35 141,89 35-203,-19-17 16,-140-53-16,88 36 15,88 16-15,-71 1 16,-105-35-16,52 17 16,-52-35-16,-54 0 15</inkml:trace>
  <inkml:trace contextRef="#ctx0" brushRef="#br0" timeOffset="6247.99">13176 7250 0,'0'17'32,"0"1"15,0-1-32,-17 1 1,17 0-1</inkml:trace>
  <inkml:trace contextRef="#ctx0" brushRef="#br0" timeOffset="6958.68">13458 7250 0,'0'35'15,"-17"0"-15,-1-17 16,18 35-16,-17-18 16,-1 36-16,-17 17 0,-1 35 15,19-70-15,-19 71 16,-16 34-16,16-69 16,36-72-16,-17 36 15,17-35-15,0-1 0,0-70 125,35 36-109</inkml:trace>
  <inkml:trace contextRef="#ctx0" brushRef="#br0" timeOffset="8084.22">13458 7320 0,'36'0'93,"-19"0"-61,-17 18-32,18-18 0,0 0 15,-18 17-15,0 1 16,17 0 0,1-1-16,-18 1 15,0 0-15,0-1 16,0 1-16,0 0 15,0 17-15,18 0 16,-18 0-16,0-17 16,17 35-16,1 17 0,17 1 15,-17-36-15,-1 1 16,19 16-16,-19-16 16,-17-19-16,18-17 15,-18 18-15,18-18 16,-18 18-16,17-1 31,1 1 0,0 0-15,-18-1-16,0 19 16,17-1-16,1-35 0,-1 35 15,1-35 1,-18 18-16,18-18 31,-18-18 47,0 0-62</inkml:trace>
  <inkml:trace contextRef="#ctx0" brushRef="#br0" timeOffset="9521.9">13317 7726 0,'36'0'109,"-19"0"-93,1-18-16,0 18 16,17-17-16,-35-1 15,35 18-15,-35-18 16,18 18-1,-1 0 32,1 0 16,0 0-63,17 0 15,0 0 1</inkml:trace>
  <inkml:trace contextRef="#ctx0" brushRef="#br0" timeOffset="10450.93">13899 7144 0,'0'17'109,"-17"36"-93,-1-35-16,1 17 15,17-17-15,-18-1 0,0 19 16,18-19-16,0 1 31,0 0 32,-17-1-48,17 1 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D9F59-4412-4C1B-9AFC-37D0F19DD34A}" type="datetimeFigureOut">
              <a:rPr lang="ko-KR" altLang="en-US" smtClean="0"/>
              <a:t>2026-03-07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DDB46-C8B9-4E58-802E-B5D5985C5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46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CA48A-C2EC-40C8-B749-566CD4BBC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217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CA48A-C2EC-40C8-B749-566CD4BBC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275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 useBgFill="1">
        <p:nvSpPr>
          <p:cNvPr id="20" name="Freeform 10"/>
          <p:cNvSpPr>
            <a:spLocks/>
          </p:cNvSpPr>
          <p:nvPr userDrawn="1"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4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35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4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4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5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72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2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09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3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71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FF00"/>
                </a:solidFill>
              </a:defRPr>
            </a:lvl1pPr>
          </a:lstStyle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56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  <a:lvl5pPr>
              <a:defRPr sz="1200"/>
            </a:lvl5pPr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807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43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124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63663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4730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1462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049937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7331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6487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05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2026-03-07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6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5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www.google.co.kr/url?sa=i&amp;rct=j&amp;q=&amp;esrc=s&amp;source=images&amp;cd=&amp;cad=rja&amp;uact=8&amp;ved=0ahUKEwjjgc7CnbDJAhUFNJQKHdf4DroQjRwIBw&amp;url=http://www.scrapsyard.com/scraps/comment-back/&amp;bvm=bv.108194040,d.dGo&amp;psig=AFQjCNEJdt4f3HFG55rfveI2Birf8sxJFw&amp;ust=144870086209176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772400" cy="1656184"/>
          </a:xfrm>
        </p:spPr>
        <p:txBody>
          <a:bodyPr/>
          <a:lstStyle/>
          <a:p>
            <a:r>
              <a:rPr lang="ko-KR" altLang="en-US" dirty="0"/>
              <a:t>자바 프로그래밍 응용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652120" y="4005064"/>
            <a:ext cx="2952328" cy="102758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b="1" dirty="0"/>
              <a:t>2</a:t>
            </a:r>
            <a:r>
              <a:rPr lang="ko-KR" altLang="en-US" b="1" dirty="0"/>
              <a:t>주차</a:t>
            </a:r>
            <a:endParaRPr lang="en-US" altLang="ko-KR" b="1" dirty="0"/>
          </a:p>
          <a:p>
            <a:r>
              <a:rPr lang="ko-KR" altLang="en-US" b="1" dirty="0"/>
              <a:t>자바의기본문법</a:t>
            </a:r>
            <a:endParaRPr lang="en-US" altLang="ko-KR" b="1" dirty="0"/>
          </a:p>
          <a:p>
            <a:r>
              <a:rPr lang="ko-KR" altLang="en-US" b="1" dirty="0"/>
              <a:t>강의 자 </a:t>
            </a:r>
            <a:r>
              <a:rPr lang="en-US" altLang="ko-KR" b="1" dirty="0"/>
              <a:t>: </a:t>
            </a:r>
            <a:r>
              <a:rPr lang="ko-KR" altLang="en-US" b="1" dirty="0"/>
              <a:t>오 은 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FEC2D8-E928-4A76-A864-29F4D068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996952"/>
            <a:ext cx="48298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3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1938448"/>
            <a:ext cx="7639736" cy="4304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Char char="-"/>
            </a:pP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자바프로그래밍의 기본 구조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식별자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자동타입변환 </a:t>
            </a:r>
            <a:r>
              <a:rPr lang="en-US" altLang="ko-KR" sz="2000" dirty="0"/>
              <a:t>/ </a:t>
            </a:r>
            <a:r>
              <a:rPr lang="ko-KR" altLang="en-US" sz="2000" dirty="0"/>
              <a:t>강제타입변환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자바에서 키 입력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altLang="ko-KR" sz="2000" dirty="0"/>
              <a:t>Scanner </a:t>
            </a:r>
            <a:r>
              <a:rPr lang="ko-KR" altLang="en-US" sz="2000" dirty="0"/>
              <a:t>이해하기</a:t>
            </a:r>
            <a:endParaRPr lang="en-US" altLang="ko-KR" sz="2000" dirty="0"/>
          </a:p>
          <a:p>
            <a:pPr>
              <a:lnSpc>
                <a:spcPct val="200000"/>
              </a:lnSpc>
            </a:pPr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7432-4659-4F26-9A95-9872FEC42B02}"/>
              </a:ext>
            </a:extLst>
          </p:cNvPr>
          <p:cNvSpPr txBox="1"/>
          <p:nvPr/>
        </p:nvSpPr>
        <p:spPr>
          <a:xfrm>
            <a:off x="2483768" y="980728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115451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자바의 일반적인 구조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62773"/>
            <a:ext cx="6343672" cy="3549103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805264"/>
            <a:ext cx="6343672" cy="74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0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/>
              <a:t>클래스</a:t>
            </a:r>
            <a:r>
              <a:rPr lang="en-US" altLang="ko-KR" b="1"/>
              <a:t>(class)</a:t>
            </a:r>
            <a:r>
              <a:rPr lang="ko-KR" altLang="en-US"/>
              <a:t>는 자바와 같은 객체 지향 언어의 기본적인 빌딩 블록</a:t>
            </a:r>
            <a:endParaRPr lang="en-US" altLang="ko-KR"/>
          </a:p>
          <a:p>
            <a:r>
              <a:rPr lang="ko-KR" altLang="en-US"/>
              <a:t>필요한 클래스를 하나씩 만들어 감으로써 전체 프로그램이 완성된다</a:t>
            </a:r>
            <a:r>
              <a:rPr lang="en-US" altLang="ko-KR"/>
              <a:t>. </a:t>
            </a:r>
          </a:p>
          <a:p>
            <a:pPr marL="0" indent="0">
              <a:buNone/>
            </a:pPr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713" y="4005064"/>
            <a:ext cx="6732573" cy="2368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229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클래스의 정의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2569"/>
            <a:ext cx="9044105" cy="3222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7110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소스 파일과 클래스 이름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소스 안에 </a:t>
            </a:r>
            <a:r>
              <a:rPr lang="en-US" altLang="ko-KR"/>
              <a:t>public </a:t>
            </a:r>
            <a:r>
              <a:rPr lang="ko-KR" altLang="en-US"/>
              <a:t>클래스가 있다면 반드시 소스 파일의 이름은 </a:t>
            </a:r>
            <a:r>
              <a:rPr lang="en-US" altLang="ko-KR"/>
              <a:t>public </a:t>
            </a:r>
            <a:r>
              <a:rPr lang="ko-KR" altLang="en-US"/>
              <a:t>클래스의 이름과 일치하여야 한다</a:t>
            </a:r>
            <a:r>
              <a:rPr lang="en-US" altLang="ko-KR"/>
              <a:t>.</a:t>
            </a:r>
          </a:p>
          <a:p>
            <a:r>
              <a:rPr lang="ko-KR" altLang="en-US"/>
              <a:t>하나의 소스 파일 안에 </a:t>
            </a:r>
            <a:r>
              <a:rPr lang="en-US" altLang="ko-KR"/>
              <a:t>public </a:t>
            </a:r>
            <a:r>
              <a:rPr lang="ko-KR" altLang="en-US"/>
              <a:t>클래스가 </a:t>
            </a:r>
            <a:r>
              <a:rPr lang="en-US" altLang="ko-KR"/>
              <a:t>2</a:t>
            </a:r>
            <a:r>
              <a:rPr lang="ko-KR" altLang="en-US"/>
              <a:t>개 이상 있으면 컴파일 오류가 발생한다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703" y="4404835"/>
            <a:ext cx="585787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타원 3"/>
          <p:cNvSpPr/>
          <p:nvPr/>
        </p:nvSpPr>
        <p:spPr>
          <a:xfrm>
            <a:off x="1381703" y="4380795"/>
            <a:ext cx="1108609" cy="339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2910898" y="4555470"/>
            <a:ext cx="1108609" cy="3398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37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주석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/* TEXT */</a:t>
            </a:r>
          </a:p>
          <a:p>
            <a:pPr lvl="1"/>
            <a:r>
              <a:rPr lang="ko-KR" altLang="en-US"/>
              <a:t>주석의 시작과 끝을 </a:t>
            </a:r>
            <a:r>
              <a:rPr lang="en-US" altLang="ko-KR"/>
              <a:t>/*</a:t>
            </a:r>
            <a:r>
              <a:rPr lang="ko-KR" altLang="en-US"/>
              <a:t>와 *</a:t>
            </a:r>
            <a:r>
              <a:rPr lang="en-US" altLang="ko-KR"/>
              <a:t>/</a:t>
            </a:r>
            <a:r>
              <a:rPr lang="ko-KR" altLang="en-US"/>
              <a:t>로 표시</a:t>
            </a:r>
            <a:endParaRPr lang="en-US" altLang="ko-KR"/>
          </a:p>
          <a:p>
            <a:pPr lvl="1"/>
            <a:endParaRPr lang="ko-KR" altLang="en-US"/>
          </a:p>
          <a:p>
            <a:r>
              <a:rPr lang="en-US" altLang="ko-KR"/>
              <a:t>// TEXT</a:t>
            </a:r>
          </a:p>
          <a:p>
            <a:pPr lvl="1"/>
            <a:r>
              <a:rPr lang="en-US" altLang="ko-KR"/>
              <a:t>//</a:t>
            </a:r>
            <a:r>
              <a:rPr lang="ko-KR" altLang="en-US"/>
              <a:t>에서 줄의 끝까지가 주석이다</a:t>
            </a:r>
            <a:r>
              <a:rPr lang="en-US" altLang="ko-KR"/>
              <a:t>. </a:t>
            </a:r>
            <a:r>
              <a:rPr lang="ko-KR" altLang="en-US"/>
              <a:t>한 줄짜리 주석만 가능하다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en-US" altLang="ko-KR"/>
              <a:t>/** DOCUMENTATION */</a:t>
            </a:r>
          </a:p>
          <a:p>
            <a:pPr lvl="1"/>
            <a:r>
              <a:rPr lang="en-US" altLang="ko-KR"/>
              <a:t>/**</a:t>
            </a:r>
            <a:r>
              <a:rPr lang="ko-KR" altLang="en-US"/>
              <a:t>에서 *</a:t>
            </a:r>
            <a:r>
              <a:rPr lang="en-US" altLang="ko-KR"/>
              <a:t>/</a:t>
            </a:r>
            <a:r>
              <a:rPr lang="ko-KR" altLang="en-US"/>
              <a:t>까지가 주석이 된다</a:t>
            </a:r>
          </a:p>
        </p:txBody>
      </p:sp>
      <p:pic>
        <p:nvPicPr>
          <p:cNvPr id="8194" name="Picture 2" descr="http://www.scrapsyard.com/wp-content/uploads/2015/06/Your-Comment-Here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349" y="4418601"/>
            <a:ext cx="2933700" cy="154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48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2-1 </a:t>
            </a:r>
            <a:r>
              <a:rPr lang="ko-KR" altLang="en-US" dirty="0"/>
              <a:t>자바프로그램의 기본 구조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5655" y="1405800"/>
            <a:ext cx="5400601" cy="47595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/*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	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소스 파일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Hello.java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Hello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static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n,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m)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return n + m;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main()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메소드에서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실행 시작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static void main(String[]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i = 20;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char a;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 = sum(i, 10);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sum()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메소드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호출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a = '?';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(a);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문자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'?'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화면 출력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("Hello");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"Hello"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문자열 화면 출력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(s);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값 화면 출력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5260" y="273040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메소드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32581" y="466562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메소드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4163994"/>
            <a:ext cx="872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클래스 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7071940" y="1405800"/>
            <a:ext cx="1071180" cy="738664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Hello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30</a:t>
            </a:r>
          </a:p>
        </p:txBody>
      </p:sp>
      <p:sp>
        <p:nvSpPr>
          <p:cNvPr id="22" name="오른쪽 중괄호 21"/>
          <p:cNvSpPr/>
          <p:nvPr/>
        </p:nvSpPr>
        <p:spPr>
          <a:xfrm>
            <a:off x="4880799" y="2611651"/>
            <a:ext cx="288033" cy="576064"/>
          </a:xfrm>
          <a:prstGeom prst="rightBrace">
            <a:avLst>
              <a:gd name="adj1" fmla="val 23099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오른쪽 중괄호 22"/>
          <p:cNvSpPr/>
          <p:nvPr/>
        </p:nvSpPr>
        <p:spPr>
          <a:xfrm>
            <a:off x="6228184" y="3645024"/>
            <a:ext cx="360041" cy="2379752"/>
          </a:xfrm>
          <a:prstGeom prst="rightBrace">
            <a:avLst>
              <a:gd name="adj1" fmla="val 82162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오른쪽 중괄호 23"/>
          <p:cNvSpPr/>
          <p:nvPr/>
        </p:nvSpPr>
        <p:spPr>
          <a:xfrm rot="10800000">
            <a:off x="1031435" y="2276872"/>
            <a:ext cx="444220" cy="3888432"/>
          </a:xfrm>
          <a:prstGeom prst="rightBrace">
            <a:avLst>
              <a:gd name="adj1" fmla="val 82162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84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2-1 </a:t>
            </a:r>
            <a:r>
              <a:rPr lang="ko-KR" altLang="en-US" dirty="0"/>
              <a:t>코드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71486" y="1285860"/>
            <a:ext cx="4029076" cy="523948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클래스 만들기</a:t>
            </a:r>
            <a:endParaRPr lang="en-US" altLang="ko-KR" sz="1600" dirty="0"/>
          </a:p>
          <a:p>
            <a:pPr lvl="1"/>
            <a:r>
              <a:rPr lang="en-US" altLang="ko-KR" sz="1200" dirty="0"/>
              <a:t>Hello</a:t>
            </a:r>
            <a:r>
              <a:rPr lang="ko-KR" altLang="en-US" sz="1200" dirty="0"/>
              <a:t> 이름의 클래스 선언</a:t>
            </a: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r>
              <a:rPr lang="en-US" altLang="ko-KR" sz="1200" dirty="0"/>
              <a:t>class </a:t>
            </a:r>
            <a:r>
              <a:rPr lang="ko-KR" altLang="en-US" sz="1200" dirty="0"/>
              <a:t>키워드로 클래스 선언</a:t>
            </a:r>
            <a:endParaRPr lang="en-US" altLang="ko-KR" sz="1200" dirty="0"/>
          </a:p>
          <a:p>
            <a:pPr lvl="1"/>
            <a:r>
              <a:rPr lang="en-US" altLang="ko-KR" sz="1200" dirty="0"/>
              <a:t>public</a:t>
            </a:r>
            <a:r>
              <a:rPr lang="ko-KR" altLang="en-US" sz="1200" dirty="0"/>
              <a:t> 선언하면 다른 클래스에서 접근 가능</a:t>
            </a:r>
            <a:endParaRPr lang="en-US" altLang="ko-KR" sz="1200" dirty="0"/>
          </a:p>
          <a:p>
            <a:pPr lvl="1"/>
            <a:r>
              <a:rPr lang="ko-KR" altLang="en-US" sz="1200" dirty="0"/>
              <a:t>클래스 코드는 </a:t>
            </a:r>
            <a:r>
              <a:rPr lang="en-US" altLang="ko-KR" sz="1200" dirty="0"/>
              <a:t>{</a:t>
            </a:r>
            <a:r>
              <a:rPr lang="ko-KR" altLang="en-US" sz="1200" dirty="0"/>
              <a:t> </a:t>
            </a:r>
            <a:r>
              <a:rPr lang="en-US" altLang="ko-KR" sz="1200" dirty="0"/>
              <a:t>} </a:t>
            </a:r>
            <a:r>
              <a:rPr lang="ko-KR" altLang="en-US" sz="1200" dirty="0"/>
              <a:t>내에 모두 작성</a:t>
            </a:r>
            <a:endParaRPr lang="en-US" altLang="ko-KR" sz="1200" dirty="0"/>
          </a:p>
          <a:p>
            <a:r>
              <a:rPr lang="ko-KR" altLang="en-US" sz="1600" dirty="0" err="1"/>
              <a:t>주석문</a:t>
            </a:r>
            <a:endParaRPr lang="en-US" altLang="ko-KR" sz="1600" dirty="0"/>
          </a:p>
          <a:p>
            <a:pPr lvl="1"/>
            <a:r>
              <a:rPr lang="en-US" altLang="ko-KR" sz="1200" dirty="0"/>
              <a:t>//</a:t>
            </a:r>
            <a:r>
              <a:rPr lang="ko-KR" altLang="en-US" sz="1200" dirty="0"/>
              <a:t> 한 라인 주석</a:t>
            </a:r>
            <a:endParaRPr lang="en-US" altLang="ko-KR" sz="1200" dirty="0"/>
          </a:p>
          <a:p>
            <a:pPr lvl="1"/>
            <a:r>
              <a:rPr lang="en-US" altLang="ko-KR" sz="1200" dirty="0"/>
              <a:t>/* </a:t>
            </a:r>
            <a:r>
              <a:rPr lang="ko-KR" altLang="en-US" sz="1200" dirty="0"/>
              <a:t>여러 행 주석 </a:t>
            </a:r>
            <a:r>
              <a:rPr lang="en-US" altLang="ko-KR" sz="1200" dirty="0"/>
              <a:t>*/</a:t>
            </a:r>
            <a:endParaRPr lang="en-US" altLang="ko-KR" sz="1600" dirty="0"/>
          </a:p>
          <a:p>
            <a:r>
              <a:rPr lang="en-US" altLang="ko-KR" sz="1600" dirty="0"/>
              <a:t>main() </a:t>
            </a:r>
            <a:r>
              <a:rPr lang="ko-KR" altLang="en-US" sz="1600" dirty="0" err="1"/>
              <a:t>메소드</a:t>
            </a:r>
            <a:endParaRPr lang="en-US" altLang="ko-KR" sz="1200" dirty="0"/>
          </a:p>
          <a:p>
            <a:pPr lvl="1"/>
            <a:r>
              <a:rPr lang="ko-KR" altLang="en-US" sz="1200" dirty="0"/>
              <a:t>자바 프로그램은 </a:t>
            </a:r>
            <a:r>
              <a:rPr lang="en-US" altLang="ko-KR" sz="1200" dirty="0"/>
              <a:t>main()</a:t>
            </a:r>
            <a:r>
              <a:rPr lang="ko-KR" altLang="en-US" sz="1200" dirty="0"/>
              <a:t>에서 실행 시작</a:t>
            </a: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r>
              <a:rPr lang="en-US" altLang="ko-KR" sz="1200" dirty="0"/>
              <a:t>public</a:t>
            </a:r>
            <a:r>
              <a:rPr lang="ko-KR" altLang="en-US" sz="1200" dirty="0"/>
              <a:t> </a:t>
            </a:r>
            <a:r>
              <a:rPr lang="en-US" altLang="ko-KR" sz="1200" dirty="0"/>
              <a:t>static void</a:t>
            </a:r>
            <a:r>
              <a:rPr lang="ko-KR" altLang="en-US" sz="1200" dirty="0"/>
              <a:t>으로 선언</a:t>
            </a:r>
            <a:endParaRPr lang="en-US" altLang="ko-KR" sz="1200" dirty="0"/>
          </a:p>
          <a:p>
            <a:pPr lvl="1"/>
            <a:r>
              <a:rPr lang="en-US" altLang="ko-KR" sz="1200" dirty="0"/>
              <a:t>String[] </a:t>
            </a:r>
            <a:r>
              <a:rPr lang="en-US" altLang="ko-KR" sz="1200" dirty="0" err="1"/>
              <a:t>args</a:t>
            </a:r>
            <a:r>
              <a:rPr lang="ko-KR" altLang="en-US" sz="1200" dirty="0"/>
              <a:t>로 실행 인자를 전달 받음</a:t>
            </a:r>
            <a:endParaRPr lang="en-US" altLang="ko-KR" sz="1200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"/>
          </p:nvPr>
        </p:nvSpPr>
        <p:spPr>
          <a:xfrm>
            <a:off x="4716016" y="1285860"/>
            <a:ext cx="4299099" cy="5311492"/>
          </a:xfrm>
        </p:spPr>
        <p:txBody>
          <a:bodyPr>
            <a:normAutofit/>
          </a:bodyPr>
          <a:lstStyle/>
          <a:p>
            <a:r>
              <a:rPr lang="ko-KR" altLang="en-US" sz="1600" dirty="0" err="1"/>
              <a:t>메소드</a:t>
            </a:r>
            <a:endParaRPr lang="en-US" altLang="ko-KR" sz="1600" dirty="0"/>
          </a:p>
          <a:p>
            <a:pPr lvl="1"/>
            <a:r>
              <a:rPr lang="en-US" altLang="ko-KR" sz="1400" dirty="0"/>
              <a:t>C/C++</a:t>
            </a:r>
            <a:r>
              <a:rPr lang="ko-KR" altLang="en-US" sz="1400" dirty="0"/>
              <a:t>에서의 함수를 </a:t>
            </a:r>
            <a:r>
              <a:rPr lang="ko-KR" altLang="en-US" sz="1400" dirty="0" err="1"/>
              <a:t>메소드로</a:t>
            </a:r>
            <a:r>
              <a:rPr lang="ko-KR" altLang="en-US" sz="1400" dirty="0"/>
              <a:t> 지칭</a:t>
            </a:r>
            <a:endParaRPr lang="en-US" altLang="ko-KR" sz="1400" dirty="0"/>
          </a:p>
          <a:p>
            <a:pPr lvl="1">
              <a:buNone/>
            </a:pP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r>
              <a:rPr lang="ko-KR" altLang="en-US" sz="1200" dirty="0"/>
              <a:t>클래스 바깥에 작성할 수 없음</a:t>
            </a:r>
            <a:endParaRPr lang="en-US" altLang="ko-KR" sz="1200" dirty="0"/>
          </a:p>
          <a:p>
            <a:r>
              <a:rPr lang="ko-KR" altLang="en-US" sz="1600" dirty="0" err="1"/>
              <a:t>메소드</a:t>
            </a:r>
            <a:r>
              <a:rPr lang="ko-KR" altLang="en-US" sz="1600" dirty="0"/>
              <a:t> 호출</a:t>
            </a:r>
            <a:endParaRPr lang="en-US" altLang="ko-KR" sz="1600" dirty="0"/>
          </a:p>
          <a:p>
            <a:pPr lvl="1"/>
            <a:r>
              <a:rPr lang="en-US" altLang="ko-KR" sz="1200" dirty="0"/>
              <a:t>sum() </a:t>
            </a:r>
            <a:r>
              <a:rPr lang="ko-KR" altLang="en-US" sz="1200" dirty="0" err="1"/>
              <a:t>메소드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호춯</a:t>
            </a:r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endParaRPr lang="en-US" altLang="ko-KR" sz="1200" dirty="0"/>
          </a:p>
          <a:p>
            <a:pPr lvl="1"/>
            <a:r>
              <a:rPr lang="en-US" altLang="ko-KR" sz="1200" dirty="0"/>
              <a:t>sum()</a:t>
            </a:r>
            <a:r>
              <a:rPr lang="ko-KR" altLang="en-US" sz="1200" dirty="0"/>
              <a:t> 호출 시 변수 </a:t>
            </a:r>
            <a:r>
              <a:rPr lang="en-US" altLang="ko-KR" sz="1200" dirty="0"/>
              <a:t>i</a:t>
            </a:r>
            <a:r>
              <a:rPr lang="ko-KR" altLang="en-US" sz="1200" dirty="0"/>
              <a:t>의 값과 정수 </a:t>
            </a:r>
            <a:r>
              <a:rPr lang="en-US" altLang="ko-KR" sz="1200" dirty="0"/>
              <a:t>10</a:t>
            </a:r>
            <a:r>
              <a:rPr lang="ko-KR" altLang="en-US" sz="1200" dirty="0"/>
              <a:t>을 전달</a:t>
            </a:r>
            <a:endParaRPr lang="en-US" altLang="ko-KR" sz="1200" dirty="0"/>
          </a:p>
          <a:p>
            <a:pPr lvl="1"/>
            <a:r>
              <a:rPr lang="en-US" altLang="ko-KR" sz="1200" dirty="0"/>
              <a:t>sum()</a:t>
            </a:r>
            <a:r>
              <a:rPr lang="ko-KR" altLang="en-US" sz="1200" dirty="0"/>
              <a:t>의 </a:t>
            </a:r>
            <a:r>
              <a:rPr lang="en-US" altLang="ko-KR" sz="1200" dirty="0"/>
              <a:t>n, m</a:t>
            </a:r>
            <a:r>
              <a:rPr lang="ko-KR" altLang="en-US" sz="1200" dirty="0"/>
              <a:t>에 각각 </a:t>
            </a:r>
            <a:r>
              <a:rPr lang="en-US" altLang="ko-KR" sz="1200" dirty="0"/>
              <a:t>20, 10</a:t>
            </a:r>
            <a:r>
              <a:rPr lang="ko-KR" altLang="en-US" sz="1200" dirty="0"/>
              <a:t> 값 전달</a:t>
            </a:r>
            <a:endParaRPr lang="en-US" altLang="ko-KR" sz="1200" dirty="0"/>
          </a:p>
          <a:p>
            <a:pPr lvl="1"/>
            <a:r>
              <a:rPr lang="en-US" altLang="ko-KR" sz="1200" dirty="0"/>
              <a:t>sum()</a:t>
            </a:r>
            <a:r>
              <a:rPr lang="ko-KR" altLang="en-US" sz="1200" dirty="0"/>
              <a:t>은 </a:t>
            </a:r>
            <a:r>
              <a:rPr lang="en-US" altLang="ko-KR" sz="1200" dirty="0"/>
              <a:t>n</a:t>
            </a:r>
            <a:r>
              <a:rPr lang="ko-KR" altLang="en-US" sz="1200" dirty="0"/>
              <a:t>과 </a:t>
            </a:r>
            <a:r>
              <a:rPr lang="en-US" altLang="ko-KR" sz="1200" dirty="0"/>
              <a:t>m </a:t>
            </a:r>
            <a:r>
              <a:rPr lang="ko-KR" altLang="en-US" sz="1200" dirty="0"/>
              <a:t>값을 더한 </a:t>
            </a:r>
            <a:r>
              <a:rPr lang="en-US" altLang="ko-KR" sz="1200" dirty="0"/>
              <a:t>30</a:t>
            </a:r>
            <a:r>
              <a:rPr lang="ko-KR" altLang="en-US" sz="1200" dirty="0"/>
              <a:t> 리턴</a:t>
            </a:r>
            <a:endParaRPr lang="en-US" altLang="ko-KR" sz="1200" dirty="0"/>
          </a:p>
          <a:p>
            <a:pPr lvl="1"/>
            <a:r>
              <a:rPr lang="ko-KR" altLang="en-US" sz="1200" dirty="0"/>
              <a:t>변수 </a:t>
            </a:r>
            <a:r>
              <a:rPr lang="en-US" altLang="ko-KR" sz="1200" dirty="0"/>
              <a:t>s</a:t>
            </a:r>
            <a:r>
              <a:rPr lang="ko-KR" altLang="en-US" sz="1200" dirty="0"/>
              <a:t>는 정수 </a:t>
            </a:r>
            <a:r>
              <a:rPr lang="en-US" altLang="ko-KR" sz="1200" dirty="0"/>
              <a:t>30</a:t>
            </a:r>
            <a:r>
              <a:rPr lang="ko-KR" altLang="en-US" sz="1200" dirty="0"/>
              <a:t>을 전달받음</a:t>
            </a:r>
            <a:endParaRPr lang="en-US" altLang="ko-KR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1192896" y="1889973"/>
            <a:ext cx="2659024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Hello {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2896" y="4653136"/>
            <a:ext cx="2659024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static void main(String[]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4827" y="3605226"/>
            <a:ext cx="2601408" cy="4718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20;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 = sum(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10);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4827" y="1916631"/>
            <a:ext cx="2601408" cy="6001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static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n,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m) {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...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87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내용 개체 틀 5"/>
          <p:cNvSpPr>
            <a:spLocks noGrp="1"/>
          </p:cNvSpPr>
          <p:nvPr>
            <p:ph sz="quarter" idx="2"/>
          </p:nvPr>
        </p:nvSpPr>
        <p:spPr>
          <a:xfrm>
            <a:off x="107504" y="1412776"/>
            <a:ext cx="4356578" cy="5022890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변수 선언</a:t>
            </a:r>
            <a:endParaRPr lang="en-US" altLang="ko-KR" sz="1600" dirty="0"/>
          </a:p>
          <a:p>
            <a:pPr lvl="1"/>
            <a:r>
              <a:rPr lang="ko-KR" altLang="en-US" sz="1400" dirty="0"/>
              <a:t>변수 타입과 변수 이름 선언</a:t>
            </a:r>
            <a:endParaRPr lang="en-US" altLang="ko-KR" sz="14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lvl="1"/>
            <a:r>
              <a:rPr lang="ko-KR" altLang="en-US" sz="1400" dirty="0" err="1"/>
              <a:t>메소드</a:t>
            </a:r>
            <a:r>
              <a:rPr lang="ko-KR" altLang="en-US" sz="1400" dirty="0"/>
              <a:t> 내에서 선언된 변수는 지역 변수</a:t>
            </a:r>
            <a:endParaRPr lang="en-US" altLang="ko-KR" sz="1400" dirty="0"/>
          </a:p>
          <a:p>
            <a:pPr lvl="2"/>
            <a:r>
              <a:rPr lang="ko-KR" altLang="en-US" sz="1000" dirty="0"/>
              <a:t>지역 변수는 </a:t>
            </a:r>
            <a:r>
              <a:rPr lang="ko-KR" altLang="en-US" sz="1000" dirty="0" err="1"/>
              <a:t>메소드</a:t>
            </a:r>
            <a:r>
              <a:rPr lang="ko-KR" altLang="en-US" sz="1000" dirty="0"/>
              <a:t> 실행이 끝나면 자동 소명</a:t>
            </a:r>
            <a:endParaRPr lang="en-US" altLang="ko-KR" sz="1000" dirty="0"/>
          </a:p>
          <a:p>
            <a:r>
              <a:rPr lang="ko-KR" altLang="en-US" sz="1400" dirty="0"/>
              <a:t>문장</a:t>
            </a:r>
            <a:endParaRPr lang="en-US" altLang="ko-KR" sz="1200" dirty="0"/>
          </a:p>
          <a:p>
            <a:pPr lvl="1"/>
            <a:r>
              <a:rPr lang="en-US" altLang="ko-KR" sz="1400" dirty="0"/>
              <a:t>;</a:t>
            </a:r>
            <a:r>
              <a:rPr lang="ko-KR" altLang="en-US" sz="1400" dirty="0"/>
              <a:t>로 한 문장의 끝을 인식</a:t>
            </a:r>
            <a:endParaRPr lang="en-US" altLang="ko-KR" sz="1400" dirty="0"/>
          </a:p>
          <a:p>
            <a:endParaRPr lang="en-US" altLang="ko-KR" sz="1200" dirty="0"/>
          </a:p>
          <a:p>
            <a:pPr lvl="1"/>
            <a:endParaRPr lang="en-US" altLang="ko-KR" sz="11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2-1 </a:t>
            </a:r>
            <a:r>
              <a:rPr lang="ko-KR" altLang="en-US" dirty="0"/>
              <a:t>설명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9" name="내용 개체 틀 5"/>
          <p:cNvSpPr>
            <a:spLocks noGrp="1"/>
          </p:cNvSpPr>
          <p:nvPr>
            <p:ph sz="quarter" idx="2"/>
          </p:nvPr>
        </p:nvSpPr>
        <p:spPr>
          <a:xfrm>
            <a:off x="4644008" y="1340768"/>
            <a:ext cx="4176464" cy="4879444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화면 출력</a:t>
            </a:r>
            <a:endParaRPr lang="en-US" altLang="ko-KR" sz="1200" dirty="0"/>
          </a:p>
          <a:p>
            <a:pPr lvl="1">
              <a:defRPr/>
            </a:pPr>
            <a:r>
              <a:rPr lang="ko-KR" altLang="en-US" sz="1400" dirty="0"/>
              <a:t>표준</a:t>
            </a:r>
            <a:r>
              <a:rPr lang="en-US" altLang="ko-KR" sz="1400" dirty="0"/>
              <a:t> </a:t>
            </a:r>
            <a:r>
              <a:rPr lang="ko-KR" altLang="en-US" sz="1400" dirty="0"/>
              <a:t>출력 </a:t>
            </a:r>
            <a:r>
              <a:rPr lang="ko-KR" altLang="en-US" sz="1400" dirty="0" err="1"/>
              <a:t>스트림에</a:t>
            </a:r>
            <a:r>
              <a:rPr lang="ko-KR" altLang="en-US" sz="1400" dirty="0"/>
              <a:t> 메시지 출력</a:t>
            </a:r>
            <a:endParaRPr lang="en-US" altLang="ko-KR" sz="1400" dirty="0"/>
          </a:p>
          <a:p>
            <a:pPr lvl="1">
              <a:defRPr/>
            </a:pPr>
            <a:endParaRPr lang="en-US" altLang="ko-KR" sz="1400" dirty="0"/>
          </a:p>
          <a:p>
            <a:pPr lvl="1">
              <a:defRPr/>
            </a:pPr>
            <a:endParaRPr lang="en-US" altLang="ko-KR" sz="1400" dirty="0"/>
          </a:p>
          <a:p>
            <a:pPr lvl="1">
              <a:defRPr/>
            </a:pPr>
            <a:r>
              <a:rPr lang="ko-KR" altLang="en-US" sz="1400" dirty="0"/>
              <a:t>표준 출력 </a:t>
            </a:r>
            <a:r>
              <a:rPr lang="ko-KR" altLang="en-US" sz="1400" dirty="0" err="1"/>
              <a:t>스트림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System.out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println</a:t>
            </a:r>
            <a:r>
              <a:rPr lang="en-US" altLang="ko-KR" sz="1400" dirty="0"/>
              <a:t>() </a:t>
            </a:r>
            <a:r>
              <a:rPr lang="ko-KR" altLang="en-US" sz="1400" dirty="0" err="1"/>
              <a:t>메소드</a:t>
            </a:r>
            <a:r>
              <a:rPr lang="ko-KR" altLang="en-US" sz="1400" dirty="0"/>
              <a:t> 호출</a:t>
            </a:r>
            <a:endParaRPr lang="en-US" altLang="ko-KR" sz="1400" dirty="0"/>
          </a:p>
          <a:p>
            <a:pPr lvl="1">
              <a:defRPr/>
            </a:pPr>
            <a:r>
              <a:rPr lang="en-US" altLang="ko-KR" sz="1400" dirty="0" err="1"/>
              <a:t>println</a:t>
            </a:r>
            <a:r>
              <a:rPr lang="en-US" altLang="ko-KR" sz="1400" dirty="0"/>
              <a:t>()</a:t>
            </a:r>
            <a:r>
              <a:rPr lang="ko-KR" altLang="en-US" sz="1400" dirty="0"/>
              <a:t>은 여러 타입의 데이터 출력 가능</a:t>
            </a:r>
            <a:endParaRPr lang="en-US" altLang="ko-KR" sz="1400" dirty="0"/>
          </a:p>
          <a:p>
            <a:pPr lvl="1">
              <a:defRPr/>
            </a:pPr>
            <a:r>
              <a:rPr lang="en-US" altLang="ko-KR" sz="1400" dirty="0" err="1"/>
              <a:t>println</a:t>
            </a:r>
            <a:r>
              <a:rPr lang="en-US" altLang="ko-KR" sz="1400" dirty="0"/>
              <a:t>()</a:t>
            </a:r>
            <a:r>
              <a:rPr lang="ko-KR" altLang="en-US" sz="1400" dirty="0"/>
              <a:t>은 출력 후 다음 행으로 커서 이동</a:t>
            </a:r>
          </a:p>
          <a:p>
            <a:pPr lvl="1"/>
            <a:endParaRPr lang="en-US" altLang="ko-KR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5220072" y="2078669"/>
            <a:ext cx="3456384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("Hello"); // "Hello"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화면 출력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388" y="3848998"/>
            <a:ext cx="1547600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i=20;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 = sum(i, 20);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4352" y="2060848"/>
            <a:ext cx="1571636" cy="430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i=20;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 a;</a:t>
            </a:r>
          </a:p>
        </p:txBody>
      </p:sp>
    </p:spTree>
    <p:extLst>
      <p:ext uri="{BB962C8B-B14F-4D97-AF65-F5344CB8AC3E}">
        <p14:creationId xmlns:p14="http://schemas.microsoft.com/office/powerpoint/2010/main" val="2552490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sum() </a:t>
            </a:r>
            <a:r>
              <a:rPr lang="ko-KR" altLang="en-US" dirty="0" err="1"/>
              <a:t>메소드</a:t>
            </a:r>
            <a:r>
              <a:rPr lang="ko-KR" altLang="en-US" dirty="0"/>
              <a:t> 호출과 리턴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844824"/>
            <a:ext cx="6858919" cy="343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1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식별자</a:t>
            </a:r>
            <a:r>
              <a:rPr lang="ko-KR" altLang="en-US"/>
              <a:t> </a:t>
            </a:r>
            <a:r>
              <a:rPr lang="en-US" altLang="ko-KR"/>
              <a:t>(identifier)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/>
              <a:t>식별자란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클래스</a:t>
            </a:r>
            <a:r>
              <a:rPr lang="en-US" altLang="ko-KR"/>
              <a:t>, </a:t>
            </a:r>
            <a:r>
              <a:rPr lang="ko-KR" altLang="en-US"/>
              <a:t>변수</a:t>
            </a:r>
            <a:r>
              <a:rPr lang="en-US" altLang="ko-KR"/>
              <a:t>, </a:t>
            </a:r>
            <a:r>
              <a:rPr lang="ko-KR" altLang="en-US"/>
              <a:t>상수</a:t>
            </a:r>
            <a:r>
              <a:rPr lang="en-US" altLang="ko-KR"/>
              <a:t>, </a:t>
            </a:r>
            <a:r>
              <a:rPr lang="ko-KR" altLang="en-US" err="1"/>
              <a:t>메소드</a:t>
            </a:r>
            <a:r>
              <a:rPr lang="ko-KR" altLang="en-US"/>
              <a:t> 등에 붙이는 이름</a:t>
            </a:r>
            <a:endParaRPr lang="en-US" altLang="ko-KR"/>
          </a:p>
          <a:p>
            <a:r>
              <a:rPr lang="ko-KR" altLang="en-US"/>
              <a:t>식별자의 원칙</a:t>
            </a:r>
            <a:endParaRPr lang="en-US" altLang="ko-KR"/>
          </a:p>
          <a:p>
            <a:pPr lvl="1"/>
            <a:r>
              <a:rPr lang="ko-KR" altLang="en-US"/>
              <a:t>‘</a:t>
            </a:r>
            <a:r>
              <a:rPr lang="en-US" altLang="ko-KR"/>
              <a:t>@’, ‘#’, ‘!’</a:t>
            </a:r>
            <a:r>
              <a:rPr lang="ko-KR" altLang="en-US"/>
              <a:t>와 같은 특수 문자</a:t>
            </a:r>
            <a:r>
              <a:rPr lang="en-US" altLang="ko-KR"/>
              <a:t>, </a:t>
            </a:r>
            <a:r>
              <a:rPr lang="ko-KR" altLang="en-US"/>
              <a:t>공백 또는 탭은 </a:t>
            </a:r>
            <a:r>
              <a:rPr lang="ko-KR" altLang="en-US" err="1"/>
              <a:t>식별자로</a:t>
            </a:r>
            <a:r>
              <a:rPr lang="ko-KR" altLang="en-US"/>
              <a:t> 사용할 수 없으나 </a:t>
            </a:r>
            <a:r>
              <a:rPr lang="en-US" altLang="ko-KR"/>
              <a:t>‘_’, ‘$’</a:t>
            </a:r>
            <a:r>
              <a:rPr lang="ko-KR" altLang="en-US"/>
              <a:t>는 사용 가능</a:t>
            </a:r>
            <a:endParaRPr lang="en-US" altLang="ko-KR"/>
          </a:p>
          <a:p>
            <a:pPr lvl="1"/>
            <a:r>
              <a:rPr lang="ko-KR" altLang="en-US"/>
              <a:t>유니코드 문자 사용 가능</a:t>
            </a:r>
            <a:r>
              <a:rPr lang="en-US" altLang="ko-KR"/>
              <a:t>. </a:t>
            </a:r>
            <a:r>
              <a:rPr lang="ko-KR" altLang="en-US"/>
              <a:t>한글 사용 가능</a:t>
            </a:r>
            <a:endParaRPr lang="en-US" altLang="ko-KR"/>
          </a:p>
          <a:p>
            <a:pPr lvl="1"/>
            <a:r>
              <a:rPr lang="ko-KR" altLang="en-US"/>
              <a:t>자바 언어의 키워드는 </a:t>
            </a:r>
            <a:r>
              <a:rPr lang="ko-KR" altLang="en-US" err="1"/>
              <a:t>식별자로</a:t>
            </a:r>
            <a:r>
              <a:rPr lang="ko-KR" altLang="en-US"/>
              <a:t> 사용불가</a:t>
            </a:r>
            <a:endParaRPr lang="en-US" altLang="ko-KR"/>
          </a:p>
          <a:p>
            <a:pPr lvl="1"/>
            <a:r>
              <a:rPr lang="ko-KR" altLang="en-US"/>
              <a:t>식별자의 첫 번째 문자로 숫자는 사용불가</a:t>
            </a:r>
            <a:endParaRPr lang="en-US" altLang="ko-KR"/>
          </a:p>
          <a:p>
            <a:pPr lvl="1"/>
            <a:r>
              <a:rPr lang="en-US" altLang="ko-KR"/>
              <a:t>‘_’ </a:t>
            </a:r>
            <a:r>
              <a:rPr lang="ko-KR" altLang="en-US"/>
              <a:t>또는 </a:t>
            </a:r>
            <a:r>
              <a:rPr lang="en-US" altLang="ko-KR"/>
              <a:t>‘$’</a:t>
            </a:r>
            <a:r>
              <a:rPr lang="ko-KR" altLang="en-US"/>
              <a:t>를 </a:t>
            </a:r>
            <a:r>
              <a:rPr lang="ko-KR" altLang="en-US" err="1"/>
              <a:t>식별자</a:t>
            </a:r>
            <a:r>
              <a:rPr lang="ko-KR" altLang="en-US"/>
              <a:t> 첫 번째 문자로 사용할 수 있으나 일반적으로 잘 사용하지 않는다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불린 </a:t>
            </a:r>
            <a:r>
              <a:rPr lang="ko-KR" altLang="en-US" err="1"/>
              <a:t>리터럴</a:t>
            </a:r>
            <a:r>
              <a:rPr lang="ko-KR" altLang="en-US"/>
              <a:t> </a:t>
            </a:r>
            <a:r>
              <a:rPr lang="en-US" altLang="ko-KR"/>
              <a:t>(true, false)</a:t>
            </a:r>
            <a:r>
              <a:rPr lang="ko-KR" altLang="en-US"/>
              <a:t>과 널 리터럴</a:t>
            </a:r>
            <a:r>
              <a:rPr lang="en-US" altLang="ko-KR"/>
              <a:t>(null)</a:t>
            </a:r>
            <a:r>
              <a:rPr lang="ko-KR" altLang="en-US"/>
              <a:t>은 </a:t>
            </a:r>
            <a:r>
              <a:rPr lang="ko-KR" altLang="en-US" err="1"/>
              <a:t>식별자로</a:t>
            </a:r>
            <a:r>
              <a:rPr lang="ko-KR" altLang="en-US"/>
              <a:t> 사용불가</a:t>
            </a:r>
            <a:endParaRPr lang="en-US" altLang="ko-KR"/>
          </a:p>
          <a:p>
            <a:pPr lvl="1"/>
            <a:r>
              <a:rPr lang="ko-KR" altLang="en-US"/>
              <a:t>길이 제한 없음</a:t>
            </a:r>
            <a:endParaRPr lang="en-US" altLang="ko-KR"/>
          </a:p>
          <a:p>
            <a:r>
              <a:rPr lang="ko-KR" altLang="en-US"/>
              <a:t>대소문자 구별</a:t>
            </a:r>
            <a:endParaRPr lang="en-US" altLang="ko-KR"/>
          </a:p>
          <a:p>
            <a:pPr lvl="1"/>
            <a:r>
              <a:rPr lang="en-US" altLang="ko-KR"/>
              <a:t>Test</a:t>
            </a:r>
            <a:r>
              <a:rPr lang="ko-KR" altLang="en-US"/>
              <a:t>와 </a:t>
            </a:r>
            <a:r>
              <a:rPr lang="en-US" altLang="ko-KR"/>
              <a:t>test</a:t>
            </a:r>
            <a:r>
              <a:rPr lang="ko-KR" altLang="en-US"/>
              <a:t>는 별개의 식별자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99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식별자 이름 사례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사용 가능한 예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잘못된 예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5576" y="1785927"/>
            <a:ext cx="7820942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	name;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 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student_ID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										// '_'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사용 가능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void 	$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func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 { }											// '$'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사용 가능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class 	Monster3 { } 										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숫자 사용 가능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whatsyournamemynameiskitae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길이 제한 없음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barChart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barchart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				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대소문자 구분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barChart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barchart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다름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	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가격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												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한글 이름 사용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230" y="4221088"/>
            <a:ext cx="7820942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>
              <a:defRPr sz="1400"/>
            </a:lvl1pPr>
          </a:lstStyle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	3Chapter; 											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식별자의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첫문자로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숫자 사용 불가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class 	if { } 													//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자바의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예약어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사용 불가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 	false; 													// false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사용 불가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void 	null() { } 												// null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사용 불가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class 	%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calc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 } 											// '%'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특수문자</a:t>
            </a:r>
          </a:p>
        </p:txBody>
      </p:sp>
    </p:spTree>
    <p:extLst>
      <p:ext uri="{BB962C8B-B14F-4D97-AF65-F5344CB8AC3E}">
        <p14:creationId xmlns:p14="http://schemas.microsoft.com/office/powerpoint/2010/main" val="2976738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자바 키워드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899592" y="1728956"/>
          <a:ext cx="7215240" cy="315239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4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abstract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continue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for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new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switch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assert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default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if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package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synchronized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boolean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do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goto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private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this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break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double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implements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protected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throw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byte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else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import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public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throws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case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enum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instanceof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return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transient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catch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extends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int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short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try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char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final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interface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static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void 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class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finally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long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strictfp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volatile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err="1"/>
                        <a:t>const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float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native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super</a:t>
                      </a:r>
                      <a:endParaRPr lang="en-US" sz="1200" b="1" i="1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/>
                        <a:t>while </a:t>
                      </a:r>
                      <a:endParaRPr lang="en-US" sz="120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5198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좋은 이름 붙이는 언어 관습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기본 </a:t>
            </a:r>
            <a:r>
              <a:rPr lang="en-US" altLang="ko-KR"/>
              <a:t>: </a:t>
            </a:r>
            <a:r>
              <a:rPr lang="ko-KR" altLang="en-US" err="1"/>
              <a:t>가독성</a:t>
            </a:r>
            <a:r>
              <a:rPr lang="en-US" altLang="ko-KR"/>
              <a:t> </a:t>
            </a:r>
            <a:r>
              <a:rPr lang="ko-KR" altLang="en-US"/>
              <a:t>높은 이름</a:t>
            </a:r>
            <a:endParaRPr lang="en-US" altLang="ko-KR"/>
          </a:p>
          <a:p>
            <a:pPr lvl="1"/>
            <a:r>
              <a:rPr lang="ko-KR" altLang="en-US"/>
              <a:t>목적을 나타내는 이름 붙이기 </a:t>
            </a:r>
            <a:r>
              <a:rPr lang="en-US" altLang="ko-KR"/>
              <a:t>: s </a:t>
            </a:r>
            <a:r>
              <a:rPr lang="ko-KR" altLang="en-US"/>
              <a:t>보다 </a:t>
            </a:r>
            <a:r>
              <a:rPr lang="en-US" altLang="ko-KR"/>
              <a:t>sum</a:t>
            </a:r>
          </a:p>
          <a:p>
            <a:pPr lvl="1"/>
            <a:r>
              <a:rPr lang="ko-KR" altLang="en-US"/>
              <a:t>충분히 긴 이름으로 붙이기 </a:t>
            </a:r>
            <a:r>
              <a:rPr lang="en-US" altLang="ko-KR"/>
              <a:t>: AVM</a:t>
            </a:r>
            <a:r>
              <a:rPr lang="ko-KR" altLang="en-US"/>
              <a:t>보다 </a:t>
            </a:r>
            <a:r>
              <a:rPr lang="en-US" altLang="ko-KR" err="1"/>
              <a:t>AutoVendingMachine</a:t>
            </a:r>
            <a:endParaRPr lang="en-US" altLang="ko-KR"/>
          </a:p>
          <a:p>
            <a:r>
              <a:rPr lang="ko-KR" altLang="en-US"/>
              <a:t>자바 언어의 이름 붙이는 관습 </a:t>
            </a:r>
            <a:r>
              <a:rPr lang="en-US" altLang="ko-KR"/>
              <a:t>: </a:t>
            </a:r>
            <a:r>
              <a:rPr lang="ko-KR" altLang="en-US"/>
              <a:t>헝가리언 이름 붙이기</a:t>
            </a:r>
            <a:endParaRPr lang="en-US" altLang="ko-KR"/>
          </a:p>
          <a:p>
            <a:pPr lvl="1"/>
            <a:r>
              <a:rPr lang="ko-KR" altLang="en-US"/>
              <a:t>클래스 이름</a:t>
            </a:r>
            <a:endParaRPr lang="en-US" altLang="ko-KR"/>
          </a:p>
          <a:p>
            <a:pPr lvl="2"/>
            <a:r>
              <a:rPr lang="ko-KR" altLang="en-US"/>
              <a:t>첫 번째 문자는 대문자로 시작</a:t>
            </a:r>
            <a:endParaRPr lang="en-US" altLang="ko-KR"/>
          </a:p>
          <a:p>
            <a:pPr lvl="2"/>
            <a:r>
              <a:rPr lang="ko-KR" altLang="en-US"/>
              <a:t>각 단어의 첫 번째 문자만 대문자</a:t>
            </a:r>
            <a:endParaRPr lang="en-US" altLang="ko-KR"/>
          </a:p>
          <a:p>
            <a:r>
              <a:rPr lang="ko-KR" altLang="en-US"/>
              <a:t>변수</a:t>
            </a:r>
            <a:r>
              <a:rPr lang="en-US" altLang="ko-KR"/>
              <a:t>, </a:t>
            </a:r>
            <a:r>
              <a:rPr lang="ko-KR" altLang="en-US" err="1"/>
              <a:t>메소드</a:t>
            </a:r>
            <a:r>
              <a:rPr lang="ko-KR" altLang="en-US"/>
              <a:t> 이름</a:t>
            </a:r>
            <a:endParaRPr lang="en-US" altLang="ko-KR"/>
          </a:p>
          <a:p>
            <a:pPr lvl="2"/>
            <a:r>
              <a:rPr lang="ko-KR" altLang="en-US"/>
              <a:t>첫 단어 이후 각</a:t>
            </a:r>
            <a:r>
              <a:rPr lang="en-US" altLang="ko-KR"/>
              <a:t> </a:t>
            </a:r>
            <a:r>
              <a:rPr lang="ko-KR" altLang="en-US"/>
              <a:t>단어의 첫 번째 문자는 대문자로 시작</a:t>
            </a:r>
            <a:endParaRPr lang="en-US" altLang="ko-KR"/>
          </a:p>
          <a:p>
            <a:r>
              <a:rPr lang="ko-KR" altLang="en-US"/>
              <a:t>상수</a:t>
            </a:r>
            <a:r>
              <a:rPr lang="en-US" altLang="ko-KR"/>
              <a:t> </a:t>
            </a:r>
            <a:r>
              <a:rPr lang="ko-KR" altLang="en-US"/>
              <a:t>이름</a:t>
            </a:r>
            <a:endParaRPr lang="en-US" altLang="ko-KR"/>
          </a:p>
          <a:p>
            <a:pPr lvl="2"/>
            <a:r>
              <a:rPr lang="ko-KR" altLang="en-US"/>
              <a:t>모든 문자를 대문자로 표시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20072" y="3501008"/>
            <a:ext cx="314517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HelloWorld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 }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class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AutoVendingMachine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20072" y="5320029"/>
            <a:ext cx="3145173" cy="739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myAge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boolean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IsSingle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getAge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{}</a:t>
            </a: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31640" y="5733256"/>
            <a:ext cx="3145173" cy="3260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final static double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3.141592;</a:t>
            </a:r>
          </a:p>
        </p:txBody>
      </p:sp>
    </p:spTree>
    <p:extLst>
      <p:ext uri="{BB962C8B-B14F-4D97-AF65-F5344CB8AC3E}">
        <p14:creationId xmlns:p14="http://schemas.microsoft.com/office/powerpoint/2010/main" val="3520635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문자열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문자열은 기본 타입이 아님</a:t>
            </a:r>
            <a:endParaRPr lang="en-US" altLang="ko-KR"/>
          </a:p>
          <a:p>
            <a:r>
              <a:rPr lang="en-US" altLang="ko-KR"/>
              <a:t>String </a:t>
            </a:r>
            <a:r>
              <a:rPr lang="ko-KR" altLang="en-US"/>
              <a:t>클래스로 문자열 표현</a:t>
            </a:r>
            <a:endParaRPr lang="en-US" altLang="ko-KR"/>
          </a:p>
          <a:p>
            <a:pPr lvl="1"/>
            <a:r>
              <a:rPr lang="ko-KR" altLang="en-US"/>
              <a:t>문자열 </a:t>
            </a:r>
            <a:r>
              <a:rPr lang="ko-KR" altLang="en-US" err="1"/>
              <a:t>리터럴</a:t>
            </a:r>
            <a:r>
              <a:rPr lang="ko-KR" altLang="en-US"/>
              <a:t> </a:t>
            </a:r>
            <a:r>
              <a:rPr lang="en-US" altLang="ko-KR"/>
              <a:t>– “JDK”, “</a:t>
            </a:r>
            <a:r>
              <a:rPr lang="ko-KR" altLang="en-US"/>
              <a:t>한글</a:t>
            </a:r>
            <a:r>
              <a:rPr lang="en-US" altLang="ko-KR"/>
              <a:t>”, “</a:t>
            </a:r>
            <a:r>
              <a:rPr lang="ko-KR" altLang="en-US"/>
              <a:t>계속하세요</a:t>
            </a:r>
            <a:r>
              <a:rPr lang="en-US" altLang="ko-KR"/>
              <a:t>”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문자열이 섞인 </a:t>
            </a:r>
            <a:r>
              <a:rPr lang="en-US" altLang="ko-KR"/>
              <a:t>+ </a:t>
            </a:r>
            <a:r>
              <a:rPr lang="ko-KR" altLang="en-US"/>
              <a:t>연산 </a:t>
            </a:r>
            <a:r>
              <a:rPr lang="en-US" altLang="ko-KR"/>
              <a:t>-&gt;</a:t>
            </a:r>
            <a:r>
              <a:rPr lang="ko-KR" altLang="en-US"/>
              <a:t> 문자열 연결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331640" y="2780928"/>
            <a:ext cx="241681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String </a:t>
            </a: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toolName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="JDK";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331640" y="3933056"/>
            <a:ext cx="6840760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toolName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+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1.8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	-&gt; "JDK1.8"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"("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+ 3 +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","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+ 5 +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")"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	-&gt; "(3,5)"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toolName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+ 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출시됨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 // "JDK1.8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출시됨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4050198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상수</a:t>
            </a:r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상수 선언</a:t>
            </a:r>
            <a:endParaRPr lang="en-US" altLang="ko-KR"/>
          </a:p>
          <a:p>
            <a:pPr lvl="1"/>
            <a:r>
              <a:rPr lang="en-US" altLang="ko-KR"/>
              <a:t>final</a:t>
            </a:r>
            <a:r>
              <a:rPr lang="ko-KR" altLang="en-US"/>
              <a:t> 키워드 사용</a:t>
            </a:r>
            <a:endParaRPr lang="en-US" altLang="ko-KR"/>
          </a:p>
          <a:p>
            <a:pPr lvl="1"/>
            <a:r>
              <a:rPr lang="ko-KR" altLang="en-US"/>
              <a:t>선언 시 초기값 지정</a:t>
            </a:r>
            <a:endParaRPr lang="en-US" altLang="ko-KR"/>
          </a:p>
          <a:p>
            <a:pPr lvl="1"/>
            <a:r>
              <a:rPr lang="ko-KR" altLang="en-US"/>
              <a:t>실행 중 값 변경 불가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12976"/>
            <a:ext cx="7342688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5197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2-2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변수</a:t>
            </a:r>
            <a:r>
              <a:rPr lang="en-US" altLang="ko-KR"/>
              <a:t>, </a:t>
            </a:r>
            <a:r>
              <a:rPr lang="ko-KR" altLang="en-US" err="1"/>
              <a:t>리터럴</a:t>
            </a:r>
            <a:r>
              <a:rPr lang="en-US" altLang="ko-KR"/>
              <a:t>, </a:t>
            </a:r>
            <a:r>
              <a:rPr lang="ko-KR" altLang="en-US"/>
              <a:t>상수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462" y="2578006"/>
            <a:ext cx="5942785" cy="32932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180000" fontAlgn="base" latinLnBrk="0"/>
            <a:r>
              <a:rPr lang="en-US" altLang="ko-KR" sz="1600"/>
              <a:t>public class </a:t>
            </a:r>
            <a:r>
              <a:rPr lang="en-US" altLang="ko-KR" sz="1600" err="1"/>
              <a:t>CircleArea</a:t>
            </a:r>
            <a:r>
              <a:rPr lang="en-US" altLang="ko-KR" sz="1600"/>
              <a:t> {</a:t>
            </a:r>
          </a:p>
          <a:p>
            <a:pPr defTabSz="180000" fontAlgn="base" latinLnBrk="0"/>
            <a:endParaRPr lang="en-US" altLang="ko-KR" sz="1600"/>
          </a:p>
          <a:p>
            <a:pPr defTabSz="180000" fontAlgn="base" latinLnBrk="0"/>
            <a:r>
              <a:rPr lang="en-US" altLang="ko-KR" sz="1600"/>
              <a:t>	public static void main(String[] </a:t>
            </a:r>
            <a:r>
              <a:rPr lang="en-US" altLang="ko-KR" sz="1600" err="1"/>
              <a:t>args</a:t>
            </a:r>
            <a:r>
              <a:rPr lang="en-US" altLang="ko-KR" sz="1600"/>
              <a:t>) {</a:t>
            </a:r>
          </a:p>
          <a:p>
            <a:pPr defTabSz="180000" fontAlgn="base" latinLnBrk="0"/>
            <a:r>
              <a:rPr lang="en-US" altLang="ko-KR" sz="1600"/>
              <a:t>		</a:t>
            </a:r>
            <a:r>
              <a:rPr lang="en-US" altLang="ko-KR" sz="1600" b="1"/>
              <a:t>final double PI = 3.14</a:t>
            </a:r>
            <a:r>
              <a:rPr lang="en-US" altLang="ko-KR" sz="1600"/>
              <a:t>; // </a:t>
            </a:r>
            <a:r>
              <a:rPr lang="ko-KR" altLang="en-US" sz="1600"/>
              <a:t>원주율을 상수로 선언</a:t>
            </a:r>
          </a:p>
          <a:p>
            <a:pPr defTabSz="180000" fontAlgn="base" latinLnBrk="0"/>
            <a:r>
              <a:rPr lang="ko-KR" altLang="en-US" sz="1600"/>
              <a:t>		</a:t>
            </a:r>
          </a:p>
          <a:p>
            <a:pPr defTabSz="180000" fontAlgn="base" latinLnBrk="0"/>
            <a:r>
              <a:rPr lang="ko-KR" altLang="en-US" sz="1600"/>
              <a:t>		</a:t>
            </a:r>
            <a:r>
              <a:rPr lang="en-US" altLang="ko-KR" sz="1600"/>
              <a:t>double radius = 10.0; // </a:t>
            </a:r>
            <a:r>
              <a:rPr lang="ko-KR" altLang="en-US" sz="1600"/>
              <a:t>원의 반지름</a:t>
            </a:r>
          </a:p>
          <a:p>
            <a:pPr defTabSz="180000" fontAlgn="base" latinLnBrk="0"/>
            <a:r>
              <a:rPr lang="ko-KR" altLang="en-US" sz="1600"/>
              <a:t>		</a:t>
            </a:r>
            <a:r>
              <a:rPr lang="en-US" altLang="ko-KR" sz="1600"/>
              <a:t>double </a:t>
            </a:r>
            <a:r>
              <a:rPr lang="en-US" altLang="ko-KR" sz="1600" err="1"/>
              <a:t>circleArea</a:t>
            </a:r>
            <a:r>
              <a:rPr lang="en-US" altLang="ko-KR" sz="1600"/>
              <a:t> = radius*radius*PI; // </a:t>
            </a:r>
            <a:r>
              <a:rPr lang="ko-KR" altLang="en-US" sz="1600"/>
              <a:t>원의 면적 계산</a:t>
            </a:r>
          </a:p>
          <a:p>
            <a:pPr defTabSz="180000" fontAlgn="base" latinLnBrk="0"/>
            <a:r>
              <a:rPr lang="ko-KR" altLang="en-US" sz="1600"/>
              <a:t>		</a:t>
            </a:r>
            <a:endParaRPr lang="en-US" altLang="ko-KR" sz="1600"/>
          </a:p>
          <a:p>
            <a:pPr defTabSz="180000" fontAlgn="base" latinLnBrk="0"/>
            <a:r>
              <a:rPr lang="en-US" altLang="ko-KR" sz="1600"/>
              <a:t>	// </a:t>
            </a:r>
            <a:r>
              <a:rPr lang="ko-KR" altLang="en-US" sz="1600"/>
              <a:t>원의 면적을 화면에 출력한다</a:t>
            </a:r>
            <a:r>
              <a:rPr lang="en-US" altLang="ko-KR" sz="1600"/>
              <a:t>.</a:t>
            </a:r>
            <a:endParaRPr lang="ko-KR" altLang="en-US" sz="1600"/>
          </a:p>
          <a:p>
            <a:pPr defTabSz="180000" fontAlgn="base" latinLnBrk="0"/>
            <a:r>
              <a:rPr lang="ko-KR" altLang="en-US" sz="1600"/>
              <a:t>		</a:t>
            </a:r>
            <a:r>
              <a:rPr lang="en-US" altLang="ko-KR" sz="1600" err="1"/>
              <a:t>System.out.println</a:t>
            </a:r>
            <a:r>
              <a:rPr lang="en-US" altLang="ko-KR" sz="1600"/>
              <a:t>("</a:t>
            </a:r>
            <a:r>
              <a:rPr lang="ko-KR" altLang="en-US" sz="1600"/>
              <a:t>원의 면적 </a:t>
            </a:r>
            <a:r>
              <a:rPr lang="en-US" altLang="ko-KR" sz="1600"/>
              <a:t>= " + </a:t>
            </a:r>
            <a:r>
              <a:rPr lang="en-US" altLang="ko-KR" sz="1600" err="1"/>
              <a:t>circleArea</a:t>
            </a:r>
            <a:r>
              <a:rPr lang="en-US" altLang="ko-KR" sz="1600"/>
              <a:t>);</a:t>
            </a:r>
          </a:p>
          <a:p>
            <a:pPr defTabSz="180000" fontAlgn="base" latinLnBrk="0"/>
            <a:r>
              <a:rPr lang="en-US" altLang="ko-KR" sz="1600"/>
              <a:t>	}</a:t>
            </a:r>
          </a:p>
          <a:p>
            <a:pPr defTabSz="180000" fontAlgn="base" latinLnBrk="0"/>
            <a:endParaRPr lang="en-US" altLang="ko-KR" sz="1600"/>
          </a:p>
          <a:p>
            <a:pPr defTabSz="180000" fontAlgn="base" latinLnBrk="0"/>
            <a:r>
              <a:rPr lang="en-US" altLang="ko-KR" sz="160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462" y="2145404"/>
            <a:ext cx="4211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원의 면적을 구하는 프로그램을 작성해보자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61462" y="6062329"/>
            <a:ext cx="5942785" cy="338554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600"/>
              <a:t>원의 면적 </a:t>
            </a:r>
            <a:r>
              <a:rPr lang="en-US" altLang="ko-KR" sz="1600"/>
              <a:t>= 314.0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36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문자열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자바에서 문자열</a:t>
            </a:r>
            <a:r>
              <a:rPr lang="en-US" altLang="ko-KR" b="1"/>
              <a:t>(string)</a:t>
            </a:r>
            <a:r>
              <a:rPr lang="ko-KR" altLang="en-US"/>
              <a:t>은 문자들의 모임이다</a:t>
            </a:r>
            <a:r>
              <a:rPr lang="en-US" altLang="ko-KR"/>
              <a:t>. </a:t>
            </a:r>
            <a:r>
              <a:rPr lang="ko-KR" altLang="en-US"/>
              <a:t>예를 들어서 문자열 “</a:t>
            </a:r>
            <a:r>
              <a:rPr lang="en-US" altLang="ko-KR"/>
              <a:t>Hello”</a:t>
            </a:r>
            <a:r>
              <a:rPr lang="ko-KR" altLang="en-US"/>
              <a:t>는 </a:t>
            </a:r>
            <a:r>
              <a:rPr lang="en-US" altLang="ko-KR"/>
              <a:t>H, e, l, l, o </a:t>
            </a:r>
            <a:r>
              <a:rPr lang="ko-KR" altLang="en-US"/>
              <a:t>등의 </a:t>
            </a:r>
            <a:r>
              <a:rPr lang="en-US" altLang="ko-KR"/>
              <a:t>5</a:t>
            </a:r>
            <a:r>
              <a:rPr lang="ko-KR" altLang="en-US"/>
              <a:t>개의 유니코드 문자로 구성되어 있다</a:t>
            </a:r>
            <a:r>
              <a:rPr lang="en-US" altLang="ko-KR"/>
              <a:t>. </a:t>
            </a:r>
          </a:p>
          <a:p>
            <a:r>
              <a:rPr lang="en-US" altLang="ko-KR"/>
              <a:t>String </a:t>
            </a:r>
            <a:r>
              <a:rPr lang="ko-KR" altLang="en-US"/>
              <a:t>클래스가 제공된다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구름 3"/>
          <p:cNvSpPr/>
          <p:nvPr/>
        </p:nvSpPr>
        <p:spPr>
          <a:xfrm>
            <a:off x="1259632" y="4293096"/>
            <a:ext cx="5154627" cy="218485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정육면체 4"/>
          <p:cNvSpPr/>
          <p:nvPr/>
        </p:nvSpPr>
        <p:spPr>
          <a:xfrm>
            <a:off x="2628534" y="5114438"/>
            <a:ext cx="639271" cy="542167"/>
          </a:xfrm>
          <a:prstGeom prst="cube">
            <a:avLst/>
          </a:prstGeom>
          <a:solidFill>
            <a:srgbClr val="FFFF99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‘H’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정육면체 5"/>
          <p:cNvSpPr/>
          <p:nvPr/>
        </p:nvSpPr>
        <p:spPr>
          <a:xfrm>
            <a:off x="3138332" y="5114438"/>
            <a:ext cx="639271" cy="542167"/>
          </a:xfrm>
          <a:prstGeom prst="cube">
            <a:avLst/>
          </a:prstGeom>
          <a:solidFill>
            <a:srgbClr val="FFFF99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‘e’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정육면체 8"/>
          <p:cNvSpPr/>
          <p:nvPr/>
        </p:nvSpPr>
        <p:spPr>
          <a:xfrm>
            <a:off x="3625203" y="5114438"/>
            <a:ext cx="639271" cy="542167"/>
          </a:xfrm>
          <a:prstGeom prst="cube">
            <a:avLst/>
          </a:prstGeom>
          <a:solidFill>
            <a:srgbClr val="FFFF99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‘l’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정육면체 9"/>
          <p:cNvSpPr/>
          <p:nvPr/>
        </p:nvSpPr>
        <p:spPr>
          <a:xfrm>
            <a:off x="4144442" y="5114437"/>
            <a:ext cx="639271" cy="542167"/>
          </a:xfrm>
          <a:prstGeom prst="cube">
            <a:avLst/>
          </a:prstGeom>
          <a:solidFill>
            <a:srgbClr val="FFFF99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‘l’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정육면체 10"/>
          <p:cNvSpPr/>
          <p:nvPr/>
        </p:nvSpPr>
        <p:spPr>
          <a:xfrm>
            <a:off x="4654240" y="5114437"/>
            <a:ext cx="639271" cy="542167"/>
          </a:xfrm>
          <a:prstGeom prst="cube">
            <a:avLst/>
          </a:prstGeom>
          <a:solidFill>
            <a:srgbClr val="FFFF99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‘o’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062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2-3: </a:t>
            </a:r>
            <a:r>
              <a:rPr lang="ko-KR" altLang="en-US"/>
              <a:t>문자열 합치기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625954" y="2379216"/>
            <a:ext cx="8153400" cy="293681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public class </a:t>
            </a:r>
            <a:r>
              <a:rPr lang="en-US" altLang="ko-KR" err="1">
                <a:latin typeface="Century Schoolbook" panose="02040604050505020304" pitchFamily="18" charset="0"/>
              </a:rPr>
              <a:t>StringTest</a:t>
            </a:r>
            <a:r>
              <a:rPr lang="en-US" altLang="ko-KR">
                <a:latin typeface="Century Schoolbook" panose="02040604050505020304" pitchFamily="18" charset="0"/>
              </a:rPr>
              <a:t> {</a:t>
            </a:r>
          </a:p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	public static void main(String </a:t>
            </a:r>
            <a:r>
              <a:rPr lang="en-US" altLang="ko-KR" err="1">
                <a:latin typeface="Century Schoolbook" panose="02040604050505020304" pitchFamily="18" charset="0"/>
              </a:rPr>
              <a:t>args</a:t>
            </a:r>
            <a:r>
              <a:rPr lang="en-US" altLang="ko-KR">
                <a:latin typeface="Century Schoolbook" panose="02040604050505020304" pitchFamily="18" charset="0"/>
              </a:rPr>
              <a:t>[]) {</a:t>
            </a:r>
          </a:p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		String s1 = "Hello World!";</a:t>
            </a:r>
          </a:p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		String s2 = "I'm a new Java programmer!";</a:t>
            </a:r>
          </a:p>
          <a:p>
            <a:pPr marL="0" indent="0" latinLnBrk="0">
              <a:buNone/>
            </a:pPr>
            <a:endParaRPr lang="en-US" altLang="ko-KR">
              <a:latin typeface="Century Schoolbook" panose="02040604050505020304" pitchFamily="18" charset="0"/>
            </a:endParaRPr>
          </a:p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		</a:t>
            </a:r>
            <a:r>
              <a:rPr lang="en-US" altLang="ko-KR" err="1">
                <a:latin typeface="Century Schoolbook" panose="02040604050505020304" pitchFamily="18" charset="0"/>
              </a:rPr>
              <a:t>System.out.println</a:t>
            </a:r>
            <a:r>
              <a:rPr lang="en-US" altLang="ko-KR">
                <a:latin typeface="Century Schoolbook" panose="02040604050505020304" pitchFamily="18" charset="0"/>
              </a:rPr>
              <a:t>(s1 + "\n" + s2);</a:t>
            </a:r>
          </a:p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	}</a:t>
            </a:r>
          </a:p>
          <a:p>
            <a:pPr marL="0" indent="0" latinLnBrk="0">
              <a:buNone/>
            </a:pPr>
            <a:r>
              <a:rPr lang="en-US" altLang="ko-KR">
                <a:latin typeface="Century Schoolbook" panose="02040604050505020304" pitchFamily="18" charset="0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gray">
          <a:xfrm>
            <a:off x="618905" y="5805264"/>
            <a:ext cx="8153400" cy="550416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400">
                <a:solidFill>
                  <a:schemeClr val="bg1"/>
                </a:solidFill>
              </a:rPr>
              <a:t>Hello World!</a:t>
            </a:r>
          </a:p>
          <a:p>
            <a:pPr marL="0" indent="0" latinLnBrk="0">
              <a:buNone/>
            </a:pPr>
            <a:r>
              <a:rPr lang="en-US" altLang="ko-KR" sz="1400">
                <a:solidFill>
                  <a:schemeClr val="bg1"/>
                </a:solidFill>
              </a:rPr>
              <a:t>I'm a new Java programmer!</a:t>
            </a:r>
            <a:endParaRPr lang="en-US" altLang="ko-KR" sz="105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429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자동 타입 변환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자동 타입 변환</a:t>
            </a:r>
            <a:endParaRPr lang="en-US" altLang="ko-KR" dirty="0"/>
          </a:p>
          <a:p>
            <a:pPr lvl="1"/>
            <a:r>
              <a:rPr lang="ko-KR" altLang="en-US" dirty="0"/>
              <a:t>작은 타입은 큰 타입으로 자동 변환</a:t>
            </a:r>
            <a:endParaRPr lang="en-US" altLang="ko-KR" dirty="0"/>
          </a:p>
          <a:p>
            <a:pPr lvl="2"/>
            <a:r>
              <a:rPr lang="ko-KR" altLang="en-US" dirty="0"/>
              <a:t>컴파일러에 의해 이루어짐</a:t>
            </a:r>
            <a:endParaRPr lang="en-US" altLang="ko-KR" dirty="0"/>
          </a:p>
          <a:p>
            <a:pPr lvl="1"/>
            <a:r>
              <a:rPr lang="ko-KR" altLang="en-US" dirty="0" err="1"/>
              <a:t>치환문</a:t>
            </a:r>
            <a:r>
              <a:rPr lang="en-US" altLang="ko-KR" dirty="0"/>
              <a:t>(=)</a:t>
            </a:r>
            <a:r>
              <a:rPr lang="ko-KR" altLang="en-US" dirty="0"/>
              <a:t>이나 수식 내에서 타입이 일치하지 않을 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403648" y="4052513"/>
            <a:ext cx="1898045" cy="1109106"/>
            <a:chOff x="6316868" y="4267352"/>
            <a:chExt cx="1898045" cy="1109106"/>
          </a:xfrm>
        </p:grpSpPr>
        <p:sp>
          <p:nvSpPr>
            <p:cNvPr id="23" name="TextBox 22"/>
            <p:cNvSpPr txBox="1"/>
            <p:nvPr/>
          </p:nvSpPr>
          <p:spPr>
            <a:xfrm>
              <a:off x="7086419" y="4267352"/>
              <a:ext cx="498196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2 5</a:t>
              </a:r>
              <a:endPara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552551" y="4313519"/>
              <a:ext cx="662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32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비트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660232" y="5037904"/>
              <a:ext cx="924383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0 0 2 5</a:t>
              </a:r>
              <a:endPara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16868" y="5037904"/>
              <a:ext cx="3433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m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552552" y="5078181"/>
              <a:ext cx="6623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64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비트</a:t>
              </a:r>
            </a:p>
          </p:txBody>
        </p:sp>
        <p:sp>
          <p:nvSpPr>
            <p:cNvPr id="29" name="아래쪽 화살표 28"/>
            <p:cNvSpPr/>
            <p:nvPr/>
          </p:nvSpPr>
          <p:spPr>
            <a:xfrm>
              <a:off x="7161765" y="4676965"/>
              <a:ext cx="359590" cy="360939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1339144" y="3580952"/>
            <a:ext cx="60537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long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 = 25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25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타입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long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타입으로 자동 변환되는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632" y="5661248"/>
            <a:ext cx="613325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 d = 3.14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실수 연산을 하기 위해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10.0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자동 변환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다른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피연산자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3.14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실수이기 때문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148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강제 타입 변환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자동 타입 변환이 안 되는 경우 </a:t>
            </a:r>
            <a:r>
              <a:rPr lang="en-US" altLang="ko-KR" sz="2000" dirty="0"/>
              <a:t>: </a:t>
            </a:r>
            <a:r>
              <a:rPr lang="ko-KR" altLang="en-US" sz="2000" dirty="0"/>
              <a:t>큰 타입이 </a:t>
            </a:r>
            <a:r>
              <a:rPr lang="ko-KR" altLang="en-US" sz="2000" dirty="0" err="1"/>
              <a:t>작은타입으로</a:t>
            </a:r>
            <a:r>
              <a:rPr lang="ko-KR" altLang="en-US" sz="2000" dirty="0"/>
              <a:t> 변환할 때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강제 타입 변환</a:t>
            </a:r>
            <a:endParaRPr lang="en-US" altLang="ko-KR" sz="2000" dirty="0"/>
          </a:p>
          <a:p>
            <a:pPr lvl="1"/>
            <a:r>
              <a:rPr lang="ko-KR" altLang="en-US" sz="1800" dirty="0"/>
              <a:t>개발자가 필요하여 강제로 타입 변환을 지시</a:t>
            </a:r>
            <a:endParaRPr lang="en-US" altLang="ko-KR" sz="1800" dirty="0"/>
          </a:p>
          <a:p>
            <a:pPr lvl="2"/>
            <a:r>
              <a:rPr lang="en-US" altLang="ko-KR" sz="1600" dirty="0"/>
              <a:t>() </a:t>
            </a:r>
            <a:r>
              <a:rPr lang="ko-KR" altLang="en-US" sz="1600" dirty="0"/>
              <a:t>안에 변환할 타입 지정</a:t>
            </a:r>
            <a:endParaRPr lang="en-US" altLang="ko-KR" sz="1600" dirty="0"/>
          </a:p>
          <a:p>
            <a:pPr lvl="1"/>
            <a:r>
              <a:rPr lang="ko-KR" altLang="en-US" sz="1800" dirty="0"/>
              <a:t>강제 변환은 값 손실 우려</a:t>
            </a:r>
            <a:endParaRPr lang="en-US" altLang="ko-KR" sz="1800" dirty="0"/>
          </a:p>
        </p:txBody>
      </p:sp>
      <p:sp>
        <p:nvSpPr>
          <p:cNvPr id="24" name="TextBox 23"/>
          <p:cNvSpPr txBox="1"/>
          <p:nvPr/>
        </p:nvSpPr>
        <p:spPr>
          <a:xfrm>
            <a:off x="1070730" y="1780895"/>
            <a:ext cx="532027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300;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byte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 = 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컴파일 오류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타입이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byte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자동 변환 안 됨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008840"/>
            <a:ext cx="4048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모서리가 둥근 사각형 설명선 25"/>
          <p:cNvSpPr/>
          <p:nvPr/>
        </p:nvSpPr>
        <p:spPr>
          <a:xfrm>
            <a:off x="1343587" y="2499671"/>
            <a:ext cx="3679269" cy="306467"/>
          </a:xfrm>
          <a:prstGeom prst="wedgeRoundRectCallout">
            <a:avLst>
              <a:gd name="adj1" fmla="val -37923"/>
              <a:gd name="adj2" fmla="val -12727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강제 타입 변환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하려면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byte b = (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byte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)n;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수정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108873" y="4484435"/>
            <a:ext cx="7011569" cy="2112917"/>
            <a:chOff x="1108873" y="4385335"/>
            <a:chExt cx="7011569" cy="2112917"/>
          </a:xfrm>
        </p:grpSpPr>
        <p:sp>
          <p:nvSpPr>
            <p:cNvPr id="8" name="직사각형 7"/>
            <p:cNvSpPr/>
            <p:nvPr/>
          </p:nvSpPr>
          <p:spPr>
            <a:xfrm>
              <a:off x="1108873" y="4385429"/>
              <a:ext cx="4001220" cy="33855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byte b = (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byte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)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n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;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에 따른 손실</a:t>
              </a:r>
            </a:p>
          </p:txBody>
        </p:sp>
        <p:grpSp>
          <p:nvGrpSpPr>
            <p:cNvPr id="13" name="그룹 12"/>
            <p:cNvGrpSpPr/>
            <p:nvPr/>
          </p:nvGrpSpPr>
          <p:grpSpPr>
            <a:xfrm>
              <a:off x="1108873" y="4941169"/>
              <a:ext cx="4001220" cy="1296143"/>
              <a:chOff x="3801838" y="4437112"/>
              <a:chExt cx="4001220" cy="1296143"/>
            </a:xfrm>
          </p:grpSpPr>
          <p:grpSp>
            <p:nvGrpSpPr>
              <p:cNvPr id="10" name="그룹 9"/>
              <p:cNvGrpSpPr/>
              <p:nvPr/>
            </p:nvGrpSpPr>
            <p:grpSpPr>
              <a:xfrm>
                <a:off x="3801838" y="4505720"/>
                <a:ext cx="4001220" cy="1128484"/>
                <a:chOff x="3801838" y="4505720"/>
                <a:chExt cx="4001220" cy="1128484"/>
              </a:xfrm>
            </p:grpSpPr>
            <p:sp>
              <p:nvSpPr>
                <p:cNvPr id="28" name="TextBox 27"/>
                <p:cNvSpPr txBox="1"/>
                <p:nvPr/>
              </p:nvSpPr>
              <p:spPr>
                <a:xfrm>
                  <a:off x="5009582" y="4525099"/>
                  <a:ext cx="1337226" cy="3385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0x0000</a:t>
                  </a:r>
                  <a:r>
                    <a:rPr kumimoji="0" lang="en-US" altLang="ko-KR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012C</a:t>
                  </a:r>
                  <a:endParaRPr kumimoji="0" lang="ko-KR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9" name="TextBox 28"/>
                <p:cNvSpPr txBox="1"/>
                <p:nvPr/>
              </p:nvSpPr>
              <p:spPr>
                <a:xfrm>
                  <a:off x="4608779" y="4505720"/>
                  <a:ext cx="30328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n</a:t>
                  </a: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6423834" y="4555876"/>
                  <a:ext cx="66236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32</a:t>
                  </a:r>
                  <a:r>
                    <a: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비트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5689575" y="5295650"/>
                  <a:ext cx="644728" cy="3385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0x</a:t>
                  </a:r>
                  <a:r>
                    <a:rPr kumimoji="0" lang="en-US" altLang="ko-KR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2C</a:t>
                  </a:r>
                  <a:endParaRPr kumimoji="0" lang="ko-KR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2" name="TextBox 31"/>
                <p:cNvSpPr txBox="1"/>
                <p:nvPr/>
              </p:nvSpPr>
              <p:spPr>
                <a:xfrm>
                  <a:off x="4603969" y="5274750"/>
                  <a:ext cx="30809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b</a:t>
                  </a: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3" name="TextBox 32"/>
                <p:cNvSpPr txBox="1"/>
                <p:nvPr/>
              </p:nvSpPr>
              <p:spPr>
                <a:xfrm>
                  <a:off x="6423834" y="5326427"/>
                  <a:ext cx="57740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8</a:t>
                  </a:r>
                  <a:r>
                    <a: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>
                          <a:lumMod val="50000"/>
                        </a:prstClr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비트</a:t>
                  </a:r>
                </a:p>
              </p:txBody>
            </p:sp>
            <p:sp>
              <p:nvSpPr>
                <p:cNvPr id="34" name="아래쪽 화살표 33"/>
                <p:cNvSpPr/>
                <p:nvPr/>
              </p:nvSpPr>
              <p:spPr>
                <a:xfrm>
                  <a:off x="5689575" y="4916204"/>
                  <a:ext cx="542788" cy="360939"/>
                </a:xfrm>
                <a:prstGeom prst="downArrow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" name="직사각형 4"/>
                <p:cNvSpPr/>
                <p:nvPr/>
              </p:nvSpPr>
              <p:spPr>
                <a:xfrm>
                  <a:off x="3801838" y="4536497"/>
                  <a:ext cx="801823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정수 </a:t>
                  </a:r>
                  <a:r>
                    <a:rPr kumimoji="0" lang="en-US" altLang="ko-KR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300</a:t>
                  </a:r>
                  <a:endPara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7086195" y="5326427"/>
                  <a:ext cx="716863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정수 </a:t>
                  </a:r>
                  <a:r>
                    <a:rPr kumimoji="0" lang="en-US" altLang="ko-KR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맑은 고딕"/>
                      <a:ea typeface="맑은 고딕" panose="020B0503020000020004" pitchFamily="50" charset="-127"/>
                      <a:cs typeface="+mn-cs"/>
                    </a:rPr>
                    <a:t>44</a:t>
                  </a:r>
                  <a:endPara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2" name="모서리가 둥근 직사각형 11"/>
              <p:cNvSpPr/>
              <p:nvPr/>
            </p:nvSpPr>
            <p:spPr>
              <a:xfrm>
                <a:off x="3801838" y="4437112"/>
                <a:ext cx="4001220" cy="129614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5" name="직사각형 14"/>
            <p:cNvSpPr/>
            <p:nvPr/>
          </p:nvSpPr>
          <p:spPr>
            <a:xfrm>
              <a:off x="5508104" y="4385335"/>
              <a:ext cx="2592288" cy="5847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double d = 1.9;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int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n = (</a:t>
              </a:r>
              <a:r>
                <a:rPr kumimoji="0" lang="en-US" altLang="ko-KR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int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)d;  // n = 1</a:t>
              </a:r>
            </a:p>
          </p:txBody>
        </p:sp>
        <p:sp>
          <p:nvSpPr>
            <p:cNvPr id="35" name="모서리가 둥근 사각형 설명선 34"/>
            <p:cNvSpPr/>
            <p:nvPr/>
          </p:nvSpPr>
          <p:spPr>
            <a:xfrm>
              <a:off x="6444208" y="5442406"/>
              <a:ext cx="1676234" cy="510778"/>
            </a:xfrm>
            <a:prstGeom prst="wedgeRoundRectCallout">
              <a:avLst>
                <a:gd name="adj1" fmla="val -52256"/>
                <a:gd name="adj2" fmla="val -152670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강제 타입 변환으로 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소숫점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이하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0.9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손실</a:t>
              </a:r>
            </a:p>
          </p:txBody>
        </p:sp>
        <p:sp>
          <p:nvSpPr>
            <p:cNvPr id="23" name="모서리가 둥근 사각형 설명선 22"/>
            <p:cNvSpPr/>
            <p:nvPr/>
          </p:nvSpPr>
          <p:spPr>
            <a:xfrm>
              <a:off x="5089515" y="6191785"/>
              <a:ext cx="1232370" cy="306467"/>
            </a:xfrm>
            <a:prstGeom prst="wedgeRoundRectCallout">
              <a:avLst>
                <a:gd name="adj1" fmla="val -56203"/>
                <a:gd name="adj2" fmla="val -9712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FF0000"/>
              </a:solidFill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44 = 300%256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0988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형 변환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93" y="3140968"/>
            <a:ext cx="8565013" cy="15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48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형 변환 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495300" y="1876588"/>
            <a:ext cx="8153400" cy="394862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TypeConversion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public static void main(String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[])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double f;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f = 5 / 4;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(f);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f = (double) 5 / 4;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(f);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= (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 1.3 + (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 1.8;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}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gray">
          <a:xfrm>
            <a:off x="495300" y="5930902"/>
            <a:ext cx="8153400" cy="90654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1.0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1.25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2</a:t>
            </a:r>
            <a:endParaRPr kumimoji="0" lang="en-US" altLang="ko-KR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914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자바에서 키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256584"/>
          </a:xfrm>
        </p:spPr>
        <p:txBody>
          <a:bodyPr>
            <a:normAutofit/>
          </a:bodyPr>
          <a:lstStyle/>
          <a:p>
            <a:r>
              <a:rPr lang="en-US" altLang="ko-KR" dirty="0"/>
              <a:t>System.in</a:t>
            </a:r>
          </a:p>
          <a:p>
            <a:pPr lvl="1"/>
            <a:r>
              <a:rPr lang="ko-KR" altLang="en-US" dirty="0"/>
              <a:t>키보드로부터 직접 읽는 자바의 표준 입력 </a:t>
            </a:r>
            <a:r>
              <a:rPr lang="ko-KR" altLang="en-US" dirty="0" err="1"/>
              <a:t>스트림</a:t>
            </a:r>
            <a:endParaRPr lang="en-US" altLang="ko-KR" dirty="0"/>
          </a:p>
          <a:p>
            <a:pPr lvl="1"/>
            <a:r>
              <a:rPr lang="ko-KR" altLang="en-US" dirty="0"/>
              <a:t>키 값을 바이트</a:t>
            </a:r>
            <a:r>
              <a:rPr lang="en-US" altLang="ko-KR" dirty="0"/>
              <a:t>(</a:t>
            </a:r>
            <a:r>
              <a:rPr lang="ko-KR" altLang="en-US" dirty="0"/>
              <a:t>문자 아님</a:t>
            </a:r>
            <a:r>
              <a:rPr lang="en-US" altLang="ko-KR" dirty="0"/>
              <a:t>)</a:t>
            </a:r>
            <a:r>
              <a:rPr lang="ko-KR" altLang="en-US" dirty="0"/>
              <a:t>로 리턴</a:t>
            </a:r>
            <a:endParaRPr lang="en-US" altLang="ko-KR" dirty="0"/>
          </a:p>
          <a:p>
            <a:r>
              <a:rPr lang="en-US" altLang="ko-KR" dirty="0"/>
              <a:t>System.in</a:t>
            </a:r>
            <a:r>
              <a:rPr lang="ko-KR" altLang="en-US" dirty="0"/>
              <a:t>을 사용할 때 문제점</a:t>
            </a:r>
            <a:endParaRPr lang="en-US" altLang="ko-KR" dirty="0"/>
          </a:p>
          <a:p>
            <a:pPr lvl="1"/>
            <a:r>
              <a:rPr lang="ko-KR" altLang="en-US" dirty="0"/>
              <a:t>키 값을 바이트 데이터로 넘겨주므로 응용프로그램이 문자 정보로 변환해야 함</a:t>
            </a:r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149080"/>
            <a:ext cx="8836299" cy="148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6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Scanner</a:t>
            </a:r>
            <a:r>
              <a:rPr lang="ko-KR" altLang="en-US" dirty="0"/>
              <a:t>로 쉽게 키 입력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Scanner </a:t>
            </a:r>
            <a:r>
              <a:rPr lang="ko-KR" altLang="en-US" dirty="0"/>
              <a:t>클래스</a:t>
            </a:r>
            <a:endParaRPr lang="en-US" altLang="ko-KR" dirty="0"/>
          </a:p>
          <a:p>
            <a:pPr lvl="1"/>
            <a:r>
              <a:rPr lang="en-US" altLang="ko-KR" dirty="0"/>
              <a:t>System.in</a:t>
            </a:r>
            <a:r>
              <a:rPr lang="ko-KR" altLang="en-US" dirty="0"/>
              <a:t>에게 키를 읽게 하고</a:t>
            </a:r>
            <a:r>
              <a:rPr lang="en-US" altLang="ko-KR" dirty="0"/>
              <a:t>, </a:t>
            </a:r>
            <a:r>
              <a:rPr lang="ko-KR" altLang="en-US" dirty="0"/>
              <a:t>읽은 바이트를 문자</a:t>
            </a:r>
            <a:r>
              <a:rPr lang="en-US" altLang="ko-KR" dirty="0"/>
              <a:t>, </a:t>
            </a:r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실수</a:t>
            </a:r>
            <a:r>
              <a:rPr lang="en-US" altLang="ko-KR" dirty="0"/>
              <a:t>, </a:t>
            </a:r>
            <a:r>
              <a:rPr lang="ko-KR" altLang="en-US" dirty="0"/>
              <a:t>불린</a:t>
            </a:r>
            <a:r>
              <a:rPr lang="en-US" altLang="ko-KR" dirty="0"/>
              <a:t>, </a:t>
            </a:r>
            <a:r>
              <a:rPr lang="ko-KR" altLang="en-US" dirty="0"/>
              <a:t>문자열 등 다양한 타입으로 변환하여 리턴</a:t>
            </a:r>
            <a:endParaRPr lang="en-US" altLang="ko-KR" dirty="0"/>
          </a:p>
          <a:p>
            <a:pPr lvl="2"/>
            <a:r>
              <a:rPr lang="en-US" altLang="ko-KR" dirty="0" err="1"/>
              <a:t>java.util.Scanner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en-US" altLang="ko-KR" dirty="0"/>
          </a:p>
          <a:p>
            <a:r>
              <a:rPr lang="ko-KR" altLang="en-US" dirty="0"/>
              <a:t>객체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System.in</a:t>
            </a:r>
            <a:r>
              <a:rPr lang="ko-KR" altLang="en-US" dirty="0"/>
              <a:t>에게 키를 읽게 하고</a:t>
            </a:r>
            <a:r>
              <a:rPr lang="en-US" altLang="ko-KR" dirty="0"/>
              <a:t>, </a:t>
            </a:r>
            <a:r>
              <a:rPr lang="ko-KR" altLang="en-US" dirty="0"/>
              <a:t>원하는 타입으로 변환하여 리턴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03648" y="3284984"/>
            <a:ext cx="6048672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import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문 필요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...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a =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new Scanner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System.in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 // Scanner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객체 생성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581128"/>
            <a:ext cx="8509423" cy="105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69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Scanner</a:t>
            </a:r>
            <a:r>
              <a:rPr lang="ko-KR" altLang="en-US" dirty="0"/>
              <a:t>를 이용한 키 입력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ko-KR" dirty="0"/>
              <a:t>Scanner</a:t>
            </a:r>
            <a:r>
              <a:rPr lang="ko-KR" altLang="en-US" dirty="0"/>
              <a:t>에서 키 입력 받기</a:t>
            </a:r>
            <a:endParaRPr lang="en-US" altLang="ko-KR" dirty="0"/>
          </a:p>
          <a:p>
            <a:pPr lvl="2"/>
            <a:r>
              <a:rPr lang="en-US" altLang="ko-KR" dirty="0"/>
              <a:t>Scanner</a:t>
            </a:r>
            <a:r>
              <a:rPr lang="ko-KR" altLang="en-US" dirty="0"/>
              <a:t>는 입력되는 키 값을 공백으로 구분되는 아이템 단위로 읽음</a:t>
            </a:r>
            <a:endParaRPr lang="en-US" altLang="ko-KR" dirty="0"/>
          </a:p>
          <a:p>
            <a:pPr lvl="2"/>
            <a:r>
              <a:rPr lang="ko-KR" altLang="en-US" dirty="0"/>
              <a:t>공백 문자 </a:t>
            </a:r>
            <a:r>
              <a:rPr lang="en-US" altLang="ko-KR" dirty="0"/>
              <a:t>: ‘</a:t>
            </a:r>
            <a:r>
              <a:rPr lang="en-US" altLang="ko-KR" sz="1400" dirty="0"/>
              <a:t>\t</a:t>
            </a:r>
            <a:r>
              <a:rPr lang="en-US" altLang="ko-KR" dirty="0"/>
              <a:t>’, ‘</a:t>
            </a:r>
            <a:r>
              <a:rPr lang="en-US" altLang="ko-KR" sz="1400" dirty="0"/>
              <a:t>\f</a:t>
            </a:r>
            <a:r>
              <a:rPr lang="en-US" altLang="ko-KR" dirty="0"/>
              <a:t>’, ‘</a:t>
            </a:r>
            <a:r>
              <a:rPr lang="en-US" altLang="ko-KR" sz="1400" dirty="0"/>
              <a:t>\r</a:t>
            </a:r>
            <a:r>
              <a:rPr lang="ko-KR" altLang="en-US" dirty="0"/>
              <a:t>’</a:t>
            </a:r>
            <a:r>
              <a:rPr lang="en-US" altLang="ko-KR" dirty="0"/>
              <a:t>, ‘ ’, ‘</a:t>
            </a:r>
            <a:r>
              <a:rPr lang="en-US" altLang="ko-KR" sz="1400" dirty="0"/>
              <a:t>\n</a:t>
            </a:r>
            <a:r>
              <a:rPr lang="ko-KR" altLang="en-US" dirty="0"/>
              <a:t>’</a:t>
            </a:r>
            <a:endParaRPr lang="en-US" altLang="ko-KR" dirty="0"/>
          </a:p>
          <a:p>
            <a:pPr lvl="1"/>
            <a:r>
              <a:rPr lang="ko-KR" altLang="en-US" dirty="0"/>
              <a:t>개발자가 원하는 다양한 타입의</a:t>
            </a:r>
            <a:r>
              <a:rPr lang="en-US" altLang="ko-KR" dirty="0"/>
              <a:t> </a:t>
            </a:r>
            <a:r>
              <a:rPr lang="ko-KR" altLang="en-US" dirty="0"/>
              <a:t>값으로 바꾸어 읽을 수 있음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31" y="2996952"/>
            <a:ext cx="4702667" cy="3019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5220072" y="4581128"/>
            <a:ext cx="361995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new Scanner(System.in);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String name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"Kim"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String city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"Seoul"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age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20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 weight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scanner.nextDouble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65.1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boolean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single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scanner.nextBoolean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true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825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Scanner</a:t>
            </a:r>
            <a:r>
              <a:rPr lang="ko-KR" altLang="en-US" dirty="0"/>
              <a:t> 주요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4" y="1556792"/>
            <a:ext cx="7828931" cy="46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507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57200" y="1466040"/>
            <a:ext cx="8229600" cy="1143000"/>
          </a:xfrm>
        </p:spPr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b="0" dirty="0"/>
              <a:t>사용자로부터 받은 </a:t>
            </a:r>
            <a:r>
              <a:rPr lang="en-US" altLang="ko-KR" b="0" dirty="0"/>
              <a:t>2</a:t>
            </a:r>
            <a:r>
              <a:rPr lang="ko-KR" altLang="en-US" b="0" dirty="0"/>
              <a:t>개의 정수 더하기</a:t>
            </a:r>
            <a:endParaRPr lang="ko-KR" altLang="en-US" dirty="0"/>
          </a:p>
        </p:txBody>
      </p:sp>
      <p:pic>
        <p:nvPicPr>
          <p:cNvPr id="5120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775" y="3105865"/>
            <a:ext cx="8153400" cy="148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590335"/>
            <a:ext cx="1700662" cy="19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9011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997" y="2372484"/>
            <a:ext cx="6275788" cy="448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22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00" y="514467"/>
            <a:ext cx="7209929" cy="199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4981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2-4 : Scanner</a:t>
            </a:r>
            <a:r>
              <a:rPr lang="ko-KR" altLang="en-US" dirty="0"/>
              <a:t>를 이용한 키 입력 연습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4211" y="1159098"/>
            <a:ext cx="6624736" cy="45243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ScannerEx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[]) {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도시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체중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독신 여부를 빈칸으로 분리하여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String name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문자열 읽기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이름은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name + ", 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String city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문자열 읽기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도시는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city + ", 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age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읽기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나이는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age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 weight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scanner.nextDouble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실수 읽기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체중은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weight + "kg, 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boolean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single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scanner.nextBoolean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논리값 읽기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독신 여부는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single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504" y="1374430"/>
            <a:ext cx="20313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이용하여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이름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도시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나이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체중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독신 여부를 입력 받고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다시 출력하는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프로그램을 작성하라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39752" y="5959885"/>
            <a:ext cx="6624736" cy="646331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도시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체중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독신 여부를 빈칸으로 분리하여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Kim Seoul 20 65.1 true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이름은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Kim,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도시는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Seoul,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나이는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체중은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65.1kg,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독신 여부는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24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식과 연산자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연산 </a:t>
            </a:r>
            <a:r>
              <a:rPr lang="en-US" altLang="ko-KR"/>
              <a:t>: </a:t>
            </a:r>
            <a:r>
              <a:rPr lang="ko-KR" altLang="en-US"/>
              <a:t>주어진 식을 계산하여 결과를 얻어내는 과정</a:t>
            </a:r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pPr lvl="2"/>
            <a:endParaRPr lang="en-US" altLang="ko-KR"/>
          </a:p>
          <a:p>
            <a:endParaRPr lang="en-US" altLang="ko-KR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988840"/>
            <a:ext cx="4565842" cy="181245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149080"/>
            <a:ext cx="7384082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494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우선순위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sz="quarter" idx="2"/>
          </p:nvPr>
        </p:nvSpPr>
        <p:spPr>
          <a:xfrm>
            <a:off x="5072066" y="1489838"/>
            <a:ext cx="3748406" cy="4930805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같은 우선순위의 연산자</a:t>
            </a:r>
            <a:endParaRPr lang="en-US" altLang="ko-KR" sz="2000" dirty="0"/>
          </a:p>
          <a:p>
            <a:pPr lvl="1"/>
            <a:r>
              <a:rPr lang="ko-KR" altLang="en-US" sz="1800" dirty="0"/>
              <a:t>왼쪽에서 오른쪽으로 처리</a:t>
            </a:r>
            <a:endParaRPr lang="en-US" altLang="ko-KR" sz="1800" dirty="0"/>
          </a:p>
          <a:p>
            <a:pPr lvl="1"/>
            <a:r>
              <a:rPr lang="ko-KR" altLang="en-US" sz="1800" dirty="0"/>
              <a:t>예외</a:t>
            </a:r>
            <a:r>
              <a:rPr lang="en-US" altLang="ko-KR" sz="1800" dirty="0"/>
              <a:t>)</a:t>
            </a:r>
            <a:r>
              <a:rPr lang="ko-KR" altLang="en-US" sz="1800" dirty="0"/>
              <a:t>오른쪽에서 왼쪽으로</a:t>
            </a:r>
            <a:endParaRPr lang="en-US" altLang="ko-KR" sz="1800" dirty="0"/>
          </a:p>
          <a:p>
            <a:pPr lvl="2"/>
            <a:r>
              <a:rPr lang="ko-KR" altLang="en-US" sz="1400" dirty="0"/>
              <a:t>대입 연산자</a:t>
            </a:r>
            <a:r>
              <a:rPr lang="en-US" altLang="ko-KR" sz="1400" dirty="0"/>
              <a:t>, --, ++, +,-(</a:t>
            </a:r>
            <a:r>
              <a:rPr lang="ko-KR" altLang="en-US" sz="1400" dirty="0"/>
              <a:t>양수 음수 부호</a:t>
            </a:r>
            <a:r>
              <a:rPr lang="en-US" altLang="ko-KR" sz="1400" dirty="0"/>
              <a:t>), !, </a:t>
            </a:r>
            <a:r>
              <a:rPr lang="ko-KR" altLang="en-US" sz="1400" dirty="0"/>
              <a:t>형 변환은 오른쪽에서 왼쪽으로 처리</a:t>
            </a:r>
            <a:endParaRPr lang="en-US" altLang="ko-KR" sz="1400" dirty="0"/>
          </a:p>
          <a:p>
            <a:r>
              <a:rPr lang="ko-KR" altLang="en-US" sz="2000" dirty="0"/>
              <a:t>괄호는 최우선순위</a:t>
            </a:r>
            <a:endParaRPr lang="en-US" altLang="ko-KR" sz="2000" dirty="0"/>
          </a:p>
          <a:p>
            <a:pPr lvl="1"/>
            <a:r>
              <a:rPr lang="ko-KR" altLang="en-US" sz="1800" dirty="0"/>
              <a:t>괄호가 다시 괄호를 포함한 경우는 가장 안쪽의 괄호부터 먼저 처리</a:t>
            </a:r>
            <a:endParaRPr lang="en-US" altLang="ko-KR" sz="44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내용 개체 틀 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75" y="1557286"/>
            <a:ext cx="4762795" cy="496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72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산술 연산자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산술 연산자</a:t>
            </a:r>
            <a:endParaRPr lang="en-US" altLang="ko-KR" dirty="0"/>
          </a:p>
          <a:p>
            <a:pPr lvl="1"/>
            <a:r>
              <a:rPr lang="ko-KR" altLang="en-US" dirty="0"/>
              <a:t>더하기</a:t>
            </a:r>
            <a:r>
              <a:rPr lang="en-US" altLang="ko-KR" dirty="0"/>
              <a:t>(+), </a:t>
            </a:r>
            <a:r>
              <a:rPr lang="ko-KR" altLang="en-US" dirty="0"/>
              <a:t>빼기</a:t>
            </a:r>
            <a:r>
              <a:rPr lang="en-US" altLang="ko-KR" dirty="0"/>
              <a:t>(-), </a:t>
            </a:r>
            <a:r>
              <a:rPr lang="ko-KR" altLang="en-US" dirty="0"/>
              <a:t>곱하기</a:t>
            </a:r>
            <a:r>
              <a:rPr lang="en-US" altLang="ko-KR" dirty="0"/>
              <a:t>(*), </a:t>
            </a:r>
            <a:r>
              <a:rPr lang="ko-KR" altLang="en-US" dirty="0"/>
              <a:t>나누기</a:t>
            </a:r>
            <a:r>
              <a:rPr lang="en-US" altLang="ko-KR" dirty="0"/>
              <a:t>(/), </a:t>
            </a:r>
            <a:r>
              <a:rPr lang="ko-KR" altLang="en-US" dirty="0"/>
              <a:t>나머지</a:t>
            </a:r>
            <a:r>
              <a:rPr lang="en-US" altLang="ko-KR" dirty="0"/>
              <a:t>(%)</a:t>
            </a:r>
          </a:p>
          <a:p>
            <a:pPr lvl="1"/>
            <a:r>
              <a:rPr lang="en-US" altLang="ko-KR" dirty="0"/>
              <a:t>/</a:t>
            </a:r>
            <a:r>
              <a:rPr lang="ko-KR" altLang="en-US" dirty="0"/>
              <a:t>와 </a:t>
            </a:r>
            <a:r>
              <a:rPr lang="en-US" altLang="ko-KR" dirty="0"/>
              <a:t>% </a:t>
            </a:r>
            <a:r>
              <a:rPr lang="ko-KR" altLang="en-US" dirty="0"/>
              <a:t>응용</a:t>
            </a:r>
            <a:endParaRPr lang="en-US" altLang="ko-KR" dirty="0"/>
          </a:p>
          <a:p>
            <a:pPr lvl="2"/>
            <a:r>
              <a:rPr lang="en-US" altLang="ko-KR" dirty="0"/>
              <a:t>10</a:t>
            </a:r>
            <a:r>
              <a:rPr lang="ko-KR" altLang="en-US" dirty="0"/>
              <a:t>의 자리와 </a:t>
            </a:r>
            <a:r>
              <a:rPr lang="en-US" altLang="ko-KR" dirty="0"/>
              <a:t>1</a:t>
            </a:r>
            <a:r>
              <a:rPr lang="ko-KR" altLang="en-US" dirty="0"/>
              <a:t>의 자리 분리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n</a:t>
            </a:r>
            <a:r>
              <a:rPr lang="ko-KR" altLang="en-US" dirty="0"/>
              <a:t>이 홀수인지 판단</a:t>
            </a: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ko-K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619672" y="2924944"/>
            <a:ext cx="489654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69/10 = 6 			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← 몫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69%10 = 9 		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← 나머지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45160" y="3907971"/>
            <a:ext cx="487105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r = n % 2; 	// 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홀수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짝수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4461602"/>
            <a:ext cx="6498576" cy="191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9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106984"/>
            <a:ext cx="7615758" cy="327570"/>
          </a:xfrm>
        </p:spPr>
        <p:txBody>
          <a:bodyPr>
            <a:normAutofit fontScale="90000"/>
          </a:bodyPr>
          <a:lstStyle/>
          <a:p>
            <a:r>
              <a:rPr lang="ko-KR" altLang="en-US" sz="2400" dirty="0"/>
              <a:t>예제</a:t>
            </a:r>
            <a:r>
              <a:rPr lang="en-US" altLang="ko-KR" sz="2400" dirty="0"/>
              <a:t>2: </a:t>
            </a:r>
            <a:r>
              <a:rPr lang="ko-KR" altLang="en-US" sz="2400" dirty="0"/>
              <a:t>두개의 정수를 입력 받아 사칙연산을 수행해 보자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D8376-E65F-44B9-8E82-728F6ABF799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95300" y="434554"/>
            <a:ext cx="8153400" cy="615267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java.util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.*;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InputString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  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int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a,b,result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double result1;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Scanner s = new Scanner(System.in);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첫번째 정수를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a=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두번째 정수를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b=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result = a + 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(a + "+" + b + "=" + result);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result = a - 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(a + "-" + b + "=" + result);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result = a * 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(a + "*" + b + "=" + result);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result1 = (double)a / 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(a + "/" + b + "=" + result1);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result = a % 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(a + "%" + b + "=" + result);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}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5626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중감</a:t>
            </a:r>
            <a:r>
              <a:rPr lang="ko-KR" altLang="en-US" dirty="0"/>
              <a:t> 연산자</a:t>
            </a:r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67" y="2620701"/>
            <a:ext cx="8229600" cy="1933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4605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증감 연산자</a:t>
            </a: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0342" y="2106227"/>
            <a:ext cx="778331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9684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2-5 : /</a:t>
            </a:r>
            <a:r>
              <a:rPr lang="ko-KR" altLang="en-US" dirty="0"/>
              <a:t>와 </a:t>
            </a:r>
            <a:r>
              <a:rPr lang="en-US" altLang="ko-KR" dirty="0"/>
              <a:t>% </a:t>
            </a:r>
            <a:r>
              <a:rPr lang="ko-KR" altLang="en-US" dirty="0"/>
              <a:t>산술 연산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1920857"/>
            <a:ext cx="6552728" cy="3785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ArithmeticOperator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 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time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second =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time % 60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			// 60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나눈 나머지는 초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minute = (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time / 60) % 60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// 60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나눈 몫을 다시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나눈 나머지는 분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hour =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(time / 60) / 60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		// 60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나눈 몫을 다시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으로 나눈 몫은 시간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(time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(hour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(minute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(second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681" y="1339532"/>
            <a:ext cx="8217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초 단위의 정수를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입력받고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 시간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 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몇 초인지 출력하는 프로그램을 작성하라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3568" y="5949280"/>
            <a:ext cx="6552728" cy="46166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5000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5000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시간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23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20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767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3144" y="159655"/>
            <a:ext cx="7306430" cy="709865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확인학습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6E054C-44CA-4B40-BEEC-CB28D7FA2D8F}"/>
              </a:ext>
            </a:extLst>
          </p:cNvPr>
          <p:cNvSpPr/>
          <p:nvPr/>
        </p:nvSpPr>
        <p:spPr>
          <a:xfrm>
            <a:off x="398112" y="1783764"/>
            <a:ext cx="82524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확인학습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하나의 상자에 오렌지를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개씩 담을 수 있다고 하자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오렌지가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127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개가 있다면 상자 몇 개가 필요한가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 몇 개의 오렌지가 남을 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아래와 같이 출력하세요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AD1BD8-4B7D-4E95-BCAC-FA64AB42C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17" y="3851528"/>
            <a:ext cx="7696200" cy="1476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784680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 연산자</a:t>
            </a:r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775" y="2341732"/>
            <a:ext cx="8153400" cy="301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302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r>
              <a:rPr lang="ko-KR" altLang="en-US" dirty="0"/>
              <a:t>관계 연산자</a:t>
            </a:r>
          </a:p>
        </p:txBody>
      </p:sp>
      <p:pic>
        <p:nvPicPr>
          <p:cNvPr id="378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401" y="2257148"/>
            <a:ext cx="7375197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321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논리 연산자</a:t>
            </a:r>
          </a:p>
        </p:txBody>
      </p:sp>
      <p:pic>
        <p:nvPicPr>
          <p:cNvPr id="389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775" y="3024709"/>
            <a:ext cx="8153400" cy="164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5112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논리</a:t>
            </a:r>
            <a:r>
              <a:rPr lang="en-US" altLang="ko-KR"/>
              <a:t> </a:t>
            </a:r>
            <a:r>
              <a:rPr lang="ko-KR" altLang="en-US"/>
              <a:t>연산자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612648" y="2477227"/>
            <a:ext cx="8153400" cy="260858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LogicalOperator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    public static void main(String[]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     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((3 == 3) &amp;&amp; (4 == 7))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     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((3 == 3 || 4 == 7))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}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gray">
          <a:xfrm>
            <a:off x="612648" y="5511927"/>
            <a:ext cx="8153400" cy="906548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true</a:t>
            </a:r>
            <a:endParaRPr kumimoji="0" lang="en-US" altLang="ko-KR" sz="10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6860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조건</a:t>
            </a:r>
            <a:r>
              <a:rPr lang="en-US" altLang="ko-KR"/>
              <a:t> </a:t>
            </a:r>
            <a:r>
              <a:rPr lang="ko-KR" altLang="en-US"/>
              <a:t>연산자 </a:t>
            </a:r>
            <a:r>
              <a:rPr lang="en-US" altLang="ko-KR"/>
              <a:t>?: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condition ? opr2 : opr3</a:t>
            </a:r>
            <a:endParaRPr lang="ko-KR" altLang="en-US"/>
          </a:p>
          <a:p>
            <a:pPr lvl="1"/>
            <a:r>
              <a:rPr lang="ko-KR" altLang="en-US"/>
              <a:t>세 개의 </a:t>
            </a:r>
            <a:r>
              <a:rPr lang="ko-KR" altLang="en-US" err="1"/>
              <a:t>피연산자로</a:t>
            </a:r>
            <a:r>
              <a:rPr lang="ko-KR" altLang="en-US"/>
              <a:t> 구성된 </a:t>
            </a:r>
            <a:r>
              <a:rPr lang="ko-KR" altLang="en-US" err="1"/>
              <a:t>삼항</a:t>
            </a:r>
            <a:r>
              <a:rPr lang="en-US" altLang="ko-KR"/>
              <a:t>(ternary) </a:t>
            </a:r>
            <a:r>
              <a:rPr lang="ko-KR" altLang="en-US"/>
              <a:t>연산자</a:t>
            </a:r>
          </a:p>
          <a:p>
            <a:pPr lvl="2"/>
            <a:r>
              <a:rPr lang="en-US" altLang="ko-KR"/>
              <a:t>condition</a:t>
            </a:r>
            <a:r>
              <a:rPr lang="ko-KR" altLang="en-US"/>
              <a:t>이 </a:t>
            </a:r>
            <a:r>
              <a:rPr lang="en-US" altLang="ko-KR"/>
              <a:t>true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ko-KR" altLang="en-US" err="1"/>
              <a:t>연산식의</a:t>
            </a:r>
            <a:r>
              <a:rPr lang="ko-KR" altLang="en-US"/>
              <a:t> 결과는 </a:t>
            </a:r>
            <a:r>
              <a:rPr lang="en-US" altLang="ko-KR"/>
              <a:t>opr2, false</a:t>
            </a:r>
            <a:r>
              <a:rPr lang="ko-KR" altLang="en-US"/>
              <a:t>이면 </a:t>
            </a:r>
            <a:r>
              <a:rPr lang="en-US" altLang="ko-KR"/>
              <a:t>opr3</a:t>
            </a:r>
          </a:p>
          <a:p>
            <a:pPr lvl="1"/>
            <a:r>
              <a:rPr lang="en-US" altLang="ko-KR"/>
              <a:t>if-else</a:t>
            </a:r>
            <a:r>
              <a:rPr lang="ko-KR" altLang="en-US"/>
              <a:t>을 간결하게 표현할 수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1640" y="3095089"/>
            <a:ext cx="1512168" cy="20621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x = 5;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y = 3;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if(x&gt;y)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s = 1;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else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s = -1;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779912" y="4366455"/>
            <a:ext cx="2088232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 = (x&gt;y)?1:-1; </a:t>
            </a:r>
          </a:p>
        </p:txBody>
      </p:sp>
      <p:sp>
        <p:nvSpPr>
          <p:cNvPr id="7" name="왼쪽 중괄호 6"/>
          <p:cNvSpPr/>
          <p:nvPr/>
        </p:nvSpPr>
        <p:spPr>
          <a:xfrm rot="10800000">
            <a:off x="2339752" y="4001383"/>
            <a:ext cx="432048" cy="1037922"/>
          </a:xfrm>
          <a:prstGeom prst="leftBrace">
            <a:avLst>
              <a:gd name="adj1" fmla="val 3373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화살표 연결선 8"/>
          <p:cNvCxnSpPr>
            <a:stCxn id="7" idx="1"/>
            <a:endCxn id="6" idx="1"/>
          </p:cNvCxnSpPr>
          <p:nvPr/>
        </p:nvCxnSpPr>
        <p:spPr>
          <a:xfrm>
            <a:off x="2771800" y="4520344"/>
            <a:ext cx="1008112" cy="153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014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2-8 : </a:t>
            </a:r>
            <a:r>
              <a:rPr lang="ko-KR" altLang="en-US"/>
              <a:t>조건 연산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576" y="1897087"/>
            <a:ext cx="5798448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TernaryOperator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 (String[]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a = 3, b = 5;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두 수의 차는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((a&gt;b)?(a-b):(b-a)));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1432997"/>
            <a:ext cx="527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다음은 조건 연산자의 사례이다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실행 결과는 무엇인가</a:t>
            </a:r>
            <a:r>
              <a:rPr kumimoji="0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5576" y="3625279"/>
            <a:ext cx="5798448" cy="307777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두 수의 차는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899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38131" y="146922"/>
            <a:ext cx="7306430" cy="709865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확인학습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F6E054C-44CA-4B40-BEEC-CB28D7FA2D8F}"/>
              </a:ext>
            </a:extLst>
          </p:cNvPr>
          <p:cNvSpPr/>
          <p:nvPr/>
        </p:nvSpPr>
        <p:spPr>
          <a:xfrm>
            <a:off x="582839" y="2707400"/>
            <a:ext cx="82524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당신의 나이를 입력 받아 성년인지 미성년자인지 출력해주세요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단 조건연산자를 사용하여 프로그램 작성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19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살이상이면 성년 그렇지 않으면 미성년 출력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735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 </a:t>
            </a:r>
            <a:r>
              <a:rPr lang="en-US" altLang="ko-KR" dirty="0"/>
              <a:t>if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071702"/>
          </a:xfrm>
        </p:spPr>
        <p:txBody>
          <a:bodyPr>
            <a:normAutofit/>
          </a:bodyPr>
          <a:lstStyle/>
          <a:p>
            <a:r>
              <a:rPr lang="ko-KR" altLang="en-US" dirty="0"/>
              <a:t>단순 </a:t>
            </a:r>
            <a:r>
              <a:rPr lang="en-US" altLang="ko-KR" dirty="0"/>
              <a:t>if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en-US" altLang="ko-KR" dirty="0"/>
              <a:t>if</a:t>
            </a:r>
            <a:r>
              <a:rPr lang="ko-KR" altLang="en-US" dirty="0"/>
              <a:t>의 괄호 안에 </a:t>
            </a:r>
            <a:r>
              <a:rPr lang="ko-KR" altLang="en-US" dirty="0" err="1"/>
              <a:t>조건식</a:t>
            </a:r>
            <a:r>
              <a:rPr lang="en-US" altLang="ko-KR" dirty="0"/>
              <a:t>(</a:t>
            </a:r>
            <a:r>
              <a:rPr lang="ko-KR" altLang="en-US" dirty="0"/>
              <a:t>논리형 변수나 논리 연산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sz="1600" dirty="0"/>
              <a:t>실행문장이 단일 문장인 경우 둘러싸는 </a:t>
            </a:r>
            <a:r>
              <a:rPr lang="en-US" altLang="ko-KR" sz="1600" dirty="0"/>
              <a:t>{, }</a:t>
            </a:r>
            <a:r>
              <a:rPr lang="ko-KR" altLang="en-US" sz="1600" dirty="0"/>
              <a:t> 생략 가능</a:t>
            </a:r>
            <a:endParaRPr lang="en-US" altLang="ko-KR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835894" y="5373216"/>
            <a:ext cx="4572000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if(n%2 == 0) {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(n + "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은 짝수입니다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.");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467877"/>
            <a:ext cx="574929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530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2-10 : if</a:t>
            </a:r>
            <a:r>
              <a:rPr lang="ko-KR" altLang="en-US" dirty="0"/>
              <a:t>문 사용하기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568" y="1812354"/>
            <a:ext cx="5798448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SuccessOrFail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 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점수를 입력하시오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score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(score &gt;= 80)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축하합니다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합격입니다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39552" y="1340768"/>
            <a:ext cx="67794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시험 점수가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점이 이상이면 합격 판별을 하는 프로그램을 작성하시오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68335" y="4963085"/>
            <a:ext cx="5798448" cy="523220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점수를 입력하시오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축하합니다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합격입니다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03082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조건문</a:t>
            </a:r>
            <a:r>
              <a:rPr lang="ko-KR" altLang="en-US" dirty="0"/>
              <a:t> </a:t>
            </a:r>
            <a:r>
              <a:rPr lang="en-US" altLang="ko-KR" dirty="0"/>
              <a:t>– if-else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785950"/>
          </a:xfrm>
        </p:spPr>
        <p:txBody>
          <a:bodyPr/>
          <a:lstStyle/>
          <a:p>
            <a:r>
              <a:rPr lang="en-US" altLang="ko-KR"/>
              <a:t>if-else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조건식이 </a:t>
            </a:r>
            <a:r>
              <a:rPr lang="en-US" altLang="ko-KR"/>
              <a:t>true</a:t>
            </a:r>
            <a:r>
              <a:rPr lang="ko-KR" altLang="en-US"/>
              <a:t>면 실행문장</a:t>
            </a:r>
            <a:r>
              <a:rPr lang="en-US" altLang="ko-KR"/>
              <a:t>1</a:t>
            </a:r>
            <a:r>
              <a:rPr lang="ko-KR" altLang="en-US"/>
              <a:t> 실행 후</a:t>
            </a:r>
            <a:r>
              <a:rPr lang="en-US" altLang="ko-KR"/>
              <a:t> </a:t>
            </a:r>
            <a:r>
              <a:rPr lang="en-US" altLang="ko-KR" dirty="0"/>
              <a:t>if-else</a:t>
            </a:r>
            <a:r>
              <a:rPr lang="ko-KR" altLang="en-US"/>
              <a:t>문을 벗어남</a:t>
            </a:r>
            <a:endParaRPr lang="en-US" altLang="ko-KR"/>
          </a:p>
          <a:p>
            <a:pPr lvl="1"/>
            <a:r>
              <a:rPr lang="en-US" altLang="ko-KR"/>
              <a:t>false</a:t>
            </a:r>
            <a:r>
              <a:rPr lang="ko-KR" altLang="en-US" dirty="0"/>
              <a:t>인 경우에 </a:t>
            </a:r>
            <a:r>
              <a:rPr lang="ko-KR" altLang="en-US"/>
              <a:t>실행문장</a:t>
            </a:r>
            <a:r>
              <a:rPr lang="en-US" altLang="ko-KR"/>
              <a:t>2</a:t>
            </a:r>
            <a:r>
              <a:rPr lang="ko-KR" altLang="en-US"/>
              <a:t> 실행후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 dirty="0"/>
              <a:t>if-else</a:t>
            </a:r>
            <a:r>
              <a:rPr lang="ko-KR" altLang="en-US"/>
              <a:t>문을 벗어남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071810"/>
            <a:ext cx="5330190" cy="279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121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2-11 : if-else</a:t>
            </a:r>
            <a:r>
              <a:rPr lang="ko-KR" altLang="en-US" dirty="0"/>
              <a:t> 사용하기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67" y="1772816"/>
            <a:ext cx="5798448" cy="3754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MultipleOfThree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 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in = new Scanner(System.in);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수를 입력하시오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number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 (number % 3 == 0)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배수입니다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else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배수가 아닙니다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1400829"/>
            <a:ext cx="5700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입력된 수가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배수인지 판별하는 프로그램을 작성하시오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98967" y="5699027"/>
            <a:ext cx="5798448" cy="46166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수를 입력하시오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129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배수입니다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2446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3326350"/>
            <a:ext cx="8229600" cy="147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 b="0"/>
              <a:t>짝수</a:t>
            </a:r>
            <a:r>
              <a:rPr lang="en-US" altLang="ko-KR" b="0"/>
              <a:t>, </a:t>
            </a:r>
            <a:r>
              <a:rPr lang="ko-KR" altLang="en-US" b="0"/>
              <a:t>홀수 구별하기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99592" y="2207200"/>
            <a:ext cx="78155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>
                <a:latin typeface="굴림체" panose="020B0609000101010101" pitchFamily="49" charset="-127"/>
                <a:ea typeface="굴림체" panose="020B0609000101010101" pitchFamily="49" charset="-127"/>
              </a:rPr>
              <a:t>키보드에서 입력 받은 정수가 홀수인지 짝수인지를 말해 주는 프로그램을 작성하여 보자</a:t>
            </a:r>
            <a:r>
              <a:rPr lang="en-US" altLang="ko-KR" sz="2800">
                <a:latin typeface="굴림체" panose="020B0609000101010101" pitchFamily="49" charset="-127"/>
                <a:ea typeface="굴림체" panose="020B0609000101010101" pitchFamily="49" charset="-127"/>
              </a:rPr>
              <a:t>. </a:t>
            </a:r>
            <a:endParaRPr lang="ko-KR" altLang="en-US" sz="280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9782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다중 </a:t>
            </a:r>
            <a:r>
              <a:rPr lang="en-US" altLang="ko-KR" dirty="0"/>
              <a:t>if-else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59"/>
            <a:ext cx="8153400" cy="1169651"/>
          </a:xfrm>
        </p:spPr>
        <p:txBody>
          <a:bodyPr>
            <a:normAutofit lnSpcReduction="10000"/>
          </a:bodyPr>
          <a:lstStyle/>
          <a:p>
            <a:pPr fontAlgn="base"/>
            <a:r>
              <a:rPr lang="ko-KR" altLang="en-US" dirty="0"/>
              <a:t>다중 </a:t>
            </a:r>
            <a:r>
              <a:rPr lang="en-US" altLang="ko-KR" dirty="0"/>
              <a:t>if-else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 fontAlgn="base"/>
            <a:r>
              <a:rPr lang="en-US" altLang="ko-KR" dirty="0"/>
              <a:t>if-else</a:t>
            </a:r>
            <a:r>
              <a:rPr lang="ko-KR" altLang="en-US" dirty="0"/>
              <a:t>가 연속되는 모양</a:t>
            </a:r>
          </a:p>
          <a:p>
            <a:pPr lvl="2"/>
            <a:r>
              <a:rPr lang="ko-KR" altLang="en-US" dirty="0" err="1"/>
              <a:t>조건문이</a:t>
            </a:r>
            <a:r>
              <a:rPr lang="ko-KR" altLang="en-US" dirty="0"/>
              <a:t> 너무 많은 경우</a:t>
            </a:r>
            <a:r>
              <a:rPr lang="en-US" altLang="ko-KR" dirty="0"/>
              <a:t>, switch </a:t>
            </a:r>
            <a:r>
              <a:rPr lang="ko-KR" altLang="en-US" dirty="0"/>
              <a:t>문 사용 권장                                                                               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48880"/>
            <a:ext cx="721614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56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다중 </a:t>
            </a:r>
            <a:r>
              <a:rPr lang="en-US" altLang="ko-KR"/>
              <a:t>if-else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사용자로부터 받은 정수가 양수인지</a:t>
            </a:r>
            <a:r>
              <a:rPr lang="en-US" altLang="ko-KR"/>
              <a:t>, 0</a:t>
            </a:r>
            <a:r>
              <a:rPr lang="ko-KR" altLang="en-US"/>
              <a:t>인지</a:t>
            </a:r>
            <a:r>
              <a:rPr lang="en-US" altLang="ko-KR"/>
              <a:t>, </a:t>
            </a:r>
            <a:r>
              <a:rPr lang="ko-KR" altLang="en-US"/>
              <a:t>음수인지를 검사해보자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864382" y="3571569"/>
            <a:ext cx="8153400" cy="861134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정수를 </a:t>
            </a:r>
            <a:r>
              <a:rPr kumimoji="0" lang="ko-KR" alt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입력하시오</a:t>
            </a: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: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양수입니다</a:t>
            </a: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굴림체" panose="020B0609000101010101" pitchFamily="49" charset="-127"/>
                <a:ea typeface="굴림체" panose="020B0609000101010101" pitchFamily="49" charset="-127"/>
                <a:cs typeface="+mn-cs"/>
              </a:rPr>
              <a:t>.</a:t>
            </a:r>
            <a:endParaRPr kumimoji="0" lang="en-US" altLang="ko-K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6518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gray">
          <a:xfrm>
            <a:off x="612648" y="1475627"/>
            <a:ext cx="8153400" cy="496956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/>
          </a:ln>
        </p:spPr>
        <p:txBody>
          <a:bodyPr vert="horz" lIns="91440" tIns="45720" rIns="91440" bIns="4572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Clr>
                <a:schemeClr val="accent5"/>
              </a:buClr>
              <a:buSzPct val="85000"/>
              <a:buFont typeface="Wingdings"/>
              <a:buChar char="¢"/>
              <a:defRPr lang="en-US" sz="20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Clr>
                <a:schemeClr val="accent4"/>
              </a:buClr>
              <a:buSzPct val="85000"/>
              <a:buFont typeface="Wingdings"/>
              <a:buChar char="¤"/>
              <a:defRPr lang="en-US" sz="18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Clr>
                <a:schemeClr val="accent3"/>
              </a:buClr>
              <a:buSzPct val="85000"/>
              <a:buFont typeface="Wingdings"/>
              <a:buChar char="¤"/>
              <a:defRPr lang="en-US" sz="16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Clr>
                <a:schemeClr val="accent6"/>
              </a:buClr>
              <a:buSzPct val="85000"/>
              <a:buFont typeface="Wingdings"/>
              <a:buChar char="¤"/>
              <a:defRPr lang="en-US" sz="1400" kern="12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public class Nested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굴림체" panose="020B0609000101010101" pitchFamily="49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sc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= new Scanner(System.in);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정수를 </a:t>
            </a:r>
            <a:r>
              <a:rPr kumimoji="0" lang="ko-KR" altLang="en-US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입력하시오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: 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 number1 =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sc.nextInt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                   if(number1 &gt; 0 )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  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양수입니다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                  else if (number1 ==0 )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("0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입니다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                  else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음수입니다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.");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BA79D"/>
              </a:buClr>
              <a:buSzPct val="85000"/>
              <a:buFont typeface="Wingdings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체" panose="020B0609000101010101" pitchFamily="49" charset="-127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00078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957" y="192609"/>
            <a:ext cx="7306430" cy="709865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확인학습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779DE4-6DEC-443A-BED5-969DB0C4FEAC}"/>
              </a:ext>
            </a:extLst>
          </p:cNvPr>
          <p:cNvSpPr/>
          <p:nvPr/>
        </p:nvSpPr>
        <p:spPr>
          <a:xfrm>
            <a:off x="471506" y="2464896"/>
            <a:ext cx="82524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사용자로부터 두 개의 정수를 입력 받아서 둘 중에 큰 수를 출력하는 프로그램을 작성하여 보자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두개의 정수가 같으면 같습니다 출력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484B86-F005-47C0-B6B8-8263749D3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36" y="3890102"/>
            <a:ext cx="7678373" cy="1409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9462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LAB: </a:t>
            </a:r>
            <a:r>
              <a:rPr lang="ko-KR" altLang="en-US" b="0"/>
              <a:t>성적에 따라 학점 결정하기</a:t>
            </a:r>
            <a:endParaRPr lang="ko-KR" alt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775" y="2537128"/>
            <a:ext cx="8153400" cy="2621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04982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80803"/>
            <a:ext cx="8077645" cy="629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46243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switch </a:t>
            </a:r>
            <a:r>
              <a:rPr lang="ko-KR" altLang="en-US"/>
              <a:t>선택 구조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300"/>
            <a:ext cx="8229600" cy="447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8FB73B2-C318-4340-B226-3970FF68DB7F}"/>
                  </a:ext>
                </a:extLst>
              </p14:cNvPr>
              <p14:cNvContentPartPr/>
              <p14:nvPr/>
            </p14:nvContentPartPr>
            <p14:xfrm>
              <a:off x="2749680" y="2571840"/>
              <a:ext cx="2267280" cy="14670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8FB73B2-C318-4340-B226-3970FF68DB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0320" y="2562480"/>
                <a:ext cx="2286000" cy="148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27087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사용자가 값을 입력하면 화면에 “하나”</a:t>
            </a:r>
            <a:r>
              <a:rPr lang="en-US" altLang="ko-KR"/>
              <a:t>, “</a:t>
            </a:r>
            <a:r>
              <a:rPr lang="ko-KR" altLang="en-US"/>
              <a:t>둘”과 같이 출력하는 코드를 작성하여 보자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정수</a:t>
            </a:r>
            <a:r>
              <a:rPr lang="en-US" altLang="ko-KR"/>
              <a:t>-&gt; </a:t>
            </a:r>
            <a:r>
              <a:rPr lang="ko-KR" altLang="en-US"/>
              <a:t>한글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73" y="3813284"/>
            <a:ext cx="90868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19895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136807" cy="501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9703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만약 </a:t>
            </a:r>
            <a:r>
              <a:rPr lang="en-US" altLang="ko-KR"/>
              <a:t>break</a:t>
            </a:r>
            <a:r>
              <a:rPr lang="ko-KR" altLang="en-US"/>
              <a:t> 문이</a:t>
            </a:r>
            <a:r>
              <a:rPr lang="en-US" altLang="ko-KR"/>
              <a:t> </a:t>
            </a:r>
            <a:r>
              <a:rPr lang="ko-KR" altLang="en-US"/>
              <a:t>없다면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0358"/>
            <a:ext cx="8229600" cy="448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4046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/>
              <a:t>LAB: </a:t>
            </a:r>
            <a:r>
              <a:rPr lang="ko-KR" altLang="en-US" b="0"/>
              <a:t>월의 일수 출력하기</a:t>
            </a:r>
            <a:endParaRPr lang="ko-KR" altLang="en-US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144000" cy="2754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376" y="1273063"/>
            <a:ext cx="1784757" cy="152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2824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63" y="210393"/>
            <a:ext cx="6780264" cy="632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42364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: switch </a:t>
            </a:r>
            <a:r>
              <a:rPr lang="ko-KR" altLang="en-US" dirty="0"/>
              <a:t>문으로 학점 매기기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24675" y="1412776"/>
            <a:ext cx="2468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예제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2-12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성적 매기는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코드를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switch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문으로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작성하라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707904" y="1340768"/>
            <a:ext cx="4320480" cy="5447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GradingSwitch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 {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public static void main (String[]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) {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 = new Scanner(System.in);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char grade;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점수를 입력하세요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(0~100): ");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 score = 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scanner.nextInt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();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switch (score/10)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{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10: // score = 100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9: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90~99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'A';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8: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80~89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'B';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7: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70~79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'C';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case 6: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60~69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'D';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break;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default: // score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59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이하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grade = 'F';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학점은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"+grade+"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");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scanner.close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();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19050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굴림" panose="020B0600000101010101" pitchFamily="50" charset="-127"/>
                <a:cs typeface="+mn-cs"/>
              </a:rPr>
              <a:t>}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43608" y="6326748"/>
            <a:ext cx="2520280" cy="46166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점수를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(0~100):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89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학점은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B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9366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2000" dirty="0"/>
              <a:t>예제 </a:t>
            </a:r>
            <a:r>
              <a:rPr lang="en-US" altLang="ko-KR" sz="2000" dirty="0"/>
              <a:t>1</a:t>
            </a:r>
            <a:r>
              <a:rPr lang="en-US" altLang="ko-KR" sz="2000" b="0" dirty="0"/>
              <a:t> :</a:t>
            </a:r>
            <a:r>
              <a:rPr lang="ko-KR" altLang="en-US" sz="2000" dirty="0"/>
              <a:t>두개의 정수를 입력 받아서 입력 받은 연산기호의 </a:t>
            </a:r>
            <a:br>
              <a:rPr lang="ko-KR" altLang="en-US" sz="2000" dirty="0"/>
            </a:br>
            <a:r>
              <a:rPr lang="ko-KR" altLang="en-US" sz="2000" dirty="0"/>
              <a:t>연산 수행 후 출력해주세요 </a:t>
            </a:r>
            <a:r>
              <a:rPr lang="en-US" altLang="ko-KR" sz="2000" dirty="0"/>
              <a:t>(if</a:t>
            </a:r>
            <a:r>
              <a:rPr lang="ko-KR" altLang="en-US" sz="2000" dirty="0"/>
              <a:t>문 사용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C8B28C-8E30-4C7B-9A5F-41D555DEA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420888"/>
            <a:ext cx="7632848" cy="15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55FBCF-B558-4035-8466-041E1D807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47368"/>
            <a:ext cx="1200150" cy="1304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3543A7-2C90-42FE-9CDD-5FEB38304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293096"/>
            <a:ext cx="7632848" cy="15678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753698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865969" y="927098"/>
            <a:ext cx="6993939" cy="709865"/>
          </a:xfrm>
        </p:spPr>
        <p:txBody>
          <a:bodyPr>
            <a:normAutofit fontScale="90000"/>
          </a:bodyPr>
          <a:lstStyle/>
          <a:p>
            <a:br>
              <a:rPr lang="en-US" altLang="ko-KR" sz="2000" b="0" dirty="0"/>
            </a:br>
            <a:r>
              <a:rPr lang="ko-KR" altLang="en-US" sz="2000" b="0" dirty="0"/>
              <a:t>예제</a:t>
            </a:r>
            <a:r>
              <a:rPr lang="en-US" altLang="ko-KR" sz="2000" b="0" dirty="0"/>
              <a:t>2: </a:t>
            </a:r>
            <a:r>
              <a:rPr lang="ko-KR" altLang="en-US" sz="2000" dirty="0"/>
              <a:t>두개의 정수를 입력 받아서 입력 받은 연산기호의 </a:t>
            </a:r>
            <a:br>
              <a:rPr lang="ko-KR" altLang="en-US" sz="2000" dirty="0"/>
            </a:br>
            <a:r>
              <a:rPr lang="ko-KR" altLang="en-US" sz="2000" dirty="0"/>
              <a:t>연산 수행 후 출력해주세요 </a:t>
            </a:r>
            <a:r>
              <a:rPr lang="en-US" altLang="ko-KR" sz="2000" dirty="0"/>
              <a:t>(switch</a:t>
            </a:r>
            <a:r>
              <a:rPr lang="ko-KR" altLang="en-US" sz="2000" dirty="0"/>
              <a:t>문  사용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55FBCF-B558-4035-8466-041E1D807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368"/>
            <a:ext cx="1200150" cy="13049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66C51EC-88CC-47CF-9549-4F6FED82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36" y="2604324"/>
            <a:ext cx="6993940" cy="9910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B39BCF-300F-4379-90EF-526ABE2B9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236" y="4210954"/>
            <a:ext cx="7042680" cy="9910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1409376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548F7CC-3AEF-4E60-91EB-1032F9D9C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0768"/>
            <a:ext cx="7772400" cy="5172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제목 2">
            <a:extLst>
              <a:ext uri="{FF2B5EF4-FFF2-40B4-BE49-F238E27FC236}">
                <a16:creationId xmlns:a16="http://schemas.microsoft.com/office/drawing/2014/main" id="{B6E1B024-6E15-476E-A09C-91FB11001C9B}"/>
              </a:ext>
            </a:extLst>
          </p:cNvPr>
          <p:cNvSpPr txBox="1">
            <a:spLocks/>
          </p:cNvSpPr>
          <p:nvPr/>
        </p:nvSpPr>
        <p:spPr>
          <a:xfrm>
            <a:off x="731900" y="584854"/>
            <a:ext cx="6583299" cy="543594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Switch~case</a:t>
            </a:r>
            <a:r>
              <a:rPr kumimoji="0" lang="en-US" altLang="ko-KR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문으로 </a:t>
            </a:r>
            <a:r>
              <a:rPr kumimoji="0" lang="ko-KR" altLang="en-US" sz="33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바꾸어보자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83281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실습 예제</a:t>
            </a:r>
            <a:r>
              <a:rPr lang="en-US" altLang="ko-KR" dirty="0"/>
              <a:t>: </a:t>
            </a:r>
            <a:r>
              <a:rPr lang="ko-KR" altLang="en-US" dirty="0"/>
              <a:t>세개의</a:t>
            </a:r>
            <a:r>
              <a:rPr lang="en-US" altLang="ko-KR" dirty="0"/>
              <a:t>  </a:t>
            </a:r>
            <a:r>
              <a:rPr lang="ko-KR" altLang="en-US" dirty="0"/>
              <a:t>정수를 입력 받아 가장 큰 수를 출력 해주세요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CD8F78-A903-46BF-BCAA-016BB54A2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573685"/>
            <a:ext cx="7056784" cy="14216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46A361-9A67-408B-B3BB-8A3EEFC07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420888"/>
            <a:ext cx="120015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1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3F3F86B8564408C355D68F45A30F8" ma:contentTypeVersion="7" ma:contentTypeDescription="Create a new document." ma:contentTypeScope="" ma:versionID="f577b17cddb3cfa273a7c62723bccc67">
  <xsd:schema xmlns:xsd="http://www.w3.org/2001/XMLSchema" xmlns:xs="http://www.w3.org/2001/XMLSchema" xmlns:p="http://schemas.microsoft.com/office/2006/metadata/properties" xmlns:ns3="61eae400-1c71-451c-aeb3-9b02b189ef4d" targetNamespace="http://schemas.microsoft.com/office/2006/metadata/properties" ma:root="true" ma:fieldsID="1065bd026407ac9b6e927748b13693b2" ns3:_="">
    <xsd:import namespace="61eae400-1c71-451c-aeb3-9b02b189ef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e400-1c71-451c-aeb3-9b02b189ef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53C193-8EB4-4F01-8210-CB6C287EDBE2}">
  <ds:schemaRefs>
    <ds:schemaRef ds:uri="61eae400-1c71-451c-aeb3-9b02b189ef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C5DB62-18EC-44F9-BEBF-DC5759BBD0CB}">
  <ds:schemaRefs>
    <ds:schemaRef ds:uri="61eae400-1c71-451c-aeb3-9b02b189ef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7A74F1F-3D73-45DC-9598-4088A06F02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3912</Words>
  <Application>Microsoft Office PowerPoint</Application>
  <PresentationFormat>화면 슬라이드 쇼(4:3)</PresentationFormat>
  <Paragraphs>692</Paragraphs>
  <Slides>68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68</vt:i4>
      </vt:variant>
    </vt:vector>
  </HeadingPairs>
  <TitlesOfParts>
    <vt:vector size="80" baseType="lpstr">
      <vt:lpstr>굴림</vt:lpstr>
      <vt:lpstr>굴림체</vt:lpstr>
      <vt:lpstr>맑은 고딕</vt:lpstr>
      <vt:lpstr>휴먼편지체</vt:lpstr>
      <vt:lpstr>Arial</vt:lpstr>
      <vt:lpstr>Century Gothic</vt:lpstr>
      <vt:lpstr>Century Schoolbook</vt:lpstr>
      <vt:lpstr>Wingdings</vt:lpstr>
      <vt:lpstr>Wingdings 2</vt:lpstr>
      <vt:lpstr>Wingdings 3</vt:lpstr>
      <vt:lpstr>이온(회의실)</vt:lpstr>
      <vt:lpstr>가을</vt:lpstr>
      <vt:lpstr>자바 프로그래밍 응용</vt:lpstr>
      <vt:lpstr>PowerPoint 프레젠테이션</vt:lpstr>
      <vt:lpstr>자바의 일반적인 구조</vt:lpstr>
      <vt:lpstr>클래스</vt:lpstr>
      <vt:lpstr>클래스의 정의</vt:lpstr>
      <vt:lpstr>소스 파일과 클래스 이름</vt:lpstr>
      <vt:lpstr>주석</vt:lpstr>
      <vt:lpstr>예제 2-1 자바프로그램의 기본 구조</vt:lpstr>
      <vt:lpstr>예제 2-1 코드 설명</vt:lpstr>
      <vt:lpstr>예제 2-1 설명 (계속)</vt:lpstr>
      <vt:lpstr>sum() 메소드 호출과 리턴</vt:lpstr>
      <vt:lpstr>식별자 (identifier)</vt:lpstr>
      <vt:lpstr>식별자 이름 사례</vt:lpstr>
      <vt:lpstr>자바 키워드</vt:lpstr>
      <vt:lpstr>좋은 이름 붙이는 언어 관습</vt:lpstr>
      <vt:lpstr>문자열</vt:lpstr>
      <vt:lpstr>상수</vt:lpstr>
      <vt:lpstr>예제 2-2 : 변수, 리터럴, 상수 활용</vt:lpstr>
      <vt:lpstr>문자열 </vt:lpstr>
      <vt:lpstr>예제2-3: 문자열 합치기</vt:lpstr>
      <vt:lpstr>자동 타입 변환</vt:lpstr>
      <vt:lpstr>강제 타입 변환</vt:lpstr>
      <vt:lpstr>형 변환</vt:lpstr>
      <vt:lpstr>예제: 형 변환 예제</vt:lpstr>
      <vt:lpstr>자바에서 키 입력</vt:lpstr>
      <vt:lpstr>Scanner로 쉽게 키 입력</vt:lpstr>
      <vt:lpstr>Scanner를 이용한 키 입력</vt:lpstr>
      <vt:lpstr>Scanner 주요 메소드</vt:lpstr>
      <vt:lpstr>예제: 사용자로부터 받은 2개의 정수 더하기</vt:lpstr>
      <vt:lpstr>PowerPoint 프레젠테이션</vt:lpstr>
      <vt:lpstr>예제 2-4 : Scanner를 이용한 키 입력 연습</vt:lpstr>
      <vt:lpstr>식과 연산자</vt:lpstr>
      <vt:lpstr>연산자 우선순위</vt:lpstr>
      <vt:lpstr>산술 연산자</vt:lpstr>
      <vt:lpstr>예제2: 두개의 정수를 입력 받아 사칙연산을 수행해 보자</vt:lpstr>
      <vt:lpstr>중감 연산자</vt:lpstr>
      <vt:lpstr>예제: 증감 연산자</vt:lpstr>
      <vt:lpstr>예제 2-5 : /와 % 산술 연산</vt:lpstr>
      <vt:lpstr>확인학습</vt:lpstr>
      <vt:lpstr>관계 연산자</vt:lpstr>
      <vt:lpstr>예제: 관계 연산자</vt:lpstr>
      <vt:lpstr>논리 연산자</vt:lpstr>
      <vt:lpstr>예제: 논리 연산자</vt:lpstr>
      <vt:lpstr>조건 연산자 ?:</vt:lpstr>
      <vt:lpstr>예제 2-8 : 조건 연산</vt:lpstr>
      <vt:lpstr>확인학습</vt:lpstr>
      <vt:lpstr>단순 if문</vt:lpstr>
      <vt:lpstr>예제 2-10 : if문 사용하기 </vt:lpstr>
      <vt:lpstr>조건문 – if-else</vt:lpstr>
      <vt:lpstr>예제 2-11 : if-else 사용하기 </vt:lpstr>
      <vt:lpstr>예제: 짝수, 홀수 구별하기</vt:lpstr>
      <vt:lpstr>다중 if-else 문</vt:lpstr>
      <vt:lpstr>예제: 다중 if-else 문</vt:lpstr>
      <vt:lpstr>예제:</vt:lpstr>
      <vt:lpstr>확인학습</vt:lpstr>
      <vt:lpstr>LAB: 성적에 따라 학점 결정하기</vt:lpstr>
      <vt:lpstr>PowerPoint 프레젠테이션</vt:lpstr>
      <vt:lpstr>switch 선택 구조</vt:lpstr>
      <vt:lpstr>예제: 정수-&gt; 한글</vt:lpstr>
      <vt:lpstr>PowerPoint 프레젠테이션</vt:lpstr>
      <vt:lpstr>만약 break 문이 없다면</vt:lpstr>
      <vt:lpstr>LAB: 월의 일수 출력하기</vt:lpstr>
      <vt:lpstr>PowerPoint 프레젠테이션</vt:lpstr>
      <vt:lpstr>예제 : switch 문으로 학점 매기기</vt:lpstr>
      <vt:lpstr>예제 1 :두개의 정수를 입력 받아서 입력 받은 연산기호의  연산 수행 후 출력해주세요 (if문 사용)</vt:lpstr>
      <vt:lpstr> 예제2: 두개의 정수를 입력 받아서 입력 받은 연산기호의  연산 수행 후 출력해주세요 (switch문  사용)</vt:lpstr>
      <vt:lpstr>PowerPoint 프레젠테이션</vt:lpstr>
      <vt:lpstr>실습 예제: 세개의  정수를 입력 받아 가장 큰 수를 출력 해주세요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객체지향 프로그래밍</dc:title>
  <dc:creator>rxr</dc:creator>
  <cp:lastModifiedBy>오은성</cp:lastModifiedBy>
  <cp:revision>5</cp:revision>
  <dcterms:created xsi:type="dcterms:W3CDTF">2020-08-28T02:52:27Z</dcterms:created>
  <dcterms:modified xsi:type="dcterms:W3CDTF">2026-03-07T06:47:45Z</dcterms:modified>
</cp:coreProperties>
</file>