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4"/>
    <p:sldMasterId id="2147483744" r:id="rId5"/>
  </p:sldMasterIdLst>
  <p:notesMasterIdLst>
    <p:notesMasterId r:id="rId59"/>
  </p:notesMasterIdLst>
  <p:sldIdLst>
    <p:sldId id="276" r:id="rId6"/>
    <p:sldId id="277" r:id="rId7"/>
    <p:sldId id="285" r:id="rId8"/>
    <p:sldId id="278" r:id="rId9"/>
    <p:sldId id="279" r:id="rId10"/>
    <p:sldId id="671" r:id="rId11"/>
    <p:sldId id="283" r:id="rId12"/>
    <p:sldId id="263" r:id="rId13"/>
    <p:sldId id="284" r:id="rId14"/>
    <p:sldId id="282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66" r:id="rId23"/>
    <p:sldId id="267" r:id="rId24"/>
    <p:sldId id="268" r:id="rId25"/>
    <p:sldId id="269" r:id="rId26"/>
    <p:sldId id="654" r:id="rId27"/>
    <p:sldId id="655" r:id="rId28"/>
    <p:sldId id="656" r:id="rId29"/>
    <p:sldId id="659" r:id="rId30"/>
    <p:sldId id="660" r:id="rId31"/>
    <p:sldId id="661" r:id="rId32"/>
    <p:sldId id="272" r:id="rId33"/>
    <p:sldId id="662" r:id="rId34"/>
    <p:sldId id="663" r:id="rId35"/>
    <p:sldId id="295" r:id="rId36"/>
    <p:sldId id="296" r:id="rId37"/>
    <p:sldId id="664" r:id="rId38"/>
    <p:sldId id="592" r:id="rId39"/>
    <p:sldId id="646" r:id="rId40"/>
    <p:sldId id="648" r:id="rId41"/>
    <p:sldId id="634" r:id="rId42"/>
    <p:sldId id="635" r:id="rId43"/>
    <p:sldId id="665" r:id="rId44"/>
    <p:sldId id="636" r:id="rId45"/>
    <p:sldId id="640" r:id="rId46"/>
    <p:sldId id="641" r:id="rId47"/>
    <p:sldId id="642" r:id="rId48"/>
    <p:sldId id="643" r:id="rId49"/>
    <p:sldId id="644" r:id="rId50"/>
    <p:sldId id="666" r:id="rId51"/>
    <p:sldId id="667" r:id="rId52"/>
    <p:sldId id="668" r:id="rId53"/>
    <p:sldId id="669" r:id="rId54"/>
    <p:sldId id="670" r:id="rId55"/>
    <p:sldId id="723" r:id="rId56"/>
    <p:sldId id="724" r:id="rId57"/>
    <p:sldId id="725" r:id="rId5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61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microsoft.com/office/2016/11/relationships/changesInfo" Target="changesInfos/changesInfo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은성" userId="451a94f3-e55a-4745-8884-f48fbe464410" providerId="ADAL" clId="{9142F04D-EB9E-4595-856E-00F8626B3388}"/>
    <pc:docChg chg="modSld">
      <pc:chgData name="오은성" userId="451a94f3-e55a-4745-8884-f48fbe464410" providerId="ADAL" clId="{9142F04D-EB9E-4595-856E-00F8626B3388}" dt="2026-02-28T16:39:17.146" v="9" actId="20577"/>
      <pc:docMkLst>
        <pc:docMk/>
      </pc:docMkLst>
      <pc:sldChg chg="modSp mod">
        <pc:chgData name="오은성" userId="451a94f3-e55a-4745-8884-f48fbe464410" providerId="ADAL" clId="{9142F04D-EB9E-4595-856E-00F8626B3388}" dt="2026-02-27T16:33:29.128" v="3" actId="20577"/>
        <pc:sldMkLst>
          <pc:docMk/>
          <pc:sldMk cId="1154515211" sldId="277"/>
        </pc:sldMkLst>
        <pc:spChg chg="mod">
          <ac:chgData name="오은성" userId="451a94f3-e55a-4745-8884-f48fbe464410" providerId="ADAL" clId="{9142F04D-EB9E-4595-856E-00F8626B3388}" dt="2026-02-27T16:33:29.128" v="3" actId="20577"/>
          <ac:spMkLst>
            <pc:docMk/>
            <pc:sldMk cId="1154515211" sldId="277"/>
            <ac:spMk id="2" creationId="{00000000-0000-0000-0000-000000000000}"/>
          </ac:spMkLst>
        </pc:spChg>
      </pc:sldChg>
      <pc:sldChg chg="modSp mod">
        <pc:chgData name="오은성" userId="451a94f3-e55a-4745-8884-f48fbe464410" providerId="ADAL" clId="{9142F04D-EB9E-4595-856E-00F8626B3388}" dt="2026-02-28T16:39:11.922" v="7" actId="20577"/>
        <pc:sldMkLst>
          <pc:docMk/>
          <pc:sldMk cId="1724166834" sldId="278"/>
        </pc:sldMkLst>
        <pc:spChg chg="mod">
          <ac:chgData name="오은성" userId="451a94f3-e55a-4745-8884-f48fbe464410" providerId="ADAL" clId="{9142F04D-EB9E-4595-856E-00F8626B3388}" dt="2026-02-28T16:39:11.922" v="7" actId="20577"/>
          <ac:spMkLst>
            <pc:docMk/>
            <pc:sldMk cId="1724166834" sldId="278"/>
            <ac:spMk id="4" creationId="{7A8C22A7-A5C6-5517-44BC-B2FDF8131454}"/>
          </ac:spMkLst>
        </pc:spChg>
      </pc:sldChg>
      <pc:sldChg chg="modSp mod">
        <pc:chgData name="오은성" userId="451a94f3-e55a-4745-8884-f48fbe464410" providerId="ADAL" clId="{9142F04D-EB9E-4595-856E-00F8626B3388}" dt="2026-02-28T16:39:17.146" v="9" actId="20577"/>
        <pc:sldMkLst>
          <pc:docMk/>
          <pc:sldMk cId="4078343557" sldId="279"/>
        </pc:sldMkLst>
        <pc:spChg chg="mod">
          <ac:chgData name="오은성" userId="451a94f3-e55a-4745-8884-f48fbe464410" providerId="ADAL" clId="{9142F04D-EB9E-4595-856E-00F8626B3388}" dt="2026-02-28T16:39:17.146" v="9" actId="20577"/>
          <ac:spMkLst>
            <pc:docMk/>
            <pc:sldMk cId="4078343557" sldId="279"/>
            <ac:spMk id="4" creationId="{CCD4D5C4-7EAB-FDF6-4FBC-C71823C23327}"/>
          </ac:spMkLst>
        </pc:spChg>
      </pc:sldChg>
      <pc:sldChg chg="modSp mod">
        <pc:chgData name="오은성" userId="451a94f3-e55a-4745-8884-f48fbe464410" providerId="ADAL" clId="{9142F04D-EB9E-4595-856E-00F8626B3388}" dt="2026-02-28T16:39:07.097" v="5" actId="20577"/>
        <pc:sldMkLst>
          <pc:docMk/>
          <pc:sldMk cId="3426545819" sldId="285"/>
        </pc:sldMkLst>
        <pc:spChg chg="mod">
          <ac:chgData name="오은성" userId="451a94f3-e55a-4745-8884-f48fbe464410" providerId="ADAL" clId="{9142F04D-EB9E-4595-856E-00F8626B3388}" dt="2026-02-28T16:39:07.097" v="5" actId="20577"/>
          <ac:spMkLst>
            <pc:docMk/>
            <pc:sldMk cId="3426545819" sldId="285"/>
            <ac:spMk id="3" creationId="{7CC37432-4659-4F26-9A95-9872FEC42B02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9EDD39-48EA-4985-8BD1-FF1480D0D9B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21E1BB6-2FD3-491A-BAE4-9E747AB4AEC8}">
      <dgm:prSet/>
      <dgm:spPr/>
      <dgm:t>
        <a:bodyPr/>
        <a:lstStyle/>
        <a:p>
          <a:pPr>
            <a:defRPr cap="all"/>
          </a:pPr>
          <a:r>
            <a:rPr lang="ko-KR" b="0" i="0"/>
            <a:t>이론 과 실습 수업을 병행</a:t>
          </a:r>
          <a:endParaRPr lang="en-US"/>
        </a:p>
      </dgm:t>
    </dgm:pt>
    <dgm:pt modelId="{8B90492A-175A-4D65-9DF7-4EAA89BC39AE}" type="parTrans" cxnId="{34FEAF18-1E85-4523-95EA-EF5F3775E361}">
      <dgm:prSet/>
      <dgm:spPr/>
      <dgm:t>
        <a:bodyPr/>
        <a:lstStyle/>
        <a:p>
          <a:endParaRPr lang="en-US"/>
        </a:p>
      </dgm:t>
    </dgm:pt>
    <dgm:pt modelId="{E6170DFE-77A9-424E-9CE1-C5B9454E66B4}" type="sibTrans" cxnId="{34FEAF18-1E85-4523-95EA-EF5F3775E361}">
      <dgm:prSet/>
      <dgm:spPr/>
      <dgm:t>
        <a:bodyPr/>
        <a:lstStyle/>
        <a:p>
          <a:endParaRPr lang="en-US"/>
        </a:p>
      </dgm:t>
    </dgm:pt>
    <dgm:pt modelId="{9E5A8903-CD59-49D4-A735-6E77DC716FA4}">
      <dgm:prSet/>
      <dgm:spPr/>
      <dgm:t>
        <a:bodyPr/>
        <a:lstStyle/>
        <a:p>
          <a:pPr>
            <a:defRPr cap="all"/>
          </a:pPr>
          <a:r>
            <a:rPr lang="ko-KR" b="0" i="0"/>
            <a:t>실무프로젝트 실제 예제를 통해 확인학습을 확인한다</a:t>
          </a:r>
          <a:endParaRPr lang="en-US"/>
        </a:p>
      </dgm:t>
    </dgm:pt>
    <dgm:pt modelId="{9C1A0AD1-CE4C-4F25-B8B6-EC65674527F5}" type="parTrans" cxnId="{B153D3D0-4671-44EB-ACB5-434367912489}">
      <dgm:prSet/>
      <dgm:spPr/>
      <dgm:t>
        <a:bodyPr/>
        <a:lstStyle/>
        <a:p>
          <a:endParaRPr lang="en-US"/>
        </a:p>
      </dgm:t>
    </dgm:pt>
    <dgm:pt modelId="{6137F6F2-1395-452C-9AD9-C8171E3C6AAC}" type="sibTrans" cxnId="{B153D3D0-4671-44EB-ACB5-434367912489}">
      <dgm:prSet/>
      <dgm:spPr/>
      <dgm:t>
        <a:bodyPr/>
        <a:lstStyle/>
        <a:p>
          <a:endParaRPr lang="en-US"/>
        </a:p>
      </dgm:t>
    </dgm:pt>
    <dgm:pt modelId="{701995DC-E46E-4012-9E01-9CA3CD3AB94F}">
      <dgm:prSet/>
      <dgm:spPr/>
      <dgm:t>
        <a:bodyPr/>
        <a:lstStyle/>
        <a:p>
          <a:pPr>
            <a:defRPr cap="all"/>
          </a:pPr>
          <a:r>
            <a:rPr lang="ko-KR" b="0" i="0" dirty="0"/>
            <a:t>출석은 반드시 </a:t>
          </a:r>
          <a:r>
            <a:rPr lang="ko-KR" b="0" i="0"/>
            <a:t>스스로 </a:t>
          </a:r>
          <a:r>
            <a:rPr lang="ko-KR" altLang="en-US" b="0" i="0"/>
            <a:t>경기대</a:t>
          </a:r>
          <a:r>
            <a:rPr lang="ko-KR" b="0" i="0"/>
            <a:t>출석 </a:t>
          </a:r>
          <a:r>
            <a:rPr lang="ko-KR" b="0" i="0" dirty="0"/>
            <a:t>스마트 앱을 이용하여 스스로 한다</a:t>
          </a:r>
          <a:r>
            <a:rPr lang="en-US" b="0" i="0" dirty="0"/>
            <a:t>.</a:t>
          </a:r>
          <a:endParaRPr lang="en-US" dirty="0"/>
        </a:p>
      </dgm:t>
    </dgm:pt>
    <dgm:pt modelId="{2045EB73-2BA3-4F5C-8C27-1A9ED68110DA}" type="parTrans" cxnId="{78B4C036-4C8D-49DD-B028-B3124E0A08B6}">
      <dgm:prSet/>
      <dgm:spPr/>
      <dgm:t>
        <a:bodyPr/>
        <a:lstStyle/>
        <a:p>
          <a:endParaRPr lang="en-US"/>
        </a:p>
      </dgm:t>
    </dgm:pt>
    <dgm:pt modelId="{9EAE881F-15A1-480C-A31D-259C5800CEB9}" type="sibTrans" cxnId="{78B4C036-4C8D-49DD-B028-B3124E0A08B6}">
      <dgm:prSet/>
      <dgm:spPr/>
      <dgm:t>
        <a:bodyPr/>
        <a:lstStyle/>
        <a:p>
          <a:endParaRPr lang="en-US"/>
        </a:p>
      </dgm:t>
    </dgm:pt>
    <dgm:pt modelId="{A3F35187-9783-44F7-AA7A-D402C52905F4}">
      <dgm:prSet/>
      <dgm:spPr/>
      <dgm:t>
        <a:bodyPr/>
        <a:lstStyle/>
        <a:p>
          <a:pPr>
            <a:defRPr cap="all"/>
          </a:pPr>
          <a:r>
            <a:rPr lang="ko-KR" b="1" i="0"/>
            <a:t>매 수업 시간마다 그날 실습 예제를 통해 그 주 수업을 확인한다</a:t>
          </a:r>
          <a:r>
            <a:rPr lang="en-US" b="1" i="0"/>
            <a:t>.</a:t>
          </a:r>
          <a:endParaRPr lang="en-US"/>
        </a:p>
      </dgm:t>
    </dgm:pt>
    <dgm:pt modelId="{2A21CFC6-F4F5-4645-8955-0B0D81394F3F}" type="parTrans" cxnId="{586C983D-05A0-4EC4-8451-2919DA0A7DAE}">
      <dgm:prSet/>
      <dgm:spPr/>
      <dgm:t>
        <a:bodyPr/>
        <a:lstStyle/>
        <a:p>
          <a:endParaRPr lang="en-US"/>
        </a:p>
      </dgm:t>
    </dgm:pt>
    <dgm:pt modelId="{642EB5A8-2DC0-44DD-AD12-D3C76565A0D8}" type="sibTrans" cxnId="{586C983D-05A0-4EC4-8451-2919DA0A7DAE}">
      <dgm:prSet/>
      <dgm:spPr/>
      <dgm:t>
        <a:bodyPr/>
        <a:lstStyle/>
        <a:p>
          <a:endParaRPr lang="en-US"/>
        </a:p>
      </dgm:t>
    </dgm:pt>
    <dgm:pt modelId="{6094FC96-5B73-4667-925D-D9BB28073B2B}" type="pres">
      <dgm:prSet presAssocID="{849EDD39-48EA-4985-8BD1-FF1480D0D9B4}" presName="root" presStyleCnt="0">
        <dgm:presLayoutVars>
          <dgm:dir/>
          <dgm:resizeHandles val="exact"/>
        </dgm:presLayoutVars>
      </dgm:prSet>
      <dgm:spPr/>
    </dgm:pt>
    <dgm:pt modelId="{9E1E4AE4-1DC7-4228-851F-81001AAAEE1D}" type="pres">
      <dgm:prSet presAssocID="{F21E1BB6-2FD3-491A-BAE4-9E747AB4AEC8}" presName="compNode" presStyleCnt="0"/>
      <dgm:spPr/>
    </dgm:pt>
    <dgm:pt modelId="{1BCFCE95-0F47-4629-9979-E0086D60ED89}" type="pres">
      <dgm:prSet presAssocID="{F21E1BB6-2FD3-491A-BAE4-9E747AB4AEC8}" presName="iconBgRect" presStyleLbl="bgShp" presStyleIdx="0" presStyleCnt="4"/>
      <dgm:spPr/>
    </dgm:pt>
    <dgm:pt modelId="{55F6242F-BFC6-4F37-AE92-8A73BD364708}" type="pres">
      <dgm:prSet presAssocID="{F21E1BB6-2FD3-491A-BAE4-9E747AB4AEC8}" presName="iconRect" presStyleLbl="node1" presStyleIdx="0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D320CB5-35F5-45B4-BFAB-C717A9C2F49F}" type="pres">
      <dgm:prSet presAssocID="{F21E1BB6-2FD3-491A-BAE4-9E747AB4AEC8}" presName="spaceRect" presStyleCnt="0"/>
      <dgm:spPr/>
    </dgm:pt>
    <dgm:pt modelId="{A00CEB9B-BEDF-4B22-9E9B-4FC45356393E}" type="pres">
      <dgm:prSet presAssocID="{F21E1BB6-2FD3-491A-BAE4-9E747AB4AEC8}" presName="textRect" presStyleLbl="revTx" presStyleIdx="0" presStyleCnt="4">
        <dgm:presLayoutVars>
          <dgm:chMax val="1"/>
          <dgm:chPref val="1"/>
        </dgm:presLayoutVars>
      </dgm:prSet>
      <dgm:spPr/>
    </dgm:pt>
    <dgm:pt modelId="{2C975BCB-9F4C-4E81-8F2C-D61AF73FF6EC}" type="pres">
      <dgm:prSet presAssocID="{E6170DFE-77A9-424E-9CE1-C5B9454E66B4}" presName="sibTrans" presStyleCnt="0"/>
      <dgm:spPr/>
    </dgm:pt>
    <dgm:pt modelId="{3082C834-6709-4856-858C-9AFC4EAA69E9}" type="pres">
      <dgm:prSet presAssocID="{9E5A8903-CD59-49D4-A735-6E77DC716FA4}" presName="compNode" presStyleCnt="0"/>
      <dgm:spPr/>
    </dgm:pt>
    <dgm:pt modelId="{722B56EA-C01C-4678-981B-2408453892A1}" type="pres">
      <dgm:prSet presAssocID="{9E5A8903-CD59-49D4-A735-6E77DC716FA4}" presName="iconBgRect" presStyleLbl="bgShp" presStyleIdx="1" presStyleCnt="4"/>
      <dgm:spPr/>
    </dgm:pt>
    <dgm:pt modelId="{E78A1AD5-9BB8-4061-B476-9E887F89B9E7}" type="pres">
      <dgm:prSet presAssocID="{9E5A8903-CD59-49D4-A735-6E77DC716FA4}" presName="iconRect" presStyleLbl="node1" presStyleIdx="1" presStyleCnt="4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확인 표시"/>
        </a:ext>
      </dgm:extLst>
    </dgm:pt>
    <dgm:pt modelId="{7EA1373F-5301-4FBF-86C2-B8E839B8A5D8}" type="pres">
      <dgm:prSet presAssocID="{9E5A8903-CD59-49D4-A735-6E77DC716FA4}" presName="spaceRect" presStyleCnt="0"/>
      <dgm:spPr/>
    </dgm:pt>
    <dgm:pt modelId="{4E781B5B-7445-4534-B048-0765C7B2EE71}" type="pres">
      <dgm:prSet presAssocID="{9E5A8903-CD59-49D4-A735-6E77DC716FA4}" presName="textRect" presStyleLbl="revTx" presStyleIdx="1" presStyleCnt="4">
        <dgm:presLayoutVars>
          <dgm:chMax val="1"/>
          <dgm:chPref val="1"/>
        </dgm:presLayoutVars>
      </dgm:prSet>
      <dgm:spPr/>
    </dgm:pt>
    <dgm:pt modelId="{2C783A84-D73C-4AFC-980F-1419BBE63A72}" type="pres">
      <dgm:prSet presAssocID="{6137F6F2-1395-452C-9AD9-C8171E3C6AAC}" presName="sibTrans" presStyleCnt="0"/>
      <dgm:spPr/>
    </dgm:pt>
    <dgm:pt modelId="{A23CC695-BA96-4FAA-8B4F-78D69417FFCE}" type="pres">
      <dgm:prSet presAssocID="{701995DC-E46E-4012-9E01-9CA3CD3AB94F}" presName="compNode" presStyleCnt="0"/>
      <dgm:spPr/>
    </dgm:pt>
    <dgm:pt modelId="{5314A0B6-28A7-4758-A6A9-BA3F5102B97E}" type="pres">
      <dgm:prSet presAssocID="{701995DC-E46E-4012-9E01-9CA3CD3AB94F}" presName="iconBgRect" presStyleLbl="bgShp" presStyleIdx="2" presStyleCnt="4"/>
      <dgm:spPr/>
    </dgm:pt>
    <dgm:pt modelId="{A5A8D109-B80F-4BF3-A6A9-34587B154BB9}" type="pres">
      <dgm:prSet presAssocID="{701995DC-E46E-4012-9E01-9CA3CD3AB94F}" presName="iconRect" presStyleLbl="node1" presStyleIdx="2" presStyleCnt="4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사용자"/>
        </a:ext>
      </dgm:extLst>
    </dgm:pt>
    <dgm:pt modelId="{DF4AC02E-BC61-4097-8878-AD4347EFE148}" type="pres">
      <dgm:prSet presAssocID="{701995DC-E46E-4012-9E01-9CA3CD3AB94F}" presName="spaceRect" presStyleCnt="0"/>
      <dgm:spPr/>
    </dgm:pt>
    <dgm:pt modelId="{21592635-30D8-4136-B940-6217CE12F533}" type="pres">
      <dgm:prSet presAssocID="{701995DC-E46E-4012-9E01-9CA3CD3AB94F}" presName="textRect" presStyleLbl="revTx" presStyleIdx="2" presStyleCnt="4">
        <dgm:presLayoutVars>
          <dgm:chMax val="1"/>
          <dgm:chPref val="1"/>
        </dgm:presLayoutVars>
      </dgm:prSet>
      <dgm:spPr/>
    </dgm:pt>
    <dgm:pt modelId="{9CE30D93-236E-461E-988D-CFA05A12C79D}" type="pres">
      <dgm:prSet presAssocID="{9EAE881F-15A1-480C-A31D-259C5800CEB9}" presName="sibTrans" presStyleCnt="0"/>
      <dgm:spPr/>
    </dgm:pt>
    <dgm:pt modelId="{DCA533A6-722B-4E4C-A7F5-F4430053F841}" type="pres">
      <dgm:prSet presAssocID="{A3F35187-9783-44F7-AA7A-D402C52905F4}" presName="compNode" presStyleCnt="0"/>
      <dgm:spPr/>
    </dgm:pt>
    <dgm:pt modelId="{A9574679-F7D2-4713-A543-C23B996106DE}" type="pres">
      <dgm:prSet presAssocID="{A3F35187-9783-44F7-AA7A-D402C52905F4}" presName="iconBgRect" presStyleLbl="bgShp" presStyleIdx="3" presStyleCnt="4"/>
      <dgm:spPr/>
    </dgm:pt>
    <dgm:pt modelId="{9AC27CF3-B1FB-4A87-8C89-82743626FF97}" type="pres">
      <dgm:prSet presAssocID="{A3F35187-9783-44F7-AA7A-D402C52905F4}" presName="iconRect" presStyleLbl="node1" presStyleIdx="3" presStyleCnt="4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강의실"/>
        </a:ext>
      </dgm:extLst>
    </dgm:pt>
    <dgm:pt modelId="{4B1F9E80-57F0-43F1-9EED-6735F64C88F0}" type="pres">
      <dgm:prSet presAssocID="{A3F35187-9783-44F7-AA7A-D402C52905F4}" presName="spaceRect" presStyleCnt="0"/>
      <dgm:spPr/>
    </dgm:pt>
    <dgm:pt modelId="{DA650E36-6E51-4272-9DAC-741745FC5601}" type="pres">
      <dgm:prSet presAssocID="{A3F35187-9783-44F7-AA7A-D402C52905F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003B603-512B-4AA9-9407-CB3C5A57D6C6}" type="presOf" srcId="{701995DC-E46E-4012-9E01-9CA3CD3AB94F}" destId="{21592635-30D8-4136-B940-6217CE12F533}" srcOrd="0" destOrd="0" presId="urn:microsoft.com/office/officeart/2018/5/layout/IconCircleLabelList"/>
    <dgm:cxn modelId="{56D4860E-DA1A-4460-BD87-6383BEDD0F03}" type="presOf" srcId="{F21E1BB6-2FD3-491A-BAE4-9E747AB4AEC8}" destId="{A00CEB9B-BEDF-4B22-9E9B-4FC45356393E}" srcOrd="0" destOrd="0" presId="urn:microsoft.com/office/officeart/2018/5/layout/IconCircleLabelList"/>
    <dgm:cxn modelId="{34FEAF18-1E85-4523-95EA-EF5F3775E361}" srcId="{849EDD39-48EA-4985-8BD1-FF1480D0D9B4}" destId="{F21E1BB6-2FD3-491A-BAE4-9E747AB4AEC8}" srcOrd="0" destOrd="0" parTransId="{8B90492A-175A-4D65-9DF7-4EAA89BC39AE}" sibTransId="{E6170DFE-77A9-424E-9CE1-C5B9454E66B4}"/>
    <dgm:cxn modelId="{78B4C036-4C8D-49DD-B028-B3124E0A08B6}" srcId="{849EDD39-48EA-4985-8BD1-FF1480D0D9B4}" destId="{701995DC-E46E-4012-9E01-9CA3CD3AB94F}" srcOrd="2" destOrd="0" parTransId="{2045EB73-2BA3-4F5C-8C27-1A9ED68110DA}" sibTransId="{9EAE881F-15A1-480C-A31D-259C5800CEB9}"/>
    <dgm:cxn modelId="{586C983D-05A0-4EC4-8451-2919DA0A7DAE}" srcId="{849EDD39-48EA-4985-8BD1-FF1480D0D9B4}" destId="{A3F35187-9783-44F7-AA7A-D402C52905F4}" srcOrd="3" destOrd="0" parTransId="{2A21CFC6-F4F5-4645-8955-0B0D81394F3F}" sibTransId="{642EB5A8-2DC0-44DD-AD12-D3C76565A0D8}"/>
    <dgm:cxn modelId="{E341A386-B14B-46CD-ABCC-047C823790A8}" type="presOf" srcId="{A3F35187-9783-44F7-AA7A-D402C52905F4}" destId="{DA650E36-6E51-4272-9DAC-741745FC5601}" srcOrd="0" destOrd="0" presId="urn:microsoft.com/office/officeart/2018/5/layout/IconCircleLabelList"/>
    <dgm:cxn modelId="{3589E7B2-9923-42F9-97BA-D1746BACD935}" type="presOf" srcId="{849EDD39-48EA-4985-8BD1-FF1480D0D9B4}" destId="{6094FC96-5B73-4667-925D-D9BB28073B2B}" srcOrd="0" destOrd="0" presId="urn:microsoft.com/office/officeart/2018/5/layout/IconCircleLabelList"/>
    <dgm:cxn modelId="{C9407BBE-9D98-4203-8282-0E9F41DB1382}" type="presOf" srcId="{9E5A8903-CD59-49D4-A735-6E77DC716FA4}" destId="{4E781B5B-7445-4534-B048-0765C7B2EE71}" srcOrd="0" destOrd="0" presId="urn:microsoft.com/office/officeart/2018/5/layout/IconCircleLabelList"/>
    <dgm:cxn modelId="{B153D3D0-4671-44EB-ACB5-434367912489}" srcId="{849EDD39-48EA-4985-8BD1-FF1480D0D9B4}" destId="{9E5A8903-CD59-49D4-A735-6E77DC716FA4}" srcOrd="1" destOrd="0" parTransId="{9C1A0AD1-CE4C-4F25-B8B6-EC65674527F5}" sibTransId="{6137F6F2-1395-452C-9AD9-C8171E3C6AAC}"/>
    <dgm:cxn modelId="{6C11D331-BA55-45A1-BD53-D8CD4F02EC5C}" type="presParOf" srcId="{6094FC96-5B73-4667-925D-D9BB28073B2B}" destId="{9E1E4AE4-1DC7-4228-851F-81001AAAEE1D}" srcOrd="0" destOrd="0" presId="urn:microsoft.com/office/officeart/2018/5/layout/IconCircleLabelList"/>
    <dgm:cxn modelId="{44FD1D08-41F3-45BE-A4E3-015ABE30B153}" type="presParOf" srcId="{9E1E4AE4-1DC7-4228-851F-81001AAAEE1D}" destId="{1BCFCE95-0F47-4629-9979-E0086D60ED89}" srcOrd="0" destOrd="0" presId="urn:microsoft.com/office/officeart/2018/5/layout/IconCircleLabelList"/>
    <dgm:cxn modelId="{85A69317-FA43-4A7C-A2CD-AFD2C92AFBC1}" type="presParOf" srcId="{9E1E4AE4-1DC7-4228-851F-81001AAAEE1D}" destId="{55F6242F-BFC6-4F37-AE92-8A73BD364708}" srcOrd="1" destOrd="0" presId="urn:microsoft.com/office/officeart/2018/5/layout/IconCircleLabelList"/>
    <dgm:cxn modelId="{B376C2CE-73B3-4105-A328-BADF06F1C280}" type="presParOf" srcId="{9E1E4AE4-1DC7-4228-851F-81001AAAEE1D}" destId="{5D320CB5-35F5-45B4-BFAB-C717A9C2F49F}" srcOrd="2" destOrd="0" presId="urn:microsoft.com/office/officeart/2018/5/layout/IconCircleLabelList"/>
    <dgm:cxn modelId="{346D68B6-D38B-4C3E-8FF1-46FA468CB295}" type="presParOf" srcId="{9E1E4AE4-1DC7-4228-851F-81001AAAEE1D}" destId="{A00CEB9B-BEDF-4B22-9E9B-4FC45356393E}" srcOrd="3" destOrd="0" presId="urn:microsoft.com/office/officeart/2018/5/layout/IconCircleLabelList"/>
    <dgm:cxn modelId="{4963001E-DBBC-4CB5-9950-D07308A3F59D}" type="presParOf" srcId="{6094FC96-5B73-4667-925D-D9BB28073B2B}" destId="{2C975BCB-9F4C-4E81-8F2C-D61AF73FF6EC}" srcOrd="1" destOrd="0" presId="urn:microsoft.com/office/officeart/2018/5/layout/IconCircleLabelList"/>
    <dgm:cxn modelId="{3DB76627-414A-47B8-AC9D-8E8858D22677}" type="presParOf" srcId="{6094FC96-5B73-4667-925D-D9BB28073B2B}" destId="{3082C834-6709-4856-858C-9AFC4EAA69E9}" srcOrd="2" destOrd="0" presId="urn:microsoft.com/office/officeart/2018/5/layout/IconCircleLabelList"/>
    <dgm:cxn modelId="{3097207A-F9CF-4AC4-B403-D221411DFB57}" type="presParOf" srcId="{3082C834-6709-4856-858C-9AFC4EAA69E9}" destId="{722B56EA-C01C-4678-981B-2408453892A1}" srcOrd="0" destOrd="0" presId="urn:microsoft.com/office/officeart/2018/5/layout/IconCircleLabelList"/>
    <dgm:cxn modelId="{8A23AF54-B196-4D38-939B-745BA9E1E2A1}" type="presParOf" srcId="{3082C834-6709-4856-858C-9AFC4EAA69E9}" destId="{E78A1AD5-9BB8-4061-B476-9E887F89B9E7}" srcOrd="1" destOrd="0" presId="urn:microsoft.com/office/officeart/2018/5/layout/IconCircleLabelList"/>
    <dgm:cxn modelId="{F4A1962B-58BE-4799-AAFA-C9F7F0E95F27}" type="presParOf" srcId="{3082C834-6709-4856-858C-9AFC4EAA69E9}" destId="{7EA1373F-5301-4FBF-86C2-B8E839B8A5D8}" srcOrd="2" destOrd="0" presId="urn:microsoft.com/office/officeart/2018/5/layout/IconCircleLabelList"/>
    <dgm:cxn modelId="{84673C99-79AD-4CA8-96A6-DB238F960335}" type="presParOf" srcId="{3082C834-6709-4856-858C-9AFC4EAA69E9}" destId="{4E781B5B-7445-4534-B048-0765C7B2EE71}" srcOrd="3" destOrd="0" presId="urn:microsoft.com/office/officeart/2018/5/layout/IconCircleLabelList"/>
    <dgm:cxn modelId="{DE556264-64E4-45D8-9791-5C9B1DEFBC26}" type="presParOf" srcId="{6094FC96-5B73-4667-925D-D9BB28073B2B}" destId="{2C783A84-D73C-4AFC-980F-1419BBE63A72}" srcOrd="3" destOrd="0" presId="urn:microsoft.com/office/officeart/2018/5/layout/IconCircleLabelList"/>
    <dgm:cxn modelId="{784F5A02-0543-4652-8E5D-C696ADC53A1E}" type="presParOf" srcId="{6094FC96-5B73-4667-925D-D9BB28073B2B}" destId="{A23CC695-BA96-4FAA-8B4F-78D69417FFCE}" srcOrd="4" destOrd="0" presId="urn:microsoft.com/office/officeart/2018/5/layout/IconCircleLabelList"/>
    <dgm:cxn modelId="{E541DA97-E8BE-48E9-8C9F-C71C46AA1066}" type="presParOf" srcId="{A23CC695-BA96-4FAA-8B4F-78D69417FFCE}" destId="{5314A0B6-28A7-4758-A6A9-BA3F5102B97E}" srcOrd="0" destOrd="0" presId="urn:microsoft.com/office/officeart/2018/5/layout/IconCircleLabelList"/>
    <dgm:cxn modelId="{EC0B0C38-ED51-4370-BDE9-0D8735B905D0}" type="presParOf" srcId="{A23CC695-BA96-4FAA-8B4F-78D69417FFCE}" destId="{A5A8D109-B80F-4BF3-A6A9-34587B154BB9}" srcOrd="1" destOrd="0" presId="urn:microsoft.com/office/officeart/2018/5/layout/IconCircleLabelList"/>
    <dgm:cxn modelId="{215567B0-D75F-42FA-867F-13268738A3A1}" type="presParOf" srcId="{A23CC695-BA96-4FAA-8B4F-78D69417FFCE}" destId="{DF4AC02E-BC61-4097-8878-AD4347EFE148}" srcOrd="2" destOrd="0" presId="urn:microsoft.com/office/officeart/2018/5/layout/IconCircleLabelList"/>
    <dgm:cxn modelId="{DCB13B66-D7ED-4257-9E4C-82D8716B2C6C}" type="presParOf" srcId="{A23CC695-BA96-4FAA-8B4F-78D69417FFCE}" destId="{21592635-30D8-4136-B940-6217CE12F533}" srcOrd="3" destOrd="0" presId="urn:microsoft.com/office/officeart/2018/5/layout/IconCircleLabelList"/>
    <dgm:cxn modelId="{F7EF12EA-AA70-4F1B-9F74-AA783B6D6610}" type="presParOf" srcId="{6094FC96-5B73-4667-925D-D9BB28073B2B}" destId="{9CE30D93-236E-461E-988D-CFA05A12C79D}" srcOrd="5" destOrd="0" presId="urn:microsoft.com/office/officeart/2018/5/layout/IconCircleLabelList"/>
    <dgm:cxn modelId="{AF5FCD37-35B0-4800-B8F5-AE7E6EA33152}" type="presParOf" srcId="{6094FC96-5B73-4667-925D-D9BB28073B2B}" destId="{DCA533A6-722B-4E4C-A7F5-F4430053F841}" srcOrd="6" destOrd="0" presId="urn:microsoft.com/office/officeart/2018/5/layout/IconCircleLabelList"/>
    <dgm:cxn modelId="{A96976EA-29A7-454E-889A-B21AF6386289}" type="presParOf" srcId="{DCA533A6-722B-4E4C-A7F5-F4430053F841}" destId="{A9574679-F7D2-4713-A543-C23B996106DE}" srcOrd="0" destOrd="0" presId="urn:microsoft.com/office/officeart/2018/5/layout/IconCircleLabelList"/>
    <dgm:cxn modelId="{8B3B5101-D1B4-40B0-9E74-633129CD6830}" type="presParOf" srcId="{DCA533A6-722B-4E4C-A7F5-F4430053F841}" destId="{9AC27CF3-B1FB-4A87-8C89-82743626FF97}" srcOrd="1" destOrd="0" presId="urn:microsoft.com/office/officeart/2018/5/layout/IconCircleLabelList"/>
    <dgm:cxn modelId="{39D34EA8-2163-46EB-A212-407FC39E6844}" type="presParOf" srcId="{DCA533A6-722B-4E4C-A7F5-F4430053F841}" destId="{4B1F9E80-57F0-43F1-9EED-6735F64C88F0}" srcOrd="2" destOrd="0" presId="urn:microsoft.com/office/officeart/2018/5/layout/IconCircleLabelList"/>
    <dgm:cxn modelId="{3D5C3B26-49C5-4BAF-88C9-2C26C91E3596}" type="presParOf" srcId="{DCA533A6-722B-4E4C-A7F5-F4430053F841}" destId="{DA650E36-6E51-4272-9DAC-741745FC560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FCE95-0F47-4629-9979-E0086D60ED89}">
      <dsp:nvSpPr>
        <dsp:cNvPr id="0" name=""/>
        <dsp:cNvSpPr/>
      </dsp:nvSpPr>
      <dsp:spPr>
        <a:xfrm>
          <a:off x="313228" y="754739"/>
          <a:ext cx="972544" cy="97254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F6242F-BFC6-4F37-AE92-8A73BD364708}">
      <dsp:nvSpPr>
        <dsp:cNvPr id="0" name=""/>
        <dsp:cNvSpPr/>
      </dsp:nvSpPr>
      <dsp:spPr>
        <a:xfrm>
          <a:off x="520492" y="962003"/>
          <a:ext cx="558017" cy="558017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0CEB9B-BEDF-4B22-9E9B-4FC45356393E}">
      <dsp:nvSpPr>
        <dsp:cNvPr id="0" name=""/>
        <dsp:cNvSpPr/>
      </dsp:nvSpPr>
      <dsp:spPr>
        <a:xfrm>
          <a:off x="2333" y="2030208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ko-KR" sz="1100" b="0" i="0" kern="1200"/>
            <a:t>이론 과 실습 수업을 병행</a:t>
          </a:r>
          <a:endParaRPr lang="en-US" sz="1100" kern="1200"/>
        </a:p>
      </dsp:txBody>
      <dsp:txXfrm>
        <a:off x="2333" y="2030208"/>
        <a:ext cx="1594335" cy="637734"/>
      </dsp:txXfrm>
    </dsp:sp>
    <dsp:sp modelId="{722B56EA-C01C-4678-981B-2408453892A1}">
      <dsp:nvSpPr>
        <dsp:cNvPr id="0" name=""/>
        <dsp:cNvSpPr/>
      </dsp:nvSpPr>
      <dsp:spPr>
        <a:xfrm>
          <a:off x="2186573" y="754739"/>
          <a:ext cx="972544" cy="97254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8A1AD5-9BB8-4061-B476-9E887F89B9E7}">
      <dsp:nvSpPr>
        <dsp:cNvPr id="0" name=""/>
        <dsp:cNvSpPr/>
      </dsp:nvSpPr>
      <dsp:spPr>
        <a:xfrm>
          <a:off x="2393837" y="962003"/>
          <a:ext cx="558017" cy="558017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781B5B-7445-4534-B048-0765C7B2EE71}">
      <dsp:nvSpPr>
        <dsp:cNvPr id="0" name=""/>
        <dsp:cNvSpPr/>
      </dsp:nvSpPr>
      <dsp:spPr>
        <a:xfrm>
          <a:off x="1875678" y="2030208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ko-KR" sz="1100" b="0" i="0" kern="1200"/>
            <a:t>실무프로젝트 실제 예제를 통해 확인학습을 확인한다</a:t>
          </a:r>
          <a:endParaRPr lang="en-US" sz="1100" kern="1200"/>
        </a:p>
      </dsp:txBody>
      <dsp:txXfrm>
        <a:off x="1875678" y="2030208"/>
        <a:ext cx="1594335" cy="637734"/>
      </dsp:txXfrm>
    </dsp:sp>
    <dsp:sp modelId="{5314A0B6-28A7-4758-A6A9-BA3F5102B97E}">
      <dsp:nvSpPr>
        <dsp:cNvPr id="0" name=""/>
        <dsp:cNvSpPr/>
      </dsp:nvSpPr>
      <dsp:spPr>
        <a:xfrm>
          <a:off x="4059918" y="754739"/>
          <a:ext cx="972544" cy="97254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A8D109-B80F-4BF3-A6A9-34587B154BB9}">
      <dsp:nvSpPr>
        <dsp:cNvPr id="0" name=""/>
        <dsp:cNvSpPr/>
      </dsp:nvSpPr>
      <dsp:spPr>
        <a:xfrm>
          <a:off x="4267182" y="962003"/>
          <a:ext cx="558017" cy="558017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92635-30D8-4136-B940-6217CE12F533}">
      <dsp:nvSpPr>
        <dsp:cNvPr id="0" name=""/>
        <dsp:cNvSpPr/>
      </dsp:nvSpPr>
      <dsp:spPr>
        <a:xfrm>
          <a:off x="3749022" y="2030208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ko-KR" sz="1100" b="0" i="0" kern="1200" dirty="0"/>
            <a:t>출석은 반드시 </a:t>
          </a:r>
          <a:r>
            <a:rPr lang="ko-KR" sz="1100" b="0" i="0" kern="1200"/>
            <a:t>스스로 </a:t>
          </a:r>
          <a:r>
            <a:rPr lang="ko-KR" altLang="en-US" sz="1100" b="0" i="0" kern="1200"/>
            <a:t>경기대</a:t>
          </a:r>
          <a:r>
            <a:rPr lang="ko-KR" sz="1100" b="0" i="0" kern="1200"/>
            <a:t>출석 </a:t>
          </a:r>
          <a:r>
            <a:rPr lang="ko-KR" sz="1100" b="0" i="0" kern="1200" dirty="0"/>
            <a:t>스마트 앱을 이용하여 스스로 한다</a:t>
          </a:r>
          <a:r>
            <a:rPr lang="en-US" sz="1100" b="0" i="0" kern="1200" dirty="0"/>
            <a:t>.</a:t>
          </a:r>
          <a:endParaRPr lang="en-US" sz="1100" kern="1200" dirty="0"/>
        </a:p>
      </dsp:txBody>
      <dsp:txXfrm>
        <a:off x="3749022" y="2030208"/>
        <a:ext cx="1594335" cy="637734"/>
      </dsp:txXfrm>
    </dsp:sp>
    <dsp:sp modelId="{A9574679-F7D2-4713-A543-C23B996106DE}">
      <dsp:nvSpPr>
        <dsp:cNvPr id="0" name=""/>
        <dsp:cNvSpPr/>
      </dsp:nvSpPr>
      <dsp:spPr>
        <a:xfrm>
          <a:off x="5933263" y="754739"/>
          <a:ext cx="972544" cy="97254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C27CF3-B1FB-4A87-8C89-82743626FF97}">
      <dsp:nvSpPr>
        <dsp:cNvPr id="0" name=""/>
        <dsp:cNvSpPr/>
      </dsp:nvSpPr>
      <dsp:spPr>
        <a:xfrm>
          <a:off x="6140526" y="962003"/>
          <a:ext cx="558017" cy="558017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50E36-6E51-4272-9DAC-741745FC5601}">
      <dsp:nvSpPr>
        <dsp:cNvPr id="0" name=""/>
        <dsp:cNvSpPr/>
      </dsp:nvSpPr>
      <dsp:spPr>
        <a:xfrm>
          <a:off x="5622367" y="2030208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ko-KR" sz="1100" b="1" i="0" kern="1200"/>
            <a:t>매 수업 시간마다 그날 실습 예제를 통해 그 주 수업을 확인한다</a:t>
          </a:r>
          <a:r>
            <a:rPr lang="en-US" sz="1100" b="1" i="0" kern="1200"/>
            <a:t>.</a:t>
          </a:r>
          <a:endParaRPr lang="en-US" sz="1100" kern="1200"/>
        </a:p>
      </dsp:txBody>
      <dsp:txXfrm>
        <a:off x="5622367" y="2030208"/>
        <a:ext cx="1594335" cy="637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D9F59-4412-4C1B-9AFC-37D0F19DD34A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DDB46-C8B9-4E58-802E-B5D5985C5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460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6CA48A-C2EC-40C8-B749-566CD4BBC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6259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6CA48A-C2EC-40C8-B749-566CD4BBC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1688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A73E1A6-FD5B-410B-8D77-29923B500F0F}" type="datetimeFigureOut">
              <a:rPr lang="ko-KR" altLang="en-US" smtClean="0"/>
              <a:pPr/>
              <a:t>2026-03-01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609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25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 useBgFill="1">
        <p:nvSpPr>
          <p:cNvPr id="20" name="Freeform 10"/>
          <p:cNvSpPr>
            <a:spLocks/>
          </p:cNvSpPr>
          <p:nvPr userDrawn="1"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05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422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353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68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343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05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457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271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856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725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422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609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732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108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0718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1414" y="0"/>
            <a:ext cx="9165413" cy="6858000"/>
          </a:xfrm>
          <a:prstGeom prst="rect">
            <a:avLst/>
          </a:prstGeom>
        </p:spPr>
      </p:pic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7030A0"/>
                </a:solidFill>
              </a:defRPr>
            </a:lvl1pPr>
          </a:lstStyle>
          <a:p>
            <a:r>
              <a:rPr lang="ko-KR" altLang="en-US" dirty="0"/>
              <a:t>명품 </a:t>
            </a:r>
            <a:r>
              <a:rPr lang="en-US" altLang="ko-KR" dirty="0"/>
              <a:t>Java Programming</a:t>
            </a:r>
            <a:endParaRPr lang="ko-KR" alt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58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+mj-ea"/>
                <a:ea typeface="+mj-ea"/>
              </a:defRPr>
            </a:lvl3pPr>
            <a:lvl4pPr>
              <a:defRPr sz="1400">
                <a:latin typeface="휴먼편지체" pitchFamily="18" charset="-127"/>
                <a:ea typeface="휴먼편지체" pitchFamily="18" charset="-127"/>
              </a:defRPr>
            </a:lvl4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03828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268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B31271CA-DFBA-4144-9186-0BE3AC6EE4B1}" type="datetime1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462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53064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7643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1208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F87F4F71-3D90-4F92-8CFE-D11B433509C0}" type="datetime1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5324370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D200F4F1-024E-465C-B59D-A4FFBC6118A5}" type="datetime1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261271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3CF3B71A-966A-471E-8596-7D1D6A8996FF}" type="datetime1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326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fld id="{AD64A7B2-A2B0-4C9D-895B-FE1D68BE16F8}" type="datetime1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69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4A73E1A6-FD5B-410B-8D77-29923B500F0F}" type="datetimeFigureOut">
              <a:rPr lang="ko-KR" altLang="en-US" smtClean="0"/>
              <a:pPr/>
              <a:t>2026-03-01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166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8940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0.jpe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://download.oracle.com/javase/7/docs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43608" y="404664"/>
            <a:ext cx="7772400" cy="1656184"/>
          </a:xfrm>
        </p:spPr>
        <p:txBody>
          <a:bodyPr/>
          <a:lstStyle/>
          <a:p>
            <a:r>
              <a:rPr lang="ko-KR" altLang="en-US" dirty="0" err="1"/>
              <a:t>자바프로그래밍응용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652120" y="4005064"/>
            <a:ext cx="2952328" cy="1027588"/>
          </a:xfrm>
        </p:spPr>
        <p:txBody>
          <a:bodyPr>
            <a:normAutofit/>
          </a:bodyPr>
          <a:lstStyle/>
          <a:p>
            <a:r>
              <a:rPr lang="en-US" altLang="ko-KR" b="1" dirty="0"/>
              <a:t>1</a:t>
            </a:r>
            <a:r>
              <a:rPr lang="ko-KR" altLang="en-US" b="1" dirty="0"/>
              <a:t>주차</a:t>
            </a:r>
            <a:endParaRPr lang="en-US" altLang="ko-KR" b="1" dirty="0"/>
          </a:p>
          <a:p>
            <a:r>
              <a:rPr lang="ko-KR" altLang="en-US" b="1" dirty="0"/>
              <a:t>강의 자 </a:t>
            </a:r>
            <a:r>
              <a:rPr lang="en-US" altLang="ko-KR" b="1" dirty="0"/>
              <a:t>: </a:t>
            </a:r>
            <a:r>
              <a:rPr lang="ko-KR" altLang="en-US" b="1" dirty="0"/>
              <a:t>오 은 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FEC2D8-E928-4A76-A864-29F4D0681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996952"/>
            <a:ext cx="4829852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632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1938448"/>
            <a:ext cx="76397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ko-KR" altLang="en-US" sz="2000" dirty="0"/>
              <a:t>수업목표</a:t>
            </a:r>
            <a:endParaRPr lang="en-US" altLang="ko-KR" sz="2000" dirty="0"/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altLang="ko-KR" sz="2000" dirty="0"/>
              <a:t>2026-1</a:t>
            </a:r>
            <a:r>
              <a:rPr lang="ko-KR" altLang="en-US" sz="2000" dirty="0"/>
              <a:t>학기 객체지향언어 소개</a:t>
            </a:r>
            <a:endParaRPr lang="en-US" altLang="ko-KR" sz="2000" dirty="0"/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altLang="ko-KR" sz="2000" dirty="0"/>
              <a:t>2026-1</a:t>
            </a:r>
            <a:r>
              <a:rPr lang="ko-KR" altLang="en-US" sz="2000" dirty="0"/>
              <a:t> 학기 수업 소개</a:t>
            </a:r>
            <a:endParaRPr lang="en-US" altLang="ko-KR" sz="2000" dirty="0"/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ko-KR" altLang="en-US" sz="2000" dirty="0"/>
              <a:t>강의계획서</a:t>
            </a:r>
            <a:endParaRPr lang="en-US" altLang="ko-KR" sz="2000" dirty="0"/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ko-KR" altLang="en-US" sz="2000" dirty="0"/>
              <a:t>교재</a:t>
            </a:r>
            <a:endParaRPr lang="en-US" altLang="ko-KR" sz="2000" dirty="0"/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ko-KR" altLang="en-US" sz="2000" dirty="0"/>
              <a:t>평가계획서</a:t>
            </a:r>
            <a:endParaRPr lang="en-US" altLang="ko-KR" sz="2000" dirty="0"/>
          </a:p>
          <a:p>
            <a:pPr marL="342900" indent="-342900">
              <a:lnSpc>
                <a:spcPct val="200000"/>
              </a:lnSpc>
              <a:buFontTx/>
              <a:buChar char="-"/>
            </a:pPr>
            <a:endParaRPr lang="ko-KR" alt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37432-4659-4F26-9A95-9872FEC42B02}"/>
              </a:ext>
            </a:extLst>
          </p:cNvPr>
          <p:cNvSpPr txBox="1"/>
          <p:nvPr/>
        </p:nvSpPr>
        <p:spPr>
          <a:xfrm>
            <a:off x="2483768" y="980728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1154515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2204864"/>
            <a:ext cx="7639736" cy="5573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lnSpc>
                <a:spcPct val="150000"/>
              </a:lnSpc>
              <a:buFontTx/>
              <a:buChar char="-"/>
            </a:pPr>
            <a:r>
              <a:rPr lang="ko-KR" altLang="en-US" sz="2000" dirty="0"/>
              <a:t>객체 지향의 근본적 이해 및 활용 방법</a:t>
            </a:r>
            <a:r>
              <a:rPr lang="en-US" altLang="ko-KR" sz="2000" dirty="0"/>
              <a:t>, </a:t>
            </a:r>
            <a:r>
              <a:rPr lang="ko-KR" altLang="en-US" sz="2000" dirty="0"/>
              <a:t>객체 지향 언어인 자바 언어의 기본과 구조를 체계적으로 이해하고 실무에서 실제적으로 활용할 수 있도록 한다</a:t>
            </a:r>
            <a:r>
              <a:rPr lang="en-US" altLang="ko-KR" sz="2000" dirty="0"/>
              <a:t>.</a:t>
            </a:r>
          </a:p>
          <a:p>
            <a:pPr marL="342900" indent="-342900" fontAlgn="base">
              <a:lnSpc>
                <a:spcPct val="150000"/>
              </a:lnSpc>
              <a:buFontTx/>
              <a:buChar char="-"/>
            </a:pPr>
            <a:endParaRPr lang="en-US" altLang="ko-KR" sz="20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/>
              <a:t>객체지향 프로그램의 상속에 대해 이해하고 자바를 사용하여 네트워크 프로그램이나 데이터베이스 프로그램 그래픽 프로그램을 손쉽게 작업할 수 있도록 한다</a:t>
            </a:r>
            <a:r>
              <a:rPr lang="en-US" altLang="ko-KR" sz="2000" dirty="0"/>
              <a:t>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endParaRPr lang="en-US" altLang="ko-KR" sz="20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dirty="0"/>
              <a:t>JAVA </a:t>
            </a:r>
            <a:r>
              <a:rPr lang="ko-KR" altLang="en-US" sz="2000" dirty="0"/>
              <a:t>의</a:t>
            </a:r>
            <a:r>
              <a:rPr lang="en-US" altLang="ko-KR" sz="2000" dirty="0"/>
              <a:t> </a:t>
            </a:r>
            <a:r>
              <a:rPr lang="ko-KR" altLang="en-US" sz="2000" dirty="0"/>
              <a:t>패키지와 예외처리 인터페이스 </a:t>
            </a:r>
            <a:r>
              <a:rPr lang="en-US" altLang="ko-KR" sz="2000" dirty="0"/>
              <a:t>, GUI </a:t>
            </a:r>
            <a:r>
              <a:rPr lang="ko-KR" altLang="en-US" sz="2000" dirty="0"/>
              <a:t>기초 그래픽 이벤트 처리 를 학습한다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endParaRPr lang="en-US" altLang="ko-KR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37432-4659-4F26-9A95-9872FEC42B02}"/>
              </a:ext>
            </a:extLst>
          </p:cNvPr>
          <p:cNvSpPr txBox="1"/>
          <p:nvPr/>
        </p:nvSpPr>
        <p:spPr>
          <a:xfrm>
            <a:off x="1835696" y="980728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2026</a:t>
            </a:r>
            <a:r>
              <a:rPr lang="ko-KR" altLang="en-US" b="1" dirty="0">
                <a:solidFill>
                  <a:schemeClr val="bg1"/>
                </a:solidFill>
              </a:rPr>
              <a:t>학년도 </a:t>
            </a:r>
            <a:r>
              <a:rPr lang="en-US" altLang="ko-KR" b="1" dirty="0">
                <a:solidFill>
                  <a:schemeClr val="bg1"/>
                </a:solidFill>
              </a:rPr>
              <a:t>1</a:t>
            </a:r>
            <a:r>
              <a:rPr lang="ko-KR" altLang="en-US" b="1" dirty="0">
                <a:solidFill>
                  <a:schemeClr val="bg1"/>
                </a:solidFill>
              </a:rPr>
              <a:t>학기  </a:t>
            </a:r>
            <a:r>
              <a:rPr lang="ko-KR" altLang="en-US" b="1" dirty="0" err="1">
                <a:solidFill>
                  <a:schemeClr val="bg1"/>
                </a:solidFill>
              </a:rPr>
              <a:t>자바프로그래밍응용</a:t>
            </a:r>
            <a:r>
              <a:rPr lang="ko-KR" altLang="en-US" b="1" dirty="0">
                <a:solidFill>
                  <a:schemeClr val="bg1"/>
                </a:solidFill>
              </a:rPr>
              <a:t> 소개</a:t>
            </a:r>
          </a:p>
        </p:txBody>
      </p:sp>
    </p:spTree>
    <p:extLst>
      <p:ext uri="{BB962C8B-B14F-4D97-AF65-F5344CB8AC3E}">
        <p14:creationId xmlns:p14="http://schemas.microsoft.com/office/powerpoint/2010/main" val="342654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5BEDD-F08C-2729-8588-59558C80F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8C22A7-A5C6-5517-44BC-B2FDF8131454}"/>
              </a:ext>
            </a:extLst>
          </p:cNvPr>
          <p:cNvSpPr txBox="1"/>
          <p:nvPr/>
        </p:nvSpPr>
        <p:spPr>
          <a:xfrm>
            <a:off x="1835696" y="980728"/>
            <a:ext cx="5256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</a:rPr>
              <a:t>2026</a:t>
            </a:r>
            <a:r>
              <a:rPr lang="ko-KR" altLang="en-US" sz="3200" b="1" dirty="0">
                <a:solidFill>
                  <a:schemeClr val="bg1"/>
                </a:solidFill>
              </a:rPr>
              <a:t>학년도 </a:t>
            </a:r>
            <a:r>
              <a:rPr lang="en-US" altLang="ko-KR" sz="3200" b="1" dirty="0">
                <a:solidFill>
                  <a:schemeClr val="bg1"/>
                </a:solidFill>
              </a:rPr>
              <a:t>1</a:t>
            </a:r>
            <a:r>
              <a:rPr lang="ko-KR" altLang="en-US" sz="3200" b="1" dirty="0">
                <a:solidFill>
                  <a:schemeClr val="bg1"/>
                </a:solidFill>
              </a:rPr>
              <a:t>학기 수업소개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EDB3834-CE20-15EB-27C9-98EC8F893B9D}"/>
              </a:ext>
            </a:extLst>
          </p:cNvPr>
          <p:cNvGraphicFramePr>
            <a:graphicFrameLocks noGrp="1"/>
          </p:cNvGraphicFramePr>
          <p:nvPr/>
        </p:nvGraphicFramePr>
        <p:xfrm>
          <a:off x="313264" y="3068960"/>
          <a:ext cx="8517472" cy="1924561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201193">
                  <a:extLst>
                    <a:ext uri="{9D8B030D-6E8A-4147-A177-3AD203B41FA5}">
                      <a16:colId xmlns:a16="http://schemas.microsoft.com/office/drawing/2014/main" val="3242526544"/>
                    </a:ext>
                  </a:extLst>
                </a:gridCol>
                <a:gridCol w="7316279">
                  <a:extLst>
                    <a:ext uri="{9D8B030D-6E8A-4147-A177-3AD203B41FA5}">
                      <a16:colId xmlns:a16="http://schemas.microsoft.com/office/drawing/2014/main" val="3064778172"/>
                    </a:ext>
                  </a:extLst>
                </a:gridCol>
              </a:tblGrid>
              <a:tr h="1832356">
                <a:tc>
                  <a:txBody>
                    <a:bodyPr/>
                    <a:lstStyle/>
                    <a:p>
                      <a:pPr latinLnBrk="1"/>
                      <a:br>
                        <a:rPr lang="en-US" altLang="ko-KR" sz="1600" b="1" dirty="0"/>
                      </a:br>
                      <a:r>
                        <a:rPr lang="ko-KR" altLang="en-US" sz="16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학습목표</a:t>
                      </a:r>
                    </a:p>
                  </a:txBody>
                  <a:tcPr marL="51435" marR="51435" marT="25719" marB="25719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ko-KR" altLang="en-US" sz="1600" b="1" dirty="0"/>
                        <a:t>객체지향 개념을 이해하고 객체지향언어 </a:t>
                      </a:r>
                      <a:r>
                        <a:rPr lang="en-US" altLang="ko-KR" sz="1600" b="1" dirty="0"/>
                        <a:t>JAVA </a:t>
                      </a:r>
                      <a:r>
                        <a:rPr lang="ko-KR" altLang="en-US" sz="1600" b="1" dirty="0"/>
                        <a:t>프로그래밍을 기반으로 객체지향 구조로 인해 소스 코드 관리가 쉽고 소프트웨어의 생산성이 높기 때문에 어떤 컴퓨터 운영체제에도 실행되는 </a:t>
                      </a:r>
                      <a:r>
                        <a:rPr lang="en-US" altLang="ko-KR" sz="1600" b="1" dirty="0"/>
                        <a:t>JAVA</a:t>
                      </a:r>
                      <a:r>
                        <a:rPr lang="ko-KR" altLang="en-US" sz="1600" b="1" dirty="0"/>
                        <a:t> 프로그램을 숙지하고 응용프로그램을 제작한다</a:t>
                      </a:r>
                    </a:p>
                  </a:txBody>
                  <a:tcPr marL="51435" marR="51435" marT="25719" marB="25719"/>
                </a:tc>
                <a:extLst>
                  <a:ext uri="{0D108BD9-81ED-4DB2-BD59-A6C34878D82A}">
                    <a16:rowId xmlns:a16="http://schemas.microsoft.com/office/drawing/2014/main" val="3059299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166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F395E-B0CA-820E-0383-D0D81614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D4D5C4-7EAB-FDF6-4FBC-C71823C23327}"/>
              </a:ext>
            </a:extLst>
          </p:cNvPr>
          <p:cNvSpPr txBox="1"/>
          <p:nvPr/>
        </p:nvSpPr>
        <p:spPr>
          <a:xfrm>
            <a:off x="1547664" y="980728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</a:rPr>
              <a:t>2026</a:t>
            </a:r>
            <a:r>
              <a:rPr lang="ko-KR" altLang="en-US" sz="3200" b="1" dirty="0">
                <a:solidFill>
                  <a:schemeClr val="bg1"/>
                </a:solidFill>
              </a:rPr>
              <a:t>학년도 </a:t>
            </a:r>
            <a:r>
              <a:rPr lang="en-US" altLang="ko-KR" sz="3200" b="1" dirty="0">
                <a:solidFill>
                  <a:schemeClr val="bg1"/>
                </a:solidFill>
              </a:rPr>
              <a:t>1</a:t>
            </a:r>
            <a:r>
              <a:rPr lang="ko-KR" altLang="en-US" sz="3200" b="1" dirty="0">
                <a:solidFill>
                  <a:schemeClr val="bg1"/>
                </a:solidFill>
              </a:rPr>
              <a:t>학기 강의 계획서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D090A07-67F8-F8BE-BABD-5702E1B81BEE}"/>
              </a:ext>
            </a:extLst>
          </p:cNvPr>
          <p:cNvGraphicFramePr>
            <a:graphicFrameLocks noGrp="1"/>
          </p:cNvGraphicFramePr>
          <p:nvPr/>
        </p:nvGraphicFramePr>
        <p:xfrm>
          <a:off x="683568" y="2204864"/>
          <a:ext cx="7632848" cy="43915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6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2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주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객체지향 프로그래밍 소개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자바프로그래밍 환경설정 과 실습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</a:t>
                      </a:r>
                      <a:r>
                        <a:rPr lang="ko-KR" altLang="en-US" sz="1400" dirty="0"/>
                        <a:t>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 err="1">
                          <a:effectLst/>
                        </a:rPr>
                        <a:t>메소드</a:t>
                      </a:r>
                      <a:r>
                        <a:rPr lang="ko-KR" altLang="en-US" sz="1400" b="1" dirty="0">
                          <a:effectLst/>
                        </a:rPr>
                        <a:t> </a:t>
                      </a:r>
                      <a:r>
                        <a:rPr lang="ko-KR" altLang="en-US" sz="1400" b="1" dirty="0" err="1">
                          <a:effectLst/>
                        </a:rPr>
                        <a:t>오버라이딩</a:t>
                      </a:r>
                      <a:endParaRPr lang="en-US" altLang="ko-KR" sz="1400" b="1" dirty="0">
                        <a:effectLst/>
                      </a:endParaRPr>
                    </a:p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effectLst/>
                        </a:rPr>
                        <a:t>메서드 중복 정의</a:t>
                      </a:r>
                      <a:endParaRPr lang="en-US" altLang="ko-KR" sz="1400" b="1" strike="sngStrik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0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주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객체지향 프로그래밍 기초와          기본 문법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변수 </a:t>
                      </a:r>
                      <a:r>
                        <a:rPr lang="ko-KR" altLang="en-US" sz="1400" dirty="0" err="1"/>
                        <a:t>식별자</a:t>
                      </a:r>
                      <a:r>
                        <a:rPr lang="ko-KR" altLang="en-US" sz="1400" dirty="0"/>
                        <a:t> </a:t>
                      </a:r>
                      <a:r>
                        <a:rPr lang="ko-KR" altLang="en-US" sz="1400" dirty="0" err="1"/>
                        <a:t>제어문</a:t>
                      </a:r>
                      <a:r>
                        <a:rPr lang="en-US" altLang="ko-KR" sz="1400" dirty="0"/>
                        <a:t>)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</a:t>
                      </a:r>
                      <a:r>
                        <a:rPr lang="ko-KR" altLang="en-US" sz="1400" dirty="0"/>
                        <a:t>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/>
                        <a:t>중간 개인 프로젝트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0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주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effectLst/>
                        </a:rPr>
                        <a:t>자바 기본 프로그래밍</a:t>
                      </a:r>
                      <a:r>
                        <a:rPr lang="en-US" altLang="ko-KR" sz="1400" b="1" dirty="0">
                          <a:effectLst/>
                        </a:rPr>
                        <a:t>(</a:t>
                      </a:r>
                      <a:r>
                        <a:rPr lang="ko-KR" altLang="en-US" sz="1400" b="1" dirty="0" err="1">
                          <a:effectLst/>
                        </a:rPr>
                        <a:t>기본문법</a:t>
                      </a:r>
                      <a:r>
                        <a:rPr lang="en-US" altLang="ko-KR" sz="1400" b="1" dirty="0">
                          <a:effectLst/>
                        </a:rPr>
                        <a:t>)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 err="1">
                          <a:effectLst/>
                        </a:rPr>
                        <a:t>반복문과</a:t>
                      </a:r>
                      <a:r>
                        <a:rPr lang="ko-KR" altLang="en-US" sz="1400" b="1" dirty="0">
                          <a:effectLst/>
                        </a:rPr>
                        <a:t> 배열 그리고 예외 처리</a:t>
                      </a:r>
                      <a:endParaRPr lang="en-US" altLang="ko-KR" sz="1400" u="none" strike="noStrike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11</a:t>
                      </a:r>
                      <a:r>
                        <a:rPr lang="ko-KR" altLang="en-US" sz="1400" dirty="0"/>
                        <a:t>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/>
                        <a:t>인터페이스</a:t>
                      </a:r>
                      <a:endParaRPr lang="en-US" altLang="ko-KR" sz="1400" b="1" baseline="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0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주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effectLst/>
                        </a:rPr>
                        <a:t>클래스와 객체 멤버변수 메서드</a:t>
                      </a:r>
                      <a:endParaRPr lang="en-US" altLang="ko-KR" sz="1400" strike="noStrike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</a:t>
                      </a:r>
                      <a:r>
                        <a:rPr lang="ko-KR" altLang="en-US" sz="1400" dirty="0"/>
                        <a:t>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effectLst/>
                        </a:rPr>
                        <a:t>모듈과 패키지 개념</a:t>
                      </a:r>
                      <a:r>
                        <a:rPr lang="en-US" altLang="ko-KR" sz="1400" b="1" dirty="0">
                          <a:effectLst/>
                        </a:rPr>
                        <a:t>, </a:t>
                      </a:r>
                      <a:r>
                        <a:rPr lang="ko-KR" altLang="en-US" sz="1400" b="1" dirty="0">
                          <a:effectLst/>
                        </a:rPr>
                        <a:t>자바 기본 패키지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0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effectLst/>
                        </a:rPr>
                        <a:t>클래스 만들고 객체정의하기 </a:t>
                      </a:r>
                      <a:r>
                        <a:rPr lang="ko-KR" altLang="en-US" sz="1400" b="1">
                          <a:effectLst/>
                        </a:rPr>
                        <a:t>객체 배열</a:t>
                      </a:r>
                      <a:endParaRPr lang="en-US" altLang="ko-KR" sz="1400" b="1" strike="sngStrik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</a:t>
                      </a:r>
                      <a:r>
                        <a:rPr lang="ko-KR" altLang="en-US" sz="1400" dirty="0"/>
                        <a:t>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effectLst/>
                        </a:rPr>
                        <a:t>제네릭과 컬렉션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0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</a:t>
                      </a:r>
                      <a:r>
                        <a:rPr lang="ko-KR" altLang="en-US" sz="1400" dirty="0"/>
                        <a:t>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effectLst/>
                        </a:rPr>
                        <a:t>상속 </a:t>
                      </a:r>
                      <a:r>
                        <a:rPr lang="en-US" altLang="ko-KR" sz="1400" b="1" dirty="0">
                          <a:effectLst/>
                        </a:rPr>
                        <a:t>/ </a:t>
                      </a:r>
                      <a:r>
                        <a:rPr lang="ko-KR" altLang="en-US" sz="1400" b="1" dirty="0">
                          <a:effectLst/>
                        </a:rPr>
                        <a:t>상속과 </a:t>
                      </a:r>
                      <a:r>
                        <a:rPr lang="ko-KR" altLang="en-US" sz="1400" b="1" dirty="0" err="1">
                          <a:effectLst/>
                        </a:rPr>
                        <a:t>생성자</a:t>
                      </a:r>
                      <a:endParaRPr lang="en-US" altLang="ko-KR" sz="1400" b="1" strike="sngStrik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14</a:t>
                      </a:r>
                      <a:r>
                        <a:rPr lang="ko-KR" altLang="en-US" sz="1400" dirty="0"/>
                        <a:t>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effectLst/>
                        </a:rPr>
                        <a:t>입출력 스트림과 파일 입출력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1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/>
                        <a:t>추상 클래스</a:t>
                      </a:r>
                      <a:endParaRPr lang="en-US" altLang="ko-K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15</a:t>
                      </a:r>
                      <a:r>
                        <a:rPr lang="ko-KR" altLang="en-US" sz="1400" dirty="0"/>
                        <a:t>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기말고사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0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</a:t>
                      </a:r>
                      <a:r>
                        <a:rPr lang="ko-KR" altLang="en-US" sz="1400" dirty="0"/>
                        <a:t>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중간고사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파란색 프로그래밍 기본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343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70FF5-4E52-6736-5303-8D54FA7DF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D75A3E-A21F-36E3-1504-2F720237AF7B}"/>
              </a:ext>
            </a:extLst>
          </p:cNvPr>
          <p:cNvSpPr txBox="1"/>
          <p:nvPr/>
        </p:nvSpPr>
        <p:spPr>
          <a:xfrm>
            <a:off x="2483768" y="980728"/>
            <a:ext cx="4608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b="1" dirty="0">
                <a:solidFill>
                  <a:schemeClr val="bg1"/>
                </a:solidFill>
              </a:rPr>
              <a:t>교재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140DBEA-A590-DC93-1354-648D8D0EF7CD}"/>
              </a:ext>
            </a:extLst>
          </p:cNvPr>
          <p:cNvSpPr txBox="1">
            <a:spLocks/>
          </p:cNvSpPr>
          <p:nvPr/>
        </p:nvSpPr>
        <p:spPr>
          <a:xfrm>
            <a:off x="755576" y="2132856"/>
            <a:ext cx="7571184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  <a:buFont typeface="맑은 고딕" panose="020B0503020000020004" pitchFamily="50" charset="-127"/>
              <a:buChar char="-"/>
              <a:defRPr/>
            </a:pPr>
            <a:endParaRPr lang="en-US" altLang="ko-KR" sz="1800" dirty="0"/>
          </a:p>
          <a:p>
            <a:pPr lvl="1">
              <a:lnSpc>
                <a:spcPct val="150000"/>
              </a:lnSpc>
              <a:buFont typeface="맑은 고딕" panose="020B0503020000020004" pitchFamily="50" charset="-127"/>
              <a:buChar char="-"/>
              <a:defRPr/>
            </a:pPr>
            <a:endParaRPr lang="en-US" altLang="ko-KR" sz="1800" dirty="0"/>
          </a:p>
          <a:p>
            <a:pPr lvl="1">
              <a:lnSpc>
                <a:spcPct val="150000"/>
              </a:lnSpc>
              <a:buFont typeface="맑은 고딕" panose="020B0503020000020004" pitchFamily="50" charset="-127"/>
              <a:buChar char="-"/>
              <a:defRPr/>
            </a:pPr>
            <a:r>
              <a:rPr lang="ko-KR" altLang="en-US" sz="2000" dirty="0"/>
              <a:t>도서명</a:t>
            </a:r>
            <a:r>
              <a:rPr lang="en-US" altLang="ko-KR" sz="2000" dirty="0"/>
              <a:t>: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latin typeface="Nanum Gothic"/>
              </a:rPr>
              <a:t>명품 자바 </a:t>
            </a:r>
            <a:r>
              <a:rPr lang="ko-KR" altLang="en-US" sz="2400" b="1" i="0" dirty="0" err="1">
                <a:solidFill>
                  <a:srgbClr val="000000"/>
                </a:solidFill>
                <a:effectLst/>
                <a:latin typeface="Nanum Gothic"/>
              </a:rPr>
              <a:t>에센셜</a:t>
            </a:r>
            <a:endParaRPr lang="en-US" altLang="ko-KR" sz="2400" b="1" i="0" dirty="0">
              <a:solidFill>
                <a:srgbClr val="000000"/>
              </a:solidFill>
              <a:effectLst/>
              <a:latin typeface="Nanum Gothic"/>
            </a:endParaRPr>
          </a:p>
          <a:p>
            <a:pPr lvl="1">
              <a:lnSpc>
                <a:spcPct val="150000"/>
              </a:lnSpc>
              <a:buFont typeface="맑은 고딕" panose="020B0503020000020004" pitchFamily="50" charset="-127"/>
              <a:buChar char="-"/>
              <a:defRPr/>
            </a:pPr>
            <a:r>
              <a:rPr lang="ko-KR" altLang="en-US" sz="2000" dirty="0"/>
              <a:t>저자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황기태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맑은 고딕" panose="020B0503020000020004" pitchFamily="50" charset="-127"/>
              <a:buChar char="-"/>
              <a:defRPr/>
            </a:pPr>
            <a:r>
              <a:rPr lang="ko-KR" altLang="en-US" sz="2000" dirty="0"/>
              <a:t>출판사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생능출판사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맑은 고딕" panose="020B0503020000020004" pitchFamily="50" charset="-127"/>
              <a:buChar char="-"/>
              <a:defRPr/>
            </a:pPr>
            <a:r>
              <a:rPr lang="ko-KR" altLang="en-US" sz="2000" dirty="0"/>
              <a:t>교재에 없는 건 교안드림</a:t>
            </a:r>
            <a:endParaRPr lang="ko-KR" altLang="en-US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695184-D14A-1A00-F4C3-DDFB7FBAE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2693032"/>
            <a:ext cx="238125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898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4B21-D849-2350-3D85-41EF50BEB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A71382-84B3-90AA-6AD0-01F8C2556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ko-KR" altLang="en-US">
                <a:solidFill>
                  <a:srgbClr val="FFFFFF"/>
                </a:solidFill>
              </a:rPr>
              <a:t>대면  강의 수업 방법</a:t>
            </a:r>
          </a:p>
        </p:txBody>
      </p: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257B6ED8-D692-225D-9813-5AD74B4973C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1451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E331E-B03F-7AC0-C368-535384F4E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15CC75-464D-F940-4A61-C7AB41A59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22" y="764704"/>
            <a:ext cx="8252460" cy="1100785"/>
          </a:xfrm>
        </p:spPr>
        <p:txBody>
          <a:bodyPr anchor="ctr">
            <a:normAutofit/>
          </a:bodyPr>
          <a:lstStyle/>
          <a:p>
            <a:pPr algn="ctr"/>
            <a:r>
              <a:rPr lang="ko-KR" altLang="en-US" sz="3600" dirty="0"/>
              <a:t>오프라인 수업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17FFC0-B6BB-EDC1-57C7-CE942895E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737" y="2708920"/>
            <a:ext cx="8474526" cy="3793197"/>
          </a:xfrm>
        </p:spPr>
        <p:txBody>
          <a:bodyPr wrap="none" bIns="108000" spcCol="180000" anchor="ctr">
            <a:normAutofit fontScale="25000" lnSpcReduction="20000"/>
          </a:bodyPr>
          <a:lstStyle/>
          <a:p>
            <a:pPr fontAlgn="base"/>
            <a:endParaRPr lang="en-US" altLang="ko-KR" sz="1400" dirty="0"/>
          </a:p>
          <a:p>
            <a:pPr marL="0" indent="0" fontAlgn="base">
              <a:buNone/>
            </a:pPr>
            <a:endParaRPr lang="en-US" altLang="ko-KR" sz="1400" dirty="0"/>
          </a:p>
          <a:p>
            <a:pPr marL="0" indent="0" fontAlgn="base">
              <a:buNone/>
            </a:pPr>
            <a:endParaRPr lang="en-US" altLang="ko-KR" sz="1400" dirty="0"/>
          </a:p>
          <a:p>
            <a:pPr fontAlgn="base"/>
            <a:endParaRPr lang="en-US" altLang="ko-KR" sz="1400" dirty="0"/>
          </a:p>
          <a:p>
            <a:pPr fontAlgn="base"/>
            <a:endParaRPr lang="en-US" altLang="ko-KR" sz="2100" dirty="0"/>
          </a:p>
          <a:p>
            <a:pPr fontAlgn="base"/>
            <a:r>
              <a:rPr lang="ko-KR" altLang="en-US" sz="6400" dirty="0"/>
              <a:t>이론과 실습을 통해 예제를 이해하고 프로그램을 실행한다</a:t>
            </a:r>
            <a:r>
              <a:rPr lang="en-US" altLang="ko-KR" sz="6400" dirty="0"/>
              <a:t>.</a:t>
            </a:r>
          </a:p>
          <a:p>
            <a:pPr marL="0" indent="0" fontAlgn="base">
              <a:buNone/>
            </a:pPr>
            <a:endParaRPr lang="en-US" altLang="ko-KR" sz="6400" dirty="0"/>
          </a:p>
          <a:p>
            <a:pPr fontAlgn="base"/>
            <a:r>
              <a:rPr lang="ko-KR" altLang="en-US" sz="6400" dirty="0"/>
              <a:t>매 수업시간 확인 학습을 통해 수업의 이해도를 높인다</a:t>
            </a:r>
            <a:r>
              <a:rPr lang="en-US" altLang="ko-KR" sz="6400" dirty="0"/>
              <a:t>.</a:t>
            </a:r>
          </a:p>
          <a:p>
            <a:pPr fontAlgn="base"/>
            <a:endParaRPr lang="en-US" altLang="ko-KR" sz="6400" dirty="0"/>
          </a:p>
          <a:p>
            <a:pPr lvl="0" fontAlgn="base"/>
            <a:r>
              <a:rPr lang="ko-KR" altLang="en-US" sz="6400" dirty="0"/>
              <a:t>중간 개인프로젝트를 통해 실무예제를 작성해 본다</a:t>
            </a:r>
            <a:r>
              <a:rPr lang="en-US" altLang="ko-KR" sz="6400" dirty="0"/>
              <a:t>.</a:t>
            </a:r>
          </a:p>
          <a:p>
            <a:pPr lvl="0" fontAlgn="base"/>
            <a:endParaRPr lang="en-US" altLang="ko-KR" sz="6400" dirty="0"/>
          </a:p>
          <a:p>
            <a:pPr lvl="0" fontAlgn="base"/>
            <a:r>
              <a:rPr lang="ko-KR" altLang="en-US" sz="6400" dirty="0"/>
              <a:t>중간 평가를 통해 객체의 개념을 활용한 실습 예제를 작성해 본다</a:t>
            </a:r>
            <a:r>
              <a:rPr lang="en-US" altLang="ko-KR" sz="6400" dirty="0"/>
              <a:t>.</a:t>
            </a:r>
          </a:p>
          <a:p>
            <a:pPr lvl="0" fontAlgn="base"/>
            <a:endParaRPr lang="en-US" altLang="ko-KR" sz="6400" dirty="0"/>
          </a:p>
          <a:p>
            <a:pPr lvl="0" fontAlgn="base"/>
            <a:r>
              <a:rPr lang="ko-KR" altLang="en-US" sz="6400" dirty="0"/>
              <a:t>모든 수업시간의 질문은 그 시간에 반드시 한다</a:t>
            </a:r>
            <a:r>
              <a:rPr lang="en-US" altLang="ko-KR" sz="6400" dirty="0"/>
              <a:t>.( </a:t>
            </a:r>
            <a:r>
              <a:rPr lang="ko-KR" altLang="en-US" sz="6400" dirty="0"/>
              <a:t>이해하지 못한 내용 그냥 넘어가지 않기</a:t>
            </a:r>
            <a:r>
              <a:rPr lang="en-US" altLang="ko-KR" sz="6400" dirty="0"/>
              <a:t>)</a:t>
            </a:r>
          </a:p>
          <a:p>
            <a:pPr lvl="0" fontAlgn="base"/>
            <a:endParaRPr lang="en-US" altLang="ko-KR" sz="6400" dirty="0"/>
          </a:p>
          <a:p>
            <a:pPr marL="0" lvl="0" indent="0" fontAlgn="base">
              <a:buNone/>
            </a:pPr>
            <a:endParaRPr lang="en-US" altLang="ko-KR" sz="2100" dirty="0"/>
          </a:p>
          <a:p>
            <a:pPr lvl="0" fontAlgn="base"/>
            <a:endParaRPr lang="en-US" altLang="ko-KR" sz="2100" dirty="0"/>
          </a:p>
          <a:p>
            <a:pPr lvl="0" fontAlgn="base"/>
            <a:endParaRPr lang="en-US" altLang="ko-KR" sz="2100" dirty="0"/>
          </a:p>
          <a:p>
            <a:pPr lvl="0" fontAlgn="base"/>
            <a:endParaRPr lang="en-US" altLang="ko-KR" sz="1400" dirty="0"/>
          </a:p>
          <a:p>
            <a:pPr lvl="0" fontAlgn="base"/>
            <a:endParaRPr lang="en-US" altLang="ko-KR" sz="1400" dirty="0"/>
          </a:p>
          <a:p>
            <a:pPr lvl="0" fontAlgn="base"/>
            <a:endParaRPr lang="en-US" altLang="ko-KR" sz="1400" dirty="0"/>
          </a:p>
          <a:p>
            <a:pPr marL="0" indent="0" fontAlgn="base">
              <a:buNone/>
            </a:pPr>
            <a:endParaRPr lang="ko-KR" altLang="en-US" sz="1400" dirty="0"/>
          </a:p>
          <a:p>
            <a:pPr marL="457200" lvl="1" indent="0">
              <a:buNone/>
            </a:pP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66681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CADED-800B-7FB0-A303-EDB1AFEA7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BE1396-A542-9F4E-9C85-4DF4F9D0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7306430" cy="709865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평가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392C3E-1FCC-9912-C303-D2C7193EA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2852936"/>
            <a:ext cx="7948405" cy="3450696"/>
          </a:xfrm>
        </p:spPr>
        <p:txBody>
          <a:bodyPr>
            <a:normAutofit/>
          </a:bodyPr>
          <a:lstStyle/>
          <a:p>
            <a:pPr marL="0" lvl="0" indent="0" fontAlgn="base">
              <a:buNone/>
            </a:pPr>
            <a:br>
              <a:rPr lang="en-US" altLang="ko-KR" b="1" dirty="0"/>
            </a:br>
            <a:r>
              <a:rPr lang="ko-KR" altLang="ko-KR" b="1" dirty="0"/>
              <a:t>평가</a:t>
            </a:r>
            <a:endParaRPr lang="en-US" altLang="ko-KR" b="1" dirty="0"/>
          </a:p>
          <a:p>
            <a:pPr fontAlgn="t"/>
            <a:r>
              <a:rPr lang="ko-KR" altLang="en-US" b="1" dirty="0"/>
              <a:t>출결</a:t>
            </a:r>
            <a:r>
              <a:rPr lang="en-US" altLang="ko-KR" b="1" dirty="0"/>
              <a:t>(20</a:t>
            </a:r>
            <a:r>
              <a:rPr lang="ko-KR" altLang="ko-KR" b="1" dirty="0"/>
              <a:t>점</a:t>
            </a:r>
            <a:r>
              <a:rPr lang="en-US" altLang="ko-KR" b="1" dirty="0"/>
              <a:t>) </a:t>
            </a:r>
          </a:p>
          <a:p>
            <a:pPr fontAlgn="t"/>
            <a:r>
              <a:rPr lang="ko-KR" altLang="ko-KR" b="1" dirty="0"/>
              <a:t>중간고사 </a:t>
            </a:r>
            <a:r>
              <a:rPr lang="en-US" altLang="ko-KR" b="1" dirty="0"/>
              <a:t>(30</a:t>
            </a:r>
            <a:r>
              <a:rPr lang="ko-KR" altLang="ko-KR" b="1" dirty="0"/>
              <a:t>점</a:t>
            </a:r>
            <a:r>
              <a:rPr lang="en-US" altLang="ko-KR" b="1" dirty="0"/>
              <a:t>) </a:t>
            </a:r>
            <a:endParaRPr lang="ko-KR" altLang="ko-KR" dirty="0"/>
          </a:p>
          <a:p>
            <a:pPr fontAlgn="t"/>
            <a:r>
              <a:rPr lang="ko-KR" altLang="ko-KR" b="1" dirty="0"/>
              <a:t>기말고사</a:t>
            </a:r>
            <a:r>
              <a:rPr lang="en-US" altLang="ko-KR" b="1" dirty="0"/>
              <a:t>(30</a:t>
            </a:r>
            <a:r>
              <a:rPr lang="ko-KR" altLang="ko-KR" b="1" dirty="0"/>
              <a:t>점</a:t>
            </a:r>
            <a:r>
              <a:rPr lang="en-US" altLang="ko-KR" b="1" dirty="0"/>
              <a:t>)</a:t>
            </a:r>
            <a:endParaRPr lang="ko-KR" altLang="ko-KR" dirty="0"/>
          </a:p>
          <a:p>
            <a:pPr fontAlgn="t"/>
            <a:r>
              <a:rPr lang="ko-KR" altLang="en-US" b="1" dirty="0"/>
              <a:t>과제 및 실습 예제 확인학습 </a:t>
            </a:r>
            <a:r>
              <a:rPr lang="en-US" altLang="ko-KR" b="1" dirty="0"/>
              <a:t>(10</a:t>
            </a:r>
            <a:r>
              <a:rPr lang="ko-KR" altLang="ko-KR" b="1" dirty="0"/>
              <a:t>점</a:t>
            </a:r>
            <a:r>
              <a:rPr lang="en-US" altLang="ko-KR" b="1" dirty="0"/>
              <a:t>)</a:t>
            </a:r>
          </a:p>
          <a:p>
            <a:pPr fontAlgn="t"/>
            <a:r>
              <a:rPr lang="ko-KR" altLang="en-US" b="1" dirty="0"/>
              <a:t>중간 실무 예제 확인학습</a:t>
            </a:r>
            <a:r>
              <a:rPr lang="en-US" altLang="ko-KR" b="1" dirty="0"/>
              <a:t>(10</a:t>
            </a:r>
            <a:r>
              <a:rPr lang="ko-KR" altLang="en-US" b="1" dirty="0"/>
              <a:t>점</a:t>
            </a:r>
            <a:r>
              <a:rPr lang="en-US" altLang="ko-KR" b="1" dirty="0"/>
              <a:t>)</a:t>
            </a:r>
            <a:endParaRPr lang="ko-KR" altLang="ko-KR" b="1" dirty="0"/>
          </a:p>
        </p:txBody>
      </p:sp>
    </p:spTree>
    <p:extLst>
      <p:ext uri="{BB962C8B-B14F-4D97-AF65-F5344CB8AC3E}">
        <p14:creationId xmlns:p14="http://schemas.microsoft.com/office/powerpoint/2010/main" val="1748380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4DF3F-57AE-C2B3-2BC0-8A04D3BEA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28A10-B687-4B14-CE66-64E7C7617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7306430" cy="709865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공지사항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00E078-36FF-ED8F-4BBC-1BABD0476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067" y="2204864"/>
            <a:ext cx="7948405" cy="403244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sz="2800" dirty="0"/>
              <a:t>질문은 메일로 언제든지</a:t>
            </a:r>
            <a:endParaRPr lang="en-US" altLang="ko-KR" sz="2800" dirty="0"/>
          </a:p>
          <a:p>
            <a:pPr marL="971550" lvl="2" indent="-514350"/>
            <a:r>
              <a:rPr lang="en-US" altLang="ko-KR" sz="2800" b="1" dirty="0"/>
              <a:t>ohes74@hanmail.net</a:t>
            </a:r>
          </a:p>
          <a:p>
            <a:pPr indent="-514350">
              <a:buFont typeface="+mj-lt"/>
              <a:buAutoNum type="arabicPeriod"/>
            </a:pPr>
            <a:r>
              <a:rPr lang="ko-KR" altLang="en-US" sz="2800" dirty="0"/>
              <a:t>문자나 카톡으로 문의</a:t>
            </a:r>
            <a:endParaRPr lang="en-US" altLang="ko-KR" sz="2800" dirty="0"/>
          </a:p>
          <a:p>
            <a:pPr marL="971550" lvl="2" indent="-514350"/>
            <a:r>
              <a:rPr lang="en-US" altLang="ko-KR" sz="2800" b="1" dirty="0"/>
              <a:t>010-8764-0939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800" dirty="0"/>
              <a:t>메일을 보낼 때 문자 보낼 때 본인을 밝힐 것</a:t>
            </a:r>
            <a:r>
              <a:rPr lang="en-US" altLang="ko-KR" sz="2800" dirty="0"/>
              <a:t>!!!</a:t>
            </a:r>
          </a:p>
          <a:p>
            <a:pPr lvl="1"/>
            <a:r>
              <a:rPr lang="en-US" altLang="ko-KR" sz="2400" dirty="0"/>
              <a:t>(</a:t>
            </a:r>
            <a:r>
              <a:rPr lang="ko-KR" altLang="en-US" sz="2400" dirty="0"/>
              <a:t>메일제목</a:t>
            </a:r>
            <a:r>
              <a:rPr lang="en-US" altLang="ko-KR" sz="2400" dirty="0"/>
              <a:t>) </a:t>
            </a:r>
            <a:r>
              <a:rPr lang="ko-KR" altLang="en-US" sz="2400" dirty="0"/>
              <a:t>경기과학기술대학교 </a:t>
            </a:r>
            <a:r>
              <a:rPr lang="en-US" altLang="ko-KR" sz="2400" dirty="0"/>
              <a:t>2025</a:t>
            </a:r>
            <a:r>
              <a:rPr lang="ko-KR" altLang="en-US" sz="2400" dirty="0"/>
              <a:t>학번 홍길동입니다</a:t>
            </a:r>
            <a:r>
              <a:rPr lang="en-US" altLang="ko-KR" sz="2400" dirty="0"/>
              <a:t>. </a:t>
            </a:r>
          </a:p>
          <a:p>
            <a:pPr lvl="1"/>
            <a:r>
              <a:rPr lang="ko-KR" altLang="en-US" sz="2400" dirty="0"/>
              <a:t>수업 혹은 과제 관련 질문 있습니다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02336" lvl="1" indent="0">
              <a:lnSpc>
                <a:spcPct val="200000"/>
              </a:lnSpc>
              <a:buNone/>
            </a:pP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726728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프로그래밍 언어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6BD2C2-3D3B-4E94-BD92-61B02C5F4DEE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프로그래밍 언어</a:t>
            </a:r>
            <a:endParaRPr lang="en-US" altLang="ko-KR" dirty="0"/>
          </a:p>
          <a:p>
            <a:pPr lvl="1"/>
            <a:r>
              <a:rPr lang="ko-KR" altLang="en-US" dirty="0"/>
              <a:t>프로그램 작성 언어</a:t>
            </a:r>
            <a:endParaRPr lang="en-US" altLang="ko-KR" dirty="0"/>
          </a:p>
          <a:p>
            <a:pPr lvl="1"/>
            <a:r>
              <a:rPr lang="ko-KR" altLang="en-US" dirty="0"/>
              <a:t>기계어</a:t>
            </a:r>
            <a:r>
              <a:rPr lang="en-US" altLang="ko-KR" dirty="0"/>
              <a:t>(machine language)</a:t>
            </a:r>
          </a:p>
          <a:p>
            <a:pPr lvl="2"/>
            <a:r>
              <a:rPr lang="en-US" altLang="ko-KR" dirty="0"/>
              <a:t>0,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의 이진수로 구성된 언어</a:t>
            </a:r>
            <a:endParaRPr lang="en-US" altLang="ko-KR" dirty="0"/>
          </a:p>
          <a:p>
            <a:pPr lvl="2"/>
            <a:r>
              <a:rPr lang="ko-KR" altLang="en-US" dirty="0"/>
              <a:t>컴퓨터의 </a:t>
            </a:r>
            <a:r>
              <a:rPr lang="en-US" altLang="ko-KR" dirty="0"/>
              <a:t>CPU</a:t>
            </a:r>
            <a:r>
              <a:rPr lang="ko-KR" altLang="en-US" dirty="0"/>
              <a:t>는 기계어만 이해하고 처리가능</a:t>
            </a:r>
            <a:endParaRPr lang="en-US" altLang="ko-KR" dirty="0"/>
          </a:p>
          <a:p>
            <a:pPr lvl="1"/>
            <a:r>
              <a:rPr lang="ko-KR" altLang="en-US" dirty="0"/>
              <a:t>어셈블리어</a:t>
            </a:r>
            <a:endParaRPr lang="en-US" altLang="ko-KR" dirty="0"/>
          </a:p>
          <a:p>
            <a:pPr lvl="2"/>
            <a:r>
              <a:rPr lang="ko-KR" altLang="en-US" dirty="0"/>
              <a:t>기계어 명령을 </a:t>
            </a:r>
            <a:r>
              <a:rPr lang="en-US" altLang="ko-KR" sz="1400" dirty="0"/>
              <a:t>ADD</a:t>
            </a:r>
            <a:r>
              <a:rPr lang="en-US" altLang="ko-KR" dirty="0"/>
              <a:t>, </a:t>
            </a:r>
            <a:r>
              <a:rPr lang="en-US" altLang="ko-KR" sz="1400" dirty="0"/>
              <a:t>SUB</a:t>
            </a:r>
            <a:r>
              <a:rPr lang="en-US" altLang="ko-KR" dirty="0"/>
              <a:t>, </a:t>
            </a:r>
            <a:r>
              <a:rPr lang="en-US" altLang="ko-KR" sz="1400" dirty="0"/>
              <a:t>MOVE </a:t>
            </a:r>
            <a:r>
              <a:rPr lang="ko-KR" altLang="en-US" dirty="0"/>
              <a:t>등과 같은 표현하기 쉬운 상징적인 단어인 </a:t>
            </a:r>
            <a:r>
              <a:rPr lang="ko-KR" altLang="en-US" dirty="0" err="1"/>
              <a:t>니모닉</a:t>
            </a:r>
            <a:r>
              <a:rPr lang="ko-KR" altLang="en-US" dirty="0"/>
              <a:t> 기호</a:t>
            </a:r>
            <a:r>
              <a:rPr lang="en-US" altLang="ko-KR" dirty="0"/>
              <a:t>(</a:t>
            </a:r>
            <a:r>
              <a:rPr lang="en-US" altLang="ko-KR" sz="1800" dirty="0"/>
              <a:t>mnemonic symbol</a:t>
            </a:r>
            <a:r>
              <a:rPr lang="en-US" altLang="ko-KR" dirty="0"/>
              <a:t>)</a:t>
            </a:r>
            <a:r>
              <a:rPr lang="ko-KR" altLang="en-US" dirty="0"/>
              <a:t>로 일대일 대응시킨 언어</a:t>
            </a:r>
            <a:endParaRPr lang="en-US" altLang="ko-KR" dirty="0"/>
          </a:p>
          <a:p>
            <a:pPr lvl="1"/>
            <a:r>
              <a:rPr lang="ko-KR" altLang="en-US" dirty="0"/>
              <a:t>고급언어</a:t>
            </a:r>
            <a:endParaRPr lang="en-US" altLang="ko-KR" dirty="0"/>
          </a:p>
          <a:p>
            <a:pPr lvl="2"/>
            <a:r>
              <a:rPr lang="ko-KR" altLang="en-US" dirty="0"/>
              <a:t>사람이 이해하기 쉽고</a:t>
            </a:r>
            <a:r>
              <a:rPr lang="en-US" altLang="ko-KR" dirty="0"/>
              <a:t>,</a:t>
            </a:r>
            <a:r>
              <a:rPr lang="ko-KR" altLang="en-US" dirty="0"/>
              <a:t> 복잡한 작업</a:t>
            </a:r>
            <a:r>
              <a:rPr lang="en-US" altLang="ko-KR" dirty="0"/>
              <a:t>,</a:t>
            </a:r>
            <a:r>
              <a:rPr lang="ko-KR" altLang="en-US" dirty="0"/>
              <a:t> 자료 구조</a:t>
            </a:r>
            <a:r>
              <a:rPr lang="en-US" altLang="ko-KR" dirty="0"/>
              <a:t>,</a:t>
            </a:r>
            <a:r>
              <a:rPr lang="ko-KR" altLang="en-US" dirty="0"/>
              <a:t>알고리즘을 표현하기 위해 고안된 언어</a:t>
            </a:r>
            <a:endParaRPr lang="en-US" altLang="ko-KR" dirty="0"/>
          </a:p>
          <a:p>
            <a:pPr lvl="2"/>
            <a:r>
              <a:rPr lang="en-US" altLang="ko-KR" dirty="0"/>
              <a:t> Pascal, Basic, C/C++, Java, C#</a:t>
            </a:r>
          </a:p>
          <a:p>
            <a:pPr lvl="2"/>
            <a:r>
              <a:rPr lang="ko-KR" altLang="en-US" dirty="0"/>
              <a:t>절차 지향 언어와 객체 지향 언어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85694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cs typeface="Arial" pitchFamily="34" charset="0"/>
              </a:rPr>
              <a:t>컴파일</a:t>
            </a:r>
            <a:endParaRPr lang="en-US" altLang="ko-KR" dirty="0">
              <a:cs typeface="Arial" pitchFamily="34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1583636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 dirty="0"/>
              <a:t>소스 </a:t>
            </a:r>
            <a:r>
              <a:rPr lang="en-US" altLang="ko-KR" dirty="0"/>
              <a:t>: </a:t>
            </a:r>
            <a:r>
              <a:rPr lang="ko-KR" altLang="en-US" dirty="0"/>
              <a:t>프로그래밍 언어로 작성된 텍스트 파일</a:t>
            </a:r>
            <a:endParaRPr lang="en-US" altLang="ko-KR" dirty="0"/>
          </a:p>
          <a:p>
            <a:r>
              <a:rPr lang="ko-KR" altLang="en-US" dirty="0"/>
              <a:t>컴파일 </a:t>
            </a:r>
            <a:r>
              <a:rPr lang="en-US" altLang="ko-KR" dirty="0"/>
              <a:t>: </a:t>
            </a:r>
            <a:r>
              <a:rPr lang="ko-KR" altLang="en-US" dirty="0"/>
              <a:t>소스 파일을 컴퓨터가 이해할 수 있는 기계어로 만드는 과정</a:t>
            </a:r>
            <a:endParaRPr lang="en-US" altLang="ko-KR" dirty="0"/>
          </a:p>
          <a:p>
            <a:pPr lvl="1"/>
            <a:r>
              <a:rPr lang="ko-KR" altLang="en-US" dirty="0"/>
              <a:t>소스 파일 </a:t>
            </a:r>
            <a:r>
              <a:rPr lang="ko-KR" altLang="en-US" dirty="0" err="1"/>
              <a:t>확장자와</a:t>
            </a:r>
            <a:r>
              <a:rPr lang="en-US" altLang="ko-KR" dirty="0"/>
              <a:t> </a:t>
            </a:r>
            <a:r>
              <a:rPr lang="ko-KR" altLang="en-US" dirty="0"/>
              <a:t>컴파일 된 파일의 </a:t>
            </a:r>
            <a:r>
              <a:rPr lang="ko-KR" altLang="en-US" dirty="0" err="1"/>
              <a:t>확장자</a:t>
            </a:r>
            <a:endParaRPr lang="en-US" altLang="ko-KR" dirty="0"/>
          </a:p>
          <a:p>
            <a:pPr lvl="2"/>
            <a:r>
              <a:rPr lang="ko-KR" altLang="en-US" dirty="0"/>
              <a:t>자바 </a:t>
            </a:r>
            <a:r>
              <a:rPr lang="en-US" altLang="ko-KR" dirty="0"/>
              <a:t>: </a:t>
            </a:r>
            <a:r>
              <a:rPr lang="en-US" altLang="ko-KR" b="1" dirty="0"/>
              <a:t>.java </a:t>
            </a:r>
            <a:r>
              <a:rPr lang="en-US" altLang="ko-KR" dirty="0"/>
              <a:t>-&gt; </a:t>
            </a:r>
            <a:r>
              <a:rPr lang="en-US" altLang="ko-KR" b="1" dirty="0"/>
              <a:t>.class</a:t>
            </a:r>
          </a:p>
          <a:p>
            <a:pPr lvl="2"/>
            <a:r>
              <a:rPr lang="en-US" altLang="ko-KR" dirty="0"/>
              <a:t>C : </a:t>
            </a:r>
            <a:r>
              <a:rPr lang="en-US" altLang="ko-KR" b="1" dirty="0"/>
              <a:t>.c </a:t>
            </a:r>
            <a:r>
              <a:rPr lang="en-US" altLang="ko-KR" dirty="0"/>
              <a:t>-&gt; </a:t>
            </a:r>
            <a:r>
              <a:rPr lang="en-US" altLang="ko-KR" b="1" dirty="0"/>
              <a:t>.</a:t>
            </a:r>
            <a:r>
              <a:rPr lang="en-US" altLang="ko-KR" b="1" dirty="0" err="1"/>
              <a:t>obj</a:t>
            </a:r>
            <a:r>
              <a:rPr lang="en-US" altLang="ko-KR" b="1" dirty="0"/>
              <a:t>-</a:t>
            </a:r>
            <a:r>
              <a:rPr lang="en-US" altLang="ko-KR" dirty="0"/>
              <a:t>&gt; </a:t>
            </a:r>
            <a:r>
              <a:rPr lang="en-US" altLang="ko-KR" b="1" dirty="0"/>
              <a:t>.exe</a:t>
            </a:r>
          </a:p>
          <a:p>
            <a:pPr lvl="2"/>
            <a:r>
              <a:rPr lang="en-US" altLang="ko-KR" dirty="0"/>
              <a:t>C++ :</a:t>
            </a:r>
            <a:r>
              <a:rPr lang="en-US" altLang="ko-KR" b="1" dirty="0"/>
              <a:t> .</a:t>
            </a:r>
            <a:r>
              <a:rPr lang="en-US" altLang="ko-KR" b="1" dirty="0" err="1"/>
              <a:t>cpp</a:t>
            </a:r>
            <a:r>
              <a:rPr lang="en-US" altLang="ko-KR" b="1" dirty="0"/>
              <a:t> </a:t>
            </a:r>
            <a:r>
              <a:rPr lang="en-US" altLang="ko-KR" dirty="0"/>
              <a:t>-&gt; </a:t>
            </a:r>
            <a:r>
              <a:rPr lang="en-US" altLang="ko-KR" b="1" dirty="0"/>
              <a:t>.</a:t>
            </a:r>
            <a:r>
              <a:rPr lang="en-US" altLang="ko-KR" b="1" dirty="0" err="1"/>
              <a:t>obj</a:t>
            </a:r>
            <a:r>
              <a:rPr lang="en-US" altLang="ko-KR" b="1" dirty="0"/>
              <a:t> </a:t>
            </a:r>
            <a:r>
              <a:rPr lang="en-US" altLang="ko-KR" dirty="0"/>
              <a:t>-&gt; </a:t>
            </a:r>
            <a:r>
              <a:rPr lang="en-US" altLang="ko-KR" b="1" dirty="0"/>
              <a:t>.exe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841129"/>
            <a:ext cx="6408712" cy="380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035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자바의 태동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dirty="0"/>
              <a:t>1991</a:t>
            </a:r>
            <a:r>
              <a:rPr lang="ko-KR" altLang="en-US" dirty="0"/>
              <a:t>년 그린 프로젝트</a:t>
            </a:r>
            <a:r>
              <a:rPr lang="en-US" altLang="ko-KR" dirty="0"/>
              <a:t>(Green Project) </a:t>
            </a:r>
          </a:p>
          <a:p>
            <a:pPr lvl="1"/>
            <a:r>
              <a:rPr lang="ko-KR" altLang="en-US" dirty="0" err="1"/>
              <a:t>선마이크로시스템즈의</a:t>
            </a:r>
            <a:r>
              <a:rPr lang="ko-KR" altLang="en-US" dirty="0"/>
              <a:t> </a:t>
            </a:r>
            <a:r>
              <a:rPr lang="ko-KR" altLang="en-US" dirty="0" err="1"/>
              <a:t>제임스</a:t>
            </a:r>
            <a:r>
              <a:rPr lang="ko-KR" altLang="en-US" dirty="0"/>
              <a:t> </a:t>
            </a:r>
            <a:r>
              <a:rPr lang="ko-KR" altLang="en-US" dirty="0" err="1"/>
              <a:t>고슬링</a:t>
            </a:r>
            <a:r>
              <a:rPr lang="en-US" altLang="ko-KR" dirty="0"/>
              <a:t>(James Gosling)</a:t>
            </a:r>
            <a:r>
              <a:rPr lang="ko-KR" altLang="en-US" dirty="0"/>
              <a:t>에 의해 시작</a:t>
            </a:r>
            <a:endParaRPr lang="en-US" altLang="ko-KR" dirty="0"/>
          </a:p>
          <a:p>
            <a:pPr lvl="2"/>
            <a:r>
              <a:rPr lang="ko-KR" altLang="en-US" dirty="0"/>
              <a:t>가전 제품에 들어갈 소프트웨어를 위해 개발</a:t>
            </a:r>
            <a:endParaRPr lang="en-US" altLang="ko-KR" dirty="0"/>
          </a:p>
          <a:p>
            <a:pPr lvl="1"/>
            <a:r>
              <a:rPr lang="en-US" altLang="ko-KR" dirty="0"/>
              <a:t>1995</a:t>
            </a:r>
            <a:r>
              <a:rPr lang="ko-KR" altLang="en-US" dirty="0"/>
              <a:t>년에 자바</a:t>
            </a:r>
            <a:r>
              <a:rPr lang="en-US" altLang="ko-KR" dirty="0"/>
              <a:t> </a:t>
            </a:r>
            <a:r>
              <a:rPr lang="ko-KR" altLang="en-US" dirty="0"/>
              <a:t>발표</a:t>
            </a:r>
            <a:endParaRPr lang="en-US" altLang="ko-KR" dirty="0"/>
          </a:p>
          <a:p>
            <a:r>
              <a:rPr lang="ko-KR" altLang="en-US" dirty="0"/>
              <a:t>목적</a:t>
            </a:r>
            <a:endParaRPr lang="en-US" altLang="ko-KR" dirty="0"/>
          </a:p>
          <a:p>
            <a:pPr lvl="1"/>
            <a:r>
              <a:rPr lang="ko-KR" altLang="en-US" dirty="0"/>
              <a:t>플랫폼 호환성 문제 해결</a:t>
            </a:r>
            <a:endParaRPr lang="en-US" altLang="ko-KR" dirty="0"/>
          </a:p>
          <a:p>
            <a:pPr lvl="2"/>
            <a:r>
              <a:rPr lang="ko-KR" altLang="en-US" dirty="0"/>
              <a:t>기존 언어로 작성된 프로그램은 </a:t>
            </a:r>
            <a:r>
              <a:rPr lang="en-US" altLang="ko-KR" dirty="0"/>
              <a:t>PC, </a:t>
            </a:r>
            <a:r>
              <a:rPr lang="ko-KR" altLang="en-US" dirty="0"/>
              <a:t>유닉스</a:t>
            </a:r>
            <a:r>
              <a:rPr lang="en-US" altLang="ko-KR" dirty="0"/>
              <a:t>, </a:t>
            </a:r>
            <a:r>
              <a:rPr lang="ko-KR" altLang="en-US" dirty="0"/>
              <a:t>메인 프레임 등 플랫폼 간에 호환성 없음</a:t>
            </a:r>
            <a:endParaRPr lang="en-US" altLang="ko-KR" dirty="0"/>
          </a:p>
          <a:p>
            <a:pPr lvl="2"/>
            <a:r>
              <a:rPr lang="ko-KR" altLang="en-US" dirty="0"/>
              <a:t>소스를 다시 </a:t>
            </a:r>
            <a:r>
              <a:rPr lang="ko-KR" altLang="en-US" dirty="0" err="1"/>
              <a:t>컴파일하거나</a:t>
            </a:r>
            <a:r>
              <a:rPr lang="ko-KR" altLang="en-US" dirty="0"/>
              <a:t> 프로그램을 재 작성해야 하는 단점</a:t>
            </a:r>
            <a:endParaRPr lang="en-US" altLang="ko-KR" dirty="0"/>
          </a:p>
          <a:p>
            <a:pPr lvl="1"/>
            <a:r>
              <a:rPr lang="ko-KR" altLang="en-US" dirty="0"/>
              <a:t>플랫폼 독립적인 언어 개발</a:t>
            </a:r>
            <a:endParaRPr lang="en-US" altLang="ko-KR" dirty="0"/>
          </a:p>
          <a:p>
            <a:pPr lvl="2"/>
            <a:r>
              <a:rPr lang="ko-KR" altLang="en-US" dirty="0"/>
              <a:t>모든 플랫폼에서 호환성을 갖는 프로그래밍 언어 필요</a:t>
            </a:r>
            <a:endParaRPr lang="en-US" altLang="ko-KR" dirty="0"/>
          </a:p>
          <a:p>
            <a:pPr lvl="2"/>
            <a:r>
              <a:rPr lang="ko-KR" altLang="en-US" dirty="0"/>
              <a:t>네트워크</a:t>
            </a:r>
            <a:r>
              <a:rPr lang="en-US" altLang="ko-KR" dirty="0"/>
              <a:t>,</a:t>
            </a:r>
            <a:r>
              <a:rPr lang="ko-KR" altLang="en-US" dirty="0"/>
              <a:t> 특히 웹에 최적화된 프로그래밍 언어의 필요성 대두</a:t>
            </a:r>
            <a:endParaRPr lang="en-US" altLang="ko-KR" dirty="0"/>
          </a:p>
          <a:p>
            <a:pPr lvl="1"/>
            <a:r>
              <a:rPr lang="ko-KR" altLang="en-US" dirty="0"/>
              <a:t>메모리 사용량이 적고 다양한 플랫폼을 가지는 가전 제품에 적용</a:t>
            </a:r>
            <a:endParaRPr lang="en-US" altLang="ko-KR" dirty="0"/>
          </a:p>
          <a:p>
            <a:pPr lvl="2"/>
            <a:r>
              <a:rPr lang="ko-KR" altLang="en-US" dirty="0"/>
              <a:t>가전 제품 </a:t>
            </a:r>
            <a:r>
              <a:rPr lang="en-US" altLang="ko-KR" dirty="0"/>
              <a:t>: </a:t>
            </a:r>
            <a:r>
              <a:rPr lang="ko-KR" altLang="en-US" dirty="0"/>
              <a:t>작은 량의 메모리를 가지는 제어 장치</a:t>
            </a:r>
            <a:endParaRPr lang="en-US" altLang="ko-KR" dirty="0"/>
          </a:p>
          <a:p>
            <a:pPr lvl="2"/>
            <a:r>
              <a:rPr lang="ko-KR" altLang="en-US" dirty="0"/>
              <a:t>내장형 시스템 요구 충족</a:t>
            </a:r>
            <a:endParaRPr lang="en-US" altLang="ko-KR" dirty="0"/>
          </a:p>
          <a:p>
            <a:r>
              <a:rPr lang="ko-KR" altLang="en-US" dirty="0"/>
              <a:t>초기 이름 </a:t>
            </a:r>
            <a:r>
              <a:rPr lang="en-US" altLang="ko-KR" dirty="0"/>
              <a:t>: </a:t>
            </a:r>
            <a:r>
              <a:rPr lang="ko-KR" altLang="en-US" dirty="0" err="1"/>
              <a:t>오크</a:t>
            </a:r>
            <a:r>
              <a:rPr lang="en-US" altLang="ko-KR" dirty="0"/>
              <a:t>(OAK)</a:t>
            </a:r>
          </a:p>
          <a:p>
            <a:pPr lvl="1"/>
            <a:r>
              <a:rPr lang="ko-KR" altLang="en-US" dirty="0"/>
              <a:t>인터넷과 웹의 엄청난 발전에 힘입어 퍼지게 됨</a:t>
            </a:r>
            <a:endParaRPr lang="en-US" altLang="ko-KR" dirty="0"/>
          </a:p>
          <a:p>
            <a:pPr lvl="1"/>
            <a:r>
              <a:rPr lang="ko-KR" altLang="en-US" dirty="0"/>
              <a:t>웹 브라우저 </a:t>
            </a:r>
            <a:r>
              <a:rPr lang="en-US" altLang="ko-KR" dirty="0"/>
              <a:t>Netscape</a:t>
            </a:r>
            <a:r>
              <a:rPr lang="ko-KR" altLang="en-US" dirty="0"/>
              <a:t>에서 실행</a:t>
            </a:r>
            <a:endParaRPr lang="en-US" altLang="ko-KR" dirty="0"/>
          </a:p>
          <a:p>
            <a:r>
              <a:rPr lang="en-US" altLang="ko-KR" dirty="0"/>
              <a:t>2009</a:t>
            </a:r>
            <a:r>
              <a:rPr lang="ko-KR" altLang="en-US" dirty="0"/>
              <a:t>년에 </a:t>
            </a:r>
            <a:r>
              <a:rPr lang="ko-KR" altLang="en-US" dirty="0" err="1"/>
              <a:t>선마이크로시스템즈를</a:t>
            </a:r>
            <a:r>
              <a:rPr lang="ko-KR" altLang="en-US" dirty="0"/>
              <a:t> </a:t>
            </a:r>
            <a:r>
              <a:rPr lang="ko-KR" altLang="en-US" dirty="0" err="1"/>
              <a:t>오라클에서</a:t>
            </a:r>
            <a:r>
              <a:rPr lang="ko-KR" altLang="en-US" dirty="0"/>
              <a:t> 인수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8464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WORA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WORA(Write Once Run Anywhere)</a:t>
            </a:r>
          </a:p>
          <a:p>
            <a:pPr lvl="1"/>
            <a:r>
              <a:rPr lang="ko-KR" altLang="en-US" dirty="0"/>
              <a:t>한번 작성된 코드는 모든 플랫폼에서 바로 실행</a:t>
            </a:r>
            <a:endParaRPr lang="en-US" altLang="ko-KR" dirty="0"/>
          </a:p>
          <a:p>
            <a:pPr lvl="1"/>
            <a:r>
              <a:rPr lang="en-US" altLang="ko-KR" dirty="0"/>
              <a:t>C/C++ </a:t>
            </a:r>
            <a:r>
              <a:rPr lang="ko-KR" altLang="en-US" dirty="0"/>
              <a:t>등 기존 언어가 가진 플랫폼 종속성 극복</a:t>
            </a:r>
            <a:endParaRPr lang="en-US" altLang="ko-KR" dirty="0"/>
          </a:p>
          <a:p>
            <a:pPr lvl="2"/>
            <a:r>
              <a:rPr lang="en-US" altLang="ko-KR" dirty="0"/>
              <a:t>OS, H/W</a:t>
            </a:r>
            <a:r>
              <a:rPr lang="ko-KR" altLang="en-US" dirty="0"/>
              <a:t>에 상관없이 자바 프로그램이 동일하게 실행</a:t>
            </a:r>
            <a:endParaRPr lang="en-US" altLang="ko-KR" dirty="0"/>
          </a:p>
          <a:p>
            <a:pPr lvl="1"/>
            <a:r>
              <a:rPr lang="ko-KR" altLang="en-US" dirty="0"/>
              <a:t>네트워크에 연결된 어느 클라이언트에서나 실행</a:t>
            </a:r>
            <a:endParaRPr lang="en-US" altLang="ko-KR" dirty="0"/>
          </a:p>
          <a:p>
            <a:pPr lvl="2"/>
            <a:r>
              <a:rPr lang="ko-KR" altLang="en-US" dirty="0"/>
              <a:t>웹 브라우저</a:t>
            </a:r>
            <a:r>
              <a:rPr lang="en-US" altLang="ko-KR" dirty="0"/>
              <a:t>, </a:t>
            </a:r>
            <a:r>
              <a:rPr lang="ko-KR" altLang="en-US" dirty="0"/>
              <a:t>분산 환경 지원</a:t>
            </a:r>
            <a:endParaRPr lang="en-US" altLang="ko-KR" dirty="0"/>
          </a:p>
          <a:p>
            <a:r>
              <a:rPr lang="en-US" altLang="ko-KR" dirty="0"/>
              <a:t>WORA</a:t>
            </a:r>
            <a:r>
              <a:rPr lang="ko-KR" altLang="en-US" dirty="0"/>
              <a:t>를 가능하게 하는 자바의</a:t>
            </a:r>
            <a:r>
              <a:rPr lang="en-US" altLang="ko-KR" dirty="0"/>
              <a:t> </a:t>
            </a:r>
            <a:r>
              <a:rPr lang="ko-KR" altLang="en-US" dirty="0"/>
              <a:t>특징</a:t>
            </a:r>
            <a:endParaRPr lang="en-US" altLang="ko-KR" dirty="0"/>
          </a:p>
          <a:p>
            <a:pPr lvl="1"/>
            <a:r>
              <a:rPr lang="ko-KR" altLang="en-US" dirty="0"/>
              <a:t>바이트 코드</a:t>
            </a:r>
            <a:r>
              <a:rPr lang="en-US" altLang="ko-KR" dirty="0"/>
              <a:t>(byte code)</a:t>
            </a:r>
          </a:p>
          <a:p>
            <a:pPr lvl="2"/>
            <a:r>
              <a:rPr lang="ko-KR" altLang="en-US" dirty="0"/>
              <a:t>자바 소스를 </a:t>
            </a:r>
            <a:r>
              <a:rPr lang="ko-KR" altLang="en-US" dirty="0" err="1"/>
              <a:t>컴파일한</a:t>
            </a:r>
            <a:r>
              <a:rPr lang="ko-KR" altLang="en-US" dirty="0"/>
              <a:t> 목적 코드</a:t>
            </a:r>
            <a:endParaRPr lang="en-US" altLang="ko-KR" dirty="0"/>
          </a:p>
          <a:p>
            <a:pPr lvl="2"/>
            <a:r>
              <a:rPr lang="en-US" altLang="ko-KR" dirty="0"/>
              <a:t>CPU</a:t>
            </a:r>
            <a:r>
              <a:rPr lang="ko-KR" altLang="en-US" dirty="0"/>
              <a:t>에 종속적이지 않은 중립적인 코드</a:t>
            </a:r>
            <a:endParaRPr lang="en-US" altLang="ko-KR" dirty="0"/>
          </a:p>
          <a:p>
            <a:pPr lvl="2"/>
            <a:r>
              <a:rPr lang="en-US" altLang="ko-KR" dirty="0"/>
              <a:t>JVM</a:t>
            </a:r>
            <a:r>
              <a:rPr lang="ko-KR" altLang="en-US" dirty="0"/>
              <a:t>에 의해 해석되고 실행됨</a:t>
            </a:r>
            <a:endParaRPr lang="en-US" altLang="ko-KR" dirty="0"/>
          </a:p>
          <a:p>
            <a:pPr lvl="1"/>
            <a:r>
              <a:rPr lang="en-US" altLang="ko-KR" dirty="0"/>
              <a:t>JVM(Java Virtual Machine)</a:t>
            </a:r>
          </a:p>
          <a:p>
            <a:pPr lvl="2"/>
            <a:r>
              <a:rPr lang="ko-KR" altLang="en-US" dirty="0"/>
              <a:t>자바 바이트 코드를 실행하는 자바 가상 기계</a:t>
            </a:r>
            <a:r>
              <a:rPr lang="en-US" altLang="ko-KR" dirty="0"/>
              <a:t>(</a:t>
            </a:r>
            <a:r>
              <a:rPr lang="ko-KR" altLang="en-US" dirty="0"/>
              <a:t>소프트웨어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9575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452" y="3990746"/>
            <a:ext cx="774720" cy="1485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987" y="4176561"/>
            <a:ext cx="978172" cy="932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cs typeface="Arial" pitchFamily="34" charset="0"/>
              </a:rPr>
              <a:t>플랫폼 종속성</a:t>
            </a:r>
            <a:r>
              <a:rPr lang="en-US" altLang="ko-KR" dirty="0">
                <a:cs typeface="Arial" pitchFamily="34" charset="0"/>
              </a:rPr>
              <a:t>(platform dependency)</a:t>
            </a:r>
            <a:endParaRPr lang="ko-KR" altLang="en-US" dirty="0">
              <a:cs typeface="Arial" pitchFamily="34" charset="0"/>
            </a:endParaRPr>
          </a:p>
        </p:txBody>
      </p:sp>
      <p:sp>
        <p:nvSpPr>
          <p:cNvPr id="30" name="슬라이드 번호 개체 틀 2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5900" y="5217957"/>
            <a:ext cx="1785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CPU +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리눅스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31680" y="5517981"/>
            <a:ext cx="2071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Apple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사의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MAC PC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 11"/>
          <p:cNvSpPr/>
          <p:nvPr/>
        </p:nvSpPr>
        <p:spPr>
          <a:xfrm>
            <a:off x="1907704" y="2780928"/>
            <a:ext cx="2040032" cy="1415845"/>
          </a:xfrm>
          <a:custGeom>
            <a:avLst/>
            <a:gdLst>
              <a:gd name="connsiteX0" fmla="*/ 2045109 w 2045109"/>
              <a:gd name="connsiteY0" fmla="*/ 0 h 1415845"/>
              <a:gd name="connsiteX1" fmla="*/ 1130709 w 2045109"/>
              <a:gd name="connsiteY1" fmla="*/ 570271 h 1415845"/>
              <a:gd name="connsiteX2" fmla="*/ 353961 w 2045109"/>
              <a:gd name="connsiteY2" fmla="*/ 894736 h 1415845"/>
              <a:gd name="connsiteX3" fmla="*/ 0 w 2045109"/>
              <a:gd name="connsiteY3" fmla="*/ 1415845 h 1415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5109" h="1415845">
                <a:moveTo>
                  <a:pt x="2045109" y="0"/>
                </a:moveTo>
                <a:cubicBezTo>
                  <a:pt x="1728838" y="210574"/>
                  <a:pt x="1412567" y="421148"/>
                  <a:pt x="1130709" y="570271"/>
                </a:cubicBezTo>
                <a:cubicBezTo>
                  <a:pt x="848851" y="719394"/>
                  <a:pt x="542413" y="753807"/>
                  <a:pt x="353961" y="894736"/>
                </a:cubicBezTo>
                <a:cubicBezTo>
                  <a:pt x="165510" y="1035665"/>
                  <a:pt x="82755" y="1225755"/>
                  <a:pt x="0" y="1415845"/>
                </a:cubicBezTo>
              </a:path>
            </a:pathLst>
          </a:custGeom>
          <a:ln w="19050">
            <a:solidFill>
              <a:srgbClr val="00B05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자유형 13"/>
          <p:cNvSpPr/>
          <p:nvPr/>
        </p:nvSpPr>
        <p:spPr>
          <a:xfrm>
            <a:off x="3972476" y="2810425"/>
            <a:ext cx="1078639" cy="1629890"/>
          </a:xfrm>
          <a:custGeom>
            <a:avLst/>
            <a:gdLst>
              <a:gd name="connsiteX0" fmla="*/ 0 w 1612490"/>
              <a:gd name="connsiteY0" fmla="*/ 0 h 1435510"/>
              <a:gd name="connsiteX1" fmla="*/ 353961 w 1612490"/>
              <a:gd name="connsiteY1" fmla="*/ 619432 h 1435510"/>
              <a:gd name="connsiteX2" fmla="*/ 894735 w 1612490"/>
              <a:gd name="connsiteY2" fmla="*/ 1150374 h 1435510"/>
              <a:gd name="connsiteX3" fmla="*/ 1612490 w 1612490"/>
              <a:gd name="connsiteY3" fmla="*/ 1435510 h 1435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2490" h="1435510">
                <a:moveTo>
                  <a:pt x="0" y="0"/>
                </a:moveTo>
                <a:cubicBezTo>
                  <a:pt x="102419" y="213851"/>
                  <a:pt x="204839" y="427703"/>
                  <a:pt x="353961" y="619432"/>
                </a:cubicBezTo>
                <a:cubicBezTo>
                  <a:pt x="503083" y="811161"/>
                  <a:pt x="684980" y="1014361"/>
                  <a:pt x="894735" y="1150374"/>
                </a:cubicBezTo>
                <a:cubicBezTo>
                  <a:pt x="1104490" y="1286387"/>
                  <a:pt x="1358490" y="1360948"/>
                  <a:pt x="1612490" y="1435510"/>
                </a:cubicBezTo>
              </a:path>
            </a:pathLst>
          </a:custGeom>
          <a:ln w="19050">
            <a:solidFill>
              <a:srgbClr val="00B05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43845" y="3289131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실행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1335" y="370466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실행되지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않음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9153" y="318399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실행되지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않음 </a:t>
            </a:r>
          </a:p>
        </p:txBody>
      </p:sp>
      <p:sp>
        <p:nvSpPr>
          <p:cNvPr id="23" name="곱셈 기호 22"/>
          <p:cNvSpPr/>
          <p:nvPr/>
        </p:nvSpPr>
        <p:spPr>
          <a:xfrm>
            <a:off x="4318569" y="3805595"/>
            <a:ext cx="357190" cy="428628"/>
          </a:xfrm>
          <a:prstGeom prst="mathMultiply">
            <a:avLst>
              <a:gd name="adj1" fmla="val 1531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곱셈 기호 23"/>
          <p:cNvSpPr/>
          <p:nvPr/>
        </p:nvSpPr>
        <p:spPr>
          <a:xfrm>
            <a:off x="3344634" y="3752168"/>
            <a:ext cx="357190" cy="428628"/>
          </a:xfrm>
          <a:prstGeom prst="mathMultiply">
            <a:avLst>
              <a:gd name="adj1" fmla="val 1531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72075" y="1312206"/>
            <a:ext cx="3861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플랫폼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=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하드웨어 플랫폼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운영체제 플랫폼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4128" y="1752834"/>
            <a:ext cx="3127779" cy="95410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프로그램의 플랫폼 호환성 없는 이유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기계어가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CPU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마다 다름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운영체제마다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API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다름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운영체제마다 실행파일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형식 다름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4412" y="5092234"/>
            <a:ext cx="1395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CPU +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윈도우 노트북</a:t>
            </a: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999" y="4273202"/>
            <a:ext cx="903510" cy="857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72" y="1821520"/>
            <a:ext cx="1458747" cy="1351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1374605" y="1830742"/>
            <a:ext cx="29504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CPU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를 가진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리눅스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환경에서 개발</a:t>
            </a:r>
          </a:p>
        </p:txBody>
      </p:sp>
      <p:cxnSp>
        <p:nvCxnSpPr>
          <p:cNvPr id="11" name="직선 화살표 연결선 10"/>
          <p:cNvCxnSpPr>
            <a:stCxn id="10" idx="0"/>
            <a:endCxn id="32" idx="2"/>
          </p:cNvCxnSpPr>
          <p:nvPr/>
        </p:nvCxnSpPr>
        <p:spPr>
          <a:xfrm>
            <a:off x="3010620" y="2495559"/>
            <a:ext cx="559104" cy="1732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한쪽 모서리가 잘린 사각형 31"/>
          <p:cNvSpPr/>
          <p:nvPr/>
        </p:nvSpPr>
        <p:spPr>
          <a:xfrm>
            <a:off x="3569724" y="2211613"/>
            <a:ext cx="766176" cy="571356"/>
          </a:xfrm>
          <a:prstGeom prst="snip1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기계어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한쪽 모서리가 잘린 사각형 9"/>
          <p:cNvSpPr/>
          <p:nvPr/>
        </p:nvSpPr>
        <p:spPr>
          <a:xfrm>
            <a:off x="1935973" y="2209807"/>
            <a:ext cx="1074647" cy="571504"/>
          </a:xfrm>
          <a:prstGeom prst="snip1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C/C++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프로그램</a:t>
            </a:r>
          </a:p>
        </p:txBody>
      </p:sp>
      <p:sp>
        <p:nvSpPr>
          <p:cNvPr id="9" name="자유형 8"/>
          <p:cNvSpPr/>
          <p:nvPr/>
        </p:nvSpPr>
        <p:spPr>
          <a:xfrm>
            <a:off x="3482333" y="2805289"/>
            <a:ext cx="474423" cy="1388533"/>
          </a:xfrm>
          <a:custGeom>
            <a:avLst/>
            <a:gdLst>
              <a:gd name="connsiteX0" fmla="*/ 474423 w 474423"/>
              <a:gd name="connsiteY0" fmla="*/ 0 h 1388533"/>
              <a:gd name="connsiteX1" fmla="*/ 22867 w 474423"/>
              <a:gd name="connsiteY1" fmla="*/ 722489 h 1388533"/>
              <a:gd name="connsiteX2" fmla="*/ 107534 w 474423"/>
              <a:gd name="connsiteY2" fmla="*/ 1388533 h 1388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4423" h="1388533">
                <a:moveTo>
                  <a:pt x="474423" y="0"/>
                </a:moveTo>
                <a:cubicBezTo>
                  <a:pt x="279219" y="245533"/>
                  <a:pt x="84015" y="491067"/>
                  <a:pt x="22867" y="722489"/>
                </a:cubicBezTo>
                <a:cubicBezTo>
                  <a:pt x="-38281" y="953911"/>
                  <a:pt x="34626" y="1171222"/>
                  <a:pt x="107534" y="1388533"/>
                </a:cubicBezTo>
              </a:path>
            </a:pathLst>
          </a:custGeom>
          <a:noFill/>
          <a:ln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33" name="직선 화살표 연결선 32"/>
          <p:cNvCxnSpPr>
            <a:stCxn id="31" idx="3"/>
            <a:endCxn id="10" idx="2"/>
          </p:cNvCxnSpPr>
          <p:nvPr/>
        </p:nvCxnSpPr>
        <p:spPr>
          <a:xfrm flipV="1">
            <a:off x="1669519" y="2495559"/>
            <a:ext cx="266454" cy="1732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999785" y="2282805"/>
            <a:ext cx="6142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컴파일 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11839">
            <a:off x="6196955" y="4139349"/>
            <a:ext cx="1257078" cy="848528"/>
          </a:xfrm>
          <a:prstGeom prst="rect">
            <a:avLst/>
          </a:prstGeom>
        </p:spPr>
      </p:pic>
      <p:sp>
        <p:nvSpPr>
          <p:cNvPr id="34" name="자유형 33"/>
          <p:cNvSpPr/>
          <p:nvPr/>
        </p:nvSpPr>
        <p:spPr>
          <a:xfrm>
            <a:off x="4019172" y="2791543"/>
            <a:ext cx="2247324" cy="1402279"/>
          </a:xfrm>
          <a:custGeom>
            <a:avLst/>
            <a:gdLst>
              <a:gd name="connsiteX0" fmla="*/ 0 w 1612490"/>
              <a:gd name="connsiteY0" fmla="*/ 0 h 1435510"/>
              <a:gd name="connsiteX1" fmla="*/ 353961 w 1612490"/>
              <a:gd name="connsiteY1" fmla="*/ 619432 h 1435510"/>
              <a:gd name="connsiteX2" fmla="*/ 894735 w 1612490"/>
              <a:gd name="connsiteY2" fmla="*/ 1150374 h 1435510"/>
              <a:gd name="connsiteX3" fmla="*/ 1612490 w 1612490"/>
              <a:gd name="connsiteY3" fmla="*/ 1435510 h 1435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2490" h="1435510">
                <a:moveTo>
                  <a:pt x="0" y="0"/>
                </a:moveTo>
                <a:cubicBezTo>
                  <a:pt x="102419" y="213851"/>
                  <a:pt x="204839" y="427703"/>
                  <a:pt x="353961" y="619432"/>
                </a:cubicBezTo>
                <a:cubicBezTo>
                  <a:pt x="503083" y="811161"/>
                  <a:pt x="684980" y="1014361"/>
                  <a:pt x="894735" y="1150374"/>
                </a:cubicBezTo>
                <a:cubicBezTo>
                  <a:pt x="1104490" y="1286387"/>
                  <a:pt x="1358490" y="1360948"/>
                  <a:pt x="1612490" y="1435510"/>
                </a:cubicBezTo>
              </a:path>
            </a:pathLst>
          </a:custGeom>
          <a:ln w="19050">
            <a:solidFill>
              <a:srgbClr val="00B05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곱셈 기호 34"/>
          <p:cNvSpPr/>
          <p:nvPr/>
        </p:nvSpPr>
        <p:spPr>
          <a:xfrm>
            <a:off x="5144993" y="3674127"/>
            <a:ext cx="357190" cy="428628"/>
          </a:xfrm>
          <a:prstGeom prst="mathMultiply">
            <a:avLst>
              <a:gd name="adj1" fmla="val 1531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66496" y="5148649"/>
            <a:ext cx="1696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임베디드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컴퓨터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리눅스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145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410" y="1261901"/>
            <a:ext cx="1335264" cy="1397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01" y="3810966"/>
            <a:ext cx="978172" cy="932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자바의 플랫폼 독립성</a:t>
            </a:r>
            <a:r>
              <a:rPr lang="en-US" altLang="ko-KR" dirty="0"/>
              <a:t>, WORA</a:t>
            </a:r>
            <a:endParaRPr lang="ko-KR" altLang="en-US" dirty="0"/>
          </a:p>
        </p:txBody>
      </p:sp>
      <p:sp>
        <p:nvSpPr>
          <p:cNvPr id="24" name="슬라이드 번호 개체 틀 2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92219" y="5095419"/>
            <a:ext cx="1949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CPU +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리눅스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95943" y="5544473"/>
            <a:ext cx="2071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Apple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사의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MAC PC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자유형 24"/>
          <p:cNvSpPr/>
          <p:nvPr/>
        </p:nvSpPr>
        <p:spPr>
          <a:xfrm>
            <a:off x="3107440" y="2358605"/>
            <a:ext cx="2045109" cy="1415845"/>
          </a:xfrm>
          <a:custGeom>
            <a:avLst/>
            <a:gdLst>
              <a:gd name="connsiteX0" fmla="*/ 2045109 w 2045109"/>
              <a:gd name="connsiteY0" fmla="*/ 0 h 1415845"/>
              <a:gd name="connsiteX1" fmla="*/ 1130709 w 2045109"/>
              <a:gd name="connsiteY1" fmla="*/ 570271 h 1415845"/>
              <a:gd name="connsiteX2" fmla="*/ 353961 w 2045109"/>
              <a:gd name="connsiteY2" fmla="*/ 894736 h 1415845"/>
              <a:gd name="connsiteX3" fmla="*/ 0 w 2045109"/>
              <a:gd name="connsiteY3" fmla="*/ 1415845 h 1415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5109" h="1415845">
                <a:moveTo>
                  <a:pt x="2045109" y="0"/>
                </a:moveTo>
                <a:cubicBezTo>
                  <a:pt x="1728838" y="210574"/>
                  <a:pt x="1412567" y="421148"/>
                  <a:pt x="1130709" y="570271"/>
                </a:cubicBezTo>
                <a:cubicBezTo>
                  <a:pt x="848851" y="719394"/>
                  <a:pt x="542413" y="753807"/>
                  <a:pt x="353961" y="894736"/>
                </a:cubicBezTo>
                <a:cubicBezTo>
                  <a:pt x="165510" y="1035665"/>
                  <a:pt x="82755" y="1225755"/>
                  <a:pt x="0" y="1415845"/>
                </a:cubicBezTo>
              </a:path>
            </a:pathLst>
          </a:custGeom>
          <a:ln w="19050">
            <a:solidFill>
              <a:srgbClr val="00B05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자유형 28"/>
          <p:cNvSpPr/>
          <p:nvPr/>
        </p:nvSpPr>
        <p:spPr>
          <a:xfrm>
            <a:off x="5172214" y="2388101"/>
            <a:ext cx="1138140" cy="1604949"/>
          </a:xfrm>
          <a:custGeom>
            <a:avLst/>
            <a:gdLst>
              <a:gd name="connsiteX0" fmla="*/ 0 w 1612490"/>
              <a:gd name="connsiteY0" fmla="*/ 0 h 1435510"/>
              <a:gd name="connsiteX1" fmla="*/ 353961 w 1612490"/>
              <a:gd name="connsiteY1" fmla="*/ 619432 h 1435510"/>
              <a:gd name="connsiteX2" fmla="*/ 894735 w 1612490"/>
              <a:gd name="connsiteY2" fmla="*/ 1150374 h 1435510"/>
              <a:gd name="connsiteX3" fmla="*/ 1612490 w 1612490"/>
              <a:gd name="connsiteY3" fmla="*/ 1435510 h 1435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2490" h="1435510">
                <a:moveTo>
                  <a:pt x="0" y="0"/>
                </a:moveTo>
                <a:cubicBezTo>
                  <a:pt x="102419" y="213851"/>
                  <a:pt x="204839" y="427703"/>
                  <a:pt x="353961" y="619432"/>
                </a:cubicBezTo>
                <a:cubicBezTo>
                  <a:pt x="503083" y="811161"/>
                  <a:pt x="684980" y="1014361"/>
                  <a:pt x="894735" y="1150374"/>
                </a:cubicBezTo>
                <a:cubicBezTo>
                  <a:pt x="1104490" y="1286387"/>
                  <a:pt x="1358490" y="1360948"/>
                  <a:pt x="1612490" y="1435510"/>
                </a:cubicBezTo>
              </a:path>
            </a:pathLst>
          </a:custGeom>
          <a:ln w="19050">
            <a:solidFill>
              <a:srgbClr val="00B05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90017" y="3295436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실행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4110" y="3081122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실행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42495" y="3078366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실행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926" y="1766671"/>
            <a:ext cx="1485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Write Once !!</a:t>
            </a:r>
            <a:endParaRPr kumimoji="0" lang="ko-KR" altLang="en-US" sz="2000" b="1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527" y="2868418"/>
            <a:ext cx="17360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Run Anywhere!!</a:t>
            </a:r>
            <a:endParaRPr kumimoji="0" lang="ko-KR" altLang="en-US" sz="2000" b="1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99703" y="4724196"/>
            <a:ext cx="1447570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자바 가상 기계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6953" y="5140682"/>
            <a:ext cx="1464479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자바 가상 기계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53945" y="4787111"/>
            <a:ext cx="1386962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자바 가상 기계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24524" y="5175141"/>
            <a:ext cx="1438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CPU +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윈도우 노트북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576" y="3724065"/>
            <a:ext cx="903510" cy="857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504" y="3623847"/>
            <a:ext cx="774720" cy="1485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3" name="직선 화살표 연결선 32"/>
          <p:cNvCxnSpPr>
            <a:stCxn id="35" idx="0"/>
            <a:endCxn id="34" idx="2"/>
          </p:cNvCxnSpPr>
          <p:nvPr/>
        </p:nvCxnSpPr>
        <p:spPr>
          <a:xfrm flipV="1">
            <a:off x="4375409" y="2064007"/>
            <a:ext cx="416486" cy="9232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한쪽 모서리가 잘린 사각형 33"/>
          <p:cNvSpPr/>
          <p:nvPr/>
        </p:nvSpPr>
        <p:spPr>
          <a:xfrm>
            <a:off x="4791895" y="1778329"/>
            <a:ext cx="766176" cy="571356"/>
          </a:xfrm>
          <a:prstGeom prst="snip1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바이트코드</a:t>
            </a:r>
          </a:p>
        </p:txBody>
      </p:sp>
      <p:sp>
        <p:nvSpPr>
          <p:cNvPr id="35" name="한쪽 모서리가 잘린 사각형 34"/>
          <p:cNvSpPr/>
          <p:nvPr/>
        </p:nvSpPr>
        <p:spPr>
          <a:xfrm>
            <a:off x="3300762" y="1787487"/>
            <a:ext cx="1074647" cy="571504"/>
          </a:xfrm>
          <a:prstGeom prst="snip1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자바 응용프로그램</a:t>
            </a:r>
          </a:p>
        </p:txBody>
      </p:sp>
      <p:cxnSp>
        <p:nvCxnSpPr>
          <p:cNvPr id="36" name="직선 화살표 연결선 35"/>
          <p:cNvCxnSpPr>
            <a:endCxn id="35" idx="2"/>
          </p:cNvCxnSpPr>
          <p:nvPr/>
        </p:nvCxnSpPr>
        <p:spPr>
          <a:xfrm flipV="1">
            <a:off x="3034308" y="2073239"/>
            <a:ext cx="266454" cy="1732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자유형 36"/>
          <p:cNvSpPr/>
          <p:nvPr/>
        </p:nvSpPr>
        <p:spPr>
          <a:xfrm>
            <a:off x="4657321" y="2394837"/>
            <a:ext cx="474423" cy="1388533"/>
          </a:xfrm>
          <a:custGeom>
            <a:avLst/>
            <a:gdLst>
              <a:gd name="connsiteX0" fmla="*/ 474423 w 474423"/>
              <a:gd name="connsiteY0" fmla="*/ 0 h 1388533"/>
              <a:gd name="connsiteX1" fmla="*/ 22867 w 474423"/>
              <a:gd name="connsiteY1" fmla="*/ 722489 h 1388533"/>
              <a:gd name="connsiteX2" fmla="*/ 107534 w 474423"/>
              <a:gd name="connsiteY2" fmla="*/ 1388533 h 1388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4423" h="1388533">
                <a:moveTo>
                  <a:pt x="474423" y="0"/>
                </a:moveTo>
                <a:cubicBezTo>
                  <a:pt x="279219" y="245533"/>
                  <a:pt x="84015" y="491067"/>
                  <a:pt x="22867" y="722489"/>
                </a:cubicBezTo>
                <a:cubicBezTo>
                  <a:pt x="-38281" y="953911"/>
                  <a:pt x="34626" y="1171222"/>
                  <a:pt x="107534" y="1388533"/>
                </a:cubicBezTo>
              </a:path>
            </a:pathLst>
          </a:custGeom>
          <a:noFill/>
          <a:ln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11839">
            <a:off x="7355052" y="3718443"/>
            <a:ext cx="1257078" cy="848528"/>
          </a:xfrm>
          <a:prstGeom prst="rect">
            <a:avLst/>
          </a:prstGeom>
        </p:spPr>
      </p:pic>
      <p:sp>
        <p:nvSpPr>
          <p:cNvPr id="39" name="자유형 38"/>
          <p:cNvSpPr/>
          <p:nvPr/>
        </p:nvSpPr>
        <p:spPr>
          <a:xfrm>
            <a:off x="5177269" y="2370637"/>
            <a:ext cx="2247324" cy="1402279"/>
          </a:xfrm>
          <a:custGeom>
            <a:avLst/>
            <a:gdLst>
              <a:gd name="connsiteX0" fmla="*/ 0 w 1612490"/>
              <a:gd name="connsiteY0" fmla="*/ 0 h 1435510"/>
              <a:gd name="connsiteX1" fmla="*/ 353961 w 1612490"/>
              <a:gd name="connsiteY1" fmla="*/ 619432 h 1435510"/>
              <a:gd name="connsiteX2" fmla="*/ 894735 w 1612490"/>
              <a:gd name="connsiteY2" fmla="*/ 1150374 h 1435510"/>
              <a:gd name="connsiteX3" fmla="*/ 1612490 w 1612490"/>
              <a:gd name="connsiteY3" fmla="*/ 1435510 h 1435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2490" h="1435510">
                <a:moveTo>
                  <a:pt x="0" y="0"/>
                </a:moveTo>
                <a:cubicBezTo>
                  <a:pt x="102419" y="213851"/>
                  <a:pt x="204839" y="427703"/>
                  <a:pt x="353961" y="619432"/>
                </a:cubicBezTo>
                <a:cubicBezTo>
                  <a:pt x="503083" y="811161"/>
                  <a:pt x="684980" y="1014361"/>
                  <a:pt x="894735" y="1150374"/>
                </a:cubicBezTo>
                <a:cubicBezTo>
                  <a:pt x="1104490" y="1286387"/>
                  <a:pt x="1358490" y="1360948"/>
                  <a:pt x="1612490" y="1435510"/>
                </a:cubicBezTo>
              </a:path>
            </a:pathLst>
          </a:custGeom>
          <a:ln w="19050">
            <a:solidFill>
              <a:srgbClr val="00B05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424593" y="5141586"/>
            <a:ext cx="1696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임베디드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컴퓨터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리눅스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487539" y="4742998"/>
            <a:ext cx="1386962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자바 가상 기계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47696" y="3061018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실행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33134" y="2088391"/>
            <a:ext cx="1260608" cy="612934"/>
          </a:xfrm>
          <a:prstGeom prst="wedgeRoundRectCallout">
            <a:avLst>
              <a:gd name="adj1" fmla="val -102511"/>
              <a:gd name="adj2" fmla="val 112418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자바 가상 기계가 설치된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모든 컴퓨터에서 실행됨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85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바이트 코드와 자바 가상 기계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바이트</a:t>
            </a:r>
            <a:r>
              <a:rPr lang="en-US" altLang="ko-KR" dirty="0"/>
              <a:t> </a:t>
            </a:r>
            <a:r>
              <a:rPr lang="ko-KR" altLang="en-US" dirty="0"/>
              <a:t>코드</a:t>
            </a:r>
            <a:endParaRPr lang="en-US" altLang="ko-KR" dirty="0"/>
          </a:p>
          <a:p>
            <a:pPr lvl="1"/>
            <a:r>
              <a:rPr lang="ko-KR" altLang="en-US" dirty="0"/>
              <a:t>자바 가상 기계에서 실행 가능한 바이너리 코드</a:t>
            </a:r>
            <a:endParaRPr lang="en-US" altLang="ko-KR" dirty="0"/>
          </a:p>
          <a:p>
            <a:pPr lvl="2"/>
            <a:r>
              <a:rPr lang="ko-KR" altLang="en-US" dirty="0"/>
              <a:t>바이트 코드는 컴퓨터 </a:t>
            </a:r>
            <a:r>
              <a:rPr lang="en-US" altLang="ko-KR" dirty="0"/>
              <a:t>CPU</a:t>
            </a:r>
            <a:r>
              <a:rPr lang="ko-KR" altLang="en-US" dirty="0"/>
              <a:t>에 의해 직접 실행되지 않음</a:t>
            </a:r>
            <a:endParaRPr lang="en-US" altLang="ko-KR" dirty="0"/>
          </a:p>
          <a:p>
            <a:pPr lvl="2"/>
            <a:r>
              <a:rPr lang="ko-KR" altLang="en-US" dirty="0"/>
              <a:t>자바 가상 기계가 작동 중인 플랫폼에서 실행</a:t>
            </a:r>
            <a:endParaRPr lang="en-US" altLang="ko-KR" dirty="0"/>
          </a:p>
          <a:p>
            <a:pPr lvl="2"/>
            <a:r>
              <a:rPr lang="ko-KR" altLang="en-US" dirty="0"/>
              <a:t>자바 가상 기계가 인터프리터 방식으로 바이트 코드 해석</a:t>
            </a:r>
            <a:endParaRPr lang="en-US" altLang="ko-KR" dirty="0"/>
          </a:p>
          <a:p>
            <a:pPr lvl="1"/>
            <a:r>
              <a:rPr lang="ko-KR" altLang="en-US" dirty="0"/>
              <a:t>클래스 파일</a:t>
            </a:r>
            <a:r>
              <a:rPr lang="en-US" altLang="ko-KR" dirty="0"/>
              <a:t>(.class)</a:t>
            </a:r>
            <a:r>
              <a:rPr lang="ko-KR" altLang="en-US" dirty="0"/>
              <a:t>에 저장</a:t>
            </a:r>
            <a:endParaRPr lang="en-US" altLang="ko-KR" dirty="0"/>
          </a:p>
          <a:p>
            <a:r>
              <a:rPr lang="ko-KR" altLang="en-US" dirty="0"/>
              <a:t>자바 가상 기계</a:t>
            </a:r>
            <a:r>
              <a:rPr lang="en-US" altLang="ko-KR" dirty="0"/>
              <a:t>(JVM : Java Virtual Machine)</a:t>
            </a:r>
          </a:p>
          <a:p>
            <a:pPr lvl="1"/>
            <a:r>
              <a:rPr lang="ko-KR" altLang="en-US" dirty="0"/>
              <a:t>동일한 자바 실행 환경 제공</a:t>
            </a:r>
            <a:endParaRPr lang="en-US" altLang="ko-KR" dirty="0"/>
          </a:p>
          <a:p>
            <a:pPr lvl="2"/>
            <a:r>
              <a:rPr lang="ko-KR" altLang="en-US" dirty="0"/>
              <a:t>각기 다른 플랫폼에 설치</a:t>
            </a:r>
            <a:endParaRPr lang="en-US" altLang="ko-KR" dirty="0"/>
          </a:p>
          <a:p>
            <a:pPr lvl="1"/>
            <a:r>
              <a:rPr lang="ko-KR" altLang="en-US" dirty="0"/>
              <a:t>자바 가상 기계 자체는 플랫폼에 종속적</a:t>
            </a:r>
            <a:endParaRPr lang="en-US" altLang="ko-KR" dirty="0"/>
          </a:p>
          <a:p>
            <a:pPr lvl="2"/>
            <a:r>
              <a:rPr lang="ko-KR" altLang="en-US" dirty="0"/>
              <a:t>자바 가상 기계는 플랫폼마다 각각 작성됨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 err="1"/>
              <a:t>리눅스에서</a:t>
            </a:r>
            <a:r>
              <a:rPr lang="ko-KR" altLang="en-US" dirty="0"/>
              <a:t> 작동하는 자바 가상 기계는 윈도우에서 작동하지 않음</a:t>
            </a:r>
            <a:endParaRPr lang="en-US" altLang="ko-KR" dirty="0"/>
          </a:p>
          <a:p>
            <a:pPr lvl="1"/>
            <a:r>
              <a:rPr lang="ko-KR" altLang="en-US" dirty="0"/>
              <a:t>자바 가상 기계 개발 및</a:t>
            </a:r>
            <a:r>
              <a:rPr lang="en-US" altLang="ko-KR" dirty="0"/>
              <a:t> </a:t>
            </a:r>
            <a:r>
              <a:rPr lang="ko-KR" altLang="en-US" dirty="0"/>
              <a:t>공급</a:t>
            </a:r>
            <a:endParaRPr lang="en-US" altLang="ko-KR" dirty="0"/>
          </a:p>
          <a:p>
            <a:pPr lvl="2"/>
            <a:r>
              <a:rPr lang="ko-KR" altLang="en-US" dirty="0"/>
              <a:t>자바 개발사인 오라클</a:t>
            </a:r>
            <a:r>
              <a:rPr lang="en-US" altLang="ko-KR" dirty="0"/>
              <a:t>, IBM </a:t>
            </a:r>
            <a:r>
              <a:rPr lang="ko-KR" altLang="en-US" dirty="0"/>
              <a:t>등</a:t>
            </a:r>
            <a:endParaRPr lang="en-US" altLang="ko-KR" dirty="0"/>
          </a:p>
          <a:p>
            <a:r>
              <a:rPr lang="ko-KR" altLang="en-US" dirty="0"/>
              <a:t>자바 응용프로그램 실행</a:t>
            </a:r>
            <a:endParaRPr lang="en-US" altLang="ko-KR" dirty="0"/>
          </a:p>
          <a:p>
            <a:pPr lvl="1"/>
            <a:r>
              <a:rPr lang="ko-KR" altLang="en-US" dirty="0"/>
              <a:t>자바 가상 기계가 응용프로그램을 구성하는 클래스 파일</a:t>
            </a:r>
            <a:r>
              <a:rPr lang="en-US" altLang="ko-KR" dirty="0"/>
              <a:t>(.class)</a:t>
            </a:r>
            <a:r>
              <a:rPr lang="ko-KR" altLang="en-US" dirty="0"/>
              <a:t>의 바이트 코드 실행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5379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55576" y="764704"/>
            <a:ext cx="3472834" cy="578413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제 </a:t>
            </a:r>
            <a:r>
              <a:rPr lang="en-US" altLang="ko-KR" sz="2400" dirty="0"/>
              <a:t>1</a:t>
            </a:r>
            <a:r>
              <a:rPr lang="ko-KR" altLang="en-US" sz="2400" dirty="0"/>
              <a:t> 장 </a:t>
            </a:r>
            <a:r>
              <a:rPr lang="ko-KR" altLang="en-US" sz="2400" dirty="0" err="1"/>
              <a:t>자바란</a:t>
            </a:r>
            <a:r>
              <a:rPr lang="en-US" altLang="ko-KR" sz="2400" dirty="0"/>
              <a:t>?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2780928"/>
            <a:ext cx="7886700" cy="326350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z="1800" dirty="0"/>
              <a:t>개발자 </a:t>
            </a:r>
            <a:r>
              <a:rPr lang="en-US" altLang="ko-KR" sz="1800" dirty="0"/>
              <a:t>: </a:t>
            </a:r>
            <a:r>
              <a:rPr lang="ko-KR" altLang="en-US" sz="1800" dirty="0"/>
              <a:t>제임스 고슬링</a:t>
            </a:r>
            <a:r>
              <a:rPr lang="en-US" altLang="ko-KR" sz="1800" dirty="0"/>
              <a:t>(1995) </a:t>
            </a:r>
            <a:r>
              <a:rPr lang="ko-KR" altLang="en-US" sz="1800" dirty="0"/>
              <a:t>외</a:t>
            </a:r>
            <a:endParaRPr lang="en-US" altLang="ko-KR" sz="1800" dirty="0"/>
          </a:p>
          <a:p>
            <a:r>
              <a:rPr lang="ko-KR" altLang="en-US" sz="1800" dirty="0"/>
              <a:t>용도 </a:t>
            </a:r>
            <a:r>
              <a:rPr lang="en-US" altLang="ko-KR" sz="1800" dirty="0"/>
              <a:t>: </a:t>
            </a:r>
          </a:p>
          <a:p>
            <a:pPr marL="342900" lvl="1" indent="0">
              <a:buNone/>
            </a:pPr>
            <a:r>
              <a:rPr lang="ko-KR" altLang="en-US" dirty="0"/>
              <a:t>웹 어플리케이션</a:t>
            </a:r>
            <a:endParaRPr lang="en-US" altLang="ko-KR" dirty="0"/>
          </a:p>
          <a:p>
            <a:pPr marL="342900" lvl="1" indent="0">
              <a:buNone/>
            </a:pPr>
            <a:r>
              <a:rPr lang="ko-KR" altLang="en-US" dirty="0"/>
              <a:t>시스템 통합 프로젝트</a:t>
            </a:r>
            <a:r>
              <a:rPr lang="en-US" altLang="ko-KR" dirty="0"/>
              <a:t>(SI)</a:t>
            </a:r>
          </a:p>
          <a:p>
            <a:pPr marL="342900" lvl="1" indent="0">
              <a:buNone/>
            </a:pPr>
            <a:r>
              <a:rPr lang="ko-KR" altLang="en-US" dirty="0"/>
              <a:t>모바일 어플리케이션</a:t>
            </a:r>
            <a:r>
              <a:rPr lang="en-US" altLang="ko-KR" dirty="0"/>
              <a:t>(</a:t>
            </a:r>
            <a:r>
              <a:rPr lang="ko-KR" altLang="en-US" dirty="0"/>
              <a:t>안드로이드</a:t>
            </a:r>
            <a:r>
              <a:rPr lang="en-US" altLang="ko-KR" dirty="0"/>
              <a:t>)</a:t>
            </a:r>
          </a:p>
          <a:p>
            <a:r>
              <a:rPr lang="ko-KR" altLang="en-US" sz="1800" dirty="0"/>
              <a:t>특징 </a:t>
            </a:r>
            <a:r>
              <a:rPr lang="en-US" altLang="ko-KR" sz="1800" dirty="0"/>
              <a:t>: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ko-KR" sz="2400" dirty="0">
                <a:solidFill>
                  <a:srgbClr val="C00000"/>
                </a:solidFill>
              </a:rPr>
              <a:t>C++ </a:t>
            </a:r>
            <a:r>
              <a:rPr lang="ko-KR" altLang="en-US" sz="2400" dirty="0">
                <a:solidFill>
                  <a:srgbClr val="C00000"/>
                </a:solidFill>
              </a:rPr>
              <a:t>기반의 객체지향 프로그래밍 언어</a:t>
            </a:r>
            <a:endParaRPr lang="en-US" altLang="ko-KR" sz="2400" dirty="0">
              <a:solidFill>
                <a:srgbClr val="C00000"/>
              </a:solidFill>
            </a:endParaRPr>
          </a:p>
          <a:p>
            <a:pPr marL="685800" lvl="1" indent="-342900">
              <a:buFont typeface="+mj-lt"/>
              <a:buAutoNum type="arabicPeriod"/>
            </a:pPr>
            <a:r>
              <a:rPr lang="ko-KR" altLang="en-US" dirty="0"/>
              <a:t>컴파일과 </a:t>
            </a:r>
            <a:r>
              <a:rPr lang="ko-KR" altLang="en-US" dirty="0" err="1"/>
              <a:t>인터프리팅</a:t>
            </a:r>
            <a:r>
              <a:rPr lang="ko-KR" altLang="en-US" dirty="0"/>
              <a:t> 방식을 모두 사용하는 언어</a:t>
            </a:r>
          </a:p>
          <a:p>
            <a:pPr marL="685800" lvl="1" indent="-342900">
              <a:buFont typeface="+mj-lt"/>
              <a:buAutoNum type="arabicPeriod"/>
            </a:pPr>
            <a:r>
              <a:rPr lang="ko-KR" altLang="en-US" dirty="0"/>
              <a:t>플랫폼에 독립적 </a:t>
            </a:r>
            <a:r>
              <a:rPr lang="en-US" altLang="ko-KR" dirty="0"/>
              <a:t>(Write</a:t>
            </a:r>
            <a:r>
              <a:rPr lang="ko-KR" altLang="en-US" dirty="0"/>
              <a:t> </a:t>
            </a:r>
            <a:r>
              <a:rPr lang="en-US" altLang="ko-KR" dirty="0"/>
              <a:t>Once,</a:t>
            </a:r>
            <a:r>
              <a:rPr lang="ko-KR" altLang="en-US" dirty="0"/>
              <a:t> </a:t>
            </a:r>
            <a:r>
              <a:rPr lang="en-US" altLang="ko-KR" dirty="0"/>
              <a:t>Run</a:t>
            </a:r>
            <a:r>
              <a:rPr lang="ko-KR" altLang="en-US" dirty="0"/>
              <a:t> </a:t>
            </a:r>
            <a:r>
              <a:rPr lang="en-US" altLang="ko-KR" dirty="0"/>
              <a:t>Anywhere)</a:t>
            </a:r>
          </a:p>
        </p:txBody>
      </p:sp>
    </p:spTree>
    <p:extLst>
      <p:ext uri="{BB962C8B-B14F-4D97-AF65-F5344CB8AC3E}">
        <p14:creationId xmlns:p14="http://schemas.microsoft.com/office/powerpoint/2010/main" val="2479459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6823670" cy="578413"/>
          </a:xfrm>
        </p:spPr>
        <p:txBody>
          <a:bodyPr>
            <a:normAutofit fontScale="90000"/>
          </a:bodyPr>
          <a:lstStyle/>
          <a:p>
            <a:r>
              <a:rPr lang="ko-KR" altLang="en-US"/>
              <a:t>제 </a:t>
            </a:r>
            <a:r>
              <a:rPr lang="en-US" altLang="ko-KR"/>
              <a:t>2</a:t>
            </a:r>
            <a:r>
              <a:rPr lang="ko-KR" altLang="en-US"/>
              <a:t> 장 절차적언어 </a:t>
            </a:r>
            <a:r>
              <a:rPr lang="en-US" altLang="ko-KR"/>
              <a:t>VS </a:t>
            </a:r>
            <a:r>
              <a:rPr lang="ko-KR" altLang="en-US"/>
              <a:t>객체지향언어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2564904"/>
            <a:ext cx="7886700" cy="410737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sz="2850" b="1" dirty="0"/>
              <a:t>절차적 언어 </a:t>
            </a:r>
            <a:endParaRPr lang="en-US" altLang="ko-KR" sz="285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  : </a:t>
            </a:r>
            <a:r>
              <a:rPr lang="ko-KR" altLang="en-US" dirty="0"/>
              <a:t>프로그램의 흐름</a:t>
            </a:r>
            <a:r>
              <a:rPr lang="en-US" altLang="ko-KR" dirty="0"/>
              <a:t>(</a:t>
            </a:r>
            <a:r>
              <a:rPr lang="ko-KR" altLang="en-US" dirty="0"/>
              <a:t>절차</a:t>
            </a:r>
            <a:r>
              <a:rPr lang="en-US" altLang="ko-KR" dirty="0"/>
              <a:t>)</a:t>
            </a:r>
            <a:r>
              <a:rPr lang="ko-KR" altLang="en-US" dirty="0"/>
              <a:t>을 따라 코드를 작성하는 방식을 사용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    C</a:t>
            </a:r>
            <a:r>
              <a:rPr lang="ko-KR" altLang="en-US" dirty="0"/>
              <a:t>언어</a:t>
            </a:r>
            <a:r>
              <a:rPr lang="en-US" altLang="ko-KR" dirty="0"/>
              <a:t>, COBOL,</a:t>
            </a:r>
            <a:r>
              <a:rPr lang="ko-KR" altLang="en-US" dirty="0"/>
              <a:t> </a:t>
            </a:r>
            <a:r>
              <a:rPr lang="en-US" altLang="ko-KR" dirty="0"/>
              <a:t>ALGOL </a:t>
            </a:r>
            <a:r>
              <a:rPr lang="ko-KR" altLang="en-US" dirty="0"/>
              <a:t>등 초기 세대의 프로그래밍 언어가 이에 속함</a:t>
            </a: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sz="2850" b="1" dirty="0"/>
              <a:t>객체 지향 언어 </a:t>
            </a:r>
            <a:endParaRPr lang="en-US" altLang="ko-KR" sz="285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  : </a:t>
            </a:r>
            <a:r>
              <a:rPr lang="ko-KR" altLang="en-US" dirty="0"/>
              <a:t>기능 별로 객체화 하여</a:t>
            </a:r>
            <a:r>
              <a:rPr lang="en-US" altLang="ko-KR" dirty="0"/>
              <a:t>,</a:t>
            </a:r>
            <a:r>
              <a:rPr lang="ko-KR" altLang="en-US" dirty="0"/>
              <a:t> 객체마다 코드를 작성하는 방식을 사용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   </a:t>
            </a:r>
            <a:r>
              <a:rPr lang="ko-KR" altLang="en-US" dirty="0"/>
              <a:t>절차적 언어 이후에 나온 방식이며</a:t>
            </a:r>
            <a:r>
              <a:rPr lang="en-US" altLang="ko-KR" dirty="0"/>
              <a:t>, </a:t>
            </a:r>
            <a:r>
              <a:rPr lang="ko-KR" altLang="en-US" dirty="0"/>
              <a:t>자바</a:t>
            </a:r>
            <a:r>
              <a:rPr lang="en-US" altLang="ko-KR" dirty="0"/>
              <a:t>, C++, Python </a:t>
            </a:r>
            <a:r>
              <a:rPr lang="ko-KR" altLang="en-US" dirty="0"/>
              <a:t>등 현재 주로 사용되는 언어들은 객체 지향 언어에 속함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	(1) </a:t>
            </a:r>
            <a:r>
              <a:rPr lang="ko-KR" altLang="en-US" dirty="0"/>
              <a:t>캡슐화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	(2) </a:t>
            </a:r>
            <a:r>
              <a:rPr lang="ko-KR" altLang="en-US" dirty="0"/>
              <a:t>상속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	(3) </a:t>
            </a:r>
            <a:r>
              <a:rPr lang="ko-KR" altLang="en-US" dirty="0" err="1"/>
              <a:t>다형성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01247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2348880"/>
            <a:ext cx="7886700" cy="439248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1100" dirty="0"/>
              <a:t>절차적 방식으로 자동차 만들기</a:t>
            </a:r>
            <a:endParaRPr lang="en-US" altLang="ko-KR" sz="1100" dirty="0"/>
          </a:p>
          <a:p>
            <a:pPr marL="0" indent="0">
              <a:buNone/>
            </a:pPr>
            <a:r>
              <a:rPr lang="en-US" altLang="ko-KR" sz="1100" dirty="0"/>
              <a:t>   1. </a:t>
            </a:r>
            <a:r>
              <a:rPr lang="ko-KR" altLang="en-US" sz="1100" dirty="0"/>
              <a:t>자동차의 실행 절차를 계획한다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en-US" altLang="ko-KR" sz="1100" dirty="0"/>
              <a:t>   2. </a:t>
            </a:r>
            <a:r>
              <a:rPr lang="ko-KR" altLang="en-US" sz="1100" dirty="0"/>
              <a:t>처음 부분</a:t>
            </a:r>
            <a:r>
              <a:rPr lang="en-US" altLang="ko-KR" sz="1100" dirty="0"/>
              <a:t>(</a:t>
            </a:r>
            <a:r>
              <a:rPr lang="ko-KR" altLang="en-US" sz="1100" dirty="0"/>
              <a:t>엔트리 포인트</a:t>
            </a:r>
            <a:r>
              <a:rPr lang="en-US" altLang="ko-KR" sz="1100" dirty="0"/>
              <a:t>)</a:t>
            </a:r>
            <a:r>
              <a:rPr lang="ko-KR" altLang="en-US" sz="1100" dirty="0"/>
              <a:t>를 시작으로 시동이 멈추기까지의 흐름을 코딩한다</a:t>
            </a:r>
            <a:r>
              <a:rPr lang="en-US" altLang="ko-KR" sz="1100" dirty="0"/>
              <a:t>.</a:t>
            </a:r>
          </a:p>
          <a:p>
            <a:pPr marL="0" indent="0">
              <a:buNone/>
            </a:pPr>
            <a:r>
              <a:rPr lang="en-US" altLang="ko-KR" sz="1100" dirty="0"/>
              <a:t>      e.g. </a:t>
            </a:r>
            <a:r>
              <a:rPr lang="ko-KR" altLang="en-US" sz="1100" dirty="0"/>
              <a:t>시동을 건다 </a:t>
            </a:r>
            <a:r>
              <a:rPr lang="en-US" altLang="ko-KR" sz="1100" dirty="0">
                <a:sym typeface="Wingdings" panose="05000000000000000000" pitchFamily="2" charset="2"/>
              </a:rPr>
              <a:t></a:t>
            </a:r>
            <a:r>
              <a:rPr lang="en-US" altLang="ko-KR" sz="1100" dirty="0"/>
              <a:t> </a:t>
            </a:r>
            <a:r>
              <a:rPr lang="ko-KR" altLang="en-US" sz="1100" dirty="0"/>
              <a:t>안전벨트를 맨다 </a:t>
            </a:r>
            <a:r>
              <a:rPr lang="en-US" altLang="ko-KR" sz="1100" dirty="0">
                <a:sym typeface="Wingdings" panose="05000000000000000000" pitchFamily="2" charset="2"/>
              </a:rPr>
              <a:t></a:t>
            </a:r>
            <a:r>
              <a:rPr lang="en-US" altLang="ko-KR" sz="1100" dirty="0"/>
              <a:t> </a:t>
            </a:r>
            <a:r>
              <a:rPr lang="ko-KR" altLang="en-US" sz="1100" dirty="0"/>
              <a:t>기어를 드라이브에 둔다 </a:t>
            </a:r>
            <a:endParaRPr lang="en-US" altLang="ko-KR" sz="1100" dirty="0"/>
          </a:p>
          <a:p>
            <a:pPr marL="0" indent="0">
              <a:buNone/>
            </a:pPr>
            <a:r>
              <a:rPr lang="en-US" altLang="ko-KR" sz="1100" dirty="0">
                <a:sym typeface="Wingdings" panose="05000000000000000000" pitchFamily="2" charset="2"/>
              </a:rPr>
              <a:t>        </a:t>
            </a:r>
            <a:r>
              <a:rPr lang="en-US" altLang="ko-KR" sz="1100" dirty="0"/>
              <a:t> </a:t>
            </a:r>
            <a:r>
              <a:rPr lang="ko-KR" altLang="en-US" sz="1100" dirty="0"/>
              <a:t>브레이크를 뗀다 </a:t>
            </a:r>
            <a:r>
              <a:rPr lang="en-US" altLang="ko-KR" sz="1100" dirty="0">
                <a:sym typeface="Wingdings" panose="05000000000000000000" pitchFamily="2" charset="2"/>
              </a:rPr>
              <a:t></a:t>
            </a:r>
            <a:r>
              <a:rPr lang="en-US" altLang="ko-KR" sz="1100" dirty="0"/>
              <a:t> </a:t>
            </a:r>
            <a:r>
              <a:rPr lang="ko-KR" altLang="en-US" sz="1100" dirty="0"/>
              <a:t>핸들을 움직인다</a:t>
            </a:r>
            <a:r>
              <a:rPr lang="en-US" altLang="ko-KR" sz="1100" dirty="0"/>
              <a:t>. </a:t>
            </a:r>
            <a:r>
              <a:rPr lang="en-US" altLang="ko-KR" sz="1100" dirty="0">
                <a:sym typeface="Wingdings" panose="05000000000000000000" pitchFamily="2" charset="2"/>
              </a:rPr>
              <a:t> </a:t>
            </a:r>
            <a:r>
              <a:rPr lang="ko-KR" altLang="en-US" sz="1100" dirty="0">
                <a:sym typeface="Wingdings" panose="05000000000000000000" pitchFamily="2" charset="2"/>
              </a:rPr>
              <a:t>원하는 곳으로 이동한다</a:t>
            </a:r>
            <a:r>
              <a:rPr lang="en-US" altLang="ko-KR" sz="1100" dirty="0">
                <a:sym typeface="Wingdings" panose="05000000000000000000" pitchFamily="2" charset="2"/>
              </a:rPr>
              <a:t>.  </a:t>
            </a:r>
            <a:r>
              <a:rPr lang="ko-KR" altLang="en-US" sz="1100" dirty="0">
                <a:sym typeface="Wingdings" panose="05000000000000000000" pitchFamily="2" charset="2"/>
              </a:rPr>
              <a:t>시동을 끈다</a:t>
            </a:r>
            <a:r>
              <a:rPr lang="en-US" altLang="ko-KR" sz="11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en-US" altLang="ko-KR" sz="1100" dirty="0"/>
              <a:t>   </a:t>
            </a:r>
            <a:r>
              <a:rPr lang="ko-KR" altLang="en-US" sz="1100" b="1" dirty="0"/>
              <a:t>장점 </a:t>
            </a:r>
            <a:r>
              <a:rPr lang="en-US" altLang="ko-KR" sz="1100" b="1" dirty="0"/>
              <a:t>: </a:t>
            </a:r>
          </a:p>
          <a:p>
            <a:pPr marL="0" indent="0">
              <a:buNone/>
            </a:pPr>
            <a:r>
              <a:rPr lang="ko-KR" altLang="en-US" sz="1100" dirty="0"/>
              <a:t>     세심한 프로그래밍이 가능하다</a:t>
            </a:r>
            <a:r>
              <a:rPr lang="en-US" altLang="ko-KR" sz="1100" dirty="0"/>
              <a:t>. (</a:t>
            </a:r>
            <a:r>
              <a:rPr lang="ko-KR" altLang="en-US" sz="1100" dirty="0"/>
              <a:t>메모리와 하드웨어를 계획적으로 사용할 수 있다</a:t>
            </a:r>
            <a:r>
              <a:rPr lang="en-US" altLang="ko-KR" sz="1100" dirty="0"/>
              <a:t>.)</a:t>
            </a:r>
          </a:p>
          <a:p>
            <a:pPr marL="0" indent="0">
              <a:buNone/>
            </a:pPr>
            <a:r>
              <a:rPr lang="en-US" altLang="ko-KR" sz="1100" dirty="0"/>
              <a:t>     </a:t>
            </a:r>
            <a:r>
              <a:rPr lang="ko-KR" altLang="en-US" sz="1100" dirty="0"/>
              <a:t>따라서 작은 프로그램이나</a:t>
            </a:r>
            <a:r>
              <a:rPr lang="en-US" altLang="ko-KR" sz="1100" dirty="0"/>
              <a:t>, </a:t>
            </a:r>
            <a:r>
              <a:rPr lang="ko-KR" altLang="en-US" sz="1100" dirty="0"/>
              <a:t>퍼포먼스가 중요한 프로그램</a:t>
            </a:r>
            <a:r>
              <a:rPr lang="en-US" altLang="ko-KR" sz="1100" dirty="0"/>
              <a:t>(</a:t>
            </a:r>
            <a:r>
              <a:rPr lang="ko-KR" altLang="en-US" sz="1100" dirty="0"/>
              <a:t>임베디드</a:t>
            </a:r>
            <a:r>
              <a:rPr lang="en-US" altLang="ko-KR" sz="1100" dirty="0"/>
              <a:t>, </a:t>
            </a:r>
            <a:r>
              <a:rPr lang="ko-KR" altLang="en-US" sz="1100" dirty="0"/>
              <a:t>펌웨어 등</a:t>
            </a:r>
            <a:r>
              <a:rPr lang="en-US" altLang="ko-KR" sz="1100" dirty="0"/>
              <a:t>)</a:t>
            </a:r>
            <a:r>
              <a:rPr lang="ko-KR" altLang="en-US" sz="1100" dirty="0"/>
              <a:t>에서는 </a:t>
            </a:r>
            <a:endParaRPr lang="en-US" altLang="ko-KR" sz="1100" dirty="0"/>
          </a:p>
          <a:p>
            <a:pPr marL="0" indent="0">
              <a:buNone/>
            </a:pPr>
            <a:r>
              <a:rPr lang="en-US" altLang="ko-KR" sz="1100" dirty="0"/>
              <a:t>     </a:t>
            </a:r>
            <a:r>
              <a:rPr lang="ko-KR" altLang="en-US" sz="1100" dirty="0"/>
              <a:t>절차적 언어를 사용한다</a:t>
            </a:r>
            <a:r>
              <a:rPr lang="en-US" altLang="ko-KR" sz="1100" dirty="0"/>
              <a:t>. </a:t>
            </a:r>
          </a:p>
          <a:p>
            <a:pPr marL="0" indent="0">
              <a:buNone/>
            </a:pPr>
            <a:r>
              <a:rPr lang="en-US" altLang="ko-KR" sz="1100" dirty="0"/>
              <a:t>   </a:t>
            </a:r>
            <a:r>
              <a:rPr lang="ko-KR" altLang="en-US" sz="1100" b="1" dirty="0"/>
              <a:t>단점 </a:t>
            </a:r>
            <a:r>
              <a:rPr lang="en-US" altLang="ko-KR" sz="1100" b="1" dirty="0"/>
              <a:t>: </a:t>
            </a:r>
          </a:p>
          <a:p>
            <a:pPr marL="0" indent="0">
              <a:buNone/>
            </a:pPr>
            <a:r>
              <a:rPr lang="ko-KR" altLang="en-US" sz="1100" dirty="0"/>
              <a:t>     유지 보수가 어렵고</a:t>
            </a:r>
            <a:r>
              <a:rPr lang="en-US" altLang="ko-KR" sz="1100" dirty="0"/>
              <a:t> (</a:t>
            </a:r>
            <a:r>
              <a:rPr lang="ko-KR" altLang="en-US" sz="1100" dirty="0"/>
              <a:t>하나의 기능을 고치려면 프로그램을 전반적으로 수정해야 한다</a:t>
            </a:r>
            <a:r>
              <a:rPr lang="en-US" altLang="ko-KR" sz="1100" dirty="0"/>
              <a:t>.)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     개발 기간이 길다</a:t>
            </a:r>
            <a:r>
              <a:rPr lang="en-US" altLang="ko-KR" sz="1100" dirty="0"/>
              <a:t>.</a:t>
            </a:r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ko-KR" altLang="en-US" sz="1100" dirty="0"/>
              <a:t>여러 명이 동시 작업하기가 까다롭다</a:t>
            </a:r>
            <a:r>
              <a:rPr lang="en-US" altLang="ko-KR" sz="1100" dirty="0"/>
              <a:t>.)</a:t>
            </a:r>
          </a:p>
          <a:p>
            <a:pPr marL="0" indent="0">
              <a:buNone/>
            </a:pPr>
            <a:r>
              <a:rPr lang="ko-KR" altLang="en-US" sz="1100" dirty="0"/>
              <a:t>     유연한 실행이 불가능하다</a:t>
            </a:r>
            <a:r>
              <a:rPr lang="en-US" altLang="ko-KR" sz="1100" dirty="0"/>
              <a:t>. (</a:t>
            </a:r>
            <a:r>
              <a:rPr lang="ko-KR" altLang="en-US" sz="1100" dirty="0"/>
              <a:t>절차에 벗어날 수 없다</a:t>
            </a:r>
            <a:r>
              <a:rPr lang="en-US" altLang="ko-KR" sz="1100" dirty="0"/>
              <a:t>.)</a:t>
            </a:r>
          </a:p>
          <a:p>
            <a:pPr marL="0" indent="0">
              <a:buNone/>
            </a:pPr>
            <a:r>
              <a:rPr lang="en-US" altLang="ko-KR" sz="1100" dirty="0"/>
              <a:t>  </a:t>
            </a:r>
            <a:r>
              <a:rPr lang="en-US" altLang="ko-KR" sz="1100" dirty="0">
                <a:sym typeface="Wingdings" panose="05000000000000000000" pitchFamily="2" charset="2"/>
              </a:rPr>
              <a:t> </a:t>
            </a:r>
            <a:r>
              <a:rPr lang="ko-KR" altLang="en-US" sz="1100" dirty="0">
                <a:sym typeface="Wingdings" panose="05000000000000000000" pitchFamily="2" charset="2"/>
              </a:rPr>
              <a:t>이러한 단점을 극복하기 위해 </a:t>
            </a:r>
            <a:r>
              <a:rPr lang="en-US" altLang="ko-KR" sz="1100" dirty="0">
                <a:sym typeface="Wingdings" panose="05000000000000000000" pitchFamily="2" charset="2"/>
              </a:rPr>
              <a:t>‘</a:t>
            </a:r>
            <a:r>
              <a:rPr lang="ko-KR" altLang="en-US" sz="1100" dirty="0">
                <a:sym typeface="Wingdings" panose="05000000000000000000" pitchFamily="2" charset="2"/>
              </a:rPr>
              <a:t>객체지향 프로그래밍 패러다임</a:t>
            </a:r>
            <a:r>
              <a:rPr lang="en-US" altLang="ko-KR" sz="1100" dirty="0">
                <a:sym typeface="Wingdings" panose="05000000000000000000" pitchFamily="2" charset="2"/>
              </a:rPr>
              <a:t>’ </a:t>
            </a:r>
            <a:r>
              <a:rPr lang="ko-KR" altLang="en-US" sz="1100" dirty="0">
                <a:sym typeface="Wingdings" panose="05000000000000000000" pitchFamily="2" charset="2"/>
              </a:rPr>
              <a:t>이 등장</a:t>
            </a:r>
            <a:endParaRPr lang="en-US" altLang="ko-KR" sz="1100" dirty="0"/>
          </a:p>
          <a:p>
            <a:pPr marL="0" indent="0">
              <a:buNone/>
            </a:pPr>
            <a:r>
              <a:rPr lang="en-US" altLang="ko-KR" sz="1100" dirty="0"/>
              <a:t> 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9CBB646-4276-43E5-9544-45D0D1096251}"/>
              </a:ext>
            </a:extLst>
          </p:cNvPr>
          <p:cNvSpPr txBox="1">
            <a:spLocks/>
          </p:cNvSpPr>
          <p:nvPr/>
        </p:nvSpPr>
        <p:spPr>
          <a:xfrm>
            <a:off x="628650" y="1131094"/>
            <a:ext cx="6100142" cy="57841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>
                <a:solidFill>
                  <a:schemeClr val="bg1"/>
                </a:solidFill>
              </a:rPr>
              <a:t>제 </a:t>
            </a:r>
            <a:r>
              <a:rPr lang="en-US" altLang="ko-KR" sz="2400" dirty="0">
                <a:solidFill>
                  <a:schemeClr val="bg1"/>
                </a:solidFill>
              </a:rPr>
              <a:t>2</a:t>
            </a:r>
            <a:r>
              <a:rPr lang="ko-KR" altLang="en-US" sz="2400" dirty="0">
                <a:solidFill>
                  <a:schemeClr val="bg1"/>
                </a:solidFill>
              </a:rPr>
              <a:t> 장 절차적언어 </a:t>
            </a:r>
            <a:r>
              <a:rPr lang="en-US" altLang="ko-KR" sz="2400" dirty="0">
                <a:solidFill>
                  <a:schemeClr val="bg1"/>
                </a:solidFill>
              </a:rPr>
              <a:t>VS </a:t>
            </a:r>
            <a:r>
              <a:rPr lang="ko-KR" altLang="en-US" sz="2400" dirty="0">
                <a:solidFill>
                  <a:schemeClr val="bg1"/>
                </a:solidFill>
              </a:rPr>
              <a:t>객체지향언어</a:t>
            </a:r>
          </a:p>
        </p:txBody>
      </p:sp>
    </p:spTree>
    <p:extLst>
      <p:ext uri="{BB962C8B-B14F-4D97-AF65-F5344CB8AC3E}">
        <p14:creationId xmlns:p14="http://schemas.microsoft.com/office/powerpoint/2010/main" val="1310744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30235" y="2420888"/>
            <a:ext cx="7886700" cy="415706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1500" dirty="0"/>
              <a:t>객체지향 방식으로 자동차 만들기</a:t>
            </a:r>
            <a:endParaRPr lang="en-US" altLang="ko-KR" sz="1500" dirty="0"/>
          </a:p>
          <a:p>
            <a:pPr marL="0" indent="0">
              <a:buNone/>
            </a:pPr>
            <a:r>
              <a:rPr lang="en-US" altLang="ko-KR" sz="1500" dirty="0"/>
              <a:t>   1. </a:t>
            </a:r>
            <a:r>
              <a:rPr lang="ko-KR" altLang="en-US" sz="1500" dirty="0"/>
              <a:t>자동차를 부품</a:t>
            </a:r>
            <a:r>
              <a:rPr lang="en-US" altLang="ko-KR" sz="1500" dirty="0"/>
              <a:t>(</a:t>
            </a:r>
            <a:r>
              <a:rPr lang="ko-KR" altLang="en-US" sz="1500" dirty="0"/>
              <a:t>객체</a:t>
            </a:r>
            <a:r>
              <a:rPr lang="en-US" altLang="ko-KR" sz="1500" dirty="0"/>
              <a:t>)</a:t>
            </a:r>
            <a:r>
              <a:rPr lang="ko-KR" altLang="en-US" sz="1500" dirty="0"/>
              <a:t> 별로 제작 </a:t>
            </a:r>
            <a:r>
              <a:rPr lang="en-US" altLang="ko-KR" sz="1500" dirty="0"/>
              <a:t>(e.g. </a:t>
            </a:r>
            <a:r>
              <a:rPr lang="ko-KR" altLang="en-US" sz="1500" dirty="0"/>
              <a:t>엔진</a:t>
            </a:r>
            <a:r>
              <a:rPr lang="en-US" altLang="ko-KR" sz="1500" dirty="0"/>
              <a:t>, </a:t>
            </a:r>
            <a:r>
              <a:rPr lang="ko-KR" altLang="en-US" sz="1500" dirty="0"/>
              <a:t>핸들</a:t>
            </a:r>
            <a:r>
              <a:rPr lang="en-US" altLang="ko-KR" sz="1500" dirty="0"/>
              <a:t>, </a:t>
            </a:r>
            <a:r>
              <a:rPr lang="ko-KR" altLang="en-US" sz="1500" dirty="0"/>
              <a:t>브레이크 등</a:t>
            </a:r>
            <a:r>
              <a:rPr lang="en-US" altLang="ko-KR" sz="1500" dirty="0"/>
              <a:t>)</a:t>
            </a:r>
          </a:p>
          <a:p>
            <a:pPr marL="0" indent="0">
              <a:buNone/>
            </a:pPr>
            <a:r>
              <a:rPr lang="en-US" altLang="ko-KR" sz="1500" dirty="0"/>
              <a:t>   2. </a:t>
            </a:r>
            <a:r>
              <a:rPr lang="ko-KR" altLang="en-US" sz="1500" dirty="0"/>
              <a:t>이 부품</a:t>
            </a:r>
            <a:r>
              <a:rPr lang="en-US" altLang="ko-KR" sz="1500" dirty="0">
                <a:solidFill>
                  <a:srgbClr val="C00000"/>
                </a:solidFill>
              </a:rPr>
              <a:t>(</a:t>
            </a:r>
            <a:r>
              <a:rPr lang="ko-KR" altLang="en-US" sz="1500" dirty="0">
                <a:solidFill>
                  <a:srgbClr val="C00000"/>
                </a:solidFill>
              </a:rPr>
              <a:t>객체</a:t>
            </a:r>
            <a:r>
              <a:rPr lang="en-US" altLang="ko-KR" sz="1500" dirty="0">
                <a:solidFill>
                  <a:srgbClr val="C00000"/>
                </a:solidFill>
              </a:rPr>
              <a:t>)</a:t>
            </a:r>
            <a:r>
              <a:rPr lang="ko-KR" altLang="en-US" sz="1500" dirty="0"/>
              <a:t>들을 하나의 자동차</a:t>
            </a:r>
            <a:r>
              <a:rPr lang="en-US" altLang="ko-KR" sz="1500" dirty="0">
                <a:solidFill>
                  <a:srgbClr val="C00000"/>
                </a:solidFill>
              </a:rPr>
              <a:t>(</a:t>
            </a:r>
            <a:r>
              <a:rPr lang="ko-KR" altLang="en-US" sz="1500" dirty="0">
                <a:solidFill>
                  <a:srgbClr val="C00000"/>
                </a:solidFill>
              </a:rPr>
              <a:t>프로그램</a:t>
            </a:r>
            <a:r>
              <a:rPr lang="en-US" altLang="ko-KR" sz="1500" dirty="0">
                <a:solidFill>
                  <a:srgbClr val="C00000"/>
                </a:solidFill>
              </a:rPr>
              <a:t>)</a:t>
            </a:r>
            <a:r>
              <a:rPr lang="ko-KR" altLang="en-US" sz="1500" dirty="0"/>
              <a:t>로 조립한다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r>
              <a:rPr lang="en-US" altLang="ko-KR" sz="1500" dirty="0"/>
              <a:t>   </a:t>
            </a:r>
            <a:r>
              <a:rPr lang="ko-KR" altLang="en-US" sz="1650" b="1" dirty="0"/>
              <a:t>장점 </a:t>
            </a:r>
            <a:r>
              <a:rPr lang="en-US" altLang="ko-KR" sz="1650" b="1" dirty="0"/>
              <a:t>: </a:t>
            </a:r>
            <a:endParaRPr lang="en-US" altLang="ko-KR" sz="1500" b="1" dirty="0"/>
          </a:p>
          <a:p>
            <a:pPr marL="0" indent="0">
              <a:buNone/>
            </a:pPr>
            <a:r>
              <a:rPr lang="ko-KR" altLang="en-US" sz="1500" dirty="0"/>
              <a:t>     </a:t>
            </a:r>
            <a:r>
              <a:rPr lang="en-US" altLang="ko-KR" sz="1500" dirty="0"/>
              <a:t>1. </a:t>
            </a:r>
            <a:r>
              <a:rPr lang="ko-KR" altLang="en-US" sz="1500" dirty="0"/>
              <a:t>빠른 프로그램 제작이 가능하다</a:t>
            </a:r>
            <a:r>
              <a:rPr lang="en-US" altLang="ko-KR" sz="1500" dirty="0"/>
              <a:t>. (</a:t>
            </a:r>
            <a:r>
              <a:rPr lang="ko-KR" altLang="en-US" sz="1500" dirty="0"/>
              <a:t>동시 작업 가능</a:t>
            </a:r>
            <a:r>
              <a:rPr lang="en-US" altLang="ko-KR" sz="1500" dirty="0"/>
              <a:t>, </a:t>
            </a:r>
            <a:r>
              <a:rPr lang="ko-KR" altLang="en-US" sz="1500" dirty="0"/>
              <a:t>부품 재사용 가능</a:t>
            </a:r>
            <a:r>
              <a:rPr lang="en-US" altLang="ko-KR" sz="1500" dirty="0"/>
              <a:t>)</a:t>
            </a:r>
          </a:p>
          <a:p>
            <a:pPr marL="0" indent="0">
              <a:buNone/>
            </a:pPr>
            <a:r>
              <a:rPr lang="en-US" altLang="ko-KR" sz="1500" dirty="0"/>
              <a:t>     2. </a:t>
            </a:r>
            <a:r>
              <a:rPr lang="ko-KR" altLang="en-US" sz="1500" dirty="0"/>
              <a:t>유지보수가 편하다</a:t>
            </a:r>
            <a:r>
              <a:rPr lang="en-US" altLang="ko-KR" sz="1500" dirty="0"/>
              <a:t>. (</a:t>
            </a:r>
            <a:r>
              <a:rPr lang="ko-KR" altLang="en-US" sz="1500" dirty="0"/>
              <a:t>문제가 생긴 부품만 고치면 된다</a:t>
            </a:r>
            <a:r>
              <a:rPr lang="en-US" altLang="ko-KR" sz="1500" dirty="0"/>
              <a:t>.)</a:t>
            </a:r>
          </a:p>
          <a:p>
            <a:pPr marL="0" indent="0">
              <a:buNone/>
            </a:pPr>
            <a:r>
              <a:rPr lang="en-US" altLang="ko-KR" sz="1500" dirty="0"/>
              <a:t>     3. </a:t>
            </a:r>
            <a:r>
              <a:rPr lang="ko-KR" altLang="en-US" sz="1500" dirty="0"/>
              <a:t>모든 기능들이 독립적인 부품으로 존재하기 때문에 유연한 실행이 가능하다</a:t>
            </a:r>
            <a:r>
              <a:rPr lang="en-US" altLang="ko-KR" sz="1500" dirty="0"/>
              <a:t>. </a:t>
            </a:r>
          </a:p>
          <a:p>
            <a:pPr marL="0" indent="0">
              <a:buNone/>
            </a:pPr>
            <a:r>
              <a:rPr lang="en-US" altLang="ko-KR" sz="1500" dirty="0"/>
              <a:t>        (</a:t>
            </a:r>
            <a:r>
              <a:rPr lang="ko-KR" altLang="en-US" sz="1500" dirty="0"/>
              <a:t>핸들이 고장나도 브레이크는 사용할 수 있다</a:t>
            </a:r>
            <a:r>
              <a:rPr lang="en-US" altLang="ko-KR" sz="1500" dirty="0"/>
              <a:t>.)</a:t>
            </a:r>
          </a:p>
          <a:p>
            <a:pPr marL="0" indent="0">
              <a:buNone/>
            </a:pPr>
            <a:r>
              <a:rPr lang="en-US" altLang="ko-KR" sz="1500" dirty="0"/>
              <a:t>   </a:t>
            </a:r>
            <a:r>
              <a:rPr lang="ko-KR" altLang="en-US" sz="1650" b="1" dirty="0"/>
              <a:t>단점 </a:t>
            </a:r>
            <a:r>
              <a:rPr lang="en-US" altLang="ko-KR" sz="1650" b="1" dirty="0"/>
              <a:t>: </a:t>
            </a:r>
            <a:endParaRPr lang="en-US" altLang="ko-KR" sz="1500" b="1" dirty="0"/>
          </a:p>
          <a:p>
            <a:pPr marL="0" indent="0">
              <a:buNone/>
            </a:pPr>
            <a:r>
              <a:rPr lang="ko-KR" altLang="en-US" sz="1500" dirty="0"/>
              <a:t>     무겁다</a:t>
            </a:r>
            <a:r>
              <a:rPr lang="en-US" altLang="ko-KR" sz="1500" dirty="0"/>
              <a:t>. (</a:t>
            </a:r>
            <a:r>
              <a:rPr lang="ko-KR" altLang="en-US" sz="1500" dirty="0"/>
              <a:t>불필요한 기능이 있거나</a:t>
            </a:r>
            <a:r>
              <a:rPr lang="en-US" altLang="ko-KR" sz="1500" dirty="0"/>
              <a:t>, </a:t>
            </a:r>
            <a:r>
              <a:rPr lang="ko-KR" altLang="en-US" sz="1500" dirty="0"/>
              <a:t>필요 이상으로 자원을 소비할 수 있다</a:t>
            </a:r>
            <a:r>
              <a:rPr lang="en-US" altLang="ko-KR" sz="1500" dirty="0"/>
              <a:t>.)</a:t>
            </a:r>
          </a:p>
          <a:p>
            <a:pPr marL="0" indent="0">
              <a:buNone/>
            </a:pPr>
            <a:r>
              <a:rPr lang="en-US" altLang="ko-KR" sz="1500" dirty="0"/>
              <a:t>     </a:t>
            </a:r>
            <a:r>
              <a:rPr lang="en-US" altLang="ko-KR" sz="1500" dirty="0">
                <a:sym typeface="Wingdings" panose="05000000000000000000" pitchFamily="2" charset="2"/>
              </a:rPr>
              <a:t> </a:t>
            </a:r>
            <a:r>
              <a:rPr lang="ko-KR" altLang="en-US" sz="1500" dirty="0">
                <a:sym typeface="Wingdings" panose="05000000000000000000" pitchFamily="2" charset="2"/>
              </a:rPr>
              <a:t>현대 하드웨어는 성능이 좋아 이를 신경 쓰지 않는 것이다</a:t>
            </a:r>
            <a:r>
              <a:rPr lang="en-US" altLang="ko-KR" sz="1500" dirty="0">
                <a:sym typeface="Wingdings" panose="05000000000000000000" pitchFamily="2" charset="2"/>
              </a:rPr>
              <a:t>. 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AAD1807-7C65-4703-9E67-DC44E05B4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4"/>
            <a:ext cx="6100142" cy="578413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제 </a:t>
            </a:r>
            <a:r>
              <a:rPr lang="en-US" altLang="ko-KR" sz="2400" dirty="0"/>
              <a:t>2</a:t>
            </a:r>
            <a:r>
              <a:rPr lang="ko-KR" altLang="en-US" sz="2400" dirty="0"/>
              <a:t> 장 절차적언어 </a:t>
            </a:r>
            <a:r>
              <a:rPr lang="en-US" altLang="ko-KR" sz="2400" dirty="0"/>
              <a:t>VS </a:t>
            </a:r>
            <a:r>
              <a:rPr lang="ko-KR" altLang="en-US" sz="2400" dirty="0"/>
              <a:t>객체지향언어</a:t>
            </a:r>
          </a:p>
        </p:txBody>
      </p:sp>
    </p:spTree>
    <p:extLst>
      <p:ext uri="{BB962C8B-B14F-4D97-AF65-F5344CB8AC3E}">
        <p14:creationId xmlns:p14="http://schemas.microsoft.com/office/powerpoint/2010/main" val="356062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C/C++ </a:t>
            </a:r>
            <a:r>
              <a:rPr lang="ko-KR" altLang="en-US" dirty="0"/>
              <a:t>프로그램의 개발 및 실행 환경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1"/>
          </p:nvPr>
        </p:nvSpPr>
        <p:spPr>
          <a:xfrm>
            <a:off x="611560" y="2047871"/>
            <a:ext cx="8153400" cy="1728192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2000" dirty="0"/>
              <a:t>C/C++ </a:t>
            </a:r>
            <a:r>
              <a:rPr lang="ko-KR" altLang="en-US" sz="2000" dirty="0"/>
              <a:t>프로그램의 개발</a:t>
            </a:r>
            <a:endParaRPr lang="en-US" altLang="ko-KR" sz="2000" dirty="0"/>
          </a:p>
          <a:p>
            <a:pPr lvl="1"/>
            <a:r>
              <a:rPr lang="ko-KR" altLang="en-US" sz="1800" dirty="0"/>
              <a:t>여러 소스</a:t>
            </a:r>
            <a:r>
              <a:rPr lang="en-US" altLang="ko-KR" sz="1800" dirty="0"/>
              <a:t>(.c) </a:t>
            </a:r>
            <a:r>
              <a:rPr lang="ko-KR" altLang="en-US" sz="1800" dirty="0"/>
              <a:t>파일로 나누어 개발</a:t>
            </a:r>
            <a:endParaRPr lang="en-US" altLang="ko-KR" sz="1800" dirty="0"/>
          </a:p>
          <a:p>
            <a:pPr lvl="1"/>
            <a:r>
              <a:rPr lang="ko-KR" altLang="en-US" sz="1800" dirty="0"/>
              <a:t>링크를 통해 실행에 필요한 모든 코드를 하나의 실행 파일</a:t>
            </a:r>
            <a:r>
              <a:rPr lang="en-US" altLang="ko-KR" sz="1800" dirty="0"/>
              <a:t>(.exe)</a:t>
            </a:r>
            <a:r>
              <a:rPr lang="ko-KR" altLang="en-US" sz="1800" dirty="0"/>
              <a:t>에 저장</a:t>
            </a:r>
            <a:endParaRPr lang="en-US" altLang="ko-KR" sz="1800" dirty="0"/>
          </a:p>
          <a:p>
            <a:r>
              <a:rPr lang="ko-KR" altLang="en-US" sz="2200" dirty="0"/>
              <a:t>실행</a:t>
            </a:r>
            <a:endParaRPr lang="en-US" altLang="ko-KR" sz="2200" dirty="0"/>
          </a:p>
          <a:p>
            <a:pPr lvl="1"/>
            <a:r>
              <a:rPr lang="ko-KR" altLang="en-US" sz="1800" dirty="0"/>
              <a:t>실행 파일</a:t>
            </a:r>
            <a:r>
              <a:rPr lang="en-US" altLang="ko-KR" sz="1800" dirty="0"/>
              <a:t>(exe)</a:t>
            </a:r>
            <a:r>
              <a:rPr lang="ko-KR" altLang="en-US" sz="1800" dirty="0"/>
              <a:t>은 모두 메모리에 올려져야 실행</a:t>
            </a:r>
            <a:r>
              <a:rPr lang="en-US" altLang="ko-KR" sz="1700" dirty="0"/>
              <a:t>, </a:t>
            </a:r>
            <a:r>
              <a:rPr lang="ko-KR" altLang="en-US" sz="1700" dirty="0"/>
              <a:t>메모리가 적은 경우 낭패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3789040"/>
            <a:ext cx="5112568" cy="243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854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891" y="3157359"/>
            <a:ext cx="7204501" cy="35120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자바의 개발 및 실행 환경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1944216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sz="2000" dirty="0"/>
              <a:t>자바 프로그램의 개발</a:t>
            </a:r>
            <a:endParaRPr lang="en-US" altLang="ko-KR" sz="2000" dirty="0"/>
          </a:p>
          <a:p>
            <a:pPr lvl="1"/>
            <a:r>
              <a:rPr lang="ko-KR" altLang="en-US" sz="1800" dirty="0"/>
              <a:t>여러 소스</a:t>
            </a:r>
            <a:r>
              <a:rPr lang="en-US" altLang="ko-KR" sz="1800" dirty="0"/>
              <a:t>(.java)</a:t>
            </a:r>
            <a:r>
              <a:rPr lang="ko-KR" altLang="en-US" sz="1800" dirty="0"/>
              <a:t>로 나누어 개발</a:t>
            </a:r>
            <a:endParaRPr lang="en-US" altLang="ko-KR" sz="1800" dirty="0"/>
          </a:p>
          <a:p>
            <a:pPr lvl="1"/>
            <a:r>
              <a:rPr lang="ko-KR" altLang="en-US" sz="1800" dirty="0"/>
              <a:t>바이트 코드</a:t>
            </a:r>
            <a:r>
              <a:rPr lang="en-US" altLang="ko-KR" sz="1800" dirty="0"/>
              <a:t>(.class)</a:t>
            </a:r>
            <a:r>
              <a:rPr lang="ko-KR" altLang="en-US" sz="1800" dirty="0"/>
              <a:t>를 하나의 실행 파일</a:t>
            </a:r>
            <a:r>
              <a:rPr lang="en-US" altLang="ko-KR" sz="1800" dirty="0"/>
              <a:t>(exe)</a:t>
            </a:r>
            <a:r>
              <a:rPr lang="ko-KR" altLang="en-US" sz="1800" dirty="0"/>
              <a:t>로 만드는 링크 과정 없음</a:t>
            </a:r>
            <a:endParaRPr lang="en-US" altLang="ko-KR" sz="1800" dirty="0"/>
          </a:p>
          <a:p>
            <a:r>
              <a:rPr lang="ko-KR" altLang="en-US" sz="2200" dirty="0"/>
              <a:t>실행 </a:t>
            </a:r>
            <a:endParaRPr lang="en-US" altLang="ko-KR" sz="2200" dirty="0"/>
          </a:p>
          <a:p>
            <a:pPr lvl="1"/>
            <a:r>
              <a:rPr lang="en-US" altLang="ko-KR" sz="1800" dirty="0"/>
              <a:t>main() </a:t>
            </a:r>
            <a:r>
              <a:rPr lang="ko-KR" altLang="en-US" sz="1800" dirty="0" err="1"/>
              <a:t>메소드를</a:t>
            </a:r>
            <a:r>
              <a:rPr lang="en-US" altLang="ko-KR" sz="1800" dirty="0"/>
              <a:t> </a:t>
            </a:r>
            <a:r>
              <a:rPr lang="ko-KR" altLang="en-US" sz="1800" dirty="0"/>
              <a:t>가진 클래스에서 부터 실행 시작</a:t>
            </a:r>
            <a:endParaRPr lang="en-US" altLang="ko-KR" sz="1800" dirty="0"/>
          </a:p>
          <a:p>
            <a:pPr lvl="1"/>
            <a:r>
              <a:rPr lang="ko-KR" altLang="en-US" sz="1800" dirty="0"/>
              <a:t>자바 가상 기계는 필요할 때</a:t>
            </a:r>
            <a:r>
              <a:rPr lang="en-US" altLang="ko-KR" sz="1800" dirty="0"/>
              <a:t>,</a:t>
            </a:r>
            <a:r>
              <a:rPr lang="ko-KR" altLang="en-US" sz="1800" dirty="0"/>
              <a:t> 클래스 파일 로딩</a:t>
            </a:r>
            <a:r>
              <a:rPr lang="en-US" altLang="ko-KR" sz="1800" dirty="0"/>
              <a:t>,</a:t>
            </a:r>
            <a:r>
              <a:rPr lang="ko-KR" altLang="en-US" sz="1800" dirty="0"/>
              <a:t> 적은 메모리로 실행 가능</a:t>
            </a:r>
          </a:p>
        </p:txBody>
      </p:sp>
      <p:sp>
        <p:nvSpPr>
          <p:cNvPr id="54" name="슬라이드 번호 개체 틀 5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78226" y="6596390"/>
            <a:ext cx="37657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*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자바는 하나의 실행 파일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(exe)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로 만드는 링크 과정 없음</a:t>
            </a:r>
          </a:p>
        </p:txBody>
      </p:sp>
    </p:spTree>
    <p:extLst>
      <p:ext uri="{BB962C8B-B14F-4D97-AF65-F5344CB8AC3E}">
        <p14:creationId xmlns:p14="http://schemas.microsoft.com/office/powerpoint/2010/main" val="3357279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자바와 </a:t>
            </a:r>
            <a:r>
              <a:rPr lang="en-US" altLang="ko-KR" dirty="0"/>
              <a:t>C/C++</a:t>
            </a:r>
            <a:r>
              <a:rPr lang="ko-KR" altLang="en-US" dirty="0"/>
              <a:t>의 실행 환경 차이</a:t>
            </a:r>
          </a:p>
        </p:txBody>
      </p:sp>
      <p:sp>
        <p:nvSpPr>
          <p:cNvPr id="32" name="슬라이드 번호 개체 틀 3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자바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C/C++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940944"/>
            <a:ext cx="2135542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if (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&gt;0) {</a:t>
            </a:r>
          </a:p>
          <a:p>
            <a:pPr marL="45720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*10;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– j;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);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2675094" y="2453152"/>
            <a:ext cx="285752" cy="19003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358" y="1904518"/>
            <a:ext cx="178595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0101000001000101010011110101101010100101110101010101000010001110000000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958" y="3286124"/>
            <a:ext cx="24468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자바 소스 파일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(Test.java)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41562" y="3207092"/>
            <a:ext cx="2513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바이트 코드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Test.class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오른쪽 화살표 16"/>
          <p:cNvSpPr/>
          <p:nvPr/>
        </p:nvSpPr>
        <p:spPr>
          <a:xfrm>
            <a:off x="4389606" y="2453152"/>
            <a:ext cx="285752" cy="19003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47060" y="3400719"/>
            <a:ext cx="178595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하드웨어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7060" y="3059668"/>
            <a:ext cx="178595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운영체제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7060" y="2711905"/>
            <a:ext cx="1785950" cy="33855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자바 가상 기계</a:t>
            </a:r>
          </a:p>
        </p:txBody>
      </p:sp>
      <p:sp>
        <p:nvSpPr>
          <p:cNvPr id="21" name="오른쪽 화살표 20"/>
          <p:cNvSpPr/>
          <p:nvPr/>
        </p:nvSpPr>
        <p:spPr>
          <a:xfrm>
            <a:off x="6476233" y="2084790"/>
            <a:ext cx="470216" cy="18246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6961374" y="1785926"/>
            <a:ext cx="1500198" cy="857256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프로그램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Test.class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1560" y="4667730"/>
            <a:ext cx="2063534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if (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&gt;0) {</a:t>
            </a:r>
          </a:p>
          <a:p>
            <a:pPr marL="45720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*10;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– j;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cout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&lt;&lt;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</p:txBody>
      </p:sp>
      <p:sp>
        <p:nvSpPr>
          <p:cNvPr id="24" name="타원 23"/>
          <p:cNvSpPr/>
          <p:nvPr/>
        </p:nvSpPr>
        <p:spPr>
          <a:xfrm>
            <a:off x="2960846" y="4869902"/>
            <a:ext cx="1428760" cy="7508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컴파일러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링커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오른쪽 화살표 24"/>
          <p:cNvSpPr/>
          <p:nvPr/>
        </p:nvSpPr>
        <p:spPr>
          <a:xfrm>
            <a:off x="2675094" y="5179938"/>
            <a:ext cx="285752" cy="19003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75358" y="4584150"/>
            <a:ext cx="178595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0101000001000101011011110101101010100101111101010101001010101110001100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535" y="5977898"/>
            <a:ext cx="1947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소스 파일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(Test.cpp)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08072" y="5906460"/>
            <a:ext cx="2811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바이너리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실행 파일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(Test.exe)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오른쪽 화살표 28"/>
          <p:cNvSpPr/>
          <p:nvPr/>
        </p:nvSpPr>
        <p:spPr>
          <a:xfrm>
            <a:off x="4389606" y="5144926"/>
            <a:ext cx="285752" cy="19003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18498" y="5615297"/>
            <a:ext cx="178595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하드웨어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8498" y="5274246"/>
            <a:ext cx="178595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운영체제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6961374" y="4406262"/>
            <a:ext cx="1500198" cy="857256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C++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프로그램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(Test.exe)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2960846" y="2178128"/>
            <a:ext cx="1428760" cy="75080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컴파일러</a:t>
            </a:r>
          </a:p>
        </p:txBody>
      </p:sp>
      <p:sp>
        <p:nvSpPr>
          <p:cNvPr id="35" name="오른쪽 화살표 34"/>
          <p:cNvSpPr/>
          <p:nvPr/>
        </p:nvSpPr>
        <p:spPr>
          <a:xfrm>
            <a:off x="6461308" y="4763452"/>
            <a:ext cx="470216" cy="18246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1210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 SE </a:t>
            </a:r>
            <a:r>
              <a:rPr lang="ko-KR" altLang="en-US" dirty="0"/>
              <a:t>구성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1331640" y="6388155"/>
            <a:ext cx="7182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Java SE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의 구성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출처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http://www.oracle.com/technetwork/java/javase/tech/index.html)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92" y="1412776"/>
            <a:ext cx="7926312" cy="477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935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JDK </a:t>
            </a:r>
            <a:r>
              <a:rPr lang="ko-KR" altLang="en-US" dirty="0"/>
              <a:t>설치 후 디렉터리 구조</a:t>
            </a:r>
          </a:p>
        </p:txBody>
      </p:sp>
      <p:sp>
        <p:nvSpPr>
          <p:cNvPr id="33" name="슬라이드 번호 개체 틀 3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844824"/>
            <a:ext cx="7840602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35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자바의 </a:t>
            </a:r>
            <a:r>
              <a:rPr lang="ko-KR" altLang="en-US" dirty="0" err="1"/>
              <a:t>배포판</a:t>
            </a:r>
            <a:r>
              <a:rPr lang="ko-KR" altLang="en-US" dirty="0"/>
              <a:t> 종류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 err="1"/>
              <a:t>오라클은</a:t>
            </a:r>
            <a:r>
              <a:rPr lang="ko-KR" altLang="en-US" dirty="0"/>
              <a:t> 개발 환경에 따라 다양한 자바 </a:t>
            </a:r>
            <a:r>
              <a:rPr lang="ko-KR" altLang="en-US" dirty="0" err="1"/>
              <a:t>배포판</a:t>
            </a:r>
            <a:r>
              <a:rPr lang="ko-KR" altLang="en-US" dirty="0"/>
              <a:t> 제공</a:t>
            </a:r>
            <a:endParaRPr lang="en-US" altLang="ko-KR" dirty="0"/>
          </a:p>
          <a:p>
            <a:r>
              <a:rPr lang="en-US" altLang="ko-KR" dirty="0"/>
              <a:t>Java SE</a:t>
            </a:r>
          </a:p>
          <a:p>
            <a:pPr lvl="1"/>
            <a:r>
              <a:rPr lang="ko-KR" altLang="en-US" dirty="0"/>
              <a:t>자바 표준 </a:t>
            </a:r>
            <a:r>
              <a:rPr lang="ko-KR" altLang="en-US" dirty="0" err="1"/>
              <a:t>배포판</a:t>
            </a:r>
            <a:r>
              <a:rPr lang="en-US" altLang="ko-KR" dirty="0"/>
              <a:t>(Standard Edition)</a:t>
            </a:r>
          </a:p>
          <a:p>
            <a:pPr lvl="1"/>
            <a:r>
              <a:rPr lang="ko-KR" altLang="en-US" dirty="0" err="1"/>
              <a:t>데스크탑과</a:t>
            </a:r>
            <a:r>
              <a:rPr lang="ko-KR" altLang="en-US" dirty="0"/>
              <a:t> 서버 응용 개발 플랫폼</a:t>
            </a:r>
            <a:endParaRPr lang="en-US" altLang="ko-KR" dirty="0"/>
          </a:p>
          <a:p>
            <a:r>
              <a:rPr lang="en-US" altLang="ko-KR" dirty="0"/>
              <a:t>Java ME</a:t>
            </a:r>
          </a:p>
          <a:p>
            <a:pPr lvl="1"/>
            <a:r>
              <a:rPr lang="ko-KR" altLang="en-US" dirty="0"/>
              <a:t>자바 마이크로 </a:t>
            </a:r>
            <a:r>
              <a:rPr lang="ko-KR" altLang="en-US" dirty="0" err="1"/>
              <a:t>배포판</a:t>
            </a:r>
            <a:endParaRPr lang="en-US" altLang="ko-KR" dirty="0"/>
          </a:p>
          <a:p>
            <a:pPr lvl="2"/>
            <a:r>
              <a:rPr lang="ko-KR" altLang="en-US" dirty="0"/>
              <a:t>휴대 전화나 </a:t>
            </a:r>
            <a:r>
              <a:rPr lang="en-US" altLang="ko-KR" dirty="0"/>
              <a:t>PDA, </a:t>
            </a:r>
            <a:r>
              <a:rPr lang="ko-KR" altLang="en-US" dirty="0" err="1"/>
              <a:t>셋톱박스</a:t>
            </a:r>
            <a:r>
              <a:rPr lang="ko-KR" altLang="en-US" dirty="0"/>
              <a:t> 등 제한된 리소스를 갖는 하드웨어에서 응용 개발을 위한 플랫폼</a:t>
            </a:r>
            <a:endParaRPr lang="en-US" altLang="ko-KR" dirty="0"/>
          </a:p>
          <a:p>
            <a:pPr lvl="2"/>
            <a:r>
              <a:rPr lang="ko-KR" altLang="en-US" dirty="0"/>
              <a:t>가장 작은 메모리 </a:t>
            </a:r>
            <a:r>
              <a:rPr lang="ko-KR" altLang="en-US" dirty="0" err="1"/>
              <a:t>풋프린트</a:t>
            </a:r>
            <a:endParaRPr lang="en-US" altLang="ko-KR" dirty="0"/>
          </a:p>
          <a:p>
            <a:pPr lvl="1"/>
            <a:r>
              <a:rPr lang="en-US" altLang="ko-KR" dirty="0"/>
              <a:t>Java SE</a:t>
            </a:r>
            <a:r>
              <a:rPr lang="ko-KR" altLang="en-US" dirty="0"/>
              <a:t>의 </a:t>
            </a:r>
            <a:r>
              <a:rPr lang="ko-KR" altLang="en-US" dirty="0" err="1"/>
              <a:t>서브셋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 err="1"/>
              <a:t>임베디드</a:t>
            </a:r>
            <a:r>
              <a:rPr lang="ko-KR" altLang="en-US" dirty="0"/>
              <a:t> 및 가전 제품을 위한 </a:t>
            </a:r>
            <a:r>
              <a:rPr lang="en-US" altLang="ko-KR" dirty="0"/>
              <a:t>API </a:t>
            </a:r>
            <a:r>
              <a:rPr lang="ko-KR" altLang="en-US" dirty="0"/>
              <a:t>정의</a:t>
            </a:r>
            <a:endParaRPr lang="en-US" altLang="ko-KR" dirty="0"/>
          </a:p>
          <a:p>
            <a:r>
              <a:rPr lang="en-US" altLang="ko-KR" dirty="0"/>
              <a:t>Java EE</a:t>
            </a:r>
          </a:p>
          <a:p>
            <a:pPr lvl="1"/>
            <a:r>
              <a:rPr lang="ko-KR" altLang="en-US" dirty="0"/>
              <a:t>자바 기업용 </a:t>
            </a:r>
            <a:r>
              <a:rPr lang="ko-KR" altLang="en-US" dirty="0" err="1"/>
              <a:t>배포판</a:t>
            </a:r>
            <a:endParaRPr lang="en-US" altLang="ko-KR" dirty="0"/>
          </a:p>
          <a:p>
            <a:pPr lvl="2"/>
            <a:r>
              <a:rPr lang="ko-KR" altLang="en-US" dirty="0"/>
              <a:t>자바를 이용한 다중 사용자</a:t>
            </a:r>
            <a:r>
              <a:rPr lang="en-US" altLang="ko-KR" dirty="0"/>
              <a:t>, </a:t>
            </a:r>
            <a:r>
              <a:rPr lang="ko-KR" altLang="en-US" dirty="0"/>
              <a:t>기업용 응용 개발을 위한 플랫폼</a:t>
            </a:r>
            <a:endParaRPr lang="en-US" altLang="ko-KR" dirty="0"/>
          </a:p>
          <a:p>
            <a:pPr lvl="1"/>
            <a:r>
              <a:rPr lang="en-US" altLang="ko-KR" dirty="0"/>
              <a:t>Java SE + </a:t>
            </a:r>
            <a:r>
              <a:rPr lang="ko-KR" altLang="en-US" dirty="0"/>
              <a:t>인터넷 기반의 서버사이드 컴퓨팅 관련 </a:t>
            </a:r>
            <a:r>
              <a:rPr lang="en-US" altLang="ko-KR" dirty="0"/>
              <a:t>API</a:t>
            </a:r>
            <a:r>
              <a:rPr lang="ko-KR" altLang="en-US" dirty="0"/>
              <a:t> 추가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391798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55576" y="2420888"/>
            <a:ext cx="7886700" cy="3928369"/>
          </a:xfrm>
        </p:spPr>
        <p:txBody>
          <a:bodyPr>
            <a:normAutofit/>
          </a:bodyPr>
          <a:lstStyle/>
          <a:p>
            <a:r>
              <a:rPr lang="ko-KR" altLang="en-US" dirty="0"/>
              <a:t>컴파일 방식 </a:t>
            </a:r>
            <a:endParaRPr lang="en-US" altLang="ko-KR" dirty="0"/>
          </a:p>
          <a:p>
            <a:pPr lvl="1"/>
            <a:r>
              <a:rPr lang="ko-KR" altLang="en-US" dirty="0"/>
              <a:t>소스코드 </a:t>
            </a:r>
            <a:r>
              <a:rPr lang="en-US" altLang="ko-KR" dirty="0"/>
              <a:t>-&gt; </a:t>
            </a:r>
            <a:r>
              <a:rPr lang="ko-KR" altLang="en-US" dirty="0">
                <a:solidFill>
                  <a:srgbClr val="C00000"/>
                </a:solidFill>
              </a:rPr>
              <a:t>번역</a:t>
            </a:r>
            <a:r>
              <a:rPr lang="en-US" altLang="ko-KR" dirty="0">
                <a:solidFill>
                  <a:srgbClr val="C00000"/>
                </a:solidFill>
              </a:rPr>
              <a:t>(compile) </a:t>
            </a:r>
            <a:r>
              <a:rPr lang="en-US" altLang="ko-KR" dirty="0"/>
              <a:t>-&gt; </a:t>
            </a:r>
            <a:r>
              <a:rPr lang="ko-KR" altLang="en-US" dirty="0"/>
              <a:t>실행 프로그램 </a:t>
            </a:r>
            <a:r>
              <a:rPr lang="en-US" altLang="ko-KR" dirty="0"/>
              <a:t>-&gt;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/>
              <a:t>실행 속도가 빠르다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단점 </a:t>
            </a:r>
            <a:r>
              <a:rPr lang="en-US" altLang="ko-KR" dirty="0"/>
              <a:t>: </a:t>
            </a:r>
            <a:r>
              <a:rPr lang="ko-KR" altLang="en-US" dirty="0"/>
              <a:t>운영체제</a:t>
            </a:r>
            <a:r>
              <a:rPr lang="en-US" altLang="ko-KR" dirty="0"/>
              <a:t>(</a:t>
            </a:r>
            <a:r>
              <a:rPr lang="ko-KR" altLang="en-US" dirty="0"/>
              <a:t>플랫폼</a:t>
            </a:r>
            <a:r>
              <a:rPr lang="en-US" altLang="ko-KR" dirty="0"/>
              <a:t>)</a:t>
            </a:r>
            <a:r>
              <a:rPr lang="ko-KR" altLang="en-US" dirty="0"/>
              <a:t>에 종속적이다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인터프리터 방식</a:t>
            </a:r>
            <a:endParaRPr lang="en-US" altLang="ko-KR" dirty="0"/>
          </a:p>
          <a:p>
            <a:pPr lvl="1"/>
            <a:r>
              <a:rPr lang="ko-KR" altLang="en-US" dirty="0"/>
              <a:t>소스코드 </a:t>
            </a:r>
            <a:r>
              <a:rPr lang="en-US" altLang="ko-KR" dirty="0"/>
              <a:t>-&gt; </a:t>
            </a:r>
            <a:r>
              <a:rPr lang="ko-KR" altLang="en-US" dirty="0">
                <a:solidFill>
                  <a:srgbClr val="C00000"/>
                </a:solidFill>
              </a:rPr>
              <a:t>번역</a:t>
            </a:r>
            <a:r>
              <a:rPr lang="en-US" altLang="ko-KR" dirty="0">
                <a:solidFill>
                  <a:srgbClr val="C00000"/>
                </a:solidFill>
              </a:rPr>
              <a:t>(compile) &amp; </a:t>
            </a:r>
            <a:r>
              <a:rPr lang="ko-KR" altLang="en-US" dirty="0">
                <a:solidFill>
                  <a:srgbClr val="C00000"/>
                </a:solidFill>
              </a:rPr>
              <a:t>실행 </a:t>
            </a:r>
            <a:endParaRPr lang="en-US" altLang="ko-KR" dirty="0">
              <a:solidFill>
                <a:srgbClr val="C00000"/>
              </a:solidFill>
            </a:endParaRPr>
          </a:p>
          <a:p>
            <a:pPr lvl="1"/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/>
              <a:t>운영체제에 자유롭다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단점 </a:t>
            </a:r>
            <a:r>
              <a:rPr lang="en-US" altLang="ko-KR" dirty="0"/>
              <a:t>: </a:t>
            </a:r>
            <a:r>
              <a:rPr lang="ko-KR" altLang="en-US" dirty="0"/>
              <a:t>실행 속도가 느리다</a:t>
            </a:r>
            <a:r>
              <a:rPr lang="en-US" altLang="ko-KR" dirty="0"/>
              <a:t>.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181097F-0066-44F0-9E7B-B97F57B4F361}"/>
              </a:ext>
            </a:extLst>
          </p:cNvPr>
          <p:cNvSpPr txBox="1">
            <a:spLocks/>
          </p:cNvSpPr>
          <p:nvPr/>
        </p:nvSpPr>
        <p:spPr>
          <a:xfrm>
            <a:off x="628650" y="1131094"/>
            <a:ext cx="6100142" cy="57841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>
                <a:solidFill>
                  <a:schemeClr val="bg1"/>
                </a:solidFill>
              </a:rPr>
              <a:t>제 </a:t>
            </a:r>
            <a:r>
              <a:rPr lang="en-US" altLang="ko-KR" sz="2400" dirty="0">
                <a:solidFill>
                  <a:schemeClr val="bg1"/>
                </a:solidFill>
              </a:rPr>
              <a:t>2</a:t>
            </a:r>
            <a:r>
              <a:rPr lang="ko-KR" altLang="en-US" sz="2400" dirty="0">
                <a:solidFill>
                  <a:schemeClr val="bg1"/>
                </a:solidFill>
              </a:rPr>
              <a:t> 장 절차적언어 </a:t>
            </a:r>
            <a:r>
              <a:rPr lang="en-US" altLang="ko-KR" sz="2400" dirty="0">
                <a:solidFill>
                  <a:schemeClr val="bg1"/>
                </a:solidFill>
              </a:rPr>
              <a:t>VS </a:t>
            </a:r>
            <a:r>
              <a:rPr lang="ko-KR" altLang="en-US" sz="2400" dirty="0">
                <a:solidFill>
                  <a:schemeClr val="bg1"/>
                </a:solidFill>
              </a:rPr>
              <a:t>객체지향언어</a:t>
            </a:r>
          </a:p>
        </p:txBody>
      </p:sp>
    </p:spTree>
    <p:extLst>
      <p:ext uri="{BB962C8B-B14F-4D97-AF65-F5344CB8AC3E}">
        <p14:creationId xmlns:p14="http://schemas.microsoft.com/office/powerpoint/2010/main" val="1189884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63005" y="3574290"/>
            <a:ext cx="1928384" cy="150876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6465094" cy="578413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제 </a:t>
            </a:r>
            <a:r>
              <a:rPr lang="en-US" altLang="ko-KR" sz="2400" dirty="0"/>
              <a:t>4</a:t>
            </a:r>
            <a:r>
              <a:rPr lang="ko-KR" altLang="en-US" sz="2400" dirty="0"/>
              <a:t> 장 자바의 </a:t>
            </a:r>
            <a:r>
              <a:rPr lang="en-US" altLang="ko-KR" sz="2400" dirty="0"/>
              <a:t>JVM ( Java Virtual Machine )</a:t>
            </a:r>
            <a:endParaRPr lang="ko-KR" altLang="en-US" sz="2400" dirty="0"/>
          </a:p>
        </p:txBody>
      </p:sp>
      <p:sp>
        <p:nvSpPr>
          <p:cNvPr id="5" name="직사각형 4"/>
          <p:cNvSpPr/>
          <p:nvPr/>
        </p:nvSpPr>
        <p:spPr>
          <a:xfrm>
            <a:off x="1263005" y="4940169"/>
            <a:ext cx="1928384" cy="821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하드웨어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292080" y="4940169"/>
            <a:ext cx="2000250" cy="821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하드웨어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263005" y="4118638"/>
            <a:ext cx="1928384" cy="82153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운영체제</a:t>
            </a:r>
            <a:endParaRPr lang="en-US" altLang="ko-KR" sz="1350" dirty="0"/>
          </a:p>
          <a:p>
            <a:pPr algn="ctr"/>
            <a:r>
              <a:rPr lang="en-US" altLang="ko-KR" sz="1350" dirty="0"/>
              <a:t>(Windows)</a:t>
            </a:r>
            <a:endParaRPr lang="ko-KR" altLang="en-US" sz="1350" dirty="0"/>
          </a:p>
        </p:txBody>
      </p:sp>
      <p:sp>
        <p:nvSpPr>
          <p:cNvPr id="10" name="직사각형 9"/>
          <p:cNvSpPr/>
          <p:nvPr/>
        </p:nvSpPr>
        <p:spPr>
          <a:xfrm>
            <a:off x="5292080" y="4118638"/>
            <a:ext cx="2000250" cy="82153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운영체제</a:t>
            </a:r>
            <a:endParaRPr lang="en-US" altLang="ko-KR" sz="1350" dirty="0"/>
          </a:p>
          <a:p>
            <a:pPr algn="ctr"/>
            <a:r>
              <a:rPr lang="en-US" altLang="ko-KR" sz="1350" dirty="0"/>
              <a:t>(Linux)</a:t>
            </a:r>
            <a:endParaRPr lang="ko-KR" altLang="en-US" sz="1350" dirty="0"/>
          </a:p>
        </p:txBody>
      </p:sp>
      <p:sp>
        <p:nvSpPr>
          <p:cNvPr id="11" name="직사각형 10"/>
          <p:cNvSpPr/>
          <p:nvPr/>
        </p:nvSpPr>
        <p:spPr>
          <a:xfrm>
            <a:off x="1267577" y="3967761"/>
            <a:ext cx="167735" cy="15087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2" name="직사각형 11"/>
          <p:cNvSpPr/>
          <p:nvPr/>
        </p:nvSpPr>
        <p:spPr>
          <a:xfrm>
            <a:off x="1528181" y="3967761"/>
            <a:ext cx="167735" cy="15087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3" name="직사각형 12"/>
          <p:cNvSpPr/>
          <p:nvPr/>
        </p:nvSpPr>
        <p:spPr>
          <a:xfrm>
            <a:off x="1778069" y="3967761"/>
            <a:ext cx="167735" cy="15087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4" name="직사각형 13"/>
          <p:cNvSpPr/>
          <p:nvPr/>
        </p:nvSpPr>
        <p:spPr>
          <a:xfrm>
            <a:off x="2027957" y="3967761"/>
            <a:ext cx="167735" cy="15087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5" name="직사각형 14"/>
          <p:cNvSpPr/>
          <p:nvPr/>
        </p:nvSpPr>
        <p:spPr>
          <a:xfrm>
            <a:off x="2267558" y="3967761"/>
            <a:ext cx="167735" cy="15087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6" name="직사각형 15"/>
          <p:cNvSpPr/>
          <p:nvPr/>
        </p:nvSpPr>
        <p:spPr>
          <a:xfrm>
            <a:off x="2525806" y="3967761"/>
            <a:ext cx="167735" cy="15087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7" name="직사각형 16"/>
          <p:cNvSpPr/>
          <p:nvPr/>
        </p:nvSpPr>
        <p:spPr>
          <a:xfrm>
            <a:off x="2784053" y="3967761"/>
            <a:ext cx="167735" cy="15087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8" name="직사각형 17"/>
          <p:cNvSpPr/>
          <p:nvPr/>
        </p:nvSpPr>
        <p:spPr>
          <a:xfrm>
            <a:off x="3023654" y="3967761"/>
            <a:ext cx="167735" cy="15087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9" name="직사각형 18"/>
          <p:cNvSpPr/>
          <p:nvPr/>
        </p:nvSpPr>
        <p:spPr>
          <a:xfrm>
            <a:off x="3023654" y="3965475"/>
            <a:ext cx="167735" cy="15087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0" name="이등변 삼각형 19"/>
          <p:cNvSpPr/>
          <p:nvPr/>
        </p:nvSpPr>
        <p:spPr>
          <a:xfrm>
            <a:off x="5292080" y="3926613"/>
            <a:ext cx="220096" cy="189738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1" name="이등변 삼각형 20"/>
          <p:cNvSpPr/>
          <p:nvPr/>
        </p:nvSpPr>
        <p:spPr>
          <a:xfrm>
            <a:off x="5531681" y="3926613"/>
            <a:ext cx="220096" cy="189738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2" name="이등변 삼각형 21"/>
          <p:cNvSpPr/>
          <p:nvPr/>
        </p:nvSpPr>
        <p:spPr>
          <a:xfrm>
            <a:off x="5754313" y="3926613"/>
            <a:ext cx="220096" cy="189738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3" name="이등변 삼각형 22"/>
          <p:cNvSpPr/>
          <p:nvPr/>
        </p:nvSpPr>
        <p:spPr>
          <a:xfrm>
            <a:off x="5974409" y="3926613"/>
            <a:ext cx="220096" cy="189738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4" name="이등변 삼각형 23"/>
          <p:cNvSpPr/>
          <p:nvPr/>
        </p:nvSpPr>
        <p:spPr>
          <a:xfrm>
            <a:off x="6193178" y="3926613"/>
            <a:ext cx="220096" cy="189738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5" name="이등변 삼각형 24"/>
          <p:cNvSpPr/>
          <p:nvPr/>
        </p:nvSpPr>
        <p:spPr>
          <a:xfrm>
            <a:off x="6413274" y="3926613"/>
            <a:ext cx="220096" cy="189738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6" name="이등변 삼각형 25"/>
          <p:cNvSpPr/>
          <p:nvPr/>
        </p:nvSpPr>
        <p:spPr>
          <a:xfrm>
            <a:off x="6632044" y="3926613"/>
            <a:ext cx="220096" cy="189738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7" name="이등변 삼각형 26"/>
          <p:cNvSpPr/>
          <p:nvPr/>
        </p:nvSpPr>
        <p:spPr>
          <a:xfrm>
            <a:off x="6849350" y="3926613"/>
            <a:ext cx="220096" cy="189738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8" name="이등변 삼각형 27"/>
          <p:cNvSpPr/>
          <p:nvPr/>
        </p:nvSpPr>
        <p:spPr>
          <a:xfrm>
            <a:off x="7065331" y="3926613"/>
            <a:ext cx="220096" cy="189738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0" name="직사각형 29"/>
          <p:cNvSpPr/>
          <p:nvPr/>
        </p:nvSpPr>
        <p:spPr>
          <a:xfrm>
            <a:off x="1263005" y="3025644"/>
            <a:ext cx="1928384" cy="548647"/>
          </a:xfrm>
          <a:prstGeom prst="rect">
            <a:avLst/>
          </a:prstGeom>
          <a:solidFill>
            <a:srgbClr val="C0000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윈도우용 </a:t>
            </a:r>
            <a:r>
              <a:rPr lang="en-US" altLang="ko-KR" sz="1350" dirty="0"/>
              <a:t>JVM</a:t>
            </a:r>
            <a:endParaRPr lang="ko-KR" altLang="en-US" sz="1350" dirty="0"/>
          </a:p>
        </p:txBody>
      </p:sp>
      <p:sp>
        <p:nvSpPr>
          <p:cNvPr id="31" name="직사각형 30"/>
          <p:cNvSpPr/>
          <p:nvPr/>
        </p:nvSpPr>
        <p:spPr>
          <a:xfrm>
            <a:off x="5328013" y="3025644"/>
            <a:ext cx="1928384" cy="569221"/>
          </a:xfrm>
          <a:prstGeom prst="rect">
            <a:avLst/>
          </a:prstGeom>
          <a:solidFill>
            <a:srgbClr val="C0000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 err="1"/>
              <a:t>리눅스용</a:t>
            </a:r>
            <a:r>
              <a:rPr lang="ko-KR" altLang="en-US" sz="1350" dirty="0"/>
              <a:t> </a:t>
            </a:r>
            <a:r>
              <a:rPr lang="en-US" altLang="ko-KR" sz="1350" dirty="0"/>
              <a:t>JVM</a:t>
            </a:r>
            <a:endParaRPr lang="ko-KR" altLang="en-US" sz="1350" dirty="0"/>
          </a:p>
        </p:txBody>
      </p:sp>
      <p:sp>
        <p:nvSpPr>
          <p:cNvPr id="29" name="직사각형 28"/>
          <p:cNvSpPr/>
          <p:nvPr/>
        </p:nvSpPr>
        <p:spPr>
          <a:xfrm>
            <a:off x="1256147" y="3576576"/>
            <a:ext cx="167735" cy="150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2" name="직사각형 31"/>
          <p:cNvSpPr/>
          <p:nvPr/>
        </p:nvSpPr>
        <p:spPr>
          <a:xfrm>
            <a:off x="1528181" y="3576576"/>
            <a:ext cx="167735" cy="150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3" name="직사각형 32"/>
          <p:cNvSpPr/>
          <p:nvPr/>
        </p:nvSpPr>
        <p:spPr>
          <a:xfrm>
            <a:off x="1778069" y="3576576"/>
            <a:ext cx="167735" cy="150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4" name="직사각형 33"/>
          <p:cNvSpPr/>
          <p:nvPr/>
        </p:nvSpPr>
        <p:spPr>
          <a:xfrm>
            <a:off x="2027957" y="3576576"/>
            <a:ext cx="167735" cy="150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5" name="직사각형 34"/>
          <p:cNvSpPr/>
          <p:nvPr/>
        </p:nvSpPr>
        <p:spPr>
          <a:xfrm>
            <a:off x="2267558" y="3576576"/>
            <a:ext cx="167735" cy="150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6" name="직사각형 35"/>
          <p:cNvSpPr/>
          <p:nvPr/>
        </p:nvSpPr>
        <p:spPr>
          <a:xfrm>
            <a:off x="2525806" y="3576576"/>
            <a:ext cx="167735" cy="150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7" name="직사각형 36"/>
          <p:cNvSpPr/>
          <p:nvPr/>
        </p:nvSpPr>
        <p:spPr>
          <a:xfrm>
            <a:off x="2784053" y="3576576"/>
            <a:ext cx="167735" cy="150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8" name="직사각형 37"/>
          <p:cNvSpPr/>
          <p:nvPr/>
        </p:nvSpPr>
        <p:spPr>
          <a:xfrm>
            <a:off x="3023654" y="3576576"/>
            <a:ext cx="167735" cy="15087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9" name="직사각형 38"/>
          <p:cNvSpPr/>
          <p:nvPr/>
        </p:nvSpPr>
        <p:spPr>
          <a:xfrm>
            <a:off x="3023654" y="3574290"/>
            <a:ext cx="167735" cy="150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0" name="직사각형 39"/>
          <p:cNvSpPr/>
          <p:nvPr/>
        </p:nvSpPr>
        <p:spPr>
          <a:xfrm>
            <a:off x="5328012" y="3597150"/>
            <a:ext cx="1928384" cy="150876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1" name="이등변 삼각형 40"/>
          <p:cNvSpPr/>
          <p:nvPr/>
        </p:nvSpPr>
        <p:spPr>
          <a:xfrm>
            <a:off x="5292080" y="3575433"/>
            <a:ext cx="220096" cy="18973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2" name="이등변 삼각형 41"/>
          <p:cNvSpPr/>
          <p:nvPr/>
        </p:nvSpPr>
        <p:spPr>
          <a:xfrm>
            <a:off x="5531681" y="3575433"/>
            <a:ext cx="220096" cy="18973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3" name="이등변 삼각형 42"/>
          <p:cNvSpPr/>
          <p:nvPr/>
        </p:nvSpPr>
        <p:spPr>
          <a:xfrm>
            <a:off x="5754313" y="3575433"/>
            <a:ext cx="220096" cy="18973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4" name="이등변 삼각형 43"/>
          <p:cNvSpPr/>
          <p:nvPr/>
        </p:nvSpPr>
        <p:spPr>
          <a:xfrm>
            <a:off x="5974409" y="3575433"/>
            <a:ext cx="220096" cy="18973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5" name="이등변 삼각형 44"/>
          <p:cNvSpPr/>
          <p:nvPr/>
        </p:nvSpPr>
        <p:spPr>
          <a:xfrm>
            <a:off x="6193178" y="3575433"/>
            <a:ext cx="220096" cy="18973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6" name="이등변 삼각형 45"/>
          <p:cNvSpPr/>
          <p:nvPr/>
        </p:nvSpPr>
        <p:spPr>
          <a:xfrm>
            <a:off x="6413274" y="3575433"/>
            <a:ext cx="220096" cy="18973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7" name="이등변 삼각형 46"/>
          <p:cNvSpPr/>
          <p:nvPr/>
        </p:nvSpPr>
        <p:spPr>
          <a:xfrm>
            <a:off x="6632044" y="3575433"/>
            <a:ext cx="220096" cy="18973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8" name="이등변 삼각형 47"/>
          <p:cNvSpPr/>
          <p:nvPr/>
        </p:nvSpPr>
        <p:spPr>
          <a:xfrm>
            <a:off x="6849350" y="3575433"/>
            <a:ext cx="220096" cy="18973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9" name="이등변 삼각형 48"/>
          <p:cNvSpPr/>
          <p:nvPr/>
        </p:nvSpPr>
        <p:spPr>
          <a:xfrm>
            <a:off x="7065331" y="3575433"/>
            <a:ext cx="220096" cy="18973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</p:spTree>
    <p:extLst>
      <p:ext uri="{BB962C8B-B14F-4D97-AF65-F5344CB8AC3E}">
        <p14:creationId xmlns:p14="http://schemas.microsoft.com/office/powerpoint/2010/main" val="17877125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5707856" cy="578413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제 </a:t>
            </a:r>
            <a:r>
              <a:rPr lang="en-US" altLang="ko-KR" sz="2400" dirty="0"/>
              <a:t>5</a:t>
            </a:r>
            <a:r>
              <a:rPr lang="ko-KR" altLang="en-US" sz="2400" dirty="0"/>
              <a:t> 장</a:t>
            </a:r>
            <a:r>
              <a:rPr lang="en-US" altLang="ko-KR" sz="2400" dirty="0"/>
              <a:t> </a:t>
            </a:r>
            <a:r>
              <a:rPr lang="ko-KR" altLang="en-US" sz="2400" dirty="0"/>
              <a:t>자바의 컴파일과 실행 과정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7243761" y="3103525"/>
            <a:ext cx="1314451" cy="821531"/>
          </a:xfrm>
          <a:prstGeom prst="rect">
            <a:avLst/>
          </a:prstGeom>
          <a:solidFill>
            <a:schemeClr val="accent2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프로그램</a:t>
            </a:r>
            <a:endParaRPr lang="en-US" altLang="ko-KR" sz="1350" dirty="0"/>
          </a:p>
          <a:p>
            <a:pPr algn="ctr"/>
            <a:r>
              <a:rPr lang="en-US" altLang="ko-KR" sz="1350" dirty="0"/>
              <a:t>(</a:t>
            </a:r>
            <a:r>
              <a:rPr lang="en-US" altLang="ko-KR" sz="1350" dirty="0" err="1"/>
              <a:t>MyPgm</a:t>
            </a:r>
            <a:r>
              <a:rPr lang="en-US" altLang="ko-KR" sz="1350" dirty="0"/>
              <a:t>)</a:t>
            </a:r>
            <a:endParaRPr lang="ko-KR" altLang="en-US" sz="1350" dirty="0"/>
          </a:p>
        </p:txBody>
      </p:sp>
      <p:sp>
        <p:nvSpPr>
          <p:cNvPr id="32" name="직사각형 31"/>
          <p:cNvSpPr/>
          <p:nvPr/>
        </p:nvSpPr>
        <p:spPr>
          <a:xfrm>
            <a:off x="378618" y="3103525"/>
            <a:ext cx="1314451" cy="821531"/>
          </a:xfrm>
          <a:prstGeom prst="rect">
            <a:avLst/>
          </a:prstGeom>
          <a:solidFill>
            <a:schemeClr val="accent2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소스코드</a:t>
            </a:r>
            <a:r>
              <a:rPr lang="en-US" altLang="ko-KR" sz="1350" dirty="0"/>
              <a:t>(MyPgm.java )</a:t>
            </a:r>
            <a:endParaRPr lang="ko-KR" altLang="en-US" sz="1350" dirty="0"/>
          </a:p>
        </p:txBody>
      </p:sp>
      <p:sp>
        <p:nvSpPr>
          <p:cNvPr id="33" name="직사각형 32"/>
          <p:cNvSpPr/>
          <p:nvPr/>
        </p:nvSpPr>
        <p:spPr>
          <a:xfrm>
            <a:off x="4264818" y="3103525"/>
            <a:ext cx="1314451" cy="821531"/>
          </a:xfrm>
          <a:prstGeom prst="rect">
            <a:avLst/>
          </a:prstGeom>
          <a:solidFill>
            <a:schemeClr val="accent2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클래스 파일</a:t>
            </a:r>
            <a:endParaRPr lang="en-US" altLang="ko-KR" sz="1350" dirty="0"/>
          </a:p>
          <a:p>
            <a:pPr algn="ctr"/>
            <a:r>
              <a:rPr lang="en-US" altLang="ko-KR" sz="1350" dirty="0"/>
              <a:t>(</a:t>
            </a:r>
            <a:r>
              <a:rPr lang="en-US" altLang="ko-KR" sz="1350" dirty="0" err="1"/>
              <a:t>MyPgm.class</a:t>
            </a:r>
            <a:r>
              <a:rPr lang="en-US" altLang="ko-KR" sz="1350" dirty="0"/>
              <a:t>)</a:t>
            </a:r>
          </a:p>
        </p:txBody>
      </p:sp>
      <p:cxnSp>
        <p:nvCxnSpPr>
          <p:cNvPr id="36" name="직선 화살표 연결선 35"/>
          <p:cNvCxnSpPr>
            <a:stCxn id="32" idx="3"/>
            <a:endCxn id="33" idx="1"/>
          </p:cNvCxnSpPr>
          <p:nvPr/>
        </p:nvCxnSpPr>
        <p:spPr>
          <a:xfrm>
            <a:off x="1693069" y="3514290"/>
            <a:ext cx="2571749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78794" y="3182106"/>
            <a:ext cx="2486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</a:rPr>
              <a:t>컴파일 </a:t>
            </a:r>
            <a:r>
              <a:rPr lang="en-US" altLang="ko-KR" b="1" dirty="0">
                <a:solidFill>
                  <a:srgbClr val="C00000"/>
                </a:solidFill>
              </a:rPr>
              <a:t>(</a:t>
            </a:r>
            <a:r>
              <a:rPr lang="ko-KR" altLang="en-US" b="1">
                <a:solidFill>
                  <a:srgbClr val="C00000"/>
                </a:solidFill>
              </a:rPr>
              <a:t>바이트 코드로</a:t>
            </a:r>
            <a:r>
              <a:rPr lang="en-US" altLang="ko-KR" b="1">
                <a:solidFill>
                  <a:srgbClr val="C00000"/>
                </a:solidFill>
              </a:rPr>
              <a:t>)</a:t>
            </a:r>
            <a:endParaRPr lang="en-US" altLang="ko-KR" b="1" dirty="0">
              <a:solidFill>
                <a:srgbClr val="C00000"/>
              </a:solidFill>
            </a:endParaRPr>
          </a:p>
          <a:p>
            <a:r>
              <a:rPr lang="en-US" altLang="ko-KR" b="1" dirty="0">
                <a:solidFill>
                  <a:srgbClr val="C00000"/>
                </a:solidFill>
              </a:rPr>
              <a:t>compiler</a:t>
            </a:r>
            <a:endParaRPr lang="ko-KR" altLang="en-US" sz="1500" b="1" dirty="0">
              <a:solidFill>
                <a:srgbClr val="C00000"/>
              </a:solidFill>
            </a:endParaRPr>
          </a:p>
        </p:txBody>
      </p:sp>
      <p:cxnSp>
        <p:nvCxnSpPr>
          <p:cNvPr id="38" name="직선 화살표 연결선 37"/>
          <p:cNvCxnSpPr>
            <a:stCxn id="33" idx="3"/>
            <a:endCxn id="51" idx="1"/>
          </p:cNvCxnSpPr>
          <p:nvPr/>
        </p:nvCxnSpPr>
        <p:spPr>
          <a:xfrm>
            <a:off x="5579268" y="3514290"/>
            <a:ext cx="1664493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550394" y="3182106"/>
            <a:ext cx="2386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>
                <a:solidFill>
                  <a:srgbClr val="C00000"/>
                </a:solidFill>
              </a:rPr>
              <a:t>JVM</a:t>
            </a:r>
            <a:r>
              <a:rPr lang="ko-KR" altLang="en-US" sz="1500" b="1">
                <a:solidFill>
                  <a:srgbClr val="C00000"/>
                </a:solidFill>
              </a:rPr>
              <a:t>이 번역</a:t>
            </a:r>
            <a:r>
              <a:rPr lang="en-US" altLang="ko-KR" sz="1500" b="1">
                <a:solidFill>
                  <a:srgbClr val="C00000"/>
                </a:solidFill>
              </a:rPr>
              <a:t>+</a:t>
            </a:r>
            <a:r>
              <a:rPr lang="ko-KR" altLang="en-US" sz="1500" b="1">
                <a:solidFill>
                  <a:srgbClr val="C00000"/>
                </a:solidFill>
              </a:rPr>
              <a:t>실행</a:t>
            </a:r>
            <a:endParaRPr lang="ko-KR" altLang="en-US" sz="15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5582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/>
          <p:cNvSpPr/>
          <p:nvPr/>
        </p:nvSpPr>
        <p:spPr>
          <a:xfrm>
            <a:off x="121442" y="3113113"/>
            <a:ext cx="5614988" cy="215741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350" dirty="0"/>
          </a:p>
          <a:p>
            <a:pPr algn="ctr"/>
            <a:endParaRPr lang="en-US" altLang="ko-KR" sz="1350" dirty="0"/>
          </a:p>
          <a:p>
            <a:pPr algn="ctr"/>
            <a:endParaRPr lang="en-US" altLang="ko-KR" sz="1350" dirty="0"/>
          </a:p>
          <a:p>
            <a:pPr algn="ctr"/>
            <a:endParaRPr lang="en-US" altLang="ko-KR" sz="1350" dirty="0"/>
          </a:p>
          <a:p>
            <a:pPr algn="ctr"/>
            <a:endParaRPr lang="en-US" altLang="ko-KR" sz="1350" dirty="0"/>
          </a:p>
          <a:p>
            <a:pPr algn="ctr"/>
            <a:endParaRPr lang="en-US" altLang="ko-KR" sz="1350" dirty="0"/>
          </a:p>
          <a:p>
            <a:pPr algn="ctr"/>
            <a:endParaRPr lang="en-US" altLang="ko-KR" sz="1350" dirty="0"/>
          </a:p>
          <a:p>
            <a:pPr algn="ctr"/>
            <a:endParaRPr lang="en-US" altLang="ko-KR" sz="1350" dirty="0"/>
          </a:p>
          <a:p>
            <a:pPr algn="ctr"/>
            <a:r>
              <a:rPr lang="ko-KR" altLang="en-US" sz="3600" dirty="0">
                <a:solidFill>
                  <a:srgbClr val="00B050"/>
                </a:solidFill>
              </a:rPr>
              <a:t>컴파일 방식</a:t>
            </a:r>
            <a:endParaRPr lang="en-US" altLang="ko-KR" sz="3600" dirty="0">
              <a:solidFill>
                <a:srgbClr val="00B050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050505" y="2780928"/>
            <a:ext cx="4572001" cy="215741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900" dirty="0"/>
          </a:p>
          <a:p>
            <a:pPr algn="ctr"/>
            <a:endParaRPr lang="en-US" altLang="ko-KR" sz="900" dirty="0"/>
          </a:p>
          <a:p>
            <a:pPr algn="ctr"/>
            <a:endParaRPr lang="en-US" altLang="ko-KR" sz="900" dirty="0"/>
          </a:p>
          <a:p>
            <a:pPr algn="ctr"/>
            <a:endParaRPr lang="en-US" altLang="ko-KR" sz="900" dirty="0"/>
          </a:p>
          <a:p>
            <a:pPr algn="ctr"/>
            <a:endParaRPr lang="en-US" altLang="ko-KR" sz="900" dirty="0"/>
          </a:p>
          <a:p>
            <a:pPr algn="ctr"/>
            <a:endParaRPr lang="en-US" altLang="ko-KR" sz="900" dirty="0"/>
          </a:p>
          <a:p>
            <a:pPr algn="ctr"/>
            <a:endParaRPr lang="en-US" altLang="ko-KR" sz="900" dirty="0"/>
          </a:p>
          <a:p>
            <a:pPr algn="ctr"/>
            <a:endParaRPr lang="en-US" altLang="ko-KR" sz="900" dirty="0"/>
          </a:p>
          <a:p>
            <a:pPr algn="ctr"/>
            <a:endParaRPr lang="en-US" altLang="ko-KR" sz="900" dirty="0"/>
          </a:p>
          <a:p>
            <a:pPr algn="ctr"/>
            <a:endParaRPr lang="en-US" altLang="ko-KR" sz="900" dirty="0"/>
          </a:p>
          <a:p>
            <a:pPr algn="ctr"/>
            <a:endParaRPr lang="en-US" altLang="ko-KR" sz="900" dirty="0"/>
          </a:p>
          <a:p>
            <a:pPr algn="ctr"/>
            <a:endParaRPr lang="en-US" altLang="ko-KR" sz="900" dirty="0"/>
          </a:p>
          <a:p>
            <a:pPr algn="ctr"/>
            <a:endParaRPr lang="en-US" altLang="ko-KR" sz="900" dirty="0"/>
          </a:p>
          <a:p>
            <a:pPr algn="ctr"/>
            <a:r>
              <a:rPr lang="ko-KR" altLang="en-US" sz="2700" dirty="0" err="1">
                <a:solidFill>
                  <a:schemeClr val="accent1">
                    <a:lumMod val="75000"/>
                  </a:schemeClr>
                </a:solidFill>
              </a:rPr>
              <a:t>인터프리팅</a:t>
            </a:r>
            <a:r>
              <a:rPr lang="ko-KR" altLang="en-US" sz="2700" dirty="0">
                <a:solidFill>
                  <a:schemeClr val="accent1">
                    <a:lumMod val="75000"/>
                  </a:schemeClr>
                </a:solidFill>
              </a:rPr>
              <a:t> 방식</a:t>
            </a:r>
            <a:endParaRPr lang="en-US" altLang="ko-KR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7150892" y="3781054"/>
            <a:ext cx="1314451" cy="821531"/>
          </a:xfrm>
          <a:prstGeom prst="rect">
            <a:avLst/>
          </a:prstGeom>
          <a:solidFill>
            <a:schemeClr val="accent2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실행</a:t>
            </a:r>
            <a:r>
              <a:rPr lang="en-US" altLang="ko-KR" sz="1350" dirty="0"/>
              <a:t>!</a:t>
            </a:r>
            <a:endParaRPr lang="ko-KR" altLang="en-US" sz="1350" dirty="0"/>
          </a:p>
        </p:txBody>
      </p:sp>
      <p:sp>
        <p:nvSpPr>
          <p:cNvPr id="32" name="직사각형 31"/>
          <p:cNvSpPr/>
          <p:nvPr/>
        </p:nvSpPr>
        <p:spPr>
          <a:xfrm>
            <a:off x="307180" y="3781054"/>
            <a:ext cx="1314451" cy="821531"/>
          </a:xfrm>
          <a:prstGeom prst="rect">
            <a:avLst/>
          </a:prstGeom>
          <a:solidFill>
            <a:schemeClr val="accent2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소스코드</a:t>
            </a:r>
            <a:r>
              <a:rPr lang="en-US" altLang="ko-KR" sz="1350" dirty="0"/>
              <a:t>(MyPgm.java )</a:t>
            </a:r>
            <a:endParaRPr lang="ko-KR" altLang="en-US" sz="1350" dirty="0"/>
          </a:p>
        </p:txBody>
      </p:sp>
      <p:sp>
        <p:nvSpPr>
          <p:cNvPr id="33" name="직사각형 32"/>
          <p:cNvSpPr/>
          <p:nvPr/>
        </p:nvSpPr>
        <p:spPr>
          <a:xfrm>
            <a:off x="4193380" y="3781054"/>
            <a:ext cx="1314451" cy="821531"/>
          </a:xfrm>
          <a:prstGeom prst="rect">
            <a:avLst/>
          </a:prstGeom>
          <a:solidFill>
            <a:schemeClr val="accent2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클래스 파일</a:t>
            </a:r>
            <a:endParaRPr lang="en-US" altLang="ko-KR" sz="1350" dirty="0"/>
          </a:p>
          <a:p>
            <a:pPr algn="ctr"/>
            <a:r>
              <a:rPr lang="en-US" altLang="ko-KR" sz="1350" dirty="0"/>
              <a:t>(</a:t>
            </a:r>
            <a:r>
              <a:rPr lang="en-US" altLang="ko-KR" sz="1350" dirty="0" err="1"/>
              <a:t>MyPgm.class</a:t>
            </a:r>
            <a:r>
              <a:rPr lang="en-US" altLang="ko-KR" sz="1350" dirty="0"/>
              <a:t>)</a:t>
            </a:r>
          </a:p>
        </p:txBody>
      </p:sp>
      <p:cxnSp>
        <p:nvCxnSpPr>
          <p:cNvPr id="36" name="직선 화살표 연결선 35"/>
          <p:cNvCxnSpPr>
            <a:stCxn id="32" idx="3"/>
            <a:endCxn id="33" idx="1"/>
          </p:cNvCxnSpPr>
          <p:nvPr/>
        </p:nvCxnSpPr>
        <p:spPr>
          <a:xfrm>
            <a:off x="1621631" y="4191819"/>
            <a:ext cx="2571749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21631" y="3859635"/>
            <a:ext cx="2571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</a:rPr>
              <a:t>컴파일 </a:t>
            </a:r>
            <a:r>
              <a:rPr lang="en-US" altLang="ko-KR" b="1" dirty="0">
                <a:solidFill>
                  <a:srgbClr val="C00000"/>
                </a:solidFill>
              </a:rPr>
              <a:t>(</a:t>
            </a:r>
            <a:r>
              <a:rPr lang="ko-KR" altLang="en-US" b="1">
                <a:solidFill>
                  <a:srgbClr val="C00000"/>
                </a:solidFill>
              </a:rPr>
              <a:t>바이트 코드로</a:t>
            </a:r>
            <a:r>
              <a:rPr lang="en-US" altLang="ko-KR" b="1">
                <a:solidFill>
                  <a:srgbClr val="C00000"/>
                </a:solidFill>
              </a:rPr>
              <a:t>)</a:t>
            </a:r>
            <a:endParaRPr lang="en-US" altLang="ko-KR" b="1" dirty="0">
              <a:solidFill>
                <a:srgbClr val="C00000"/>
              </a:solidFill>
            </a:endParaRPr>
          </a:p>
          <a:p>
            <a:r>
              <a:rPr lang="en-US" altLang="ko-KR" b="1" dirty="0">
                <a:solidFill>
                  <a:srgbClr val="C00000"/>
                </a:solidFill>
              </a:rPr>
              <a:t>compiler</a:t>
            </a:r>
            <a:endParaRPr lang="ko-KR" altLang="en-US" sz="1500" b="1" dirty="0">
              <a:solidFill>
                <a:srgbClr val="C00000"/>
              </a:solidFill>
            </a:endParaRPr>
          </a:p>
        </p:txBody>
      </p:sp>
      <p:cxnSp>
        <p:nvCxnSpPr>
          <p:cNvPr id="38" name="직선 화살표 연결선 37"/>
          <p:cNvCxnSpPr>
            <a:stCxn id="33" idx="3"/>
            <a:endCxn id="51" idx="1"/>
          </p:cNvCxnSpPr>
          <p:nvPr/>
        </p:nvCxnSpPr>
        <p:spPr>
          <a:xfrm>
            <a:off x="5507830" y="4191819"/>
            <a:ext cx="1643062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1"/>
          <p:cNvSpPr txBox="1">
            <a:spLocks/>
          </p:cNvSpPr>
          <p:nvPr/>
        </p:nvSpPr>
        <p:spPr>
          <a:xfrm>
            <a:off x="628650" y="1131094"/>
            <a:ext cx="5707856" cy="57841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>
                <a:solidFill>
                  <a:schemeClr val="bg1"/>
                </a:solidFill>
              </a:rPr>
              <a:t>제 </a:t>
            </a:r>
            <a:r>
              <a:rPr lang="en-US" altLang="ko-KR" sz="2400" dirty="0">
                <a:solidFill>
                  <a:schemeClr val="bg1"/>
                </a:solidFill>
              </a:rPr>
              <a:t>5</a:t>
            </a:r>
            <a:r>
              <a:rPr lang="ko-KR" altLang="en-US" sz="2400" dirty="0">
                <a:solidFill>
                  <a:schemeClr val="bg1"/>
                </a:solidFill>
              </a:rPr>
              <a:t> 장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ko-KR" altLang="en-US" sz="2400" dirty="0">
                <a:solidFill>
                  <a:schemeClr val="bg1"/>
                </a:solidFill>
              </a:rPr>
              <a:t>자바의 컴파일과 실행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8956" y="3859635"/>
            <a:ext cx="23860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>
                <a:solidFill>
                  <a:srgbClr val="C00000"/>
                </a:solidFill>
              </a:rPr>
              <a:t>JVM</a:t>
            </a:r>
            <a:r>
              <a:rPr lang="ko-KR" altLang="en-US" sz="1500" b="1">
                <a:solidFill>
                  <a:srgbClr val="C00000"/>
                </a:solidFill>
              </a:rPr>
              <a:t>이 번역</a:t>
            </a:r>
            <a:r>
              <a:rPr lang="en-US" altLang="ko-KR" sz="1500" b="1">
                <a:solidFill>
                  <a:srgbClr val="C00000"/>
                </a:solidFill>
              </a:rPr>
              <a:t>+</a:t>
            </a:r>
            <a:r>
              <a:rPr lang="ko-KR" altLang="en-US" sz="1500" b="1">
                <a:solidFill>
                  <a:srgbClr val="C00000"/>
                </a:solidFill>
              </a:rPr>
              <a:t>실행</a:t>
            </a:r>
            <a:endParaRPr lang="ko-KR" altLang="en-US" sz="15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9003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7584" y="908720"/>
            <a:ext cx="4005494" cy="578413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제 </a:t>
            </a:r>
            <a:r>
              <a:rPr lang="en-US" altLang="ko-KR" sz="2400" dirty="0"/>
              <a:t>6</a:t>
            </a:r>
            <a:r>
              <a:rPr lang="ko-KR" altLang="en-US" sz="2400" dirty="0"/>
              <a:t> 장 </a:t>
            </a:r>
            <a:r>
              <a:rPr lang="en-US" altLang="ko-KR" sz="2400" dirty="0"/>
              <a:t>JRE</a:t>
            </a:r>
            <a:r>
              <a:rPr lang="ko-KR" altLang="en-US" sz="2400" dirty="0"/>
              <a:t>와 </a:t>
            </a:r>
            <a:r>
              <a:rPr lang="en-US" altLang="ko-KR" sz="2400" dirty="0"/>
              <a:t>JDK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2492896"/>
            <a:ext cx="7886700" cy="3928369"/>
          </a:xfrm>
        </p:spPr>
        <p:txBody>
          <a:bodyPr>
            <a:normAutofit/>
          </a:bodyPr>
          <a:lstStyle/>
          <a:p>
            <a:pPr marL="385763" indent="-385763">
              <a:buFont typeface="+mj-lt"/>
              <a:buAutoNum type="arabicPeriod"/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JRE ( Java Runtime Environment;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자바 실행 환경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) </a:t>
            </a:r>
          </a:p>
          <a:p>
            <a:pPr lvl="1"/>
            <a:r>
              <a:rPr lang="en-US" altLang="ko-KR" dirty="0"/>
              <a:t>JVM</a:t>
            </a:r>
            <a:r>
              <a:rPr lang="ko-KR" altLang="en-US" dirty="0"/>
              <a:t>이 자바 프로그램을 동작 시킬 때 필요한 라이브러리 파일들과 기타 파일들을 가지고 있다</a:t>
            </a:r>
            <a:r>
              <a:rPr lang="en-US" altLang="ko-KR" dirty="0"/>
              <a:t>. ( </a:t>
            </a:r>
            <a:r>
              <a:rPr lang="ko-KR" altLang="en-US" dirty="0"/>
              <a:t>창고의 역할 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>
                <a:solidFill>
                  <a:srgbClr val="C00000"/>
                </a:solidFill>
              </a:rPr>
              <a:t>사용자의 컴퓨터에 설치</a:t>
            </a:r>
            <a:r>
              <a:rPr lang="ko-KR" altLang="en-US" dirty="0"/>
              <a:t>해야 함</a:t>
            </a:r>
            <a:r>
              <a:rPr lang="en-US" altLang="ko-KR" dirty="0"/>
              <a:t>.</a:t>
            </a:r>
          </a:p>
          <a:p>
            <a:pPr marL="342900" lvl="1" indent="0">
              <a:buNone/>
            </a:pPr>
            <a:endParaRPr lang="en-US" altLang="ko-KR" dirty="0"/>
          </a:p>
          <a:p>
            <a:pPr marL="385763" indent="-385763">
              <a:buFont typeface="+mj-lt"/>
              <a:buAutoNum type="arabicPeriod"/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JDK ( Java Development Kit;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자바 개발 도구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) </a:t>
            </a:r>
          </a:p>
          <a:p>
            <a:pPr lvl="1"/>
            <a:r>
              <a:rPr lang="ko-KR" altLang="en-US" dirty="0"/>
              <a:t>자바 개발에 사용되는 컴파일러</a:t>
            </a:r>
            <a:r>
              <a:rPr lang="en-US" altLang="ko-KR" dirty="0"/>
              <a:t>, </a:t>
            </a:r>
            <a:r>
              <a:rPr lang="ko-KR" altLang="en-US" dirty="0"/>
              <a:t>개발 환경을 지원하는 프로그램</a:t>
            </a:r>
            <a:endParaRPr lang="en-US" altLang="ko-KR" dirty="0"/>
          </a:p>
          <a:p>
            <a:pPr lvl="1"/>
            <a:r>
              <a:rPr lang="en-US" altLang="ko-KR" dirty="0" err="1"/>
              <a:t>Javac</a:t>
            </a:r>
            <a:r>
              <a:rPr lang="en-US" altLang="ko-KR" dirty="0"/>
              <a:t> </a:t>
            </a:r>
            <a:r>
              <a:rPr lang="ko-KR" altLang="en-US" dirty="0"/>
              <a:t>등의 컴파일</a:t>
            </a:r>
            <a:r>
              <a:rPr lang="en-US" altLang="ko-KR" dirty="0"/>
              <a:t> </a:t>
            </a:r>
            <a:r>
              <a:rPr lang="ko-KR" altLang="en-US" dirty="0"/>
              <a:t>명령어들이 소속되어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개발자가 작성한 소스 코드를 </a:t>
            </a:r>
            <a:r>
              <a:rPr lang="en-US" altLang="ko-KR" dirty="0"/>
              <a:t>JVM</a:t>
            </a:r>
            <a:r>
              <a:rPr lang="ko-KR" altLang="en-US" dirty="0"/>
              <a:t>에게 전달할 바이트 코드로 변환하여 </a:t>
            </a:r>
            <a:r>
              <a:rPr lang="en-US" altLang="ko-KR" dirty="0"/>
              <a:t>.class </a:t>
            </a:r>
            <a:r>
              <a:rPr lang="ko-KR" altLang="en-US" dirty="0"/>
              <a:t>파일을 생성한다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>
                <a:solidFill>
                  <a:srgbClr val="C00000"/>
                </a:solidFill>
              </a:rPr>
              <a:t>개발자의 컴퓨터에 설치</a:t>
            </a:r>
            <a:r>
              <a:rPr lang="ko-KR" altLang="en-US" dirty="0"/>
              <a:t>해야 하며</a:t>
            </a:r>
            <a:r>
              <a:rPr lang="en-US" altLang="ko-KR" dirty="0"/>
              <a:t>, JDK</a:t>
            </a:r>
            <a:r>
              <a:rPr lang="ko-KR" altLang="en-US" dirty="0"/>
              <a:t>가 설치되면 </a:t>
            </a:r>
            <a:r>
              <a:rPr lang="en-US" altLang="ko-KR" dirty="0"/>
              <a:t>JRE</a:t>
            </a:r>
            <a:r>
              <a:rPr lang="ko-KR" altLang="en-US" dirty="0"/>
              <a:t>도 함께 설치 됨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030401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자바 </a:t>
            </a:r>
            <a:r>
              <a:rPr lang="en-US" altLang="ko-KR"/>
              <a:t>API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자바 </a:t>
            </a:r>
            <a:r>
              <a:rPr lang="en-US" altLang="ko-KR" dirty="0"/>
              <a:t>API(Application Programming Interface)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JDK</a:t>
            </a:r>
            <a:r>
              <a:rPr lang="ko-KR" altLang="en-US" dirty="0"/>
              <a:t>에 포함된 클래스 라이브러리</a:t>
            </a:r>
            <a:endParaRPr lang="en-US" altLang="ko-KR" dirty="0"/>
          </a:p>
          <a:p>
            <a:pPr lvl="2"/>
            <a:r>
              <a:rPr lang="ko-KR" altLang="en-US" dirty="0"/>
              <a:t>주요한 기능들을 미리 구현한 클래스 라이브러리의 집합</a:t>
            </a:r>
            <a:endParaRPr lang="en-US" altLang="ko-KR" dirty="0"/>
          </a:p>
          <a:p>
            <a:pPr lvl="1"/>
            <a:r>
              <a:rPr lang="ko-KR" altLang="en-US" dirty="0"/>
              <a:t>개발자는 </a:t>
            </a:r>
            <a:r>
              <a:rPr lang="en-US" altLang="ko-KR" dirty="0"/>
              <a:t>API</a:t>
            </a:r>
            <a:r>
              <a:rPr lang="ko-KR" altLang="en-US" dirty="0"/>
              <a:t>를 이용하여 쉽고 빠르게 자바 프로그램 개발</a:t>
            </a:r>
            <a:endParaRPr lang="en-US" altLang="ko-KR" dirty="0"/>
          </a:p>
          <a:p>
            <a:pPr lvl="2"/>
            <a:r>
              <a:rPr lang="en-US" altLang="ko-KR" dirty="0"/>
              <a:t>API</a:t>
            </a:r>
            <a:r>
              <a:rPr lang="ko-KR" altLang="en-US" dirty="0"/>
              <a:t>에서 정의한 규격에 따라 클래스 사용</a:t>
            </a:r>
            <a:endParaRPr lang="en-US" altLang="ko-KR" dirty="0"/>
          </a:p>
          <a:p>
            <a:r>
              <a:rPr lang="ko-KR" altLang="en-US" dirty="0"/>
              <a:t>자바 패키지</a:t>
            </a:r>
            <a:r>
              <a:rPr lang="en-US" altLang="ko-KR" dirty="0"/>
              <a:t>(package)</a:t>
            </a:r>
          </a:p>
          <a:p>
            <a:pPr lvl="1"/>
            <a:r>
              <a:rPr lang="ko-KR" altLang="en-US" dirty="0"/>
              <a:t>서로 관련된 클래스들을 분류하여 묶어 놓은 것</a:t>
            </a:r>
            <a:endParaRPr lang="en-US" altLang="ko-KR" dirty="0"/>
          </a:p>
          <a:p>
            <a:pPr lvl="1"/>
            <a:r>
              <a:rPr lang="ko-KR" altLang="en-US" dirty="0"/>
              <a:t>계층구조로 되어 있음</a:t>
            </a:r>
            <a:endParaRPr lang="en-US" altLang="ko-KR" dirty="0"/>
          </a:p>
          <a:p>
            <a:pPr lvl="2"/>
            <a:r>
              <a:rPr lang="ko-KR" altLang="en-US" dirty="0"/>
              <a:t>클래스의 이름에 패키지 이름도 포함</a:t>
            </a:r>
            <a:endParaRPr lang="en-US" altLang="ko-KR" dirty="0"/>
          </a:p>
          <a:p>
            <a:pPr lvl="2"/>
            <a:r>
              <a:rPr lang="ko-KR" altLang="en-US" dirty="0"/>
              <a:t>다른 패키지에 동일한 이름의 클래스 존재 가능</a:t>
            </a:r>
            <a:endParaRPr lang="en-US" altLang="ko-KR" dirty="0"/>
          </a:p>
          <a:p>
            <a:pPr lvl="1"/>
            <a:r>
              <a:rPr lang="ko-KR" altLang="en-US" dirty="0"/>
              <a:t>자바 </a:t>
            </a:r>
            <a:r>
              <a:rPr lang="en-US" altLang="ko-KR" dirty="0"/>
              <a:t>API(</a:t>
            </a:r>
            <a:r>
              <a:rPr lang="ko-KR" altLang="en-US" dirty="0"/>
              <a:t>클래스 라이브러리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dirty="0"/>
              <a:t>JDK</a:t>
            </a:r>
            <a:r>
              <a:rPr lang="ko-KR" altLang="en-US" dirty="0"/>
              <a:t>에 패키지 형태로 제공됨</a:t>
            </a:r>
            <a:endParaRPr lang="en-US" altLang="ko-KR" dirty="0"/>
          </a:p>
          <a:p>
            <a:pPr lvl="2"/>
            <a:r>
              <a:rPr lang="ko-KR" altLang="en-US" dirty="0"/>
              <a:t>필요한 클래스가 속한 패키지만 </a:t>
            </a:r>
            <a:r>
              <a:rPr lang="en-US" altLang="ko-KR" dirty="0"/>
              <a:t>import</a:t>
            </a:r>
            <a:r>
              <a:rPr lang="ko-KR" altLang="en-US" dirty="0"/>
              <a:t>하여 사용</a:t>
            </a:r>
            <a:endParaRPr lang="en-US" altLang="ko-KR" dirty="0"/>
          </a:p>
          <a:p>
            <a:pPr lvl="1"/>
            <a:r>
              <a:rPr lang="ko-KR" altLang="en-US" dirty="0"/>
              <a:t>개발자 자신의 패키지 생성 가능</a:t>
            </a:r>
            <a:endParaRPr lang="en-US" altLang="ko-KR" dirty="0"/>
          </a:p>
          <a:p>
            <a:pPr lvl="1">
              <a:buNone/>
            </a:pP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29033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00138" y="541338"/>
            <a:ext cx="7789862" cy="571500"/>
          </a:xfrm>
        </p:spPr>
        <p:txBody>
          <a:bodyPr/>
          <a:lstStyle/>
          <a:p>
            <a:pPr eaLnBrk="1" hangingPunct="1"/>
            <a:r>
              <a:rPr lang="ko-KR" altLang="en-US"/>
              <a:t>자바를 사용하려면 무엇이 필요한가</a:t>
            </a:r>
            <a:r>
              <a:rPr lang="en-US" altLang="ko-KR"/>
              <a:t>?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8400" y="2636912"/>
            <a:ext cx="6807200" cy="2417762"/>
          </a:xfrm>
        </p:spPr>
        <p:txBody>
          <a:bodyPr/>
          <a:lstStyle/>
          <a:p>
            <a:pPr marL="381000" indent="-381000" eaLnBrk="1" hangingPunct="1"/>
            <a:r>
              <a:rPr lang="ko-KR" altLang="en-US" dirty="0"/>
              <a:t>명칭</a:t>
            </a:r>
            <a:r>
              <a:rPr lang="en-US" altLang="ko-KR" dirty="0"/>
              <a:t>: JDK</a:t>
            </a:r>
            <a:r>
              <a:rPr lang="ko-KR" altLang="en-US" dirty="0"/>
              <a:t> </a:t>
            </a:r>
            <a:r>
              <a:rPr lang="en-US" altLang="ko-KR" dirty="0"/>
              <a:t>(Java Development Kit) </a:t>
            </a:r>
          </a:p>
          <a:p>
            <a:pPr marL="381000" indent="-381000" eaLnBrk="1" hangingPunct="1"/>
            <a:r>
              <a:rPr lang="ko-KR" altLang="en-US" dirty="0"/>
              <a:t>설명</a:t>
            </a:r>
            <a:r>
              <a:rPr lang="en-US" altLang="ko-KR" dirty="0"/>
              <a:t>: </a:t>
            </a:r>
            <a:r>
              <a:rPr lang="ko-KR" altLang="en-US" dirty="0"/>
              <a:t>자바 개발 도구</a:t>
            </a:r>
          </a:p>
          <a:p>
            <a:pPr marL="381000" indent="-381000" eaLnBrk="1" hangingPunct="1"/>
            <a:r>
              <a:rPr lang="ko-KR" altLang="en-US" dirty="0"/>
              <a:t>다운로드 위치</a:t>
            </a:r>
            <a:r>
              <a:rPr lang="en-US" altLang="ko-KR" dirty="0"/>
              <a:t>: www.oracle.com</a:t>
            </a:r>
          </a:p>
          <a:p>
            <a:pPr marL="0" indent="0" eaLnBrk="1" hangingPunct="1">
              <a:buNone/>
            </a:pPr>
            <a:endParaRPr lang="ko-KR" altLang="en-US" dirty="0"/>
          </a:p>
          <a:p>
            <a:pPr marL="381000" indent="-381000" eaLnBrk="1" hangingPunct="1"/>
            <a:endParaRPr lang="ko-KR" altLang="en-US" dirty="0"/>
          </a:p>
        </p:txBody>
      </p:sp>
      <p:sp>
        <p:nvSpPr>
          <p:cNvPr id="3076" name="Rectangle 15"/>
          <p:cNvSpPr>
            <a:spLocks noChangeArrowheads="1"/>
          </p:cNvSpPr>
          <p:nvPr/>
        </p:nvSpPr>
        <p:spPr bwMode="auto">
          <a:xfrm>
            <a:off x="0" y="17224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8278030" cy="709865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latin typeface="+mj-ea"/>
              </a:rPr>
              <a:t>1. JDK(Java Development Kit) </a:t>
            </a:r>
            <a:r>
              <a:rPr lang="ko-KR" altLang="en-US" dirty="0">
                <a:latin typeface="+mj-ea"/>
              </a:rPr>
              <a:t>다운로드 및 설치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72067" y="2348880"/>
            <a:ext cx="7408333" cy="1368152"/>
          </a:xfrm>
        </p:spPr>
        <p:txBody>
          <a:bodyPr>
            <a:normAutofit/>
          </a:bodyPr>
          <a:lstStyle/>
          <a:p>
            <a:r>
              <a:rPr lang="en-US" altLang="ko-KR" dirty="0"/>
              <a:t>JDK</a:t>
            </a:r>
            <a:r>
              <a:rPr lang="ko-KR" altLang="en-US" dirty="0"/>
              <a:t>다운로드</a:t>
            </a:r>
            <a:endParaRPr lang="en-US" altLang="ko-KR" dirty="0"/>
          </a:p>
          <a:p>
            <a:r>
              <a:rPr lang="en-US" altLang="ko-KR" dirty="0"/>
              <a:t>https://www.oracle.com/java/technologies/downloads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070" y="3745210"/>
            <a:ext cx="5677471" cy="252760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070" y="3707110"/>
            <a:ext cx="7691015" cy="304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643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6165304"/>
            <a:ext cx="849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본인 컴퓨터 사양에 맞는 부분을 다운로드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20688"/>
            <a:ext cx="8575068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0462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z="3600" dirty="0"/>
              <a:t>이클립스 다운로드 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sz="quarter" idx="1"/>
          </p:nvPr>
        </p:nvSpPr>
        <p:spPr>
          <a:xfrm>
            <a:off x="865970" y="2204864"/>
            <a:ext cx="6345260" cy="3530600"/>
          </a:xfrm>
        </p:spPr>
        <p:txBody>
          <a:bodyPr/>
          <a:lstStyle/>
          <a:p>
            <a:r>
              <a:rPr lang="en-US" altLang="ko-KR" dirty="0"/>
              <a:t>https://www.eclipse.org/downloads/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A6EEA3C-1DC2-470C-A50C-7AB2211FA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3068960"/>
            <a:ext cx="4869701" cy="3415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z="3600" dirty="0"/>
              <a:t>이클립스 설치</a:t>
            </a:r>
            <a:r>
              <a:rPr lang="en-US" altLang="ko-KR" sz="3600" dirty="0"/>
              <a:t>(java</a:t>
            </a:r>
            <a:r>
              <a:rPr lang="ko-KR" altLang="en-US" sz="3600" dirty="0"/>
              <a:t>만 사용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  <p:sp>
        <p:nvSpPr>
          <p:cNvPr id="5939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folHlink"/>
              </a:buClr>
              <a:buFont typeface="Symbol" panose="05050102010706020507" pitchFamily="18" charset="2"/>
              <a:buChar char="·"/>
              <a:defRPr kumimoji="1" sz="2000">
                <a:solidFill>
                  <a:schemeClr val="tx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anose="05050102010706020507" pitchFamily="18" charset="2"/>
              <a:buChar char="·"/>
              <a:defRPr kumimoji="1" sz="2000">
                <a:solidFill>
                  <a:schemeClr val="tx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anose="05050102010706020507" pitchFamily="18" charset="2"/>
              <a:buChar char="·"/>
              <a:defRPr kumimoji="1">
                <a:solidFill>
                  <a:schemeClr val="tx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anose="05050102010706020507" pitchFamily="18" charset="2"/>
              <a:buChar char="·"/>
              <a:defRPr kumimoji="1" sz="1600">
                <a:solidFill>
                  <a:schemeClr val="tx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anose="05050102010706020507" pitchFamily="18" charset="2"/>
              <a:buChar char="·"/>
              <a:defRPr kumimoji="1" sz="1400">
                <a:solidFill>
                  <a:schemeClr val="tx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anose="05050102010706020507" pitchFamily="18" charset="2"/>
              <a:buChar char="·"/>
              <a:defRPr kumimoji="1" sz="1400">
                <a:solidFill>
                  <a:schemeClr val="tx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anose="05050102010706020507" pitchFamily="18" charset="2"/>
              <a:buChar char="·"/>
              <a:defRPr kumimoji="1" sz="1400">
                <a:solidFill>
                  <a:schemeClr val="tx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anose="05050102010706020507" pitchFamily="18" charset="2"/>
              <a:buChar char="·"/>
              <a:defRPr kumimoji="1" sz="1400">
                <a:solidFill>
                  <a:schemeClr val="tx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anose="05050102010706020507" pitchFamily="18" charset="2"/>
              <a:buChar char="·"/>
              <a:defRPr kumimoji="1" sz="1400">
                <a:solidFill>
                  <a:schemeClr val="tx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kumimoji="0" lang="ko-KR" altLang="en-US" sz="1800">
              <a:latin typeface="Comic Sans MS" panose="030F0702030302020204" pitchFamily="66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006564-D688-47E1-844F-B08EE6CBF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636963"/>
            <a:ext cx="4906165" cy="506841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2F07622-5EA1-4455-9055-A0220BD0C542}"/>
              </a:ext>
            </a:extLst>
          </p:cNvPr>
          <p:cNvSpPr/>
          <p:nvPr/>
        </p:nvSpPr>
        <p:spPr>
          <a:xfrm>
            <a:off x="1115616" y="2492896"/>
            <a:ext cx="4824536" cy="8774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620688"/>
            <a:ext cx="6552728" cy="558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b="1" dirty="0">
                <a:solidFill>
                  <a:schemeClr val="bg1"/>
                </a:solidFill>
              </a:rPr>
              <a:t>이클립스 설치</a:t>
            </a:r>
            <a:r>
              <a:rPr lang="en-US" altLang="ko-KR" b="1" dirty="0">
                <a:solidFill>
                  <a:schemeClr val="bg1"/>
                </a:solidFill>
              </a:rPr>
              <a:t>(</a:t>
            </a:r>
            <a:r>
              <a:rPr lang="ko-KR" altLang="en-US" b="1" dirty="0">
                <a:solidFill>
                  <a:schemeClr val="bg1"/>
                </a:solidFill>
              </a:rPr>
              <a:t>웹프로그래밍 모바일 프로그래밍</a:t>
            </a:r>
            <a:r>
              <a:rPr lang="en-US" altLang="ko-KR" b="1" dirty="0">
                <a:solidFill>
                  <a:schemeClr val="bg1"/>
                </a:solidFill>
              </a:rPr>
              <a:t>, </a:t>
            </a:r>
            <a:r>
              <a:rPr lang="ko-KR" altLang="en-US" b="1" dirty="0">
                <a:solidFill>
                  <a:schemeClr val="bg1"/>
                </a:solidFill>
              </a:rPr>
              <a:t>스프링 </a:t>
            </a:r>
            <a:r>
              <a:rPr lang="en-US" altLang="ko-KR" b="1" dirty="0">
                <a:solidFill>
                  <a:schemeClr val="bg1"/>
                </a:solidFill>
              </a:rPr>
              <a:t>)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45EDE8E-ECC9-4AD6-A13A-CE901F9CA33F}"/>
              </a:ext>
            </a:extLst>
          </p:cNvPr>
          <p:cNvGrpSpPr/>
          <p:nvPr/>
        </p:nvGrpSpPr>
        <p:grpSpPr>
          <a:xfrm>
            <a:off x="971600" y="2132856"/>
            <a:ext cx="4824536" cy="4320480"/>
            <a:chOff x="971600" y="2132856"/>
            <a:chExt cx="4824536" cy="432048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2B5927C-C037-42EF-8590-977A5A3BC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5656" y="2132856"/>
              <a:ext cx="4220004" cy="432048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16EBB7A-7D86-4DD7-96F8-5C373E0B104C}"/>
                </a:ext>
              </a:extLst>
            </p:cNvPr>
            <p:cNvSpPr/>
            <p:nvPr/>
          </p:nvSpPr>
          <p:spPr>
            <a:xfrm>
              <a:off x="971600" y="3429000"/>
              <a:ext cx="4824536" cy="877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70637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z="3600" dirty="0"/>
              <a:t>이클립스 실행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781" y="1881696"/>
            <a:ext cx="7713863" cy="325143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z="3600"/>
              <a:t>이클립스 첫화면</a:t>
            </a:r>
          </a:p>
        </p:txBody>
      </p:sp>
      <p:pic>
        <p:nvPicPr>
          <p:cNvPr id="62467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126170"/>
            <a:ext cx="7924800" cy="387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생성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68" y="1636963"/>
            <a:ext cx="6907753" cy="539318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클래스 생성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330" y="1740024"/>
            <a:ext cx="6512155" cy="477854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소스 코드 입력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1722268"/>
            <a:ext cx="8100109" cy="469296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실행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1731146"/>
            <a:ext cx="7818360" cy="453801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클래스의 정의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52569"/>
            <a:ext cx="9044105" cy="3222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11706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소스 파일과 클래스 이름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소스 안에 </a:t>
            </a:r>
            <a:r>
              <a:rPr lang="en-US" altLang="ko-KR"/>
              <a:t>public </a:t>
            </a:r>
            <a:r>
              <a:rPr lang="ko-KR" altLang="en-US"/>
              <a:t>클래스가 있다면 반드시 소스 파일의 이름은 </a:t>
            </a:r>
            <a:r>
              <a:rPr lang="en-US" altLang="ko-KR"/>
              <a:t>public </a:t>
            </a:r>
            <a:r>
              <a:rPr lang="ko-KR" altLang="en-US"/>
              <a:t>클래스의 이름과 일치하여야 한다</a:t>
            </a:r>
            <a:r>
              <a:rPr lang="en-US" altLang="ko-KR"/>
              <a:t>.</a:t>
            </a:r>
          </a:p>
          <a:p>
            <a:r>
              <a:rPr lang="ko-KR" altLang="en-US"/>
              <a:t>하나의 소스 파일 안에 </a:t>
            </a:r>
            <a:r>
              <a:rPr lang="en-US" altLang="ko-KR"/>
              <a:t>public </a:t>
            </a:r>
            <a:r>
              <a:rPr lang="ko-KR" altLang="en-US"/>
              <a:t>클래스가 </a:t>
            </a:r>
            <a:r>
              <a:rPr lang="en-US" altLang="ko-KR"/>
              <a:t>2</a:t>
            </a:r>
            <a:r>
              <a:rPr lang="ko-KR" altLang="en-US"/>
              <a:t>개 이상 있으면 컴파일 오류가 발생한다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703" y="4404835"/>
            <a:ext cx="5857875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타원 3"/>
          <p:cNvSpPr/>
          <p:nvPr/>
        </p:nvSpPr>
        <p:spPr>
          <a:xfrm>
            <a:off x="1381703" y="4380795"/>
            <a:ext cx="1108609" cy="3398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2910898" y="4555470"/>
            <a:ext cx="1108609" cy="3398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3720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자바 응용의 종류 </a:t>
            </a:r>
            <a:r>
              <a:rPr lang="en-US" altLang="ko-KR"/>
              <a:t>: </a:t>
            </a:r>
            <a:r>
              <a:rPr lang="ko-KR" altLang="en-US"/>
              <a:t>데스크톱 응용프로그램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가장 전형적인 자바 응용프로그램</a:t>
            </a:r>
            <a:endParaRPr lang="en-US" altLang="ko-KR" dirty="0"/>
          </a:p>
          <a:p>
            <a:pPr lvl="1"/>
            <a:r>
              <a:rPr lang="en-US" altLang="ko-KR" dirty="0"/>
              <a:t>PC </a:t>
            </a:r>
            <a:r>
              <a:rPr lang="ko-KR" altLang="en-US" dirty="0"/>
              <a:t>등의 데스크톱 컴퓨터에 설치되어 실행</a:t>
            </a:r>
            <a:endParaRPr lang="en-US" altLang="ko-KR" dirty="0"/>
          </a:p>
          <a:p>
            <a:pPr lvl="1"/>
            <a:r>
              <a:rPr lang="ko-KR" altLang="en-US" dirty="0"/>
              <a:t>자바 실행 환경</a:t>
            </a:r>
            <a:r>
              <a:rPr lang="en-US" altLang="ko-KR" dirty="0"/>
              <a:t>(JRE)</a:t>
            </a:r>
            <a:r>
              <a:rPr lang="ko-KR" altLang="en-US" dirty="0"/>
              <a:t>이 설치된 어떤 컴퓨터에서도 실행</a:t>
            </a:r>
            <a:endParaRPr lang="en-US" altLang="ko-KR" dirty="0"/>
          </a:p>
          <a:p>
            <a:pPr lvl="2"/>
            <a:r>
              <a:rPr lang="ko-KR" altLang="en-US" dirty="0"/>
              <a:t>다른 응용프로그램의 도움 필요 없이 단독으로 실행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3068960"/>
            <a:ext cx="3113776" cy="274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15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처리 6"/>
          <p:cNvSpPr/>
          <p:nvPr/>
        </p:nvSpPr>
        <p:spPr>
          <a:xfrm>
            <a:off x="285720" y="3643314"/>
            <a:ext cx="2143140" cy="2571768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웹 브라우저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 응용의 종류 </a:t>
            </a:r>
            <a:r>
              <a:rPr lang="en-US" altLang="ko-KR" dirty="0"/>
              <a:t>: </a:t>
            </a:r>
            <a:r>
              <a:rPr lang="ko-KR" altLang="en-US" dirty="0" err="1"/>
              <a:t>서블릿</a:t>
            </a:r>
            <a:r>
              <a:rPr lang="ko-KR" altLang="en-US" dirty="0"/>
              <a:t> 응용프로그램</a:t>
            </a:r>
          </a:p>
        </p:txBody>
      </p:sp>
      <p:sp>
        <p:nvSpPr>
          <p:cNvPr id="25" name="슬라이드 번호 개체 틀 2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2295176"/>
          </a:xfrm>
        </p:spPr>
        <p:txBody>
          <a:bodyPr>
            <a:normAutofit lnSpcReduction="10000"/>
          </a:bodyPr>
          <a:lstStyle/>
          <a:p>
            <a:r>
              <a:rPr lang="ko-KR" altLang="en-US" sz="2000" dirty="0" err="1"/>
              <a:t>서블릿</a:t>
            </a:r>
            <a:r>
              <a:rPr lang="en-US" altLang="ko-KR" sz="2000" dirty="0"/>
              <a:t>(servlet)</a:t>
            </a:r>
          </a:p>
          <a:p>
            <a:pPr lvl="1"/>
            <a:r>
              <a:rPr lang="ko-KR" altLang="en-US" sz="1800" dirty="0"/>
              <a:t>웹 서버에서 실행되는 자바 프로그램</a:t>
            </a:r>
            <a:endParaRPr lang="en-US" altLang="ko-KR" sz="1800" dirty="0"/>
          </a:p>
          <a:p>
            <a:pPr lvl="2"/>
            <a:r>
              <a:rPr lang="ko-KR" altLang="en-US" sz="1600" dirty="0" err="1"/>
              <a:t>서블릿은</a:t>
            </a:r>
            <a:r>
              <a:rPr lang="ko-KR" altLang="en-US" sz="1600" dirty="0"/>
              <a:t> 웹브라우저에서 실행되는 자바스크립트 코드와 통신</a:t>
            </a:r>
            <a:endParaRPr lang="en-US" altLang="ko-KR" sz="1600" dirty="0"/>
          </a:p>
          <a:p>
            <a:pPr lvl="1"/>
            <a:r>
              <a:rPr lang="ko-KR" altLang="en-US" sz="1800" dirty="0"/>
              <a:t>데이터베이스 서버 및 기타 서버와 연동하는 복잡한 기능 구현 시 사용</a:t>
            </a:r>
            <a:endParaRPr lang="en-US" altLang="ko-KR" sz="1800" dirty="0"/>
          </a:p>
          <a:p>
            <a:pPr lvl="1"/>
            <a:r>
              <a:rPr lang="ko-KR" altLang="en-US" sz="1800" dirty="0"/>
              <a:t>사용자 인터페이스가 필요 없는 응용</a:t>
            </a:r>
            <a:endParaRPr lang="en-US" altLang="ko-KR" sz="1800" dirty="0"/>
          </a:p>
          <a:p>
            <a:pPr lvl="1"/>
            <a:r>
              <a:rPr lang="ko-KR" altLang="en-US" sz="1800" dirty="0"/>
              <a:t>웹 서버에 의해 실행 통제 받음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44" y="4005064"/>
            <a:ext cx="2062722" cy="2085968"/>
          </a:xfrm>
          <a:prstGeom prst="rect">
            <a:avLst/>
          </a:prstGeom>
        </p:spPr>
      </p:pic>
      <p:sp>
        <p:nvSpPr>
          <p:cNvPr id="9" name="구름 8"/>
          <p:cNvSpPr/>
          <p:nvPr/>
        </p:nvSpPr>
        <p:spPr>
          <a:xfrm>
            <a:off x="2857488" y="4500570"/>
            <a:ext cx="1428760" cy="785818"/>
          </a:xfrm>
          <a:prstGeom prst="cloud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인터넷</a:t>
            </a:r>
          </a:p>
        </p:txBody>
      </p:sp>
      <p:sp>
        <p:nvSpPr>
          <p:cNvPr id="10" name="순서도: 처리 9"/>
          <p:cNvSpPr/>
          <p:nvPr/>
        </p:nvSpPr>
        <p:spPr>
          <a:xfrm>
            <a:off x="5000628" y="3714752"/>
            <a:ext cx="2071702" cy="2500330"/>
          </a:xfrm>
          <a:prstGeom prst="flowChart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웹 서버</a:t>
            </a:r>
          </a:p>
        </p:txBody>
      </p:sp>
      <p:cxnSp>
        <p:nvCxnSpPr>
          <p:cNvPr id="11" name="직선 화살표 연결선 10"/>
          <p:cNvCxnSpPr>
            <a:stCxn id="7" idx="3"/>
            <a:endCxn id="9" idx="2"/>
          </p:cNvCxnSpPr>
          <p:nvPr/>
        </p:nvCxnSpPr>
        <p:spPr>
          <a:xfrm flipV="1">
            <a:off x="2428860" y="4893479"/>
            <a:ext cx="433060" cy="35719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stCxn id="9" idx="0"/>
            <a:endCxn id="10" idx="1"/>
          </p:cNvCxnSpPr>
          <p:nvPr/>
        </p:nvCxnSpPr>
        <p:spPr>
          <a:xfrm>
            <a:off x="4285057" y="4893479"/>
            <a:ext cx="715571" cy="7143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순서도: 처리 12"/>
          <p:cNvSpPr/>
          <p:nvPr/>
        </p:nvSpPr>
        <p:spPr>
          <a:xfrm>
            <a:off x="5214942" y="4429132"/>
            <a:ext cx="1643074" cy="1571636"/>
          </a:xfrm>
          <a:prstGeom prst="flowChartProcess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JVM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순서도: 처리 13"/>
          <p:cNvSpPr/>
          <p:nvPr/>
        </p:nvSpPr>
        <p:spPr>
          <a:xfrm>
            <a:off x="5429256" y="4929198"/>
            <a:ext cx="1214446" cy="785818"/>
          </a:xfrm>
          <a:prstGeom prst="flowChart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servlet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5" name="직선 화살표 연결선 14"/>
          <p:cNvCxnSpPr>
            <a:endCxn id="14" idx="1"/>
          </p:cNvCxnSpPr>
          <p:nvPr/>
        </p:nvCxnSpPr>
        <p:spPr>
          <a:xfrm>
            <a:off x="4071934" y="5072074"/>
            <a:ext cx="1357322" cy="250033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순서도: 처리 15"/>
          <p:cNvSpPr/>
          <p:nvPr/>
        </p:nvSpPr>
        <p:spPr>
          <a:xfrm>
            <a:off x="7715272" y="4005064"/>
            <a:ext cx="961184" cy="495506"/>
          </a:xfrm>
          <a:prstGeom prst="flowChartProcess">
            <a:avLst/>
          </a:prstGeom>
          <a:solidFill>
            <a:srgbClr val="66F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서버</a:t>
            </a:r>
          </a:p>
        </p:txBody>
      </p:sp>
      <p:cxnSp>
        <p:nvCxnSpPr>
          <p:cNvPr id="17" name="직선 화살표 연결선 16"/>
          <p:cNvCxnSpPr>
            <a:endCxn id="16" idx="1"/>
          </p:cNvCxnSpPr>
          <p:nvPr/>
        </p:nvCxnSpPr>
        <p:spPr>
          <a:xfrm flipV="1">
            <a:off x="6643702" y="4252817"/>
            <a:ext cx="1071570" cy="890696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순서도: 처리 17"/>
          <p:cNvSpPr/>
          <p:nvPr/>
        </p:nvSpPr>
        <p:spPr>
          <a:xfrm>
            <a:off x="7715272" y="5429264"/>
            <a:ext cx="961184" cy="448008"/>
          </a:xfrm>
          <a:prstGeom prst="flowChartProcess">
            <a:avLst/>
          </a:prstGeom>
          <a:solidFill>
            <a:srgbClr val="66F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DB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" name="직선 화살표 연결선 18"/>
          <p:cNvCxnSpPr>
            <a:stCxn id="14" idx="3"/>
            <a:endCxn id="18" idx="1"/>
          </p:cNvCxnSpPr>
          <p:nvPr/>
        </p:nvCxnSpPr>
        <p:spPr>
          <a:xfrm>
            <a:off x="6643702" y="5322107"/>
            <a:ext cx="1071570" cy="331161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10863" y="485776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…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1" name="직선 화살표 연결선 20"/>
          <p:cNvCxnSpPr/>
          <p:nvPr/>
        </p:nvCxnSpPr>
        <p:spPr>
          <a:xfrm>
            <a:off x="3786182" y="5214950"/>
            <a:ext cx="1214446" cy="285752"/>
          </a:xfrm>
          <a:prstGeom prst="straightConnector1">
            <a:avLst/>
          </a:prstGeom>
          <a:ln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V="1">
            <a:off x="1818955" y="5072074"/>
            <a:ext cx="1109971" cy="214314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 flipV="1">
            <a:off x="1872303" y="5214950"/>
            <a:ext cx="1270937" cy="259446"/>
          </a:xfrm>
          <a:prstGeom prst="straightConnector1">
            <a:avLst/>
          </a:prstGeom>
          <a:ln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5915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 </a:t>
            </a:r>
            <a:r>
              <a:rPr lang="ko-KR" altLang="en-US" dirty="0" err="1"/>
              <a:t>모바일</a:t>
            </a:r>
            <a:r>
              <a:rPr lang="ko-KR" altLang="en-US" dirty="0"/>
              <a:t> 응용 </a:t>
            </a:r>
            <a:r>
              <a:rPr lang="en-US" altLang="ko-KR" dirty="0"/>
              <a:t>: </a:t>
            </a:r>
            <a:r>
              <a:rPr lang="ko-KR" altLang="en-US" dirty="0" err="1"/>
              <a:t>안드로이드</a:t>
            </a:r>
            <a:r>
              <a:rPr lang="ko-KR" altLang="en-US" dirty="0"/>
              <a:t> </a:t>
            </a:r>
            <a:r>
              <a:rPr lang="ko-KR" altLang="en-US" dirty="0" err="1"/>
              <a:t>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err="1"/>
              <a:t>안드로이드</a:t>
            </a:r>
            <a:endParaRPr lang="en-US" altLang="ko-KR" sz="1800" dirty="0"/>
          </a:p>
          <a:p>
            <a:pPr lvl="1"/>
            <a:r>
              <a:rPr lang="ko-KR" altLang="en-US" sz="1600" dirty="0" err="1"/>
              <a:t>구글의</a:t>
            </a:r>
            <a:r>
              <a:rPr lang="ko-KR" altLang="en-US" sz="1600" dirty="0"/>
              <a:t> 주도로 여러 </a:t>
            </a:r>
            <a:r>
              <a:rPr lang="ko-KR" altLang="en-US" sz="1600" dirty="0" err="1"/>
              <a:t>모바일</a:t>
            </a:r>
            <a:r>
              <a:rPr lang="ko-KR" altLang="en-US" sz="1600" dirty="0"/>
              <a:t> 회사가 모여 구성한 </a:t>
            </a:r>
            <a:r>
              <a:rPr lang="en-US" altLang="ko-KR" sz="1600" dirty="0"/>
              <a:t>OHA(Open Handset Alliance)</a:t>
            </a:r>
            <a:r>
              <a:rPr lang="ko-KR" altLang="en-US" sz="1600" dirty="0"/>
              <a:t>에서 만든 무료 모바일 플랫폼</a:t>
            </a:r>
            <a:endParaRPr lang="en-US" altLang="ko-KR" sz="1600" dirty="0"/>
          </a:p>
          <a:p>
            <a:pPr lvl="1"/>
            <a:r>
              <a:rPr lang="ko-KR" altLang="en-US" sz="1600" dirty="0"/>
              <a:t>개발 언어는 자바를 사용하나 </a:t>
            </a:r>
            <a:r>
              <a:rPr lang="en-US" altLang="ko-KR" sz="1600" dirty="0"/>
              <a:t>JVM</a:t>
            </a:r>
            <a:r>
              <a:rPr lang="ko-KR" altLang="en-US" sz="1600" dirty="0"/>
              <a:t>에 해당하는 </a:t>
            </a:r>
            <a:r>
              <a:rPr lang="en-US" altLang="ko-KR" sz="1600" dirty="0" err="1"/>
              <a:t>Dalvik</a:t>
            </a:r>
            <a:r>
              <a:rPr lang="ko-KR" altLang="en-US" sz="1600" dirty="0"/>
              <a:t>은 기존 바이트 코드와 호환성이 없어 변환 필요</a:t>
            </a:r>
            <a:endParaRPr lang="en-US" altLang="ko-KR" sz="160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6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rtlCol="0" anchor="ctr" anchorCtr="0">
            <a:normAutofit fontScale="85000" lnSpcReduction="20000"/>
          </a:bodyPr>
          <a:lstStyle>
            <a:defPPr>
              <a:defRPr lang="ko-KR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870596-DAFA-46D2-82A7-2B6B5F8E0EA4}" type="slidenum">
              <a:rPr lang="ko-KR" altLang="en-US" smtClean="0"/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1412776"/>
            <a:ext cx="2755506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2491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클래스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b="1"/>
              <a:t>클래스</a:t>
            </a:r>
            <a:r>
              <a:rPr lang="en-US" altLang="ko-KR" b="1"/>
              <a:t>(class)</a:t>
            </a:r>
            <a:r>
              <a:rPr lang="ko-KR" altLang="en-US"/>
              <a:t>는 자바와 같은 객체 지향 언어의 기본적인 빌딩 블록</a:t>
            </a:r>
            <a:endParaRPr lang="en-US" altLang="ko-KR"/>
          </a:p>
          <a:p>
            <a:r>
              <a:rPr lang="ko-KR" altLang="en-US"/>
              <a:t>필요한 클래스를 하나씩 만들어 감으로써 전체 프로그램이 완성된다</a:t>
            </a:r>
            <a:r>
              <a:rPr lang="en-US" altLang="ko-KR"/>
              <a:t>. </a:t>
            </a:r>
          </a:p>
          <a:p>
            <a:pPr marL="0" indent="0">
              <a:buNone/>
            </a:pPr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713" y="4005064"/>
            <a:ext cx="6732573" cy="2368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22294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클래스의 정의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52569"/>
            <a:ext cx="9044105" cy="3222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71103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소스 파일과 클래스 이름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소스 안에 </a:t>
            </a:r>
            <a:r>
              <a:rPr lang="en-US" altLang="ko-KR" dirty="0"/>
              <a:t>public </a:t>
            </a:r>
            <a:r>
              <a:rPr lang="ko-KR" altLang="en-US" dirty="0"/>
              <a:t>클래스가 있다면 반드시 소스 파일의 이름은 </a:t>
            </a:r>
            <a:r>
              <a:rPr lang="en-US" altLang="ko-KR" dirty="0"/>
              <a:t>public </a:t>
            </a:r>
            <a:r>
              <a:rPr lang="ko-KR" altLang="en-US" dirty="0"/>
              <a:t>클래스의 이름과 일치하여야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하나의 소스 파일 안에 </a:t>
            </a:r>
            <a:r>
              <a:rPr lang="en-US" altLang="ko-KR" dirty="0"/>
              <a:t>public </a:t>
            </a:r>
            <a:r>
              <a:rPr lang="ko-KR" altLang="en-US" dirty="0"/>
              <a:t>클래스가 </a:t>
            </a:r>
            <a:r>
              <a:rPr lang="en-US" altLang="ko-KR" dirty="0"/>
              <a:t>2</a:t>
            </a:r>
            <a:r>
              <a:rPr lang="ko-KR" altLang="en-US" dirty="0"/>
              <a:t>개 이상 있으면 컴파일 오류가 발생한다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703" y="4404835"/>
            <a:ext cx="5857875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타원 3"/>
          <p:cNvSpPr/>
          <p:nvPr/>
        </p:nvSpPr>
        <p:spPr>
          <a:xfrm>
            <a:off x="1381703" y="4380795"/>
            <a:ext cx="1108609" cy="3398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타원 5"/>
          <p:cNvSpPr/>
          <p:nvPr/>
        </p:nvSpPr>
        <p:spPr>
          <a:xfrm>
            <a:off x="2910898" y="4555470"/>
            <a:ext cx="1108609" cy="3398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7379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이온(회의실)">
  <a:themeElements>
    <a:clrScheme name="이온(회의실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이온(회의실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(회의실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91B5DDBA07AA84EA228E0EA9FA0FD4E" ma:contentTypeVersion="9" ma:contentTypeDescription="새 문서를 만듭니다." ma:contentTypeScope="" ma:versionID="9150eab95362007fc9fc4bc553e71e04">
  <xsd:schema xmlns:xsd="http://www.w3.org/2001/XMLSchema" xmlns:xs="http://www.w3.org/2001/XMLSchema" xmlns:p="http://schemas.microsoft.com/office/2006/metadata/properties" xmlns:ns3="92eaafdf-1670-428f-b149-8a6578cd9229" targetNamespace="http://schemas.microsoft.com/office/2006/metadata/properties" ma:root="true" ma:fieldsID="e1b56f585490d76ffdb7c187506afbbd" ns3:_="">
    <xsd:import namespace="92eaafdf-1670-428f-b149-8a6578cd922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aafdf-1670-428f-b149-8a6578cd92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A74F1F-3D73-45DC-9598-4088A06F02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753C193-8EB4-4F01-8210-CB6C287EDBE2}">
  <ds:schemaRefs>
    <ds:schemaRef ds:uri="http://purl.org/dc/terms/"/>
    <ds:schemaRef ds:uri="http://schemas.microsoft.com/office/2006/documentManagement/types"/>
    <ds:schemaRef ds:uri="92eaafdf-1670-428f-b149-8a6578cd9229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675005E-E1A2-4799-AD6A-107294469A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eaafdf-1670-428f-b149-8a6578cd92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2459</Words>
  <Application>Microsoft Office PowerPoint</Application>
  <PresentationFormat>화면 슬라이드 쇼(4:3)</PresentationFormat>
  <Paragraphs>474</Paragraphs>
  <Slides>53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53</vt:i4>
      </vt:variant>
    </vt:vector>
  </HeadingPairs>
  <TitlesOfParts>
    <vt:vector size="64" baseType="lpstr">
      <vt:lpstr>Nanum Gothic</vt:lpstr>
      <vt:lpstr>맑은 고딕</vt:lpstr>
      <vt:lpstr>휴먼편지체</vt:lpstr>
      <vt:lpstr>Arial</vt:lpstr>
      <vt:lpstr>Century Gothic</vt:lpstr>
      <vt:lpstr>Comic Sans MS</vt:lpstr>
      <vt:lpstr>Wingdings</vt:lpstr>
      <vt:lpstr>Wingdings 2</vt:lpstr>
      <vt:lpstr>Wingdings 3</vt:lpstr>
      <vt:lpstr>이온(회의실)</vt:lpstr>
      <vt:lpstr>가을</vt:lpstr>
      <vt:lpstr>자바프로그래밍응용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대면  강의 수업 방법</vt:lpstr>
      <vt:lpstr>오프라인 수업 방법</vt:lpstr>
      <vt:lpstr>평가 방법</vt:lpstr>
      <vt:lpstr>공지사항</vt:lpstr>
      <vt:lpstr>프로그래밍 언어</vt:lpstr>
      <vt:lpstr>컴파일</vt:lpstr>
      <vt:lpstr>자바의 태동</vt:lpstr>
      <vt:lpstr>WORA</vt:lpstr>
      <vt:lpstr>플랫폼 종속성(platform dependency)</vt:lpstr>
      <vt:lpstr>자바의 플랫폼 독립성, WORA</vt:lpstr>
      <vt:lpstr>바이트 코드와 자바 가상 기계</vt:lpstr>
      <vt:lpstr>제 1 장 자바란?</vt:lpstr>
      <vt:lpstr>제 2 장 절차적언어 VS 객체지향언어</vt:lpstr>
      <vt:lpstr>PowerPoint 프레젠테이션</vt:lpstr>
      <vt:lpstr>제 2 장 절차적언어 VS 객체지향언어</vt:lpstr>
      <vt:lpstr>C/C++ 프로그램의 개발 및 실행 환경</vt:lpstr>
      <vt:lpstr>자바의 개발 및 실행 환경</vt:lpstr>
      <vt:lpstr>자바와 C/C++의 실행 환경 차이</vt:lpstr>
      <vt:lpstr>Java SE 구성</vt:lpstr>
      <vt:lpstr>JDK 설치 후 디렉터리 구조</vt:lpstr>
      <vt:lpstr>자바의 배포판 종류</vt:lpstr>
      <vt:lpstr>PowerPoint 프레젠테이션</vt:lpstr>
      <vt:lpstr>제 4 장 자바의 JVM ( Java Virtual Machine )</vt:lpstr>
      <vt:lpstr>제 5 장 자바의 컴파일과 실행 과정</vt:lpstr>
      <vt:lpstr>PowerPoint 프레젠테이션</vt:lpstr>
      <vt:lpstr>제 6 장 JRE와 JDK</vt:lpstr>
      <vt:lpstr>자바 API</vt:lpstr>
      <vt:lpstr>자바를 사용하려면 무엇이 필요한가?</vt:lpstr>
      <vt:lpstr>1. JDK(Java Development Kit) 다운로드 및 설치</vt:lpstr>
      <vt:lpstr>PowerPoint 프레젠테이션</vt:lpstr>
      <vt:lpstr>이클립스 다운로드 </vt:lpstr>
      <vt:lpstr>이클립스 설치(java만 사용)</vt:lpstr>
      <vt:lpstr>PowerPoint 프레젠테이션</vt:lpstr>
      <vt:lpstr>이클립스 실행</vt:lpstr>
      <vt:lpstr>이클립스 첫화면</vt:lpstr>
      <vt:lpstr>프로젝트 생성</vt:lpstr>
      <vt:lpstr>클래스 생성</vt:lpstr>
      <vt:lpstr>소스 코드 입력</vt:lpstr>
      <vt:lpstr>프로그램 실행</vt:lpstr>
      <vt:lpstr>클래스의 정의</vt:lpstr>
      <vt:lpstr>소스 파일과 클래스 이름</vt:lpstr>
      <vt:lpstr>자바 응용의 종류 : 데스크톱 응용프로그램</vt:lpstr>
      <vt:lpstr>자바 응용의 종류 : 서블릿 응용프로그램</vt:lpstr>
      <vt:lpstr>자바 모바일 응용 : 안드로이드 앱</vt:lpstr>
      <vt:lpstr>클래스</vt:lpstr>
      <vt:lpstr>클래스의 정의</vt:lpstr>
      <vt:lpstr>소스 파일과 클래스 이름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객체지향 프로그래밍</dc:title>
  <dc:creator>rxr</dc:creator>
  <cp:lastModifiedBy>오은성</cp:lastModifiedBy>
  <cp:revision>20</cp:revision>
  <dcterms:created xsi:type="dcterms:W3CDTF">2020-08-28T02:52:27Z</dcterms:created>
  <dcterms:modified xsi:type="dcterms:W3CDTF">2026-02-28T16:39:25Z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0x010100791B5DDBA07AA84EA228E0EA9FA0FD4E</vt:lpwstr>
  </property>
</Properties>
</file>