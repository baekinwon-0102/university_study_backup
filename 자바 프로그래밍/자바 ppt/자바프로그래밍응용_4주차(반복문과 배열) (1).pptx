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  <p:sldMasterId id="2147483756" r:id="rId5"/>
  </p:sldMasterIdLst>
  <p:notesMasterIdLst>
    <p:notesMasterId r:id="rId59"/>
  </p:notesMasterIdLst>
  <p:sldIdLst>
    <p:sldId id="276" r:id="rId6"/>
    <p:sldId id="750" r:id="rId7"/>
    <p:sldId id="751" r:id="rId8"/>
    <p:sldId id="752" r:id="rId9"/>
    <p:sldId id="753" r:id="rId10"/>
    <p:sldId id="754" r:id="rId11"/>
    <p:sldId id="263" r:id="rId12"/>
    <p:sldId id="535" r:id="rId13"/>
    <p:sldId id="264" r:id="rId14"/>
    <p:sldId id="537" r:id="rId15"/>
    <p:sldId id="538" r:id="rId16"/>
    <p:sldId id="539" r:id="rId17"/>
    <p:sldId id="265" r:id="rId18"/>
    <p:sldId id="755" r:id="rId19"/>
    <p:sldId id="756" r:id="rId20"/>
    <p:sldId id="269" r:id="rId21"/>
    <p:sldId id="561" r:id="rId22"/>
    <p:sldId id="565" r:id="rId23"/>
    <p:sldId id="270" r:id="rId24"/>
    <p:sldId id="400" r:id="rId25"/>
    <p:sldId id="401" r:id="rId26"/>
    <p:sldId id="566" r:id="rId27"/>
    <p:sldId id="271" r:id="rId28"/>
    <p:sldId id="273" r:id="rId29"/>
    <p:sldId id="757" r:id="rId30"/>
    <p:sldId id="548" r:id="rId31"/>
    <p:sldId id="272" r:id="rId32"/>
    <p:sldId id="544" r:id="rId33"/>
    <p:sldId id="549" r:id="rId34"/>
    <p:sldId id="550" r:id="rId35"/>
    <p:sldId id="758" r:id="rId36"/>
    <p:sldId id="759" r:id="rId37"/>
    <p:sldId id="760" r:id="rId38"/>
    <p:sldId id="761" r:id="rId39"/>
    <p:sldId id="762" r:id="rId40"/>
    <p:sldId id="763" r:id="rId41"/>
    <p:sldId id="764" r:id="rId42"/>
    <p:sldId id="765" r:id="rId43"/>
    <p:sldId id="766" r:id="rId44"/>
    <p:sldId id="767" r:id="rId45"/>
    <p:sldId id="768" r:id="rId46"/>
    <p:sldId id="769" r:id="rId47"/>
    <p:sldId id="770" r:id="rId48"/>
    <p:sldId id="771" r:id="rId49"/>
    <p:sldId id="772" r:id="rId50"/>
    <p:sldId id="773" r:id="rId51"/>
    <p:sldId id="774" r:id="rId52"/>
    <p:sldId id="298" r:id="rId53"/>
    <p:sldId id="299" r:id="rId54"/>
    <p:sldId id="300" r:id="rId55"/>
    <p:sldId id="301" r:id="rId56"/>
    <p:sldId id="302" r:id="rId57"/>
    <p:sldId id="303" r:id="rId5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ED1A86-B17C-4885-8245-172F3296B366}" v="1" dt="2025-03-30T07:13:47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61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은성" userId="451a94f3-e55a-4745-8884-f48fbe464410" providerId="ADAL" clId="{BFED1A86-B17C-4885-8245-172F3296B366}"/>
    <pc:docChg chg="modSld sldOrd">
      <pc:chgData name="오은성" userId="451a94f3-e55a-4745-8884-f48fbe464410" providerId="ADAL" clId="{BFED1A86-B17C-4885-8245-172F3296B366}" dt="2025-03-30T07:13:47.649" v="8"/>
      <pc:docMkLst>
        <pc:docMk/>
      </pc:docMkLst>
      <pc:sldChg chg="modSp mod">
        <pc:chgData name="오은성" userId="451a94f3-e55a-4745-8884-f48fbe464410" providerId="ADAL" clId="{BFED1A86-B17C-4885-8245-172F3296B366}" dt="2025-03-30T07:13:47.649" v="8"/>
        <pc:sldMkLst>
          <pc:docMk/>
          <pc:sldMk cId="3160632788" sldId="276"/>
        </pc:sldMkLst>
        <pc:spChg chg="mod">
          <ac:chgData name="오은성" userId="451a94f3-e55a-4745-8884-f48fbe464410" providerId="ADAL" clId="{BFED1A86-B17C-4885-8245-172F3296B366}" dt="2025-03-30T07:13:47.649" v="8"/>
          <ac:spMkLst>
            <pc:docMk/>
            <pc:sldMk cId="3160632788" sldId="276"/>
            <ac:spMk id="2" creationId="{00000000-0000-0000-0000-000000000000}"/>
          </ac:spMkLst>
        </pc:spChg>
      </pc:sldChg>
      <pc:sldChg chg="ord">
        <pc:chgData name="오은성" userId="451a94f3-e55a-4745-8884-f48fbe464410" providerId="ADAL" clId="{BFED1A86-B17C-4885-8245-172F3296B366}" dt="2025-03-30T07:12:53.910" v="1"/>
        <pc:sldMkLst>
          <pc:docMk/>
          <pc:sldMk cId="2318662012" sldId="7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D9F59-4412-4C1B-9AFC-37D0F19DD34A}" type="datetimeFigureOut">
              <a:rPr lang="ko-KR" altLang="en-US" smtClean="0"/>
              <a:t>2025-03-30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DDB46-C8B9-4E58-802E-B5D5985C5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460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6CA48A-C2EC-40C8-B749-566CD4BBC88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957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60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25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 useBgFill="1">
        <p:nvSpPr>
          <p:cNvPr id="20" name="Freeform 10"/>
          <p:cNvSpPr>
            <a:spLocks/>
          </p:cNvSpPr>
          <p:nvPr userDrawn="1"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05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42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353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68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34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05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45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27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56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725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22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609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732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108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071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명품 </a:t>
            </a:r>
            <a:r>
              <a:rPr lang="en-US" altLang="ko-KR" dirty="0"/>
              <a:t>JAVA Programming</a:t>
            </a:r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064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+mj-ea"/>
                <a:ea typeface="+mj-ea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  <a:lvl5pPr>
              <a:defRPr sz="1200">
                <a:latin typeface="+mj-ea"/>
                <a:ea typeface="+mj-ea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7111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578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282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205147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1490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1541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29973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96472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912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715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200" b="0" i="0" u="none" strike="noStrike" kern="1200" cap="none" spc="0" normalizeH="0" baseline="0" noProof="0">
              <a:ln>
                <a:noFill/>
              </a:ln>
              <a:solidFill>
                <a:srgbClr val="481C1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0" b="0" i="0" u="none" strike="noStrike" kern="1200" cap="none" spc="0" normalizeH="0" baseline="0" noProof="0">
              <a:ln>
                <a:noFill/>
              </a:ln>
              <a:solidFill>
                <a:srgbClr val="005E5C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8473F8-2F3F-4CC2-BF55-F7E080802650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775F55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775F55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775F55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775F55">
                        <a:lumMod val="75000"/>
                        <a:shade val="30000"/>
                        <a:satMod val="115000"/>
                      </a:srgbClr>
                    </a:gs>
                    <a:gs pos="50000">
                      <a:srgbClr val="775F55">
                        <a:lumMod val="75000"/>
                        <a:shade val="67500"/>
                        <a:satMod val="115000"/>
                      </a:srgbClr>
                    </a:gs>
                    <a:gs pos="100000">
                      <a:srgbClr val="775F55">
                        <a:lumMod val="75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/42</a:t>
            </a: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3500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355600" indent="-261938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70000"/>
              <a:buFont typeface="맑은 고딕" panose="020B0503020000020004" pitchFamily="50" charset="-127"/>
              <a:buChar char="■"/>
              <a:defRPr sz="2000" b="1"/>
            </a:lvl1pPr>
            <a:lvl2pPr marL="627063" indent="-169863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§"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1168400" indent="-185738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6228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4A73E1A6-FD5B-410B-8D77-29923B500F0F}" type="datetimeFigureOut">
              <a:rPr lang="ko-KR" altLang="en-US" smtClean="0"/>
              <a:pPr/>
              <a:t>2025-03-30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36F68D5E-D2A9-4695-B3E4-CD0D41497B4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16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1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3750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43608" y="404664"/>
            <a:ext cx="7772400" cy="1656184"/>
          </a:xfrm>
        </p:spPr>
        <p:txBody>
          <a:bodyPr/>
          <a:lstStyle/>
          <a:p>
            <a:r>
              <a:rPr lang="ko-KR" altLang="en-US"/>
              <a:t>자바 프로그래밍응용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652120" y="4005064"/>
            <a:ext cx="2952328" cy="102758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b="1" dirty="0"/>
              <a:t>4</a:t>
            </a:r>
            <a:r>
              <a:rPr lang="ko-KR" altLang="en-US" b="1" dirty="0"/>
              <a:t>주차</a:t>
            </a:r>
            <a:endParaRPr lang="en-US" altLang="ko-KR" b="1" dirty="0"/>
          </a:p>
          <a:p>
            <a:r>
              <a:rPr lang="ko-KR" altLang="en-US" b="1" dirty="0"/>
              <a:t>반복문과 배열</a:t>
            </a:r>
            <a:endParaRPr lang="en-US" altLang="ko-KR" b="1" dirty="0"/>
          </a:p>
          <a:p>
            <a:r>
              <a:rPr lang="ko-KR" altLang="en-US" b="1" dirty="0"/>
              <a:t>강의 자 </a:t>
            </a:r>
            <a:r>
              <a:rPr lang="en-US" altLang="ko-KR" b="1" dirty="0"/>
              <a:t>: </a:t>
            </a:r>
            <a:r>
              <a:rPr lang="ko-KR" altLang="en-US" b="1" dirty="0"/>
              <a:t>오 은 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FEC2D8-E928-4A76-A864-29F4D0681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996952"/>
            <a:ext cx="482985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63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6108" y="1956921"/>
            <a:ext cx="7639736" cy="4919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Tx/>
              <a:buChar char="-"/>
            </a:pPr>
            <a:endParaRPr lang="en-US" altLang="ko-KR" sz="2000" dirty="0"/>
          </a:p>
          <a:p>
            <a:pPr>
              <a:lnSpc>
                <a:spcPct val="200000"/>
              </a:lnSpc>
            </a:pP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dirty="0" err="1"/>
              <a:t>반복문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altLang="ko-KR" sz="2000" dirty="0"/>
              <a:t>for</a:t>
            </a:r>
            <a:r>
              <a:rPr lang="ko-KR" altLang="en-US" sz="2000" dirty="0"/>
              <a:t>문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en-US" altLang="ko-KR" sz="2000" dirty="0"/>
              <a:t>while</a:t>
            </a:r>
            <a:r>
              <a:rPr lang="ko-KR" altLang="en-US" sz="2000" dirty="0"/>
              <a:t> 문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dirty="0"/>
              <a:t>배열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r>
              <a:rPr lang="ko-KR" altLang="en-US" sz="2000" dirty="0"/>
              <a:t>과제</a:t>
            </a:r>
            <a:endParaRPr lang="en-US" altLang="ko-KR" sz="2000" dirty="0"/>
          </a:p>
          <a:p>
            <a:pPr marL="342900" indent="-342900">
              <a:lnSpc>
                <a:spcPct val="200000"/>
              </a:lnSpc>
              <a:buFontTx/>
              <a:buChar char="-"/>
            </a:pPr>
            <a:endParaRPr lang="ko-KR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37432-4659-4F26-9A95-9872FEC42B02}"/>
              </a:ext>
            </a:extLst>
          </p:cNvPr>
          <p:cNvSpPr txBox="1"/>
          <p:nvPr/>
        </p:nvSpPr>
        <p:spPr>
          <a:xfrm>
            <a:off x="2051720" y="908720"/>
            <a:ext cx="4608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>
                <a:solidFill>
                  <a:schemeClr val="bg1"/>
                </a:solidFill>
              </a:rPr>
              <a:t>목차</a:t>
            </a:r>
            <a:endParaRPr lang="ko-KR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95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7306F54-40F8-4BF6-8040-6FBA0B627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3500" y="1030654"/>
            <a:ext cx="3238500" cy="523220"/>
          </a:xfrm>
          <a:noFill/>
        </p:spPr>
        <p:txBody>
          <a:bodyPr>
            <a:spAutoFit/>
          </a:bodyPr>
          <a:lstStyle/>
          <a:p>
            <a:pPr algn="l" eaLnBrk="1" hangingPunct="1"/>
            <a:r>
              <a:rPr lang="en-US" altLang="ja-JP" sz="2800" b="1" dirty="0"/>
              <a:t> </a:t>
            </a:r>
            <a:r>
              <a:rPr lang="en-US" altLang="ko-KR" sz="2800" b="1" dirty="0"/>
              <a:t> </a:t>
            </a:r>
            <a:r>
              <a:rPr lang="ko-KR" altLang="en-US" sz="2800" b="1" dirty="0" err="1"/>
              <a:t>반복문</a:t>
            </a:r>
            <a:r>
              <a:rPr lang="ko-KR" altLang="en-US" sz="2800" b="1" dirty="0"/>
              <a:t> 이란</a:t>
            </a:r>
            <a:r>
              <a:rPr lang="en-US" altLang="ko-KR" sz="2800" b="1" dirty="0"/>
              <a:t>?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CCF8528-98B2-4644-9AC2-7C40270A4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7786" y="2556663"/>
            <a:ext cx="8588428" cy="3540456"/>
          </a:xfr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ko-KR" altLang="en-US" sz="2400" b="1" dirty="0" err="1"/>
              <a:t>반복문의</a:t>
            </a:r>
            <a:r>
              <a:rPr lang="ko-KR" altLang="en-US" sz="2400" b="1" dirty="0"/>
              <a:t> 기능</a:t>
            </a:r>
          </a:p>
          <a:p>
            <a:pPr lvl="1" eaLnBrk="1" hangingPunct="1">
              <a:lnSpc>
                <a:spcPct val="120000"/>
              </a:lnSpc>
            </a:pPr>
            <a:r>
              <a:rPr lang="ko-KR" altLang="en-US" sz="2000" b="1" dirty="0"/>
              <a:t>특정 영역을 특정 조건이 만족하는 동안에 반복 실행하기 위한 문장</a:t>
            </a:r>
            <a:br>
              <a:rPr lang="ko-KR" altLang="en-US" sz="2000" b="1" dirty="0"/>
            </a:br>
            <a:endParaRPr lang="ko-KR" altLang="en-US" sz="2000" b="1" dirty="0"/>
          </a:p>
          <a:p>
            <a:pPr eaLnBrk="1" hangingPunct="1">
              <a:lnSpc>
                <a:spcPct val="120000"/>
              </a:lnSpc>
            </a:pPr>
            <a:r>
              <a:rPr lang="ko-KR" altLang="en-US" sz="2400" b="1" dirty="0"/>
              <a:t>세 가지 형태의 </a:t>
            </a:r>
            <a:r>
              <a:rPr lang="ko-KR" altLang="en-US" sz="2400" b="1" dirty="0" err="1"/>
              <a:t>반복문</a:t>
            </a:r>
            <a:endParaRPr lang="en-US" altLang="ko-KR" sz="2400" b="1" dirty="0"/>
          </a:p>
          <a:p>
            <a:pPr lvl="1">
              <a:lnSpc>
                <a:spcPct val="120000"/>
              </a:lnSpc>
            </a:pPr>
            <a:r>
              <a:rPr lang="en-US" altLang="ko-KR" sz="2400" b="1" dirty="0"/>
              <a:t>for</a:t>
            </a:r>
            <a:r>
              <a:rPr lang="ko-KR" altLang="en-US" sz="2400" b="1" dirty="0"/>
              <a:t>문에 의한 반복</a:t>
            </a:r>
            <a:endParaRPr lang="ko-KR" altLang="en-US" sz="2200" b="1" dirty="0"/>
          </a:p>
          <a:p>
            <a:pPr lvl="1" eaLnBrk="1" hangingPunct="1">
              <a:lnSpc>
                <a:spcPct val="120000"/>
              </a:lnSpc>
            </a:pPr>
            <a:r>
              <a:rPr lang="en-US" altLang="ko-KR" sz="2000" b="1" dirty="0"/>
              <a:t>while</a:t>
            </a:r>
            <a:r>
              <a:rPr lang="ko-KR" altLang="en-US" sz="2000" b="1" dirty="0"/>
              <a:t>문에 의한 반복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ko-KR" sz="2000" b="1" dirty="0"/>
              <a:t>do ~ while</a:t>
            </a:r>
            <a:r>
              <a:rPr lang="ko-KR" altLang="en-US" sz="2000" b="1" dirty="0"/>
              <a:t>문에 의한 반복</a:t>
            </a:r>
          </a:p>
        </p:txBody>
      </p:sp>
    </p:spTree>
    <p:extLst>
      <p:ext uri="{BB962C8B-B14F-4D97-AF65-F5344CB8AC3E}">
        <p14:creationId xmlns:p14="http://schemas.microsoft.com/office/powerpoint/2010/main" val="2581904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for </a:t>
            </a:r>
            <a:r>
              <a:rPr lang="ko-KR" altLang="en-US" dirty="0"/>
              <a:t>문의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40" name="슬라이드 번호 개체 틀 3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340768"/>
            <a:ext cx="6046470" cy="365760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691680" y="5229200"/>
            <a:ext cx="5031224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=0;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&lt;10;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++) { //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0~9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까지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번 반복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); // 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까지 출력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65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 </a:t>
            </a:r>
            <a:r>
              <a:rPr lang="ko-KR" altLang="en-US" dirty="0"/>
              <a:t>문의 실행 과정을 나타내는 순서도</a:t>
            </a:r>
          </a:p>
        </p:txBody>
      </p:sp>
      <p:sp>
        <p:nvSpPr>
          <p:cNvPr id="35" name="슬라이드 번호 개체 틀 3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772816"/>
            <a:ext cx="6336704" cy="426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1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문의 예시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42910" y="1697044"/>
            <a:ext cx="3214710" cy="10001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&lt; 10;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27356" y="1368310"/>
            <a:ext cx="26308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까지 정수 출력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355976" y="1711325"/>
            <a:ext cx="3287858" cy="7629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&lt; 10;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42910" y="3216966"/>
            <a:ext cx="7000924" cy="5720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for(</a:t>
            </a:r>
            <a:r>
              <a:rPr kumimoji="0" lang="nn-NO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 i = 0</a:t>
            </a: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; i &lt; 10; i++)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변수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문을 벗어나서 사용할 수 없음</a:t>
            </a:r>
            <a:endParaRPr kumimoji="0" lang="nn-N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	System.out.print(i);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57158" y="2859776"/>
            <a:ext cx="27414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반복문에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변수 선언 가능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857620" y="4483126"/>
            <a:ext cx="3786214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,  sum;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for(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= 0, sum=0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&lt;= 100;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++)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	sum +=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;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57158" y="4054498"/>
            <a:ext cx="29915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까지의 합 구하기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42910" y="4483126"/>
            <a:ext cx="300039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sum = 0;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for(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= 0;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&lt;= 100;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++)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	sum +=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;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642910" y="5426640"/>
            <a:ext cx="300039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sum = 0;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for(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int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= 100;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&gt;= 0;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--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) 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	sum +=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;</a:t>
            </a: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383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while </a:t>
            </a:r>
            <a:r>
              <a:rPr lang="ko-KR" altLang="en-US" dirty="0"/>
              <a:t>문의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5563" y="5085184"/>
            <a:ext cx="5000660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반복 조건이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true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반복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false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반복 종료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반복 조건이 없으면 컴파일 오류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처음부터 반복조건을 통과한 후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수행</a:t>
            </a:r>
          </a:p>
        </p:txBody>
      </p:sp>
      <p:sp>
        <p:nvSpPr>
          <p:cNvPr id="28" name="슬라이드 번호 개체 틀 2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556792"/>
            <a:ext cx="4804410" cy="308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93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while </a:t>
            </a:r>
            <a:r>
              <a:rPr lang="ko-KR" altLang="en-US"/>
              <a:t>문의</a:t>
            </a:r>
            <a:r>
              <a:rPr lang="en-US" altLang="ko-KR"/>
              <a:t> </a:t>
            </a:r>
            <a:r>
              <a:rPr lang="ko-KR" altLang="en-US"/>
              <a:t>구조</a:t>
            </a:r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54811"/>
            <a:ext cx="8229600" cy="241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302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문의 실행 과정을 나타내는 순서도</a:t>
            </a:r>
          </a:p>
        </p:txBody>
      </p:sp>
      <p:sp>
        <p:nvSpPr>
          <p:cNvPr id="30" name="슬라이드 번호 개체 틀 2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844824"/>
            <a:ext cx="6268030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14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en-US" altLang="ko-KR" b="0"/>
              <a:t>0</a:t>
            </a:r>
            <a:r>
              <a:rPr lang="ko-KR" altLang="en-US" b="0"/>
              <a:t>부터 </a:t>
            </a:r>
            <a:r>
              <a:rPr lang="en-US" altLang="ko-KR" b="0"/>
              <a:t>9</a:t>
            </a:r>
            <a:r>
              <a:rPr lang="ko-KR" altLang="en-US" b="0"/>
              <a:t>까지 출력하기</a:t>
            </a:r>
            <a:endParaRPr lang="ko-KR" altLang="en-US"/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16832"/>
            <a:ext cx="8686800" cy="4654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CA6DD1-FC7E-4E96-A304-CEDB78A62B62}"/>
              </a:ext>
            </a:extLst>
          </p:cNvPr>
          <p:cNvSpPr txBox="1"/>
          <p:nvPr/>
        </p:nvSpPr>
        <p:spPr>
          <a:xfrm>
            <a:off x="3707904" y="436510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맑은 고딕" panose="020B0503020000020004" pitchFamily="50" charset="-127"/>
                <a:cs typeface="+mn-cs"/>
              </a:rPr>
              <a:t>초기값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D6A5D-C5E9-4582-9191-3F12384520C4}"/>
              </a:ext>
            </a:extLst>
          </p:cNvPr>
          <p:cNvSpPr txBox="1"/>
          <p:nvPr/>
        </p:nvSpPr>
        <p:spPr>
          <a:xfrm>
            <a:off x="4351185" y="467288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맑은 고딕" panose="020B0503020000020004" pitchFamily="50" charset="-127"/>
                <a:cs typeface="+mn-cs"/>
              </a:rPr>
              <a:t>증감치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EA381-F21F-4FAC-8C19-2C9C3C1A12A6}"/>
              </a:ext>
            </a:extLst>
          </p:cNvPr>
          <p:cNvSpPr txBox="1"/>
          <p:nvPr/>
        </p:nvSpPr>
        <p:spPr>
          <a:xfrm>
            <a:off x="3491880" y="533696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맑은 고딕" panose="020B0503020000020004" pitchFamily="50" charset="-127"/>
                <a:cs typeface="+mn-cs"/>
              </a:rPr>
              <a:t>반복치</a:t>
            </a:r>
          </a:p>
        </p:txBody>
      </p:sp>
    </p:spTree>
    <p:extLst>
      <p:ext uri="{BB962C8B-B14F-4D97-AF65-F5344CB8AC3E}">
        <p14:creationId xmlns:p14="http://schemas.microsoft.com/office/powerpoint/2010/main" val="3535386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구구단 출력</a:t>
            </a:r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5809"/>
            <a:ext cx="8229600" cy="2037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0060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27" y="1367554"/>
            <a:ext cx="8066457" cy="4960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029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31686" y="1700808"/>
            <a:ext cx="6964650" cy="41549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 fontAlgn="base" latinLnBrk="0">
              <a:defRPr sz="1400"/>
            </a:lvl1pPr>
          </a:lstStyle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WhileSample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count=0; // count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입력된 정수의 개수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sum=0; // sum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은 합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Scanner(System.in);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입력하고 마지막에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을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n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 입력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while(n != -1)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 // -1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 입력되면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while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문 벗어남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sum += n;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count++;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 =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 입력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if(count == 0)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입력된 수가 없습니다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else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정수의 개수는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count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개이며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평균은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(double)sum/count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scanner.close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351840" cy="680120"/>
          </a:xfrm>
        </p:spPr>
        <p:txBody>
          <a:bodyPr>
            <a:noAutofit/>
          </a:bodyPr>
          <a:lstStyle/>
          <a:p>
            <a:r>
              <a:rPr lang="ko-KR" altLang="en-US" sz="2400" dirty="0"/>
              <a:t>예제 </a:t>
            </a:r>
            <a:r>
              <a:rPr lang="en-US" altLang="ko-KR" sz="2400" dirty="0"/>
              <a:t>3-2 : -1</a:t>
            </a:r>
            <a:r>
              <a:rPr lang="ko-KR" altLang="en-US" sz="2400" dirty="0"/>
              <a:t>이 입력될 때까지 입력된 수의 평균 구하기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60" y="1282991"/>
            <a:ext cx="7816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while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문을 이용하여 정수를 여러 개 입력 받고 평균을 출력하라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-1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 입력되면 입력을 종료한다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1686" y="5922075"/>
            <a:ext cx="6962648" cy="646331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입력하고 마지막에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-1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을 입력하세요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 30 –20 40 -1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정수의 개수는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개이며 평균은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15.0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사각형 설명선 8"/>
          <p:cNvSpPr/>
          <p:nvPr/>
        </p:nvSpPr>
        <p:spPr>
          <a:xfrm>
            <a:off x="4016062" y="6064350"/>
            <a:ext cx="1656184" cy="324036"/>
          </a:xfrm>
          <a:prstGeom prst="wedgeRoundRectCallout">
            <a:avLst>
              <a:gd name="adj1" fmla="val -180685"/>
              <a:gd name="adj2" fmla="val 537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-1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은 마지막 입력을 뜻함</a:t>
            </a:r>
          </a:p>
        </p:txBody>
      </p:sp>
    </p:spTree>
    <p:extLst>
      <p:ext uri="{BB962C8B-B14F-4D97-AF65-F5344CB8AC3E}">
        <p14:creationId xmlns:p14="http://schemas.microsoft.com/office/powerpoint/2010/main" val="3291027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do-while </a:t>
            </a:r>
            <a:r>
              <a:rPr lang="ko-KR" altLang="en-US" dirty="0"/>
              <a:t>문의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3767" y="5219612"/>
            <a:ext cx="4113627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무조건 최소 한번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작업문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3768" y="5661248"/>
            <a:ext cx="4113627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반복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조건이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true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반복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false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이면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반복 종료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반복 조건이 없으며 컴파일 오류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슬라이드 번호 개체 틀 3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927" y="1444022"/>
            <a:ext cx="56102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040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700070"/>
          </a:xfrm>
        </p:spPr>
        <p:txBody>
          <a:bodyPr/>
          <a:lstStyle/>
          <a:p>
            <a:r>
              <a:rPr lang="en-US" altLang="ko-KR" dirty="0"/>
              <a:t>do-while</a:t>
            </a:r>
            <a:r>
              <a:rPr lang="ko-KR" altLang="en-US" dirty="0"/>
              <a:t>문의 실행 과정을 나타내는 순서도</a:t>
            </a:r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844824"/>
            <a:ext cx="65055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58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중첩 반복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3648" y="3212976"/>
            <a:ext cx="6408712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=0; i&lt;100; i++) { // 100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개의 학교 성적을 모두 더한다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.....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.....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63688" y="3789040"/>
            <a:ext cx="5616624" cy="12241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j=0; j&lt;10000; j++) { // 10000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명의 학생 성적을 모두 더한다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   .....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   .....</a:t>
            </a:r>
          </a:p>
          <a:p>
            <a:pPr marL="0" marR="0" lvl="0" indent="0" algn="l" defTabSz="180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</p:txBody>
      </p:sp>
      <p:sp>
        <p:nvSpPr>
          <p:cNvPr id="5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1783100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중첩 반복</a:t>
            </a:r>
            <a:endParaRPr lang="en-US" altLang="ko-KR" dirty="0"/>
          </a:p>
          <a:p>
            <a:pPr lvl="1"/>
            <a:r>
              <a:rPr lang="ko-KR" altLang="en-US" dirty="0" err="1"/>
              <a:t>반복문이</a:t>
            </a:r>
            <a:r>
              <a:rPr lang="ko-KR" altLang="en-US" dirty="0"/>
              <a:t> 다른 </a:t>
            </a:r>
            <a:r>
              <a:rPr lang="ko-KR" altLang="en-US" dirty="0" err="1"/>
              <a:t>반복문을</a:t>
            </a:r>
            <a:r>
              <a:rPr lang="ko-KR" altLang="en-US" dirty="0"/>
              <a:t> 내포하는 구조</a:t>
            </a:r>
            <a:endParaRPr lang="en-US" altLang="ko-KR" dirty="0"/>
          </a:p>
          <a:p>
            <a:pPr lvl="1"/>
            <a:r>
              <a:rPr lang="ko-KR" altLang="en-US" dirty="0"/>
              <a:t>이론적으로는 몇 번이고 중첩 반복 가능</a:t>
            </a:r>
            <a:endParaRPr lang="en-US" altLang="ko-KR" dirty="0"/>
          </a:p>
          <a:p>
            <a:pPr lvl="1"/>
            <a:r>
              <a:rPr lang="ko-KR" altLang="en-US" dirty="0"/>
              <a:t>너무 많은 중첩 반복은 프로그램 구조를 복잡하게 하므로 </a:t>
            </a:r>
            <a:r>
              <a:rPr lang="en-US" altLang="ko-KR" sz="1600" dirty="0"/>
              <a:t>2</a:t>
            </a:r>
            <a:r>
              <a:rPr lang="ko-KR" altLang="en-US" dirty="0"/>
              <a:t>중 또는 </a:t>
            </a:r>
            <a:r>
              <a:rPr lang="en-US" altLang="ko-KR" sz="1600" dirty="0"/>
              <a:t>3</a:t>
            </a:r>
            <a:r>
              <a:rPr lang="ko-KR" altLang="en-US" dirty="0"/>
              <a:t>중 반복이 적당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403648" y="5556903"/>
            <a:ext cx="5734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10000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명의 학생이 있는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100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 대학의 모든 학생 성적의 합을 구할 때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문을 이용한 이중 중첩 구조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624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75517"/>
          </a:xfrm>
        </p:spPr>
        <p:txBody>
          <a:bodyPr/>
          <a:lstStyle/>
          <a:p>
            <a:r>
              <a:rPr lang="ko-KR" altLang="en-US" b="0" dirty="0"/>
              <a:t>예제</a:t>
            </a:r>
            <a:r>
              <a:rPr lang="en-US" altLang="ko-KR" b="0" dirty="0"/>
              <a:t>1</a:t>
            </a:r>
            <a:r>
              <a:rPr lang="ko-KR" altLang="en-US" b="0" dirty="0"/>
              <a:t> </a:t>
            </a:r>
            <a:r>
              <a:rPr lang="en-US" altLang="ko-KR" b="0" dirty="0"/>
              <a:t>: 2</a:t>
            </a:r>
            <a:r>
              <a:rPr lang="ko-KR" altLang="en-US" b="0" dirty="0"/>
              <a:t>단부터 </a:t>
            </a:r>
            <a:r>
              <a:rPr lang="en-US" altLang="ko-KR" b="0" dirty="0"/>
              <a:t>9</a:t>
            </a:r>
            <a:r>
              <a:rPr lang="ko-KR" altLang="en-US" b="0" dirty="0"/>
              <a:t>단까지 구구단을 작성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762A95-B94B-4C28-BB57-67EC0CC71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06" y="1690689"/>
            <a:ext cx="6890994" cy="4716377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2186A0B1-0554-4331-AB9A-54049E2C5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00113" y="3429000"/>
            <a:ext cx="1416550" cy="279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8594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E52FCE1-FB39-482F-B3FF-33B0CC40B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1209675"/>
            <a:ext cx="8353425" cy="44386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156313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2: 2</a:t>
            </a:r>
            <a:r>
              <a:rPr lang="ko-KR" altLang="en-US" dirty="0"/>
              <a:t>중 중첩을 이용한 구구단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939" y="1772816"/>
            <a:ext cx="7075976" cy="24622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 fontAlgn="base" latinLnBrk="0">
              <a:defRPr sz="1400"/>
            </a:lvl1pPr>
          </a:lstStyle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NestedLoop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=1;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&lt;10;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 // 1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단에서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단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j=1; j&lt;10;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j++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각 단의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구구셈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출력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+ "*" + j + "=" +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*j); //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구구셈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출력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('\t');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하나씩 탭으로 띄기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한 단이 끝나면 다음 줄로 커서 이동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6630" y="1342509"/>
            <a:ext cx="7983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 중첩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for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문을 사용하여 구구단을 출력하는 프로그램을 작성하시오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한 줄에 한 단씩 출력한다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8965" y="4437112"/>
            <a:ext cx="7099379" cy="1754326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1*1=1	1*2=2	1*3=3	1*4=4	1*5=5	1*6=6	1*7=7	1*8=8	1*9=9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2*1=2	2*2=4	2*3=6	2*4=8	2*5=10	2*6=12	2*7=14	2*8=16	2*9=18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3*1=3	3*2=6	3*3=9	3*4=12	3*5=15	3*6=18	3*7=21	3*8=24	3*9=27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4*1=4	4*2=8	4*3=12	4*4=16	4*5=20	4*6=24	4*7=28	4*8=32	4*9=36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5*1=5	5*2=10	5*3=15	5*4=20	5*5=25	5*6=30	5*7=35	5*8=40	5*9=45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6*1=6	6*2=12	6*3=18	6*4=24	6*5=30	6*6=36	6*7=42	6*8=48	6*9=54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7*1=7	7*2=14	7*3=21	7*4=28	7*5=35	7*6=42	7*7=49	7*8=56	7*9=63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8*1=8	8*2=16	8*3=24	8*4=32	8*5=40	8*6=48	8*7=56	8*8=64	8*9=72</a:t>
            </a:r>
          </a:p>
          <a:p>
            <a:pPr marL="0" marR="0" lvl="0" indent="0" algn="l" defTabSz="3960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9*1=9	9*2=18	9*3=27	9*4=36	9*5=45	9*6=54	9*7=63	9*8=72	9*9=81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226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문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>
          <a:xfrm>
            <a:off x="63500" y="594021"/>
            <a:ext cx="8963994" cy="5669958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구구단에서 변수 </a:t>
            </a:r>
            <a:r>
              <a:rPr lang="en-US" altLang="ko-KR" err="1"/>
              <a:t>i</a:t>
            </a:r>
            <a:r>
              <a:rPr lang="ko-KR" altLang="en-US"/>
              <a:t>와 </a:t>
            </a:r>
            <a:r>
              <a:rPr lang="en-US" altLang="ko-KR"/>
              <a:t>k</a:t>
            </a:r>
            <a:r>
              <a:rPr lang="ko-KR" altLang="en-US"/>
              <a:t>의 추출</a:t>
            </a:r>
            <a:r>
              <a:rPr lang="en-US" altLang="ko-KR"/>
              <a:t>(</a:t>
            </a:r>
            <a:r>
              <a:rPr lang="ko-KR" altLang="en-US"/>
              <a:t>가로를 먼저 출력하는 경우</a:t>
            </a:r>
            <a:r>
              <a:rPr lang="en-US" altLang="ko-KR"/>
              <a:t>)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68" y="1350662"/>
            <a:ext cx="7610257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7100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/>
              <a:t>Section</a:t>
            </a:r>
            <a:r>
              <a:rPr lang="en-US" altLang="ko-KR"/>
              <a:t> 02 </a:t>
            </a:r>
            <a:r>
              <a:rPr lang="ko-KR" altLang="en-US"/>
              <a:t>중첩 </a:t>
            </a:r>
            <a:r>
              <a:rPr lang="en-US" altLang="ko-KR"/>
              <a:t>for </a:t>
            </a:r>
            <a:r>
              <a:rPr lang="ko-KR" altLang="en-US"/>
              <a:t>문</a:t>
            </a:r>
            <a:r>
              <a:rPr lang="en-US" altLang="ko-KR"/>
              <a:t>(10)</a:t>
            </a:r>
            <a:endParaRPr lang="ko-KR" altLang="en-US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4852" y="1586077"/>
            <a:ext cx="7845925" cy="279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7150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406D77E-BDF3-489D-8F07-01AFEFEAD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8" y="1443877"/>
            <a:ext cx="8983744" cy="3826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98206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492896"/>
            <a:ext cx="7052310" cy="12306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2503180"/>
          </a:xfrm>
        </p:spPr>
        <p:txBody>
          <a:bodyPr>
            <a:normAutofit/>
          </a:bodyPr>
          <a:lstStyle/>
          <a:p>
            <a:r>
              <a:rPr lang="en-US" altLang="ko-KR" dirty="0"/>
              <a:t>continue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 err="1"/>
              <a:t>반복문을</a:t>
            </a:r>
            <a:r>
              <a:rPr lang="ko-KR" altLang="en-US" dirty="0"/>
              <a:t> 빠져 나가지 않으면서 다음 반복으로 진행</a:t>
            </a:r>
            <a:endParaRPr lang="en-US" altLang="ko-KR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모서리가 둥근 사각형 설명선 15"/>
          <p:cNvSpPr/>
          <p:nvPr/>
        </p:nvSpPr>
        <p:spPr>
          <a:xfrm>
            <a:off x="2411760" y="3814082"/>
            <a:ext cx="720080" cy="258126"/>
          </a:xfrm>
          <a:prstGeom prst="wedgeRoundRectCallout">
            <a:avLst>
              <a:gd name="adj1" fmla="val -30586"/>
              <a:gd name="adj2" fmla="val -32026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분기</a:t>
            </a:r>
          </a:p>
        </p:txBody>
      </p:sp>
      <p:sp>
        <p:nvSpPr>
          <p:cNvPr id="19" name="모서리가 둥근 사각형 설명선 18"/>
          <p:cNvSpPr/>
          <p:nvPr/>
        </p:nvSpPr>
        <p:spPr>
          <a:xfrm>
            <a:off x="4427984" y="4063075"/>
            <a:ext cx="890049" cy="345087"/>
          </a:xfrm>
          <a:prstGeom prst="wedgeRoundRectCallout">
            <a:avLst>
              <a:gd name="adj1" fmla="val 36283"/>
              <a:gd name="adj2" fmla="val -3374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조건식으로분기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모서리가 둥근 사각형 설명선 20"/>
          <p:cNvSpPr/>
          <p:nvPr/>
        </p:nvSpPr>
        <p:spPr>
          <a:xfrm>
            <a:off x="7308304" y="3943145"/>
            <a:ext cx="890049" cy="345087"/>
          </a:xfrm>
          <a:prstGeom prst="wedgeRoundRectCallout">
            <a:avLst>
              <a:gd name="adj1" fmla="val -38078"/>
              <a:gd name="adj2" fmla="val -24907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조건식으로분기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0460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break</a:t>
            </a:r>
            <a:r>
              <a:rPr lang="ko-KR" altLang="en-US"/>
              <a:t>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break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 err="1"/>
              <a:t>반복문</a:t>
            </a:r>
            <a:r>
              <a:rPr lang="ko-KR" altLang="en-US" dirty="0"/>
              <a:t> 하나를 완전히 빠져 나갈 때 사용</a:t>
            </a:r>
            <a:endParaRPr lang="en-US" altLang="ko-KR" dirty="0"/>
          </a:p>
          <a:p>
            <a:pPr lvl="2"/>
            <a:r>
              <a:rPr lang="ko-KR" altLang="en-US" dirty="0"/>
              <a:t>하나의 </a:t>
            </a:r>
            <a:r>
              <a:rPr lang="ko-KR" altLang="en-US" dirty="0" err="1"/>
              <a:t>반복문만</a:t>
            </a:r>
            <a:r>
              <a:rPr lang="ko-KR" altLang="en-US" dirty="0"/>
              <a:t> 벗어남</a:t>
            </a:r>
            <a:endParaRPr lang="en-US" altLang="ko-KR" dirty="0"/>
          </a:p>
          <a:p>
            <a:pPr lvl="2"/>
            <a:r>
              <a:rPr lang="ko-KR" altLang="en-US" dirty="0"/>
              <a:t>중첩 반복의 경우 안쪽 반복문의 </a:t>
            </a:r>
            <a:r>
              <a:rPr lang="en-US" altLang="ko-KR" dirty="0"/>
              <a:t>break </a:t>
            </a:r>
            <a:r>
              <a:rPr lang="ko-KR" altLang="en-US" dirty="0"/>
              <a:t>문이 실행되면 안쪽</a:t>
            </a:r>
            <a:r>
              <a:rPr lang="en-US" altLang="ko-KR" dirty="0"/>
              <a:t> </a:t>
            </a:r>
            <a:r>
              <a:rPr lang="ko-KR" altLang="en-US" dirty="0" err="1"/>
              <a:t>반복문만</a:t>
            </a:r>
            <a:r>
              <a:rPr lang="ko-KR" altLang="en-US" dirty="0"/>
              <a:t> 벗어남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356992"/>
            <a:ext cx="7178040" cy="250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79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28650" y="184006"/>
            <a:ext cx="7886700" cy="768496"/>
          </a:xfrm>
        </p:spPr>
        <p:txBody>
          <a:bodyPr/>
          <a:lstStyle/>
          <a:p>
            <a:r>
              <a:rPr lang="en-US" altLang="ko-KR" dirty="0"/>
              <a:t>break</a:t>
            </a:r>
            <a:r>
              <a:rPr lang="ko-KR" altLang="en-US" dirty="0"/>
              <a:t> </a:t>
            </a:r>
            <a:r>
              <a:rPr lang="en-US" altLang="ko-KR" dirty="0"/>
              <a:t>/continue</a:t>
            </a:r>
            <a:r>
              <a:rPr lang="ko-KR" altLang="en-US" dirty="0"/>
              <a:t>문 </a:t>
            </a:r>
            <a:r>
              <a:rPr lang="en-US" altLang="ko-KR" dirty="0"/>
              <a:t>for </a:t>
            </a:r>
            <a:r>
              <a:rPr lang="ko-KR" altLang="en-US" dirty="0"/>
              <a:t>실습 예제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F83C6CB-347C-4ED0-ADD3-4AA75AAB0BB9}"/>
              </a:ext>
            </a:extLst>
          </p:cNvPr>
          <p:cNvGrpSpPr/>
          <p:nvPr/>
        </p:nvGrpSpPr>
        <p:grpSpPr>
          <a:xfrm>
            <a:off x="503345" y="1497473"/>
            <a:ext cx="8012005" cy="5004278"/>
            <a:chOff x="503345" y="1284349"/>
            <a:chExt cx="8012005" cy="500427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A023E00-C825-4A6B-9108-6918AFB12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2395" y="1284349"/>
              <a:ext cx="4743450" cy="23717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58E1B86-1416-4702-9CC8-55325EB44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677" y="1893255"/>
              <a:ext cx="2343150" cy="7810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5F76FF9-CBB8-4895-804A-DFDFC0CBC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345" y="3907377"/>
              <a:ext cx="4762500" cy="23812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C14F268-FA1D-4B3E-8470-5E8E8D405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9725" y="4532743"/>
              <a:ext cx="3095625" cy="8286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1932328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548751" y="214310"/>
            <a:ext cx="7886700" cy="768496"/>
          </a:xfrm>
        </p:spPr>
        <p:txBody>
          <a:bodyPr/>
          <a:lstStyle/>
          <a:p>
            <a:r>
              <a:rPr lang="en-US" altLang="ko-KR" dirty="0"/>
              <a:t>break</a:t>
            </a:r>
            <a:r>
              <a:rPr lang="ko-KR" altLang="en-US" dirty="0"/>
              <a:t> </a:t>
            </a:r>
            <a:r>
              <a:rPr lang="en-US" altLang="ko-KR" dirty="0"/>
              <a:t>/continue</a:t>
            </a:r>
            <a:r>
              <a:rPr lang="ko-KR" altLang="en-US" dirty="0"/>
              <a:t>문 </a:t>
            </a:r>
            <a:r>
              <a:rPr lang="en-US" altLang="ko-KR" dirty="0"/>
              <a:t>while </a:t>
            </a:r>
            <a:r>
              <a:rPr lang="ko-KR" altLang="en-US" dirty="0"/>
              <a:t>실습 예제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D080763-0D04-4C7F-AE91-1382C092ABE2}"/>
              </a:ext>
            </a:extLst>
          </p:cNvPr>
          <p:cNvGrpSpPr/>
          <p:nvPr/>
        </p:nvGrpSpPr>
        <p:grpSpPr>
          <a:xfrm>
            <a:off x="628650" y="1662667"/>
            <a:ext cx="7600995" cy="4781334"/>
            <a:chOff x="628650" y="1217490"/>
            <a:chExt cx="7600995" cy="4781334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3333514E-78E8-4A30-ADEC-C1A33A3B0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1" y="1217490"/>
              <a:ext cx="4066884" cy="23069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41EA276-C336-4709-9D12-A3906DA44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2570" y="1809472"/>
              <a:ext cx="3267075" cy="8953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755AFA6-8430-4204-AA61-AE4945D96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650" y="3691878"/>
              <a:ext cx="4019559" cy="23069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5809AF9D-33C3-4419-B642-020A2BD74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2569" y="4153179"/>
              <a:ext cx="3267075" cy="89535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2588687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1560" y="228600"/>
            <a:ext cx="8496944" cy="680120"/>
          </a:xfrm>
        </p:spPr>
        <p:txBody>
          <a:bodyPr>
            <a:normAutofit fontScale="90000"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3 : continue </a:t>
            </a:r>
            <a:r>
              <a:rPr lang="ko-KR" altLang="en-US" dirty="0"/>
              <a:t>문을 이용하여 양수 합 구하기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560" y="1855693"/>
            <a:ext cx="5300026" cy="44012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 fontAlgn="base" latinLnBrk="0">
              <a:defRPr sz="1400"/>
            </a:lvl1pPr>
          </a:lstStyle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import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java.util.Scanner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ContinueExample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public static void main(String[]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Scanner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Scanner(System.in);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 입력하세요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.");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sum=0;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for(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=0;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&lt;5; 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++)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n =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scanner.nextInt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키보드에서 정수 입력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if(n&lt;=0) 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continue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양수가 아닌 경우 다음 반복으로 진행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else 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	sum += n; 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양수인 경우 덧셈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양수의 합은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sum);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scanner.close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675" y="1358375"/>
            <a:ext cx="7816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개의 정수를 입력 받고 그 중 양수들만 합하여 출력하는 프로그램을 작성하라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22218" y="4646651"/>
            <a:ext cx="2332822" cy="1600438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정수를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개 입력하세요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5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-2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6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10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-4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양수의 합은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21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 5"/>
          <p:cNvSpPr/>
          <p:nvPr/>
        </p:nvSpPr>
        <p:spPr>
          <a:xfrm>
            <a:off x="2599218" y="3556415"/>
            <a:ext cx="2962575" cy="785510"/>
          </a:xfrm>
          <a:custGeom>
            <a:avLst/>
            <a:gdLst>
              <a:gd name="connsiteX0" fmla="*/ 2953283 w 3028961"/>
              <a:gd name="connsiteY0" fmla="*/ 785510 h 785510"/>
              <a:gd name="connsiteX1" fmla="*/ 3006377 w 3028961"/>
              <a:gd name="connsiteY1" fmla="*/ 443348 h 785510"/>
              <a:gd name="connsiteX2" fmla="*/ 2752705 w 3028961"/>
              <a:gd name="connsiteY2" fmla="*/ 195575 h 785510"/>
              <a:gd name="connsiteX3" fmla="*/ 422460 w 3028961"/>
              <a:gd name="connsiteY3" fmla="*/ 896 h 785510"/>
              <a:gd name="connsiteX4" fmla="*/ 9505 w 3028961"/>
              <a:gd name="connsiteY4" fmla="*/ 136581 h 785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8961" h="785510">
                <a:moveTo>
                  <a:pt x="2953283" y="785510"/>
                </a:moveTo>
                <a:cubicBezTo>
                  <a:pt x="2996545" y="663590"/>
                  <a:pt x="3039807" y="541670"/>
                  <a:pt x="3006377" y="443348"/>
                </a:cubicBezTo>
                <a:cubicBezTo>
                  <a:pt x="2972947" y="345026"/>
                  <a:pt x="3183358" y="269317"/>
                  <a:pt x="2752705" y="195575"/>
                </a:cubicBezTo>
                <a:cubicBezTo>
                  <a:pt x="2322052" y="121833"/>
                  <a:pt x="879660" y="10728"/>
                  <a:pt x="422460" y="896"/>
                </a:cubicBezTo>
                <a:cubicBezTo>
                  <a:pt x="-34740" y="-8936"/>
                  <a:pt x="-12618" y="63822"/>
                  <a:pt x="9505" y="136581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418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78253"/>
          </a:xfrm>
        </p:spPr>
        <p:txBody>
          <a:bodyPr>
            <a:normAutofit fontScale="90000"/>
          </a:bodyPr>
          <a:lstStyle/>
          <a:p>
            <a:r>
              <a:rPr lang="ko-KR" altLang="en-US" b="0" dirty="0"/>
              <a:t>예제</a:t>
            </a:r>
            <a:r>
              <a:rPr lang="en-US" altLang="ko-KR" b="0" dirty="0"/>
              <a:t>: while</a:t>
            </a:r>
            <a:r>
              <a:rPr lang="ko-KR" altLang="en-US" b="0" dirty="0"/>
              <a:t>문 무한루프 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D8E9153-772A-4E34-B84F-0C7E2D1749E0}"/>
              </a:ext>
            </a:extLst>
          </p:cNvPr>
          <p:cNvGrpSpPr/>
          <p:nvPr/>
        </p:nvGrpSpPr>
        <p:grpSpPr>
          <a:xfrm>
            <a:off x="143730" y="2353846"/>
            <a:ext cx="8856539" cy="4139028"/>
            <a:chOff x="101030" y="930121"/>
            <a:chExt cx="9042970" cy="415026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7599399-CF91-4AD1-8167-65C7B2C43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030" y="930121"/>
              <a:ext cx="6326404" cy="415026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9730760-3DF9-4172-AFFE-15133856D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5425" y="1705484"/>
              <a:ext cx="3838575" cy="2257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</p:grpSp>
    </p:spTree>
    <p:extLst>
      <p:ext uri="{BB962C8B-B14F-4D97-AF65-F5344CB8AC3E}">
        <p14:creationId xmlns:p14="http://schemas.microsoft.com/office/powerpoint/2010/main" val="1804957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55787" y="141353"/>
            <a:ext cx="7893913" cy="788971"/>
          </a:xfrm>
        </p:spPr>
        <p:txBody>
          <a:bodyPr>
            <a:noAutofit/>
          </a:bodyPr>
          <a:lstStyle/>
          <a:p>
            <a:r>
              <a:rPr lang="ko-KR" altLang="en-US" sz="1800" b="0" dirty="0"/>
              <a:t>예제</a:t>
            </a:r>
            <a:r>
              <a:rPr lang="en-US" altLang="ko-KR" sz="1800" b="0" dirty="0"/>
              <a:t>: </a:t>
            </a:r>
            <a:r>
              <a:rPr lang="ko-KR" altLang="en-US" sz="1800" dirty="0"/>
              <a:t>구구단을 짜되 </a:t>
            </a:r>
            <a:r>
              <a:rPr lang="en-US" altLang="ko-KR" sz="1800" dirty="0"/>
              <a:t>5</a:t>
            </a:r>
            <a:r>
              <a:rPr lang="ko-KR" altLang="en-US" sz="1800" dirty="0"/>
              <a:t>단과 </a:t>
            </a:r>
            <a:r>
              <a:rPr lang="en-US" altLang="ko-KR" sz="1800" dirty="0"/>
              <a:t>9</a:t>
            </a:r>
            <a:r>
              <a:rPr lang="ko-KR" altLang="en-US" sz="1800" dirty="0"/>
              <a:t>단을 제외하고 출력하고 곱해지는 값이 단보다 크면 탈출 </a:t>
            </a:r>
            <a:r>
              <a:rPr lang="ko-KR" altLang="en-US" sz="1800" dirty="0" err="1"/>
              <a:t>하시오</a:t>
            </a:r>
            <a:r>
              <a:rPr lang="ko-KR" altLang="en-US" sz="1800" dirty="0"/>
              <a:t> 예를 들어 </a:t>
            </a:r>
            <a:r>
              <a:rPr lang="en-US" altLang="ko-KR" sz="1800" dirty="0"/>
              <a:t>2</a:t>
            </a:r>
            <a:r>
              <a:rPr lang="ko-KR" altLang="en-US" sz="1800" dirty="0"/>
              <a:t>단은 </a:t>
            </a:r>
            <a:r>
              <a:rPr lang="en-US" altLang="ko-KR" sz="1800" dirty="0"/>
              <a:t>2*2 </a:t>
            </a:r>
            <a:r>
              <a:rPr lang="ko-KR" altLang="en-US" sz="1800" dirty="0"/>
              <a:t>까지만 </a:t>
            </a:r>
            <a:r>
              <a:rPr lang="en-US" altLang="ko-KR" sz="1800" dirty="0"/>
              <a:t>3</a:t>
            </a:r>
            <a:r>
              <a:rPr lang="ko-KR" altLang="en-US" sz="1800" dirty="0"/>
              <a:t>단은 </a:t>
            </a:r>
            <a:r>
              <a:rPr lang="en-US" altLang="ko-KR" sz="1800" dirty="0"/>
              <a:t>3*3 </a:t>
            </a:r>
            <a:r>
              <a:rPr lang="ko-KR" altLang="en-US" sz="1800" dirty="0"/>
              <a:t>까지만 </a:t>
            </a:r>
            <a:r>
              <a:rPr lang="en-US" altLang="ko-KR" sz="1800" dirty="0"/>
              <a:t>....</a:t>
            </a:r>
            <a:endParaRPr lang="ko-KR" altLang="en-US" sz="1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DC2601-D6A4-44A9-BB7C-BCCCCD5C9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616011"/>
            <a:ext cx="4091948" cy="503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09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0A4E57-56BB-4CDE-812F-C785F8879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6" y="750809"/>
            <a:ext cx="8113849" cy="4753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513152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배열</a:t>
            </a:r>
            <a:r>
              <a:rPr lang="en-US" altLang="ko-KR" dirty="0"/>
              <a:t>(array)</a:t>
            </a:r>
          </a:p>
          <a:p>
            <a:pPr lvl="1"/>
            <a:r>
              <a:rPr lang="ko-KR" altLang="en-US" dirty="0"/>
              <a:t>인덱스와 인덱스에 대응하는 데이터들로 이루어진 자료 구조</a:t>
            </a:r>
            <a:endParaRPr lang="en-US" altLang="ko-KR" dirty="0"/>
          </a:p>
          <a:p>
            <a:pPr lvl="2"/>
            <a:r>
              <a:rPr lang="ko-KR" altLang="en-US" dirty="0"/>
              <a:t>배열을 이용하면 한 번에 많은 메모리 공간 할당 가능</a:t>
            </a:r>
            <a:endParaRPr lang="en-US" altLang="ko-KR" dirty="0"/>
          </a:p>
          <a:p>
            <a:pPr lvl="1"/>
            <a:r>
              <a:rPr lang="ko-KR" altLang="en-US" dirty="0"/>
              <a:t>같은 타입의 데이터들이 순차적으로 저장</a:t>
            </a:r>
            <a:endParaRPr lang="en-US" altLang="ko-KR" dirty="0"/>
          </a:p>
          <a:p>
            <a:pPr lvl="2"/>
            <a:r>
              <a:rPr lang="ko-KR" altLang="en-US" dirty="0"/>
              <a:t>인덱스를 이용하여 원소 데이터 접근</a:t>
            </a:r>
            <a:endParaRPr lang="en-US" altLang="ko-KR" dirty="0"/>
          </a:p>
          <a:p>
            <a:pPr lvl="2"/>
            <a:r>
              <a:rPr lang="ko-KR" altLang="en-US" dirty="0" err="1"/>
              <a:t>반복문을</a:t>
            </a:r>
            <a:r>
              <a:rPr lang="ko-KR" altLang="en-US" dirty="0"/>
              <a:t> 이용하여 처리하기에 적합</a:t>
            </a:r>
            <a:endParaRPr lang="en-US" altLang="ko-KR" dirty="0"/>
          </a:p>
          <a:p>
            <a:pPr lvl="1"/>
            <a:r>
              <a:rPr lang="ko-KR" altLang="en-US" dirty="0"/>
              <a:t>배열 인덱스</a:t>
            </a:r>
            <a:endParaRPr lang="en-US" altLang="ko-KR" dirty="0"/>
          </a:p>
          <a:p>
            <a:pPr lvl="2"/>
            <a:r>
              <a:rPr lang="en-US" altLang="ko-KR" dirty="0"/>
              <a:t>0</a:t>
            </a:r>
            <a:r>
              <a:rPr lang="ko-KR" altLang="en-US" dirty="0"/>
              <a:t>부터 시작</a:t>
            </a:r>
            <a:endParaRPr lang="en-US" altLang="ko-KR" dirty="0"/>
          </a:p>
          <a:p>
            <a:pPr lvl="2"/>
            <a:r>
              <a:rPr lang="ko-KR" altLang="en-US" dirty="0"/>
              <a:t>인덱스는 배열의 시작 위치에서부터 데이터가 있는 상대 위치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2767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자바 배열의 필요성과 모양</a:t>
            </a:r>
          </a:p>
        </p:txBody>
      </p:sp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484784"/>
            <a:ext cx="6701790" cy="497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10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일차원</a:t>
            </a:r>
            <a:r>
              <a:rPr lang="ko-KR" altLang="en-US" dirty="0"/>
              <a:t> 배열 만들기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 선언과 배열 생성의 두 단계 필요</a:t>
            </a:r>
            <a:endParaRPr lang="en-US" altLang="ko-KR" dirty="0"/>
          </a:p>
          <a:p>
            <a:pPr lvl="1"/>
            <a:r>
              <a:rPr lang="ko-KR" altLang="en-US" dirty="0"/>
              <a:t>배열 선언</a:t>
            </a:r>
            <a:endParaRPr lang="en-US" altLang="ko-KR" dirty="0"/>
          </a:p>
          <a:p>
            <a:pPr lvl="1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배열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선언과 함께 초기화</a:t>
            </a:r>
            <a:endParaRPr lang="en-US" altLang="ko-KR" dirty="0"/>
          </a:p>
          <a:p>
            <a:pPr lvl="2"/>
            <a:r>
              <a:rPr lang="ko-KR" altLang="en-US" dirty="0"/>
              <a:t>배열 선언 시 값 초기화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잘못된 배열 선언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/>
          <p:cNvSpPr txBox="1"/>
          <p:nvPr/>
        </p:nvSpPr>
        <p:spPr>
          <a:xfrm>
            <a:off x="1381230" y="2252455"/>
            <a:ext cx="264320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9153" y="2252454"/>
            <a:ext cx="2859231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char[]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1230" y="3383414"/>
            <a:ext cx="264320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new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[10];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new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char[20];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9154" y="3371544"/>
            <a:ext cx="285923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 =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new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[10];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 =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new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char[20];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1273" y="3494654"/>
            <a:ext cx="667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또는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34556" y="4869160"/>
            <a:ext cx="6593827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 = {0,1,2,3,4,5,6,7,8,9};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초기화된 값의 개수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(10)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만큼의 배열 생성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11273" y="2467898"/>
            <a:ext cx="6671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또는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34555" y="5877272"/>
            <a:ext cx="6593827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intArray</a:t>
            </a:r>
            <a:r>
              <a:rPr kumimoji="0" lang="en-US" altLang="ko-KR" sz="1400" b="0" i="0" u="none" strike="sng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[10];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컴파일 오류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배열의 크기를 지정하면 안됨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064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레퍼런스</a:t>
            </a:r>
            <a:r>
              <a:rPr lang="ko-KR" altLang="en-US" dirty="0"/>
              <a:t> 변수와 배열</a:t>
            </a:r>
          </a:p>
        </p:txBody>
      </p:sp>
      <p:sp>
        <p:nvSpPr>
          <p:cNvPr id="37" name="슬라이드 번호 개체 틀 3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556792"/>
            <a:ext cx="7810238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633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배열을 초기화하면서 생성한 결과</a:t>
            </a:r>
          </a:p>
        </p:txBody>
      </p:sp>
      <p:sp>
        <p:nvSpPr>
          <p:cNvPr id="17" name="슬라이드 번호 개체 틀 1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928" y="1988840"/>
            <a:ext cx="7975632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41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인덱스와 원소 접근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5383500"/>
          </a:xfrm>
        </p:spPr>
        <p:txBody>
          <a:bodyPr>
            <a:normAutofit/>
          </a:bodyPr>
          <a:lstStyle/>
          <a:p>
            <a:r>
              <a:rPr lang="ko-KR" altLang="en-US" dirty="0"/>
              <a:t>배열 원소 접근</a:t>
            </a:r>
            <a:endParaRPr lang="en-US" altLang="ko-KR" dirty="0"/>
          </a:p>
          <a:p>
            <a:pPr lvl="1"/>
            <a:r>
              <a:rPr lang="ko-KR" altLang="en-US" dirty="0"/>
              <a:t>배열 변수명과 </a:t>
            </a:r>
            <a:r>
              <a:rPr lang="en-US" altLang="ko-KR" dirty="0"/>
              <a:t>[] </a:t>
            </a:r>
            <a:r>
              <a:rPr lang="ko-KR" altLang="en-US" dirty="0"/>
              <a:t>사이에 원소의 인덱스를 적어 접근</a:t>
            </a:r>
            <a:endParaRPr lang="en-US" altLang="ko-KR" dirty="0"/>
          </a:p>
          <a:p>
            <a:pPr lvl="2"/>
            <a:r>
              <a:rPr lang="ko-KR" altLang="en-US" dirty="0"/>
              <a:t>배열의 인덱스는 </a:t>
            </a:r>
            <a:r>
              <a:rPr lang="en-US" altLang="ko-KR" dirty="0"/>
              <a:t>0</a:t>
            </a:r>
            <a:r>
              <a:rPr lang="ko-KR" altLang="en-US" dirty="0"/>
              <a:t>부터 시작</a:t>
            </a:r>
            <a:endParaRPr lang="en-US" altLang="ko-KR" dirty="0"/>
          </a:p>
          <a:p>
            <a:pPr lvl="2"/>
            <a:r>
              <a:rPr lang="ko-KR" altLang="en-US" dirty="0"/>
              <a:t>배열의 마지막 항목의 인덱스는 </a:t>
            </a:r>
            <a:r>
              <a:rPr lang="en-US" altLang="ko-KR" dirty="0"/>
              <a:t>(</a:t>
            </a:r>
            <a:r>
              <a:rPr lang="ko-KR" altLang="en-US" dirty="0"/>
              <a:t>배열</a:t>
            </a:r>
            <a:r>
              <a:rPr lang="en-US" altLang="ko-KR" dirty="0"/>
              <a:t> </a:t>
            </a:r>
            <a:r>
              <a:rPr lang="ko-KR" altLang="en-US" dirty="0"/>
              <a:t>크기 </a:t>
            </a:r>
            <a:r>
              <a:rPr lang="en-US" altLang="ko-KR" dirty="0"/>
              <a:t>– 1)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인덱스의 범위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반드시 배열 생성 후 접근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331640" y="2924944"/>
            <a:ext cx="6768752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intArray</a:t>
            </a:r>
            <a:r>
              <a:rPr lang="en-US" altLang="ko-KR" sz="1400" dirty="0"/>
              <a:t> [] = </a:t>
            </a:r>
            <a:r>
              <a:rPr lang="en-US" altLang="ko-KR" sz="1400" b="1" dirty="0"/>
              <a:t>new </a:t>
            </a:r>
            <a:r>
              <a:rPr lang="en-US" altLang="ko-KR" sz="1400" b="1" dirty="0" err="1"/>
              <a:t>int</a:t>
            </a:r>
            <a:r>
              <a:rPr lang="en-US" altLang="ko-KR" sz="1400" b="1" dirty="0"/>
              <a:t>[5]; </a:t>
            </a:r>
            <a:r>
              <a:rPr lang="en-US" altLang="ko-KR" sz="1400" dirty="0"/>
              <a:t>// </a:t>
            </a:r>
            <a:r>
              <a:rPr lang="ko-KR" altLang="en-US" sz="1400" dirty="0"/>
              <a:t>원소가 </a:t>
            </a:r>
            <a:r>
              <a:rPr lang="en-US" altLang="ko-KR" sz="1400" dirty="0"/>
              <a:t>5</a:t>
            </a:r>
            <a:r>
              <a:rPr lang="ko-KR" altLang="en-US" sz="1400" dirty="0"/>
              <a:t>개인 배열 생성</a:t>
            </a:r>
            <a:r>
              <a:rPr lang="en-US" altLang="ko-KR" sz="1400" dirty="0"/>
              <a:t>. </a:t>
            </a:r>
            <a:r>
              <a:rPr lang="ko-KR" altLang="en-US" sz="1400" dirty="0"/>
              <a:t>인덱스는 </a:t>
            </a:r>
            <a:r>
              <a:rPr lang="en-US" altLang="ko-KR" sz="1400" dirty="0"/>
              <a:t>0~4</a:t>
            </a:r>
            <a:r>
              <a:rPr lang="ko-KR" altLang="en-US" sz="1400" dirty="0"/>
              <a:t>까지 가능</a:t>
            </a:r>
          </a:p>
          <a:p>
            <a:r>
              <a:rPr lang="en-US" altLang="ko-KR" sz="1400" dirty="0" err="1"/>
              <a:t>intArray</a:t>
            </a:r>
            <a:r>
              <a:rPr lang="en-US" altLang="ko-KR" sz="1400" dirty="0"/>
              <a:t>[0] = 5; // </a:t>
            </a:r>
            <a:r>
              <a:rPr lang="ko-KR" altLang="en-US" sz="1400" dirty="0"/>
              <a:t>원소 </a:t>
            </a:r>
            <a:r>
              <a:rPr lang="en-US" altLang="ko-KR" sz="1400" dirty="0"/>
              <a:t>0</a:t>
            </a:r>
            <a:r>
              <a:rPr lang="ko-KR" altLang="en-US" sz="1400" dirty="0"/>
              <a:t>에 </a:t>
            </a:r>
            <a:r>
              <a:rPr lang="en-US" altLang="ko-KR" sz="1400" dirty="0"/>
              <a:t>5 </a:t>
            </a:r>
            <a:r>
              <a:rPr lang="ko-KR" altLang="en-US" sz="1400" dirty="0"/>
              <a:t>저장</a:t>
            </a:r>
          </a:p>
          <a:p>
            <a:r>
              <a:rPr lang="en-US" altLang="ko-KR" sz="1400" dirty="0" err="1"/>
              <a:t>intArray</a:t>
            </a:r>
            <a:r>
              <a:rPr lang="en-US" altLang="ko-KR" sz="1400" dirty="0"/>
              <a:t>[3] = 6; // </a:t>
            </a:r>
            <a:r>
              <a:rPr lang="ko-KR" altLang="en-US" sz="1400" dirty="0"/>
              <a:t>원소 </a:t>
            </a:r>
            <a:r>
              <a:rPr lang="en-US" altLang="ko-KR" sz="1400" dirty="0"/>
              <a:t>3</a:t>
            </a:r>
            <a:r>
              <a:rPr lang="ko-KR" altLang="en-US" sz="1400" dirty="0"/>
              <a:t>에 </a:t>
            </a:r>
            <a:r>
              <a:rPr lang="en-US" altLang="ko-KR" sz="1400" dirty="0"/>
              <a:t>6 </a:t>
            </a:r>
            <a:r>
              <a:rPr lang="ko-KR" altLang="en-US" sz="1400" dirty="0"/>
              <a:t>저장</a:t>
            </a:r>
          </a:p>
          <a:p>
            <a:r>
              <a:rPr lang="en-US" altLang="ko-KR" sz="1400" dirty="0" err="1"/>
              <a:t>int</a:t>
            </a:r>
            <a:r>
              <a:rPr lang="en-US" altLang="ko-KR" sz="1400" dirty="0"/>
              <a:t> n = </a:t>
            </a:r>
            <a:r>
              <a:rPr lang="en-US" altLang="ko-KR" sz="1400" dirty="0" err="1"/>
              <a:t>intArray</a:t>
            </a:r>
            <a:r>
              <a:rPr lang="en-US" altLang="ko-KR" sz="1400" dirty="0"/>
              <a:t>[3]; // </a:t>
            </a:r>
            <a:r>
              <a:rPr lang="ko-KR" altLang="en-US" sz="1400" dirty="0"/>
              <a:t>원소 </a:t>
            </a:r>
            <a:r>
              <a:rPr lang="en-US" altLang="ko-KR" sz="1400" dirty="0"/>
              <a:t>3</a:t>
            </a:r>
            <a:r>
              <a:rPr lang="ko-KR" altLang="en-US" sz="1400" dirty="0"/>
              <a:t>의 값을 읽어 </a:t>
            </a:r>
            <a:r>
              <a:rPr lang="en-US" altLang="ko-KR" sz="1400" dirty="0"/>
              <a:t>n</a:t>
            </a:r>
            <a:r>
              <a:rPr lang="ko-KR" altLang="en-US" sz="1400" dirty="0"/>
              <a:t>에 저장</a:t>
            </a:r>
            <a:r>
              <a:rPr lang="en-US" altLang="ko-KR" sz="1400" dirty="0"/>
              <a:t>. n</a:t>
            </a:r>
            <a:r>
              <a:rPr lang="ko-KR" altLang="en-US" sz="1400" dirty="0"/>
              <a:t>은 </a:t>
            </a:r>
            <a:r>
              <a:rPr lang="en-US" altLang="ko-KR" sz="1400" dirty="0"/>
              <a:t>6</a:t>
            </a:r>
            <a:r>
              <a:rPr lang="ko-KR" altLang="en-US" sz="1400" dirty="0"/>
              <a:t>이 됨</a:t>
            </a:r>
            <a:endParaRPr lang="en-US" altLang="ko-KR" sz="1400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1640" y="5836041"/>
            <a:ext cx="676875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intArray</a:t>
            </a:r>
            <a:r>
              <a:rPr lang="en-US" altLang="ko-KR" sz="1400" dirty="0"/>
              <a:t> [];</a:t>
            </a:r>
          </a:p>
          <a:p>
            <a:r>
              <a:rPr lang="en-US" altLang="ko-KR" sz="1400" dirty="0" err="1"/>
              <a:t>intArray</a:t>
            </a:r>
            <a:r>
              <a:rPr lang="en-US" altLang="ko-KR" sz="1400" dirty="0"/>
              <a:t>[1] = 8; // </a:t>
            </a:r>
            <a:r>
              <a:rPr lang="ko-KR" altLang="en-US" sz="1400" b="1" dirty="0">
                <a:solidFill>
                  <a:srgbClr val="FF0000"/>
                </a:solidFill>
              </a:rPr>
              <a:t>오류</a:t>
            </a:r>
            <a:r>
              <a:rPr lang="en-US" altLang="ko-KR" sz="1400" dirty="0"/>
              <a:t>, </a:t>
            </a:r>
            <a:r>
              <a:rPr lang="ko-KR" altLang="en-US" sz="1400" dirty="0"/>
              <a:t>생성 되지 않은 배열 사용</a:t>
            </a:r>
            <a:endParaRPr lang="en-US" altLang="ko-KR" sz="1400" dirty="0">
              <a:latin typeface="+mj-lt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331640" y="4595936"/>
            <a:ext cx="676875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+mj-ea"/>
              </a:rPr>
              <a:t>n = </a:t>
            </a:r>
            <a:r>
              <a:rPr lang="en-US" altLang="ko-KR" sz="1400" dirty="0" err="1">
                <a:ea typeface="+mj-ea"/>
              </a:rPr>
              <a:t>intArray</a:t>
            </a:r>
            <a:r>
              <a:rPr lang="en-US" altLang="ko-KR" sz="1400" dirty="0">
                <a:ea typeface="+mj-ea"/>
              </a:rPr>
              <a:t>[</a:t>
            </a:r>
            <a:r>
              <a:rPr lang="en-US" altLang="ko-KR" sz="1400" b="1" dirty="0">
                <a:ea typeface="+mj-ea"/>
              </a:rPr>
              <a:t>-2</a:t>
            </a:r>
            <a:r>
              <a:rPr lang="en-US" altLang="ko-KR" sz="1400" dirty="0">
                <a:ea typeface="+mj-ea"/>
              </a:rPr>
              <a:t>]; // </a:t>
            </a:r>
            <a:r>
              <a:rPr lang="ko-KR" altLang="en-US" sz="1400" dirty="0">
                <a:ea typeface="+mj-ea"/>
              </a:rPr>
              <a:t>실행 오류</a:t>
            </a:r>
            <a:r>
              <a:rPr lang="en-US" altLang="ko-KR" sz="1400" dirty="0">
                <a:ea typeface="+mj-ea"/>
              </a:rPr>
              <a:t>. </a:t>
            </a:r>
            <a:r>
              <a:rPr lang="ko-KR" altLang="en-US" sz="1400" dirty="0">
                <a:ea typeface="+mj-ea"/>
              </a:rPr>
              <a:t>인덱스로 음수 사용 불가</a:t>
            </a:r>
          </a:p>
          <a:p>
            <a:r>
              <a:rPr lang="en-US" altLang="ko-KR" sz="1400" dirty="0">
                <a:ea typeface="+mj-ea"/>
              </a:rPr>
              <a:t>n = </a:t>
            </a:r>
            <a:r>
              <a:rPr lang="en-US" altLang="ko-KR" sz="1400" dirty="0" err="1">
                <a:ea typeface="+mj-ea"/>
              </a:rPr>
              <a:t>intArray</a:t>
            </a:r>
            <a:r>
              <a:rPr lang="en-US" altLang="ko-KR" sz="1400" dirty="0">
                <a:ea typeface="+mj-ea"/>
              </a:rPr>
              <a:t>[</a:t>
            </a:r>
            <a:r>
              <a:rPr lang="en-US" altLang="ko-KR" sz="1400" b="1" dirty="0">
                <a:ea typeface="+mj-ea"/>
              </a:rPr>
              <a:t>5</a:t>
            </a:r>
            <a:r>
              <a:rPr lang="en-US" altLang="ko-KR" sz="1400" dirty="0">
                <a:ea typeface="+mj-ea"/>
              </a:rPr>
              <a:t>]; // </a:t>
            </a:r>
            <a:r>
              <a:rPr lang="ko-KR" altLang="en-US" sz="1400" dirty="0">
                <a:ea typeface="+mj-ea"/>
              </a:rPr>
              <a:t>실행 오류</a:t>
            </a:r>
            <a:r>
              <a:rPr lang="en-US" altLang="ko-KR" sz="1400" dirty="0">
                <a:ea typeface="+mj-ea"/>
              </a:rPr>
              <a:t>. 5</a:t>
            </a:r>
            <a:r>
              <a:rPr lang="ko-KR" altLang="en-US" sz="1400" dirty="0">
                <a:ea typeface="+mj-ea"/>
              </a:rPr>
              <a:t>는 인덱스의 범위</a:t>
            </a:r>
            <a:r>
              <a:rPr lang="en-US" altLang="ko-KR" sz="1400" dirty="0">
                <a:ea typeface="+mj-ea"/>
              </a:rPr>
              <a:t>(0~4)</a:t>
            </a:r>
            <a:r>
              <a:rPr lang="ko-KR" altLang="en-US" sz="1400" dirty="0">
                <a:ea typeface="+mj-ea"/>
              </a:rPr>
              <a:t>를 넘었음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80" y="4719434"/>
            <a:ext cx="295273" cy="27622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70" y="6071627"/>
            <a:ext cx="295273" cy="27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566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02469" y="287866"/>
            <a:ext cx="6343672" cy="709865"/>
          </a:xfrm>
        </p:spPr>
        <p:txBody>
          <a:bodyPr/>
          <a:lstStyle/>
          <a:p>
            <a:pPr eaLnBrk="1" hangingPunct="1"/>
            <a:r>
              <a:rPr lang="ko-KR" altLang="en-US" sz="3600" dirty="0"/>
              <a:t>예제</a:t>
            </a:r>
            <a:r>
              <a:rPr lang="en-US" altLang="ko-KR" sz="3600" dirty="0"/>
              <a:t>: </a:t>
            </a:r>
            <a:r>
              <a:rPr lang="ko-KR" altLang="en-US" sz="3600" dirty="0"/>
              <a:t>반복문과 배열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02469" y="1861607"/>
            <a:ext cx="7739062" cy="359544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latinLnBrk="0">
              <a:buNone/>
            </a:pPr>
            <a:r>
              <a:rPr lang="en-US" altLang="ko-KR" sz="1400" b="1"/>
              <a:t>public</a:t>
            </a:r>
            <a:r>
              <a:rPr lang="en-US" altLang="ko-KR" sz="1400"/>
              <a:t> </a:t>
            </a:r>
            <a:r>
              <a:rPr lang="en-US" altLang="ko-KR" sz="1400" b="1"/>
              <a:t>class</a:t>
            </a:r>
            <a:r>
              <a:rPr lang="en-US" altLang="ko-KR" sz="1400"/>
              <a:t> </a:t>
            </a:r>
            <a:r>
              <a:rPr lang="en-US" altLang="ko-KR" sz="1400" u="sng"/>
              <a:t>ArrayTest1</a:t>
            </a:r>
            <a:r>
              <a:rPr lang="en-US" altLang="ko-KR" sz="1400"/>
              <a:t> {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	</a:t>
            </a:r>
            <a:r>
              <a:rPr lang="en-US" altLang="ko-KR" sz="1400" b="1"/>
              <a:t>public</a:t>
            </a:r>
            <a:r>
              <a:rPr lang="en-US" altLang="ko-KR" sz="1400"/>
              <a:t> </a:t>
            </a:r>
            <a:r>
              <a:rPr lang="en-US" altLang="ko-KR" sz="1400" b="1"/>
              <a:t>static</a:t>
            </a:r>
            <a:r>
              <a:rPr lang="en-US" altLang="ko-KR" sz="1400"/>
              <a:t> </a:t>
            </a:r>
            <a:r>
              <a:rPr lang="en-US" altLang="ko-KR" sz="1400" b="1"/>
              <a:t>void</a:t>
            </a:r>
            <a:r>
              <a:rPr lang="en-US" altLang="ko-KR" sz="1400"/>
              <a:t> main(String[] </a:t>
            </a:r>
            <a:r>
              <a:rPr lang="en-US" altLang="ko-KR" sz="1400" err="1"/>
              <a:t>args</a:t>
            </a:r>
            <a:r>
              <a:rPr lang="en-US" altLang="ko-KR" sz="1400"/>
              <a:t>) {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 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		</a:t>
            </a:r>
            <a:r>
              <a:rPr lang="en-US" altLang="ko-KR" sz="1400" b="1" err="1"/>
              <a:t>int</a:t>
            </a:r>
            <a:r>
              <a:rPr lang="en-US" altLang="ko-KR" sz="1400"/>
              <a:t>[] s = </a:t>
            </a:r>
            <a:r>
              <a:rPr lang="en-US" altLang="ko-KR" sz="1400" b="1"/>
              <a:t>new</a:t>
            </a:r>
            <a:r>
              <a:rPr lang="en-US" altLang="ko-KR" sz="1400"/>
              <a:t> </a:t>
            </a:r>
            <a:r>
              <a:rPr lang="en-US" altLang="ko-KR" sz="1400" b="1" err="1"/>
              <a:t>int</a:t>
            </a:r>
            <a:r>
              <a:rPr lang="en-US" altLang="ko-KR" sz="1400"/>
              <a:t>[10];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 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		</a:t>
            </a:r>
            <a:r>
              <a:rPr lang="en-US" altLang="ko-KR" sz="1400" b="1"/>
              <a:t>for</a:t>
            </a:r>
            <a:r>
              <a:rPr lang="en-US" altLang="ko-KR" sz="1400"/>
              <a:t> (</a:t>
            </a:r>
            <a:r>
              <a:rPr lang="en-US" altLang="ko-KR" sz="1400" b="1" err="1"/>
              <a:t>int</a:t>
            </a:r>
            <a:r>
              <a:rPr lang="en-US" altLang="ko-KR" sz="1400"/>
              <a:t> </a:t>
            </a:r>
            <a:r>
              <a:rPr lang="en-US" altLang="ko-KR" sz="1400" err="1"/>
              <a:t>i</a:t>
            </a:r>
            <a:r>
              <a:rPr lang="en-US" altLang="ko-KR" sz="1400"/>
              <a:t> = 0; </a:t>
            </a:r>
            <a:r>
              <a:rPr lang="en-US" altLang="ko-KR" sz="1400" err="1"/>
              <a:t>i</a:t>
            </a:r>
            <a:r>
              <a:rPr lang="en-US" altLang="ko-KR" sz="1400"/>
              <a:t> &lt; </a:t>
            </a:r>
            <a:r>
              <a:rPr lang="en-US" altLang="ko-KR" sz="1400" err="1"/>
              <a:t>s.length</a:t>
            </a:r>
            <a:r>
              <a:rPr lang="en-US" altLang="ko-KR" sz="1400"/>
              <a:t>; </a:t>
            </a:r>
            <a:r>
              <a:rPr lang="en-US" altLang="ko-KR" sz="1400" err="1"/>
              <a:t>i</a:t>
            </a:r>
            <a:r>
              <a:rPr lang="en-US" altLang="ko-KR" sz="1400"/>
              <a:t>++) {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			s[</a:t>
            </a:r>
            <a:r>
              <a:rPr lang="en-US" altLang="ko-KR" sz="1400" err="1"/>
              <a:t>i</a:t>
            </a:r>
            <a:r>
              <a:rPr lang="en-US" altLang="ko-KR" sz="1400"/>
              <a:t>] = i+1;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		}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 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		</a:t>
            </a:r>
            <a:r>
              <a:rPr lang="en-US" altLang="ko-KR" sz="1400" b="1"/>
              <a:t>for</a:t>
            </a:r>
            <a:r>
              <a:rPr lang="en-US" altLang="ko-KR" sz="1400"/>
              <a:t> (</a:t>
            </a:r>
            <a:r>
              <a:rPr lang="en-US" altLang="ko-KR" sz="1400" b="1" err="1"/>
              <a:t>int</a:t>
            </a:r>
            <a:r>
              <a:rPr lang="en-US" altLang="ko-KR" sz="1400"/>
              <a:t> </a:t>
            </a:r>
            <a:r>
              <a:rPr lang="en-US" altLang="ko-KR" sz="1400" err="1"/>
              <a:t>i</a:t>
            </a:r>
            <a:r>
              <a:rPr lang="en-US" altLang="ko-KR" sz="1400"/>
              <a:t> = 0; </a:t>
            </a:r>
            <a:r>
              <a:rPr lang="en-US" altLang="ko-KR" sz="1400" err="1"/>
              <a:t>i</a:t>
            </a:r>
            <a:r>
              <a:rPr lang="en-US" altLang="ko-KR" sz="1400"/>
              <a:t> &lt; </a:t>
            </a:r>
            <a:r>
              <a:rPr lang="en-US" altLang="ko-KR" sz="1400" err="1"/>
              <a:t>s.length</a:t>
            </a:r>
            <a:r>
              <a:rPr lang="en-US" altLang="ko-KR" sz="1400"/>
              <a:t>; </a:t>
            </a:r>
            <a:r>
              <a:rPr lang="en-US" altLang="ko-KR" sz="1400" err="1"/>
              <a:t>i</a:t>
            </a:r>
            <a:r>
              <a:rPr lang="en-US" altLang="ko-KR" sz="1400"/>
              <a:t>++) {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			</a:t>
            </a:r>
            <a:r>
              <a:rPr lang="en-US" altLang="ko-KR" sz="1400" err="1"/>
              <a:t>System.</a:t>
            </a:r>
            <a:r>
              <a:rPr lang="en-US" altLang="ko-KR" sz="1400" b="1" i="1" err="1"/>
              <a:t>out</a:t>
            </a:r>
            <a:r>
              <a:rPr lang="en-US" altLang="ko-KR" sz="1400" err="1"/>
              <a:t>.print</a:t>
            </a:r>
            <a:r>
              <a:rPr lang="en-US" altLang="ko-KR" sz="1400"/>
              <a:t>(s[</a:t>
            </a:r>
            <a:r>
              <a:rPr lang="en-US" altLang="ko-KR" sz="1400" err="1"/>
              <a:t>i</a:t>
            </a:r>
            <a:r>
              <a:rPr lang="en-US" altLang="ko-KR" sz="1400"/>
              <a:t>] + " ");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		}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	}</a:t>
            </a:r>
            <a:endParaRPr lang="ko-KR" altLang="ko-KR" sz="1400"/>
          </a:p>
          <a:p>
            <a:pPr marL="0" indent="0" latinLnBrk="0">
              <a:buNone/>
            </a:pPr>
            <a:r>
              <a:rPr lang="en-US" altLang="ko-KR" sz="1400"/>
              <a:t>}</a:t>
            </a:r>
            <a:endParaRPr lang="ko-KR" altLang="ko-KR" sz="1400"/>
          </a:p>
          <a:p>
            <a:pPr marL="0" indent="0" latinLnBrk="1">
              <a:buNone/>
            </a:pPr>
            <a:r>
              <a:rPr lang="en-US" altLang="ko-KR" sz="1400"/>
              <a:t> </a:t>
            </a:r>
            <a:endParaRPr lang="ko-KR" altLang="ko-KR" sz="1400"/>
          </a:p>
          <a:p>
            <a:pPr marL="0" indent="0">
              <a:buNone/>
            </a:pPr>
            <a:endParaRPr lang="ko-KR" altLang="ko-KR" sz="1400"/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702469" y="5803163"/>
            <a:ext cx="7739062" cy="6635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i="1"/>
              <a:t>1 2 3 4 5 6 7 8 9 10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9067"/>
            <a:ext cx="686833" cy="933559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" y="5717548"/>
            <a:ext cx="680448" cy="83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280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LAB: </a:t>
            </a:r>
            <a:r>
              <a:rPr lang="ko-KR" altLang="en-US" b="0"/>
              <a:t>문자열 배열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84" y="2289842"/>
            <a:ext cx="7956816" cy="227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179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SOLUTION</a:t>
            </a:r>
            <a:r>
              <a:rPr lang="ko-KR" altLang="en-US"/>
              <a:t>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65970" y="2573243"/>
            <a:ext cx="7739062" cy="298664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PizzaTopping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rgbClr val="7F0055"/>
                </a:solidFill>
                <a:latin typeface="Century Schoolbook" panose="02040604050505020304" pitchFamily="18" charset="0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Century Schoolbook" panose="02040604050505020304" pitchFamily="18" charset="0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Century Schoolbook" panose="02040604050505020304" pitchFamily="18" charset="0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main(String[] </a:t>
            </a:r>
            <a:r>
              <a:rPr lang="en-US" altLang="ko-KR" sz="1400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args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) {</a:t>
            </a:r>
          </a:p>
          <a:p>
            <a:pPr marL="0" indent="0">
              <a:buNone/>
            </a:pPr>
            <a:endParaRPr lang="ko-KR" altLang="en-US" sz="14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	String[] </a:t>
            </a:r>
            <a:r>
              <a:rPr lang="en-US" altLang="ko-KR" sz="1400" dirty="0">
                <a:solidFill>
                  <a:srgbClr val="6A3E3E"/>
                </a:solidFill>
                <a:latin typeface="Century Schoolbook" panose="02040604050505020304" pitchFamily="18" charset="0"/>
              </a:rPr>
              <a:t>toppings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{ </a:t>
            </a:r>
            <a:r>
              <a:rPr lang="en-US" altLang="ko-KR" sz="1400" dirty="0">
                <a:solidFill>
                  <a:srgbClr val="2A00FF"/>
                </a:solidFill>
                <a:latin typeface="Century Schoolbook" panose="02040604050505020304" pitchFamily="18" charset="0"/>
              </a:rPr>
              <a:t>"Pepperoni"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dirty="0">
                <a:solidFill>
                  <a:srgbClr val="2A00FF"/>
                </a:solidFill>
                <a:latin typeface="Century Schoolbook" panose="02040604050505020304" pitchFamily="18" charset="0"/>
              </a:rPr>
              <a:t>"Mushrooms"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dirty="0">
                <a:solidFill>
                  <a:srgbClr val="2A00FF"/>
                </a:solidFill>
                <a:latin typeface="Century Schoolbook" panose="02040604050505020304" pitchFamily="18" charset="0"/>
              </a:rPr>
              <a:t>"Onions"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dirty="0">
                <a:solidFill>
                  <a:srgbClr val="2A00FF"/>
                </a:solidFill>
                <a:latin typeface="Century Schoolbook" panose="02040604050505020304" pitchFamily="18" charset="0"/>
              </a:rPr>
              <a:t>"Sausage"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400" dirty="0">
                <a:solidFill>
                  <a:srgbClr val="2A00FF"/>
                </a:solidFill>
                <a:latin typeface="Century Schoolbook" panose="02040604050505020304" pitchFamily="18" charset="0"/>
              </a:rPr>
              <a:t>"Bacon"</a:t>
            </a: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};</a:t>
            </a:r>
          </a:p>
          <a:p>
            <a:pPr marL="0" indent="0">
              <a:buNone/>
            </a:pPr>
            <a:endParaRPr lang="ko-KR" altLang="en-US" sz="14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nn-NO" altLang="ko-KR" sz="1400" dirty="0">
                <a:solidFill>
                  <a:srgbClr val="7F0055"/>
                </a:solidFill>
                <a:latin typeface="Century Schoolbook" panose="02040604050505020304" pitchFamily="18" charset="0"/>
              </a:rPr>
              <a:t>	for</a:t>
            </a:r>
            <a:r>
              <a:rPr lang="nn-NO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(</a:t>
            </a:r>
            <a:r>
              <a:rPr lang="nn-NO" altLang="ko-KR" sz="1400" dirty="0">
                <a:solidFill>
                  <a:srgbClr val="7F0055"/>
                </a:solidFill>
                <a:latin typeface="Century Schoolbook" panose="02040604050505020304" pitchFamily="18" charset="0"/>
              </a:rPr>
              <a:t>int</a:t>
            </a:r>
            <a:r>
              <a:rPr lang="nn-NO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nn-NO" altLang="ko-KR" sz="1400" dirty="0">
                <a:solidFill>
                  <a:srgbClr val="6A3E3E"/>
                </a:solidFill>
                <a:latin typeface="Century Schoolbook" panose="02040604050505020304" pitchFamily="18" charset="0"/>
              </a:rPr>
              <a:t>i</a:t>
            </a:r>
            <a:r>
              <a:rPr lang="nn-NO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0; </a:t>
            </a:r>
            <a:r>
              <a:rPr lang="nn-NO" altLang="ko-KR" sz="1400" dirty="0">
                <a:solidFill>
                  <a:srgbClr val="6A3E3E"/>
                </a:solidFill>
                <a:latin typeface="Century Schoolbook" panose="02040604050505020304" pitchFamily="18" charset="0"/>
              </a:rPr>
              <a:t>i</a:t>
            </a:r>
            <a:r>
              <a:rPr lang="nn-NO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 &lt; </a:t>
            </a:r>
            <a:r>
              <a:rPr lang="nn-NO" altLang="ko-KR" sz="1400" dirty="0">
                <a:solidFill>
                  <a:srgbClr val="6A3E3E"/>
                </a:solidFill>
                <a:latin typeface="Century Schoolbook" panose="02040604050505020304" pitchFamily="18" charset="0"/>
              </a:rPr>
              <a:t>toppings</a:t>
            </a:r>
            <a:r>
              <a:rPr lang="nn-NO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.</a:t>
            </a:r>
            <a:r>
              <a:rPr lang="nn-NO" altLang="ko-KR" sz="1400" dirty="0">
                <a:solidFill>
                  <a:srgbClr val="0000C0"/>
                </a:solidFill>
                <a:latin typeface="Century Schoolbook" panose="02040604050505020304" pitchFamily="18" charset="0"/>
              </a:rPr>
              <a:t>length</a:t>
            </a:r>
            <a:r>
              <a:rPr lang="nn-NO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; </a:t>
            </a:r>
            <a:r>
              <a:rPr lang="nn-NO" altLang="ko-KR" sz="1400" dirty="0">
                <a:solidFill>
                  <a:srgbClr val="6A3E3E"/>
                </a:solidFill>
                <a:latin typeface="Century Schoolbook" panose="02040604050505020304" pitchFamily="18" charset="0"/>
              </a:rPr>
              <a:t>i</a:t>
            </a:r>
            <a:r>
              <a:rPr lang="nn-NO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++) {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		</a:t>
            </a:r>
            <a:r>
              <a:rPr lang="en-US" altLang="ko-KR" sz="140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System.</a:t>
            </a:r>
            <a:r>
              <a:rPr lang="en-US" altLang="ko-KR" sz="1400" i="1" dirty="0" err="1">
                <a:solidFill>
                  <a:srgbClr val="0000C0"/>
                </a:solidFill>
                <a:latin typeface="Century Schoolbook" panose="02040604050505020304" pitchFamily="18" charset="0"/>
              </a:rPr>
              <a:t>out</a:t>
            </a:r>
            <a:r>
              <a:rPr lang="en-US" altLang="ko-KR" sz="1400" i="1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.print</a:t>
            </a:r>
            <a:r>
              <a:rPr lang="en-US" altLang="ko-KR" sz="1400" i="1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400" i="1" dirty="0">
                <a:solidFill>
                  <a:srgbClr val="6A3E3E"/>
                </a:solidFill>
                <a:latin typeface="Century Schoolbook" panose="02040604050505020304" pitchFamily="18" charset="0"/>
              </a:rPr>
              <a:t>toppings</a:t>
            </a:r>
            <a:r>
              <a:rPr lang="en-US" altLang="ko-KR" sz="1400" i="1" dirty="0">
                <a:solidFill>
                  <a:srgbClr val="000000"/>
                </a:solidFill>
                <a:latin typeface="Century Schoolbook" panose="02040604050505020304" pitchFamily="18" charset="0"/>
              </a:rPr>
              <a:t>[</a:t>
            </a:r>
            <a:r>
              <a:rPr lang="en-US" altLang="ko-KR" sz="1400" i="1" dirty="0" err="1">
                <a:solidFill>
                  <a:srgbClr val="6A3E3E"/>
                </a:solidFill>
                <a:latin typeface="Century Schoolbook" panose="02040604050505020304" pitchFamily="18" charset="0"/>
              </a:rPr>
              <a:t>i</a:t>
            </a:r>
            <a:r>
              <a:rPr lang="en-US" altLang="ko-KR" sz="1400" i="1" dirty="0">
                <a:solidFill>
                  <a:srgbClr val="000000"/>
                </a:solidFill>
                <a:latin typeface="Century Schoolbook" panose="02040604050505020304" pitchFamily="18" charset="0"/>
              </a:rPr>
              <a:t>] + </a:t>
            </a:r>
            <a:r>
              <a:rPr lang="en-US" altLang="ko-KR" sz="1400" i="1" dirty="0">
                <a:solidFill>
                  <a:srgbClr val="2A00FF"/>
                </a:solidFill>
                <a:latin typeface="Century Schoolbook" panose="02040604050505020304" pitchFamily="18" charset="0"/>
              </a:rPr>
              <a:t>" "</a:t>
            </a:r>
            <a:r>
              <a:rPr lang="en-US" altLang="ko-KR" sz="1400" i="1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	}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ko-KR" altLang="ko-KR" sz="1400" dirty="0">
              <a:latin typeface="Century Schoolbook" panose="02040604050505020304" pitchFamily="18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83" y="2142028"/>
            <a:ext cx="686833" cy="93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90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6A7CA63-52F2-46DF-89C0-FC42F6B7B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39" y="982555"/>
            <a:ext cx="5612460" cy="3130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C9ACE86-AA7A-41B3-94F8-5EE6E2010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45" y="4515868"/>
            <a:ext cx="5123835" cy="18914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886819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3-7 : </a:t>
            </a:r>
            <a:r>
              <a:rPr lang="ko-KR" altLang="en-US" dirty="0"/>
              <a:t>배열에 </a:t>
            </a:r>
            <a:r>
              <a:rPr lang="ko-KR" altLang="en-US" dirty="0" err="1"/>
              <a:t>입력받은</a:t>
            </a:r>
            <a:r>
              <a:rPr lang="ko-KR" altLang="en-US" dirty="0"/>
              <a:t> 수 중 </a:t>
            </a:r>
            <a:r>
              <a:rPr lang="ko-KR" altLang="en-US" dirty="0" err="1"/>
              <a:t>제일큰수</a:t>
            </a:r>
            <a:r>
              <a:rPr lang="ko-KR" altLang="en-US" dirty="0"/>
              <a:t>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314" y="1334491"/>
            <a:ext cx="7816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양수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5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개를 입력 받아 배열에 저장하고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,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 제일 큰 수를 출력하는 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 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560" y="1807757"/>
            <a:ext cx="5400600" cy="37856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 fontAlgn="base" latinLnBrk="0">
              <a:defRPr sz="1400"/>
            </a:lvl1pPr>
          </a:lstStyle>
          <a:p>
            <a:r>
              <a:rPr lang="en-US" altLang="ko-KR" sz="1200" dirty="0"/>
              <a:t>import </a:t>
            </a:r>
            <a:r>
              <a:rPr lang="en-US" altLang="ko-KR" sz="1200" dirty="0" err="1"/>
              <a:t>java.util.Scanner</a:t>
            </a:r>
            <a:r>
              <a:rPr lang="en-US" altLang="ko-KR" sz="1200" dirty="0"/>
              <a:t>;</a:t>
            </a:r>
          </a:p>
          <a:p>
            <a:endParaRPr lang="en-US" altLang="ko-KR" sz="1200" dirty="0"/>
          </a:p>
          <a:p>
            <a:r>
              <a:rPr lang="en-US" altLang="ko-KR" sz="1200" dirty="0"/>
              <a:t>public class </a:t>
            </a:r>
            <a:r>
              <a:rPr lang="en-US" altLang="ko-KR" sz="1200" dirty="0" err="1"/>
              <a:t>ArrayAccess</a:t>
            </a:r>
            <a:r>
              <a:rPr lang="en-US" altLang="ko-KR" sz="1200" dirty="0"/>
              <a:t> {</a:t>
            </a:r>
          </a:p>
          <a:p>
            <a:r>
              <a:rPr lang="en-US" altLang="ko-KR" sz="1200" dirty="0"/>
              <a:t>	public static void main(String[] </a:t>
            </a:r>
            <a:r>
              <a:rPr lang="en-US" altLang="ko-KR" sz="1200" dirty="0" err="1"/>
              <a:t>args</a:t>
            </a:r>
            <a:r>
              <a:rPr lang="en-US" altLang="ko-KR" sz="1200" dirty="0"/>
              <a:t>) {</a:t>
            </a:r>
          </a:p>
          <a:p>
            <a:r>
              <a:rPr lang="en-US" altLang="ko-KR" sz="1200" dirty="0"/>
              <a:t>		Scanner </a:t>
            </a:r>
            <a:r>
              <a:rPr lang="en-US" altLang="ko-KR" sz="1200" dirty="0" err="1"/>
              <a:t>scanner</a:t>
            </a:r>
            <a:r>
              <a:rPr lang="en-US" altLang="ko-KR" sz="1200" dirty="0"/>
              <a:t> = new Scanner(System.in);</a:t>
            </a:r>
          </a:p>
          <a:p>
            <a:r>
              <a:rPr lang="en-US" altLang="ko-KR" sz="1200" dirty="0"/>
              <a:t> </a:t>
            </a:r>
          </a:p>
          <a:p>
            <a:r>
              <a:rPr lang="en-US" altLang="ko-KR" sz="1200" dirty="0"/>
              <a:t>		</a:t>
            </a:r>
            <a:r>
              <a:rPr lang="en-US" altLang="ko-KR" sz="1200" b="1" dirty="0" err="1"/>
              <a:t>int</a:t>
            </a:r>
            <a:r>
              <a:rPr lang="en-US" altLang="ko-KR" sz="1200" b="1" dirty="0"/>
              <a:t> </a:t>
            </a:r>
            <a:r>
              <a:rPr lang="en-US" altLang="ko-KR" sz="1200" b="1" dirty="0" err="1"/>
              <a:t>intArray</a:t>
            </a:r>
            <a:r>
              <a:rPr lang="en-US" altLang="ko-KR" sz="1200" b="1" dirty="0"/>
              <a:t>[] = new </a:t>
            </a:r>
            <a:r>
              <a:rPr lang="en-US" altLang="ko-KR" sz="1200" b="1" dirty="0" err="1"/>
              <a:t>int</a:t>
            </a:r>
            <a:r>
              <a:rPr lang="en-US" altLang="ko-KR" sz="1200" b="1" dirty="0"/>
              <a:t>[5]; </a:t>
            </a:r>
            <a:r>
              <a:rPr lang="en-US" altLang="ko-KR" sz="1200" dirty="0"/>
              <a:t>// </a:t>
            </a:r>
            <a:r>
              <a:rPr lang="ko-KR" altLang="en-US" sz="1200" dirty="0"/>
              <a:t>배열 생성</a:t>
            </a:r>
            <a:endParaRPr lang="en-US" altLang="ko-KR" sz="1200" dirty="0"/>
          </a:p>
          <a:p>
            <a:endParaRPr lang="ko-KR" altLang="en-US" sz="1200" dirty="0"/>
          </a:p>
          <a:p>
            <a:r>
              <a:rPr lang="ko-KR" altLang="en-US" sz="1200" dirty="0"/>
              <a:t>		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 max=0; 		// </a:t>
            </a:r>
            <a:r>
              <a:rPr lang="ko-KR" altLang="en-US" sz="1200" dirty="0"/>
              <a:t>현재 가장 큰 수</a:t>
            </a:r>
          </a:p>
          <a:p>
            <a:r>
              <a:rPr lang="ko-KR" altLang="en-US" sz="1200" dirty="0"/>
              <a:t>		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("</a:t>
            </a:r>
            <a:r>
              <a:rPr lang="ko-KR" altLang="en-US" sz="1200" dirty="0"/>
              <a:t>양수 </a:t>
            </a:r>
            <a:r>
              <a:rPr lang="en-US" altLang="ko-KR" sz="1200" dirty="0"/>
              <a:t>5</a:t>
            </a:r>
            <a:r>
              <a:rPr lang="ko-KR" altLang="en-US" sz="1200" dirty="0"/>
              <a:t>개를 입력하세요</a:t>
            </a:r>
            <a:r>
              <a:rPr lang="en-US" altLang="ko-KR" sz="1200" dirty="0"/>
              <a:t>.");</a:t>
            </a:r>
            <a:r>
              <a:rPr lang="ko-KR" altLang="en-US" sz="1200" dirty="0"/>
              <a:t>		</a:t>
            </a:r>
          </a:p>
          <a:p>
            <a:r>
              <a:rPr lang="ko-KR" altLang="en-US" sz="1200" dirty="0"/>
              <a:t>		</a:t>
            </a:r>
            <a:r>
              <a:rPr lang="en-US" altLang="ko-KR" sz="1200" dirty="0"/>
              <a:t>for(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=0;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&lt;5;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++) {</a:t>
            </a:r>
          </a:p>
          <a:p>
            <a:r>
              <a:rPr lang="en-US" altLang="ko-KR" sz="1200" dirty="0"/>
              <a:t>			</a:t>
            </a:r>
            <a:r>
              <a:rPr lang="en-US" altLang="ko-KR" sz="1200" b="1" dirty="0" err="1"/>
              <a:t>intArray</a:t>
            </a:r>
            <a:r>
              <a:rPr lang="en-US" altLang="ko-KR" sz="1200" b="1" dirty="0"/>
              <a:t>[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] = </a:t>
            </a:r>
            <a:r>
              <a:rPr lang="en-US" altLang="ko-KR" sz="1200" b="1" dirty="0" err="1"/>
              <a:t>scanner.nextInt</a:t>
            </a:r>
            <a:r>
              <a:rPr lang="en-US" altLang="ko-KR" sz="1200" b="1" dirty="0"/>
              <a:t>(); </a:t>
            </a:r>
            <a:r>
              <a:rPr lang="en-US" altLang="ko-KR" sz="1200" dirty="0"/>
              <a:t>// </a:t>
            </a:r>
            <a:r>
              <a:rPr lang="ko-KR" altLang="en-US" sz="1200" dirty="0" err="1"/>
              <a:t>입력받은</a:t>
            </a:r>
            <a:r>
              <a:rPr lang="ko-KR" altLang="en-US" sz="1200" dirty="0"/>
              <a:t> 정수를 배열에 저장</a:t>
            </a:r>
          </a:p>
          <a:p>
            <a:r>
              <a:rPr lang="ko-KR" altLang="en-US" sz="1200" dirty="0"/>
              <a:t>			</a:t>
            </a:r>
            <a:r>
              <a:rPr lang="en-US" altLang="ko-KR" sz="1200" b="1" dirty="0"/>
              <a:t>if(</a:t>
            </a:r>
            <a:r>
              <a:rPr lang="en-US" altLang="ko-KR" sz="1200" b="1" dirty="0" err="1"/>
              <a:t>intArray</a:t>
            </a:r>
            <a:r>
              <a:rPr lang="en-US" altLang="ko-KR" sz="1200" b="1" dirty="0"/>
              <a:t>[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] &gt;max) </a:t>
            </a:r>
            <a:r>
              <a:rPr lang="en-US" altLang="ko-KR" sz="1200" dirty="0"/>
              <a:t>// </a:t>
            </a:r>
            <a:r>
              <a:rPr lang="en-US" altLang="ko-KR" sz="1200" dirty="0" err="1"/>
              <a:t>intArray</a:t>
            </a:r>
            <a:r>
              <a:rPr lang="en-US" altLang="ko-KR" sz="1200" dirty="0"/>
              <a:t>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</a:t>
            </a:r>
            <a:r>
              <a:rPr lang="ko-KR" altLang="en-US" sz="1200" dirty="0"/>
              <a:t>가 현재 가장 큰 수보다 크면</a:t>
            </a:r>
          </a:p>
          <a:p>
            <a:r>
              <a:rPr lang="ko-KR" altLang="en-US" sz="1200" dirty="0"/>
              <a:t>				</a:t>
            </a:r>
            <a:r>
              <a:rPr lang="en-US" altLang="ko-KR" sz="1200" b="1" dirty="0"/>
              <a:t>max = </a:t>
            </a:r>
            <a:r>
              <a:rPr lang="en-US" altLang="ko-KR" sz="1200" b="1" dirty="0" err="1"/>
              <a:t>intArray</a:t>
            </a:r>
            <a:r>
              <a:rPr lang="en-US" altLang="ko-KR" sz="1200" b="1" dirty="0"/>
              <a:t>[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]; </a:t>
            </a:r>
            <a:r>
              <a:rPr lang="en-US" altLang="ko-KR" sz="1200" dirty="0"/>
              <a:t>// </a:t>
            </a:r>
            <a:r>
              <a:rPr lang="en-US" altLang="ko-KR" sz="1200" dirty="0" err="1"/>
              <a:t>intArray</a:t>
            </a:r>
            <a:r>
              <a:rPr lang="en-US" altLang="ko-KR" sz="1200" dirty="0"/>
              <a:t>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</a:t>
            </a:r>
            <a:r>
              <a:rPr lang="ko-KR" altLang="en-US" sz="1200" dirty="0"/>
              <a:t>를 </a:t>
            </a:r>
            <a:r>
              <a:rPr lang="en-US" altLang="ko-KR" sz="1200" dirty="0"/>
              <a:t>max</a:t>
            </a:r>
            <a:r>
              <a:rPr lang="ko-KR" altLang="en-US" sz="1200" dirty="0"/>
              <a:t>로 변경</a:t>
            </a:r>
          </a:p>
          <a:p>
            <a:r>
              <a:rPr lang="ko-KR" altLang="en-US" sz="1200" dirty="0"/>
              <a:t>		</a:t>
            </a:r>
            <a:r>
              <a:rPr lang="en-US" altLang="ko-KR" sz="1200" dirty="0"/>
              <a:t>}</a:t>
            </a:r>
            <a:endParaRPr lang="ko-KR" altLang="en-US" sz="1200" dirty="0"/>
          </a:p>
          <a:p>
            <a:r>
              <a:rPr lang="ko-KR" altLang="en-US" sz="1200" dirty="0"/>
              <a:t>		</a:t>
            </a:r>
            <a:r>
              <a:rPr lang="en-US" altLang="ko-KR" sz="1200" dirty="0" err="1"/>
              <a:t>System.out.print</a:t>
            </a:r>
            <a:r>
              <a:rPr lang="en-US" altLang="ko-KR" sz="1200" dirty="0"/>
              <a:t>("</a:t>
            </a:r>
            <a:r>
              <a:rPr lang="ko-KR" altLang="en-US" sz="1200" dirty="0"/>
              <a:t>가장 큰 수는 </a:t>
            </a:r>
            <a:r>
              <a:rPr lang="en-US" altLang="ko-KR" sz="1200" dirty="0"/>
              <a:t>" + max + "</a:t>
            </a:r>
            <a:r>
              <a:rPr lang="ko-KR" altLang="en-US" sz="1200" dirty="0"/>
              <a:t>입니다</a:t>
            </a:r>
            <a:r>
              <a:rPr lang="en-US" altLang="ko-KR" sz="1200" dirty="0"/>
              <a:t>.");</a:t>
            </a:r>
            <a:endParaRPr lang="ko-KR" altLang="en-US" sz="1200" dirty="0"/>
          </a:p>
          <a:p>
            <a:r>
              <a:rPr lang="ko-KR" altLang="en-US" sz="1200" dirty="0"/>
              <a:t>		</a:t>
            </a:r>
          </a:p>
          <a:p>
            <a:r>
              <a:rPr lang="ko-KR" altLang="en-US" sz="1200" dirty="0"/>
              <a:t>		</a:t>
            </a:r>
            <a:r>
              <a:rPr lang="en-US" altLang="ko-KR" sz="1200" dirty="0" err="1"/>
              <a:t>scanner.close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}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084168" y="4208414"/>
            <a:ext cx="2160240" cy="1384995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200" dirty="0"/>
              <a:t>양수 </a:t>
            </a:r>
            <a:r>
              <a:rPr lang="en-US" altLang="ko-KR" sz="1200" dirty="0"/>
              <a:t>5</a:t>
            </a:r>
            <a:r>
              <a:rPr lang="ko-KR" altLang="en-US" sz="1200" dirty="0"/>
              <a:t>개를 입력하세요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en-US" altLang="ko-KR" sz="1200" dirty="0">
                <a:solidFill>
                  <a:srgbClr val="00B050"/>
                </a:solidFill>
              </a:rPr>
              <a:t>1</a:t>
            </a:r>
            <a:endParaRPr lang="ko-KR" altLang="en-US" sz="1200" dirty="0">
              <a:solidFill>
                <a:srgbClr val="00B050"/>
              </a:solidFill>
            </a:endParaRPr>
          </a:p>
          <a:p>
            <a:pPr fontAlgn="base"/>
            <a:r>
              <a:rPr lang="en-US" altLang="ko-KR" sz="1200" dirty="0">
                <a:solidFill>
                  <a:srgbClr val="00B050"/>
                </a:solidFill>
              </a:rPr>
              <a:t>39</a:t>
            </a:r>
            <a:endParaRPr lang="ko-KR" altLang="en-US" sz="1200" dirty="0">
              <a:solidFill>
                <a:srgbClr val="00B050"/>
              </a:solidFill>
            </a:endParaRPr>
          </a:p>
          <a:p>
            <a:pPr fontAlgn="base"/>
            <a:r>
              <a:rPr lang="en-US" altLang="ko-KR" sz="1200" dirty="0">
                <a:solidFill>
                  <a:srgbClr val="00B050"/>
                </a:solidFill>
              </a:rPr>
              <a:t>78</a:t>
            </a:r>
            <a:endParaRPr lang="ko-KR" altLang="en-US" sz="1200" dirty="0">
              <a:solidFill>
                <a:srgbClr val="00B050"/>
              </a:solidFill>
            </a:endParaRPr>
          </a:p>
          <a:p>
            <a:pPr fontAlgn="base"/>
            <a:r>
              <a:rPr lang="en-US" altLang="ko-KR" sz="1200" dirty="0">
                <a:solidFill>
                  <a:srgbClr val="00B050"/>
                </a:solidFill>
              </a:rPr>
              <a:t>100</a:t>
            </a:r>
            <a:endParaRPr lang="ko-KR" altLang="en-US" sz="1200" dirty="0">
              <a:solidFill>
                <a:srgbClr val="00B050"/>
              </a:solidFill>
            </a:endParaRPr>
          </a:p>
          <a:p>
            <a:pPr fontAlgn="base"/>
            <a:r>
              <a:rPr lang="en-US" altLang="ko-KR" sz="1200" dirty="0">
                <a:solidFill>
                  <a:srgbClr val="00B050"/>
                </a:solidFill>
              </a:rPr>
              <a:t>99</a:t>
            </a:r>
            <a:endParaRPr lang="ko-KR" altLang="en-US" sz="1200" dirty="0">
              <a:solidFill>
                <a:srgbClr val="00B050"/>
              </a:solidFill>
            </a:endParaRPr>
          </a:p>
          <a:p>
            <a:pPr fontAlgn="base"/>
            <a:r>
              <a:rPr lang="ko-KR" altLang="en-US" sz="1200" dirty="0"/>
              <a:t>가장 큰 수는 </a:t>
            </a:r>
            <a:r>
              <a:rPr lang="en-US" altLang="ko-KR" sz="1200" dirty="0"/>
              <a:t>100</a:t>
            </a:r>
            <a:r>
              <a:rPr lang="ko-KR" altLang="en-US" sz="1200" dirty="0"/>
              <a:t>입니다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4292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배열의 크기</a:t>
            </a:r>
            <a:r>
              <a:rPr lang="en-US" altLang="ko-KR" dirty="0"/>
              <a:t>, length </a:t>
            </a:r>
            <a:r>
              <a:rPr lang="ko-KR" altLang="en-US" dirty="0"/>
              <a:t>필드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배열은 자바에서 객체로 관리</a:t>
            </a:r>
            <a:endParaRPr lang="en-US" altLang="ko-KR" dirty="0"/>
          </a:p>
          <a:p>
            <a:pPr lvl="1"/>
            <a:r>
              <a:rPr lang="ko-KR" altLang="en-US" dirty="0"/>
              <a:t>배열 객체 내에 </a:t>
            </a:r>
            <a:r>
              <a:rPr lang="en-US" altLang="ko-KR" dirty="0"/>
              <a:t>length </a:t>
            </a:r>
            <a:r>
              <a:rPr lang="ko-KR" altLang="en-US" dirty="0"/>
              <a:t>필드는 배열의 크기를 나타냄</a:t>
            </a:r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420888"/>
            <a:ext cx="7654736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194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3-8 : </a:t>
            </a:r>
            <a:r>
              <a:rPr lang="ko-KR" altLang="en-US" dirty="0"/>
              <a:t>배열 원소의 평균 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0507"/>
            <a:ext cx="7816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배열의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length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필드를 이용하여 배열 크기만큼 정수를 입력 받고 평균을 구하는 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3568" y="1916832"/>
            <a:ext cx="5256584" cy="3693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 fontAlgn="base" latinLnBrk="0">
              <a:defRPr sz="1400"/>
            </a:lvl1pPr>
          </a:lstStyle>
          <a:p>
            <a:r>
              <a:rPr lang="en-US" altLang="ko-KR" sz="1200" dirty="0"/>
              <a:t>import </a:t>
            </a:r>
            <a:r>
              <a:rPr lang="en-US" altLang="ko-KR" sz="1200" dirty="0" err="1"/>
              <a:t>java.util.Scanner</a:t>
            </a:r>
            <a:r>
              <a:rPr lang="en-US" altLang="ko-KR" sz="1200" dirty="0"/>
              <a:t>;</a:t>
            </a:r>
          </a:p>
          <a:p>
            <a:endParaRPr lang="en-US" altLang="ko-KR" sz="1200" dirty="0"/>
          </a:p>
          <a:p>
            <a:r>
              <a:rPr lang="en-US" altLang="ko-KR" sz="1200" dirty="0"/>
              <a:t>public class </a:t>
            </a:r>
            <a:r>
              <a:rPr lang="en-US" altLang="ko-KR" sz="1200" dirty="0" err="1"/>
              <a:t>ArrayLength</a:t>
            </a:r>
            <a:r>
              <a:rPr lang="en-US" altLang="ko-KR" sz="1200" dirty="0"/>
              <a:t> {</a:t>
            </a:r>
          </a:p>
          <a:p>
            <a:r>
              <a:rPr lang="en-US" altLang="ko-KR" sz="1200" dirty="0"/>
              <a:t>	public static void main(String[] </a:t>
            </a:r>
            <a:r>
              <a:rPr lang="en-US" altLang="ko-KR" sz="1200" dirty="0" err="1"/>
              <a:t>args</a:t>
            </a:r>
            <a:r>
              <a:rPr lang="en-US" altLang="ko-KR" sz="1200" dirty="0"/>
              <a:t>) {</a:t>
            </a:r>
          </a:p>
          <a:p>
            <a:r>
              <a:rPr lang="en-US" altLang="ko-KR" sz="1200" dirty="0"/>
              <a:t>		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intArray</a:t>
            </a:r>
            <a:r>
              <a:rPr lang="en-US" altLang="ko-KR" sz="1200" dirty="0"/>
              <a:t>[] = new 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[5]; // </a:t>
            </a:r>
            <a:r>
              <a:rPr lang="ko-KR" altLang="en-US" sz="1200" dirty="0"/>
              <a:t>배열의 선언과 생성</a:t>
            </a:r>
          </a:p>
          <a:p>
            <a:r>
              <a:rPr lang="ko-KR" altLang="en-US" sz="1200" dirty="0"/>
              <a:t>		</a:t>
            </a:r>
            <a:r>
              <a:rPr lang="en-US" altLang="ko-KR" sz="1200" dirty="0" err="1"/>
              <a:t>int</a:t>
            </a:r>
            <a:r>
              <a:rPr lang="en-US" altLang="ko-KR" sz="1200" dirty="0"/>
              <a:t> sum=0;</a:t>
            </a:r>
          </a:p>
          <a:p>
            <a:endParaRPr lang="en-US" altLang="ko-KR" sz="1200" dirty="0"/>
          </a:p>
          <a:p>
            <a:r>
              <a:rPr lang="en-US" altLang="ko-KR" sz="1200" dirty="0"/>
              <a:t>		Scanner </a:t>
            </a:r>
            <a:r>
              <a:rPr lang="en-US" altLang="ko-KR" sz="1200" dirty="0" err="1"/>
              <a:t>scanner</a:t>
            </a:r>
            <a:r>
              <a:rPr lang="en-US" altLang="ko-KR" sz="1200" dirty="0"/>
              <a:t> = new Scanner(System.in);</a:t>
            </a:r>
          </a:p>
          <a:p>
            <a:r>
              <a:rPr lang="en-US" altLang="ko-KR" sz="1200" dirty="0"/>
              <a:t>		</a:t>
            </a:r>
            <a:r>
              <a:rPr lang="en-US" altLang="ko-KR" sz="1200" dirty="0" err="1"/>
              <a:t>System.out.print</a:t>
            </a:r>
            <a:r>
              <a:rPr lang="en-US" altLang="ko-KR" sz="1200" dirty="0"/>
              <a:t>(</a:t>
            </a:r>
            <a:r>
              <a:rPr lang="en-US" altLang="ko-KR" sz="1200" dirty="0" err="1"/>
              <a:t>intArray.length</a:t>
            </a:r>
            <a:r>
              <a:rPr lang="en-US" altLang="ko-KR" sz="1200" dirty="0"/>
              <a:t> + "</a:t>
            </a:r>
            <a:r>
              <a:rPr lang="ko-KR" altLang="en-US" sz="1200" dirty="0"/>
              <a:t>개의 정수를 입력하세요</a:t>
            </a:r>
            <a:r>
              <a:rPr lang="en-US" altLang="ko-KR" sz="1200" dirty="0"/>
              <a:t>&gt;&gt;");</a:t>
            </a:r>
            <a:endParaRPr lang="ko-KR" altLang="en-US" sz="1200" dirty="0"/>
          </a:p>
          <a:p>
            <a:r>
              <a:rPr lang="ko-KR" altLang="en-US" sz="1200" dirty="0"/>
              <a:t>		</a:t>
            </a:r>
            <a:r>
              <a:rPr lang="en-US" altLang="ko-KR" sz="1200" b="1" dirty="0"/>
              <a:t>for(</a:t>
            </a:r>
            <a:r>
              <a:rPr lang="en-US" altLang="ko-KR" sz="1200" b="1" dirty="0" err="1"/>
              <a:t>int</a:t>
            </a:r>
            <a:r>
              <a:rPr lang="en-US" altLang="ko-KR" sz="1200" b="1" dirty="0"/>
              <a:t> 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=0; 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&lt;</a:t>
            </a:r>
            <a:r>
              <a:rPr lang="en-US" altLang="ko-KR" sz="1200" b="1" dirty="0" err="1"/>
              <a:t>intArray.length</a:t>
            </a:r>
            <a:r>
              <a:rPr lang="en-US" altLang="ko-KR" sz="1200" b="1" dirty="0"/>
              <a:t>; 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++)</a:t>
            </a:r>
          </a:p>
          <a:p>
            <a:r>
              <a:rPr lang="en-US" altLang="ko-KR" sz="1200" dirty="0"/>
              <a:t>			</a:t>
            </a:r>
            <a:r>
              <a:rPr lang="en-US" altLang="ko-KR" sz="1200" dirty="0" err="1"/>
              <a:t>intArray</a:t>
            </a:r>
            <a:r>
              <a:rPr lang="en-US" altLang="ko-KR" sz="1200" dirty="0"/>
              <a:t>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 = </a:t>
            </a:r>
            <a:r>
              <a:rPr lang="en-US" altLang="ko-KR" sz="1200" dirty="0" err="1"/>
              <a:t>scanner.nextInt</a:t>
            </a:r>
            <a:r>
              <a:rPr lang="en-US" altLang="ko-KR" sz="1200" dirty="0"/>
              <a:t>(); // </a:t>
            </a:r>
            <a:r>
              <a:rPr lang="ko-KR" altLang="en-US" sz="1200" dirty="0"/>
              <a:t>키보드에서 </a:t>
            </a:r>
            <a:r>
              <a:rPr lang="ko-KR" altLang="en-US" sz="1200" dirty="0" err="1"/>
              <a:t>입력받은</a:t>
            </a:r>
            <a:r>
              <a:rPr lang="ko-KR" altLang="en-US" sz="1200" dirty="0"/>
              <a:t> 정수 저장</a:t>
            </a:r>
          </a:p>
          <a:p>
            <a:r>
              <a:rPr lang="ko-KR" altLang="en-US" sz="1200" dirty="0"/>
              <a:t>		</a:t>
            </a:r>
          </a:p>
          <a:p>
            <a:r>
              <a:rPr lang="ko-KR" altLang="en-US" sz="1200" dirty="0"/>
              <a:t>		</a:t>
            </a:r>
            <a:r>
              <a:rPr lang="en-US" altLang="ko-KR" sz="1200" b="1" dirty="0"/>
              <a:t>for(</a:t>
            </a:r>
            <a:r>
              <a:rPr lang="en-US" altLang="ko-KR" sz="1200" b="1" dirty="0" err="1"/>
              <a:t>int</a:t>
            </a:r>
            <a:r>
              <a:rPr lang="en-US" altLang="ko-KR" sz="1200" b="1" dirty="0"/>
              <a:t> 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=0; 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&lt;</a:t>
            </a:r>
            <a:r>
              <a:rPr lang="en-US" altLang="ko-KR" sz="1200" b="1" dirty="0" err="1"/>
              <a:t>intArray.length</a:t>
            </a:r>
            <a:r>
              <a:rPr lang="en-US" altLang="ko-KR" sz="1200" b="1" dirty="0"/>
              <a:t>; </a:t>
            </a:r>
            <a:r>
              <a:rPr lang="en-US" altLang="ko-KR" sz="1200" b="1" dirty="0" err="1"/>
              <a:t>i</a:t>
            </a:r>
            <a:r>
              <a:rPr lang="en-US" altLang="ko-KR" sz="1200" b="1" dirty="0"/>
              <a:t>++)</a:t>
            </a:r>
          </a:p>
          <a:p>
            <a:r>
              <a:rPr lang="en-US" altLang="ko-KR" sz="1200" dirty="0"/>
              <a:t>			sum += </a:t>
            </a:r>
            <a:r>
              <a:rPr lang="en-US" altLang="ko-KR" sz="1200" dirty="0" err="1"/>
              <a:t>intArray</a:t>
            </a:r>
            <a:r>
              <a:rPr lang="en-US" altLang="ko-KR" sz="1200" dirty="0"/>
              <a:t>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]; // </a:t>
            </a:r>
            <a:r>
              <a:rPr lang="ko-KR" altLang="en-US" sz="1200" dirty="0"/>
              <a:t>배열에 저장된 정수 값을 더하기</a:t>
            </a:r>
            <a:endParaRPr lang="en-US" altLang="ko-KR" sz="1200" dirty="0"/>
          </a:p>
          <a:p>
            <a:endParaRPr lang="ko-KR" altLang="en-US" sz="1200" dirty="0"/>
          </a:p>
          <a:p>
            <a:r>
              <a:rPr lang="ko-KR" altLang="en-US" sz="1200" dirty="0"/>
              <a:t>		</a:t>
            </a:r>
            <a:r>
              <a:rPr lang="en-US" altLang="ko-KR" sz="1200" dirty="0" err="1"/>
              <a:t>System.out.print</a:t>
            </a:r>
            <a:r>
              <a:rPr lang="en-US" altLang="ko-KR" sz="1200" dirty="0"/>
              <a:t>("</a:t>
            </a:r>
            <a:r>
              <a:rPr lang="ko-KR" altLang="en-US" sz="1200" dirty="0"/>
              <a:t>평균은 </a:t>
            </a:r>
            <a:r>
              <a:rPr lang="en-US" altLang="ko-KR" sz="1200" dirty="0"/>
              <a:t>" + (double)sum/</a:t>
            </a:r>
            <a:r>
              <a:rPr lang="en-US" altLang="ko-KR" sz="1200" dirty="0" err="1"/>
              <a:t>intArray.length</a:t>
            </a:r>
            <a:r>
              <a:rPr lang="en-US" altLang="ko-KR" sz="1200" dirty="0"/>
              <a:t>);</a:t>
            </a:r>
          </a:p>
          <a:p>
            <a:r>
              <a:rPr lang="en-US" altLang="ko-KR" sz="1200" dirty="0"/>
              <a:t>		</a:t>
            </a:r>
            <a:r>
              <a:rPr lang="en-US" altLang="ko-KR" sz="1200" dirty="0" err="1"/>
              <a:t>scanner.close</a:t>
            </a:r>
            <a:r>
              <a:rPr lang="en-US" altLang="ko-KR" sz="1200" dirty="0"/>
              <a:t>();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}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83568" y="5733256"/>
            <a:ext cx="5256584" cy="461665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5</a:t>
            </a:r>
            <a:r>
              <a:rPr lang="ko-KR" altLang="en-US" sz="1200" dirty="0"/>
              <a:t>개의 정수를 입력하세요</a:t>
            </a:r>
            <a:r>
              <a:rPr lang="en-US" altLang="ko-KR" sz="1200" dirty="0"/>
              <a:t>&gt;&gt; </a:t>
            </a:r>
            <a:r>
              <a:rPr lang="en-US" altLang="ko-KR" sz="1200" dirty="0">
                <a:solidFill>
                  <a:srgbClr val="00B050"/>
                </a:solidFill>
              </a:rPr>
              <a:t>2 3 4 5 9</a:t>
            </a:r>
          </a:p>
          <a:p>
            <a:r>
              <a:rPr lang="ko-KR" altLang="en-US" sz="1200" dirty="0"/>
              <a:t>평균은 </a:t>
            </a:r>
            <a:r>
              <a:rPr lang="en-US" altLang="ko-KR" sz="1200" dirty="0"/>
              <a:t>4.6</a:t>
            </a:r>
            <a:endParaRPr lang="ko-KR" altLang="en-US" sz="1200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630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배열과 </a:t>
            </a:r>
            <a:r>
              <a:rPr lang="en-US" altLang="ko-KR" dirty="0"/>
              <a:t>for-each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936104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altLang="ko-KR" dirty="0"/>
              <a:t>for-each </a:t>
            </a:r>
            <a:r>
              <a:rPr lang="ko-KR" altLang="en-US" dirty="0"/>
              <a:t>문</a:t>
            </a:r>
            <a:endParaRPr lang="en-US" altLang="ko-KR" dirty="0"/>
          </a:p>
          <a:p>
            <a:pPr lvl="2"/>
            <a:r>
              <a:rPr lang="ko-KR" altLang="en-US" dirty="0"/>
              <a:t>배열이나 나열</a:t>
            </a:r>
            <a:r>
              <a:rPr lang="en-US" altLang="ko-KR" dirty="0"/>
              <a:t>(enumeration)</a:t>
            </a:r>
            <a:r>
              <a:rPr lang="ko-KR" altLang="en-US" dirty="0"/>
              <a:t>의 각 원소를 순차적으로 접근하는데 유용한 </a:t>
            </a:r>
            <a:r>
              <a:rPr lang="en-US" altLang="ko-KR" dirty="0"/>
              <a:t>for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9632" y="2420888"/>
            <a:ext cx="684076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num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{ 1,2,3,4,5 };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sum = 0;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 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k :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num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반복될 때마다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k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num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[0],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num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[1], ...,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num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[4]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값으로 설정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sum += k;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합은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sum);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632" y="4005065"/>
            <a:ext cx="684076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String names[] = {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",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",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바나나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",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체리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",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딸기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",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포도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} ;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 (String s : names)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반복할 때마다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names[0], names[1], ..., names[5]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설정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(s + " 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9632" y="5240233"/>
            <a:ext cx="684076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enum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Week {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금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 (Week day :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Week.values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())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반복될 때마다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day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금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일로 설정 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(day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요일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");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257003" y="3512041"/>
            <a:ext cx="716863" cy="276999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합은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15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259632" y="4736177"/>
            <a:ext cx="2303836" cy="276999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사과 배 바나나 체리 딸기 포도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257003" y="5960313"/>
            <a:ext cx="3743332" cy="276999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월요일 화요일 수요일 목요일 금요일 토요일 일요일</a:t>
            </a:r>
          </a:p>
        </p:txBody>
      </p:sp>
    </p:spTree>
    <p:extLst>
      <p:ext uri="{BB962C8B-B14F-4D97-AF65-F5344CB8AC3E}">
        <p14:creationId xmlns:p14="http://schemas.microsoft.com/office/powerpoint/2010/main" val="575235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3-9 : for-each </a:t>
            </a:r>
            <a:r>
              <a:rPr lang="ko-KR" altLang="en-US" dirty="0"/>
              <a:t>문 활용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551" y="1281336"/>
            <a:ext cx="17523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for-each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문을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활용하는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사례를 보자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DD8047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D8047">
                  <a:lumMod val="75000"/>
                </a:srgb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11760" y="1003835"/>
            <a:ext cx="5466264" cy="48936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defTabSz="180000" fontAlgn="base" latinLnBrk="0">
              <a:defRPr sz="1400"/>
            </a:lvl1pPr>
          </a:lstStyle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class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foreachEx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enum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Week {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화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금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토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public static void main(String[]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args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[] n = { 1,2,3,4,5 };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String names[] = { "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사과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", "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", "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바나나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", "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체리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", "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딸기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", "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포도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} 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sum = 0;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아래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for-each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k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n[0], n[1], ..., n[4]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반복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 (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k : n)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(k + " "); 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반복되는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k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값 출력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sum += k;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합은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 + sum);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아래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for-each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names[0], names[1], ..., names[5]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 반복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 (String s : names) 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(s + " ");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//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아래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for-each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day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는 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금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일 값으로 반복 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for (Week day : </a:t>
            </a:r>
            <a:r>
              <a:rPr kumimoji="0" lang="en-US" altLang="ko-KR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Week.values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()) 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(day + "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요일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");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	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System.out.println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();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}</a:t>
            </a:r>
          </a:p>
          <a:p>
            <a:pPr marL="0" marR="0" lvl="0" indent="0" algn="l" defTabSz="180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411760" y="5992597"/>
            <a:ext cx="5466264" cy="646331"/>
          </a:xfrm>
          <a:prstGeom prst="rect">
            <a:avLst/>
          </a:prstGeom>
          <a:solidFill>
            <a:srgbClr val="DAEEC4"/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1 2 3 4 5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합은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15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사과 배 바나나 체리 딸기 포도 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월요일 화요일 수요일 목요일 금요일 토요일 일요일 </a:t>
            </a:r>
          </a:p>
        </p:txBody>
      </p:sp>
    </p:spTree>
    <p:extLst>
      <p:ext uri="{BB962C8B-B14F-4D97-AF65-F5344CB8AC3E}">
        <p14:creationId xmlns:p14="http://schemas.microsoft.com/office/powerpoint/2010/main" val="41983359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배열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500034" y="1382948"/>
            <a:ext cx="8153400" cy="52864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1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2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차원 배열 선언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320040" marR="0" lvl="0" indent="-320040" algn="l" defTabSz="914400" rtl="0" eaLnBrk="1" fontAlgn="auto" latinLnBrk="1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buFont typeface="Wingdings"/>
              <a:buChar char=""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320040" marR="0" lvl="0" indent="-320040" algn="l" defTabSz="914400" rtl="0" eaLnBrk="1" fontAlgn="auto" latinLnBrk="1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buFont typeface="Wingdings"/>
              <a:buChar char=""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320040" marR="0" lvl="0" indent="-320040" algn="l" defTabSz="914400" rtl="0" eaLnBrk="1" fontAlgn="auto" latinLnBrk="1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2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차원 배열 생성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320040" marR="0" lvl="0" indent="-320040" algn="l" defTabSz="914400" rtl="0" eaLnBrk="1" fontAlgn="auto" latinLnBrk="1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buFont typeface="Wingdings"/>
              <a:buChar char=""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320040" marR="0" lvl="0" indent="-320040" algn="l" defTabSz="914400" rtl="0" eaLnBrk="1" fontAlgn="auto" latinLnBrk="1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buFont typeface="Wingdings"/>
              <a:buChar char=""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320040" marR="0" lvl="0" indent="-320040" algn="l" defTabSz="914400" rtl="0" eaLnBrk="1" fontAlgn="auto" latinLnBrk="1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buFont typeface="Wingdings"/>
              <a:buChar char=""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320040" marR="0" lvl="0" indent="-320040" algn="l" defTabSz="914400" rtl="0" eaLnBrk="1" fontAlgn="auto" latinLnBrk="1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2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차원 배열 선언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생성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초기화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320040" marR="0" lvl="0" indent="-320040" algn="l" defTabSz="914400" rtl="0" eaLnBrk="1" fontAlgn="auto" latinLnBrk="1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buFont typeface="Wingdings"/>
              <a:buChar char=""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788" y="1941342"/>
            <a:ext cx="3036601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[][];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[][];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[][];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5510" y="1941342"/>
            <a:ext cx="3890538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[][]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char[][]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double[][]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936" y="347906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또는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9826" y="3297788"/>
            <a:ext cx="3065564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[2][5];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char[5][5];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= new double[5][2];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5510" y="3237486"/>
            <a:ext cx="3978470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[][] = new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[2][5];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[][] = new char[5][5];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	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[][] = new double[5][2];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788" y="5034075"/>
            <a:ext cx="4857784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intArray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[][] = {{0,1,2},{3,4,5},{6,7,8}};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charArray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[][] = {{'a', 'b', 'c'},{'d‘, 'e', 'f'}};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doubleArray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[][] = {{0.01, 0.02}, {0.03, 0.04}};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0022" y="222357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또는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7175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90" y="1484784"/>
            <a:ext cx="8540130" cy="237626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차원 배열의 모양과 </a:t>
            </a:r>
            <a:r>
              <a:rPr lang="en-US" altLang="ko-KR"/>
              <a:t>length </a:t>
            </a:r>
            <a:r>
              <a:rPr lang="ko-KR" altLang="en-US"/>
              <a:t>필드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차원 배열의 모양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차원 배열의 </a:t>
            </a:r>
            <a:r>
              <a:rPr lang="en-US" altLang="ko-KR" dirty="0"/>
              <a:t>length</a:t>
            </a:r>
          </a:p>
          <a:p>
            <a:pPr lvl="1"/>
            <a:r>
              <a:rPr lang="en-US" altLang="ko-KR" dirty="0" err="1"/>
              <a:t>i.length</a:t>
            </a:r>
            <a:r>
              <a:rPr lang="en-US" altLang="ko-KR" dirty="0"/>
              <a:t> -&gt; 2</a:t>
            </a:r>
            <a:r>
              <a:rPr lang="ko-KR" altLang="en-US" dirty="0"/>
              <a:t>차원 배열의 행의 개수로서 </a:t>
            </a:r>
            <a:r>
              <a:rPr lang="en-US" altLang="ko-KR" dirty="0"/>
              <a:t>2</a:t>
            </a:r>
          </a:p>
          <a:p>
            <a:pPr lvl="1"/>
            <a:r>
              <a:rPr lang="en-US" altLang="ko-KR" dirty="0" err="1"/>
              <a:t>i</a:t>
            </a:r>
            <a:r>
              <a:rPr lang="en-US" altLang="ko-KR" dirty="0"/>
              <a:t>[n].length</a:t>
            </a:r>
            <a:r>
              <a:rPr lang="ko-KR" altLang="en-US" dirty="0"/>
              <a:t>는 </a:t>
            </a:r>
            <a:r>
              <a:rPr lang="en-US" altLang="ko-KR" dirty="0"/>
              <a:t>n</a:t>
            </a:r>
            <a:r>
              <a:rPr lang="ko-KR" altLang="en-US" dirty="0"/>
              <a:t>번째 행의 열의 개수</a:t>
            </a:r>
          </a:p>
          <a:p>
            <a:pPr lvl="2"/>
            <a:r>
              <a:rPr lang="en-US" altLang="ko-KR" dirty="0" err="1"/>
              <a:t>i</a:t>
            </a:r>
            <a:r>
              <a:rPr lang="en-US" altLang="ko-KR" dirty="0"/>
              <a:t>[0].length -&gt; 0</a:t>
            </a:r>
            <a:r>
              <a:rPr lang="ko-KR" altLang="en-US" dirty="0"/>
              <a:t>번째 행의 열의 개수로서 </a:t>
            </a:r>
            <a:r>
              <a:rPr lang="en-US" altLang="ko-KR" dirty="0"/>
              <a:t>5</a:t>
            </a:r>
          </a:p>
          <a:p>
            <a:pPr lvl="2"/>
            <a:r>
              <a:rPr lang="en-US" altLang="ko-KR" dirty="0" err="1"/>
              <a:t>i</a:t>
            </a:r>
            <a:r>
              <a:rPr lang="en-US" altLang="ko-KR" dirty="0"/>
              <a:t>[1].length -&gt; 1</a:t>
            </a:r>
            <a:r>
              <a:rPr lang="ko-KR" altLang="en-US" dirty="0"/>
              <a:t>번째 행의 열의 개수로서 </a:t>
            </a:r>
            <a:r>
              <a:rPr lang="en-US" altLang="ko-KR" dirty="0"/>
              <a:t>5</a:t>
            </a:r>
          </a:p>
          <a:p>
            <a:endParaRPr lang="ko-KR" altLang="en-US" dirty="0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6BD2C2-3D3B-4E94-BD92-61B02C5F4DEE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6620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배열 예제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870596-DAFA-46D2-82A7-2B6B5F8E0EA4}" type="slidenum">
              <a:rPr kumimoji="0" lang="ko-K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31" y="2165576"/>
            <a:ext cx="8533169" cy="3247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466023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err="1"/>
              <a:t>ArrayList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배열의</a:t>
            </a:r>
            <a:r>
              <a:rPr lang="en-US" altLang="ko-KR"/>
              <a:t> </a:t>
            </a:r>
            <a:r>
              <a:rPr lang="ko-KR" altLang="en-US"/>
              <a:t>크기가 자동으로 변경되는 배열</a:t>
            </a:r>
            <a:endParaRPr lang="en-US" altLang="ko-KR"/>
          </a:p>
          <a:p>
            <a:r>
              <a:rPr lang="en-US" altLang="ko-KR"/>
              <a:t>add(), get(</a:t>
            </a:r>
            <a:r>
              <a:rPr lang="en-US" altLang="ko-KR" err="1"/>
              <a:t>i</a:t>
            </a:r>
            <a:r>
              <a:rPr lang="en-US" altLang="ko-KR"/>
              <a:t>), remove()</a:t>
            </a:r>
            <a:endParaRPr lang="ko-KR" altLang="en-US"/>
          </a:p>
        </p:txBody>
      </p:sp>
      <p:sp>
        <p:nvSpPr>
          <p:cNvPr id="4" name="모서리가 둥근 직사각형 3"/>
          <p:cNvSpPr/>
          <p:nvPr/>
        </p:nvSpPr>
        <p:spPr>
          <a:xfrm>
            <a:off x="3098307" y="3657599"/>
            <a:ext cx="2681056" cy="941033"/>
          </a:xfrm>
          <a:prstGeom prst="roundRect">
            <a:avLst/>
          </a:prstGeom>
          <a:solidFill>
            <a:srgbClr val="CC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1439663" y="5150529"/>
            <a:ext cx="1356804" cy="5400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“Hello”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3860308" y="5114281"/>
            <a:ext cx="1356804" cy="5400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“World”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280953" y="5061014"/>
            <a:ext cx="1356804" cy="5400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“Hi”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320248" y="3959439"/>
            <a:ext cx="630315" cy="3373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085437" y="3959439"/>
            <a:ext cx="630315" cy="3373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847668" y="3959439"/>
            <a:ext cx="630315" cy="33735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2565647" y="4128115"/>
            <a:ext cx="1069758" cy="96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endCxn id="6" idx="0"/>
          </p:cNvCxnSpPr>
          <p:nvPr/>
        </p:nvCxnSpPr>
        <p:spPr>
          <a:xfrm>
            <a:off x="4400594" y="4128115"/>
            <a:ext cx="138116" cy="986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5162825" y="4128115"/>
            <a:ext cx="1360200" cy="932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64078" y="3596555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맑은 고딕" panose="020B0503020000020004" pitchFamily="50" charset="-127"/>
                <a:cs typeface="+mn-cs"/>
              </a:rPr>
              <a:t>ArrayList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 pitchFamily="18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6609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err="1"/>
              <a:t>ArrayList</a:t>
            </a:r>
            <a:r>
              <a:rPr lang="en-US" altLang="ko-KR"/>
              <a:t> </a:t>
            </a:r>
            <a:r>
              <a:rPr lang="ko-KR" altLang="en-US"/>
              <a:t>생성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 latinLnBrk="0"/>
            <a:r>
              <a:rPr lang="en-US" altLang="ko-KR" err="1"/>
              <a:t>ArrayList</a:t>
            </a:r>
            <a:r>
              <a:rPr lang="en-US" altLang="ko-KR"/>
              <a:t>&lt;String&gt; list = </a:t>
            </a:r>
            <a:r>
              <a:rPr lang="en-US" altLang="ko-KR" b="1"/>
              <a:t>new</a:t>
            </a:r>
            <a:r>
              <a:rPr lang="ko-KR" altLang="en-US"/>
              <a:t> </a:t>
            </a:r>
            <a:r>
              <a:rPr lang="en-US" altLang="ko-KR" err="1"/>
              <a:t>ArrayList</a:t>
            </a:r>
            <a:r>
              <a:rPr lang="en-US" altLang="ko-KR"/>
              <a:t>&lt;&gt;();</a:t>
            </a:r>
            <a:endParaRPr lang="ko-KR" altLang="en-US"/>
          </a:p>
          <a:p>
            <a:pPr fontAlgn="base" latinLnBrk="0"/>
            <a:endParaRPr lang="en-US" altLang="ko-KR"/>
          </a:p>
          <a:p>
            <a:pPr fontAlgn="base" latinLnBrk="0"/>
            <a:r>
              <a:rPr lang="en-US" altLang="ko-KR" err="1"/>
              <a:t>list.add</a:t>
            </a:r>
            <a:r>
              <a:rPr lang="en-US" altLang="ko-KR"/>
              <a:t>("</a:t>
            </a:r>
            <a:r>
              <a:rPr lang="ko-KR" altLang="en-US"/>
              <a:t>철수</a:t>
            </a:r>
            <a:r>
              <a:rPr lang="en-US" altLang="ko-KR"/>
              <a:t>");</a:t>
            </a:r>
            <a:endParaRPr lang="ko-KR" altLang="en-US"/>
          </a:p>
          <a:p>
            <a:pPr fontAlgn="base" latinLnBrk="0"/>
            <a:r>
              <a:rPr lang="en-US" altLang="ko-KR" err="1"/>
              <a:t>list.add</a:t>
            </a:r>
            <a:r>
              <a:rPr lang="en-US" altLang="ko-KR"/>
              <a:t>("</a:t>
            </a:r>
            <a:r>
              <a:rPr lang="ko-KR" altLang="en-US"/>
              <a:t>영희</a:t>
            </a:r>
            <a:r>
              <a:rPr lang="en-US" altLang="ko-KR"/>
              <a:t>");</a:t>
            </a:r>
          </a:p>
          <a:p>
            <a:pPr fontAlgn="base" latinLnBrk="0"/>
            <a:endParaRPr lang="en-US" altLang="ko-KR"/>
          </a:p>
          <a:p>
            <a:pPr fontAlgn="base" latinLnBrk="0"/>
            <a:r>
              <a:rPr lang="en-US" altLang="ko-KR"/>
              <a:t>String name = </a:t>
            </a:r>
            <a:r>
              <a:rPr lang="en-US" altLang="ko-KR" err="1"/>
              <a:t>list.get</a:t>
            </a:r>
            <a:r>
              <a:rPr lang="en-US" altLang="ko-KR"/>
              <a:t>(0);</a:t>
            </a:r>
            <a:endParaRPr lang="ko-KR" altLang="en-US"/>
          </a:p>
          <a:p>
            <a:pPr fontAlgn="base" latinLnBrk="0"/>
            <a:endParaRPr lang="en-US" altLang="ko-KR"/>
          </a:p>
          <a:p>
            <a:pPr fontAlgn="base" latinLnBrk="0"/>
            <a:r>
              <a:rPr lang="en-US" altLang="ko-KR" err="1"/>
              <a:t>list.remove</a:t>
            </a:r>
            <a:r>
              <a:rPr lang="en-US" altLang="ko-KR"/>
              <a:t>(1);</a:t>
            </a:r>
            <a:r>
              <a:rPr lang="ko-KR" altLang="en-US"/>
              <a:t>	</a:t>
            </a:r>
            <a:r>
              <a:rPr lang="en-US" altLang="ko-KR"/>
              <a:t>// 1</a:t>
            </a:r>
            <a:r>
              <a:rPr lang="ko-KR" altLang="en-US"/>
              <a:t>번째 요소 삭제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2300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36847" y="1439091"/>
            <a:ext cx="8153400" cy="4109453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Symbol" pitchFamily="18" charset="2"/>
              <a:buChar char="·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import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java.util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.*;  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public class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ArrayListTest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{  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public static void main(String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args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[]){  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ArrayList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&lt;String&gt; list=new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ArrayList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&lt;&gt;();  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list.add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철수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");  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list.add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영희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");  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list.add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순신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");  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list.add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("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자영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");  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 for(String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obj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: list)  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   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System.out.print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(</a:t>
            </a:r>
            <a:r>
              <a:rPr kumimoji="0" lang="en-US" altLang="ko-KR" sz="1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obj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+" ");  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 }  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04404"/>
              </a:buClr>
              <a:buSzTx/>
              <a:buFont typeface="Symbol" pitchFamily="18" charset="2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+mn-cs"/>
              </a:rPr>
              <a:t>} </a:t>
            </a:r>
          </a:p>
        </p:txBody>
      </p:sp>
      <p:sp>
        <p:nvSpPr>
          <p:cNvPr id="7" name="내용 개체 틀 4"/>
          <p:cNvSpPr txBox="1">
            <a:spLocks/>
          </p:cNvSpPr>
          <p:nvPr/>
        </p:nvSpPr>
        <p:spPr>
          <a:xfrm>
            <a:off x="736847" y="5768435"/>
            <a:ext cx="8153400" cy="50750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vert="horz">
            <a:noAutofit/>
          </a:bodyPr>
          <a:lstStyle>
            <a:lvl1pPr marL="320040" indent="-320040" algn="l" rtl="0" eaLnBrk="1" latin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 algn="l" rtl="0" eaLnBrk="1" latinLnBrk="1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0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 algn="l" rtl="0" eaLnBrk="1" latinLnBrk="1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 algn="l" rtl="0" eaLnBrk="1" latinLnBrk="1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18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 algn="l" rtl="0" eaLnBrk="1" latinLnBrk="1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18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103120" indent="-228600" algn="l" rtl="0" eaLnBrk="1" latinLnBrk="1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1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1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1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buFont typeface="Wingdings"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Schoolbook" panose="02040604050505020304" pitchFamily="18" charset="0"/>
                <a:ea typeface="굴림" panose="020B0600000101010101" pitchFamily="50" charset="-127"/>
                <a:cs typeface="Arial" panose="020B0604020202020204" pitchFamily="34" charset="0"/>
              </a:rPr>
              <a:t>철수 영희 순신 자영 </a:t>
            </a:r>
            <a:endParaRPr kumimoji="0" lang="en-US" altLang="ko-K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 pitchFamily="18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86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22651"/>
          </a:xfrm>
        </p:spPr>
        <p:txBody>
          <a:bodyPr>
            <a:normAutofit/>
          </a:bodyPr>
          <a:lstStyle/>
          <a:p>
            <a:r>
              <a:rPr lang="ko-KR" altLang="en-US" sz="2800"/>
              <a:t>실습 예제 </a:t>
            </a:r>
            <a:r>
              <a:rPr lang="en-US" altLang="ko-KR" sz="2800"/>
              <a:t>: </a:t>
            </a:r>
            <a:r>
              <a:rPr lang="en-US" altLang="ko-KR" sz="2800" err="1"/>
              <a:t>ArrayList</a:t>
            </a:r>
            <a:r>
              <a:rPr lang="ko-KR" altLang="en-US" sz="2800"/>
              <a:t>클래스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BF29A8-8FC9-44F9-A08A-DE666EA42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263649"/>
            <a:ext cx="6877050" cy="52292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4446038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E344BE9-786D-48F4-A438-3263903C7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791" y="1198874"/>
            <a:ext cx="5467350" cy="28765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7024144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이온(회의실)">
  <a:themeElements>
    <a:clrScheme name="이온(회의실)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이온(회의실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(회의실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1_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63F3F86B8564408C355D68F45A30F8" ma:contentTypeVersion="7" ma:contentTypeDescription="Create a new document." ma:contentTypeScope="" ma:versionID="f577b17cddb3cfa273a7c62723bccc67">
  <xsd:schema xmlns:xsd="http://www.w3.org/2001/XMLSchema" xmlns:xs="http://www.w3.org/2001/XMLSchema" xmlns:p="http://schemas.microsoft.com/office/2006/metadata/properties" xmlns:ns3="61eae400-1c71-451c-aeb3-9b02b189ef4d" targetNamespace="http://schemas.microsoft.com/office/2006/metadata/properties" ma:root="true" ma:fieldsID="1065bd026407ac9b6e927748b13693b2" ns3:_="">
    <xsd:import namespace="61eae400-1c71-451c-aeb3-9b02b189ef4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ae400-1c71-451c-aeb3-9b02b189ef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53C193-8EB4-4F01-8210-CB6C287EDBE2}">
  <ds:schemaRefs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61eae400-1c71-451c-aeb3-9b02b189ef4d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7A74F1F-3D73-45DC-9598-4088A06F02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C5DB62-18EC-44F9-BEBF-DC5759BBD0CB}">
  <ds:schemaRefs>
    <ds:schemaRef ds:uri="61eae400-1c71-451c-aeb3-9b02b189ef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3208</Words>
  <Application>Microsoft Office PowerPoint</Application>
  <PresentationFormat>화면 슬라이드 쇼(4:3)</PresentationFormat>
  <Paragraphs>474</Paragraphs>
  <Slides>53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53</vt:i4>
      </vt:variant>
    </vt:vector>
  </HeadingPairs>
  <TitlesOfParts>
    <vt:vector size="64" baseType="lpstr">
      <vt:lpstr>맑은 고딕</vt:lpstr>
      <vt:lpstr>휴먼편지체</vt:lpstr>
      <vt:lpstr>Arial</vt:lpstr>
      <vt:lpstr>Century Gothic</vt:lpstr>
      <vt:lpstr>Century Schoolbook</vt:lpstr>
      <vt:lpstr>Symbol</vt:lpstr>
      <vt:lpstr>Wingdings</vt:lpstr>
      <vt:lpstr>Wingdings 2</vt:lpstr>
      <vt:lpstr>Wingdings 3</vt:lpstr>
      <vt:lpstr>이온(회의실)</vt:lpstr>
      <vt:lpstr>1_가을</vt:lpstr>
      <vt:lpstr>자바 프로그래밍응용</vt:lpstr>
      <vt:lpstr>PowerPoint 프레젠테이션</vt:lpstr>
      <vt:lpstr>  반복문 이란?</vt:lpstr>
      <vt:lpstr>for 문의 구성</vt:lpstr>
      <vt:lpstr>for 문의 실행 과정을 나타내는 순서도</vt:lpstr>
      <vt:lpstr>for문의 예시</vt:lpstr>
      <vt:lpstr>while 문의 구성</vt:lpstr>
      <vt:lpstr>while 문의 구조</vt:lpstr>
      <vt:lpstr>while문의 실행 과정을 나타내는 순서도</vt:lpstr>
      <vt:lpstr>예제: 0부터 9까지 출력하기</vt:lpstr>
      <vt:lpstr>예제: 구구단 출력</vt:lpstr>
      <vt:lpstr>PowerPoint 프레젠테이션</vt:lpstr>
      <vt:lpstr>예제 3-2 : -1이 입력될 때까지 입력된 수의 평균 구하기</vt:lpstr>
      <vt:lpstr>do-while 문의 구성</vt:lpstr>
      <vt:lpstr>do-while문의 실행 과정을 나타내는 순서도</vt:lpstr>
      <vt:lpstr>중첩 반복</vt:lpstr>
      <vt:lpstr>예제1 : 2단부터 9단까지 구구단을 작성</vt:lpstr>
      <vt:lpstr>PowerPoint 프레젠테이션</vt:lpstr>
      <vt:lpstr>예제 2: 2중 중첩을 이용한 구구단</vt:lpstr>
      <vt:lpstr>중첩 for 문</vt:lpstr>
      <vt:lpstr>Section 02 중첩 for 문(10)</vt:lpstr>
      <vt:lpstr>PowerPoint 프레젠테이션</vt:lpstr>
      <vt:lpstr>continue문</vt:lpstr>
      <vt:lpstr>break문</vt:lpstr>
      <vt:lpstr>break /continue문 for 실습 예제</vt:lpstr>
      <vt:lpstr>break /continue문 while 실습 예제</vt:lpstr>
      <vt:lpstr>예제 3 : continue 문을 이용하여 양수 합 구하기</vt:lpstr>
      <vt:lpstr>예제: while문 무한루프 </vt:lpstr>
      <vt:lpstr>예제: 구구단을 짜되 5단과 9단을 제외하고 출력하고 곱해지는 값이 단보다 크면 탈출 하시오 예를 들어 2단은 2*2 까지만 3단은 3*3 까지만 ....</vt:lpstr>
      <vt:lpstr>PowerPoint 프레젠테이션</vt:lpstr>
      <vt:lpstr>배열이란?</vt:lpstr>
      <vt:lpstr>자바 배열의 필요성과 모양</vt:lpstr>
      <vt:lpstr>일차원 배열 만들기</vt:lpstr>
      <vt:lpstr>레퍼런스 변수와 배열</vt:lpstr>
      <vt:lpstr>배열을 초기화하면서 생성한 결과</vt:lpstr>
      <vt:lpstr>배열 인덱스와 원소 접근</vt:lpstr>
      <vt:lpstr>예제: 반복문과 배열</vt:lpstr>
      <vt:lpstr>LAB: 문자열 배열</vt:lpstr>
      <vt:lpstr>SOLUTION </vt:lpstr>
      <vt:lpstr>PowerPoint 프레젠테이션</vt:lpstr>
      <vt:lpstr>예제 3-7 : 배열에 입력받은 수 중 제일큰수 찾기</vt:lpstr>
      <vt:lpstr>배열의 크기, length 필드</vt:lpstr>
      <vt:lpstr>예제 3-8 : 배열 원소의 평균 구하기</vt:lpstr>
      <vt:lpstr>배열과 for-each 문</vt:lpstr>
      <vt:lpstr>예제 3-9 : for-each 문 활용</vt:lpstr>
      <vt:lpstr>2차원 배열</vt:lpstr>
      <vt:lpstr>2차원 배열의 모양과 length 필드</vt:lpstr>
      <vt:lpstr>2차원 배열 예제</vt:lpstr>
      <vt:lpstr>ArrayList</vt:lpstr>
      <vt:lpstr>ArrayList 생성</vt:lpstr>
      <vt:lpstr>예제 </vt:lpstr>
      <vt:lpstr>실습 예제 : ArrayList클래스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객체지향 프로그래밍</dc:title>
  <dc:creator>rxr</dc:creator>
  <cp:lastModifiedBy>오은성</cp:lastModifiedBy>
  <cp:revision>22</cp:revision>
  <dcterms:created xsi:type="dcterms:W3CDTF">2020-08-28T02:52:27Z</dcterms:created>
  <dcterms:modified xsi:type="dcterms:W3CDTF">2025-03-30T07:13:50Z</dcterms:modified>
</cp:coreProperties>
</file>