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embeddedFontLst>
    <p:embeddedFont>
      <p:font typeface="Neo둥근모" panose="02010509060201040203" pitchFamily="1" charset="-127"/>
      <p:regular r:id="rId13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D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45" autoAdjust="0"/>
    <p:restoredTop sz="73537" autoAdjust="0"/>
  </p:normalViewPr>
  <p:slideViewPr>
    <p:cSldViewPr snapToGrid="0">
      <p:cViewPr varScale="1">
        <p:scale>
          <a:sx n="54" d="100"/>
          <a:sy n="54" d="100"/>
        </p:scale>
        <p:origin x="10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98CA0-FB47-4278-A874-77279CF2957F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E7818-BEA1-4025-832D-0EA8BAC1D3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0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오늘 발표할 주제는 </a:t>
            </a:r>
            <a:r>
              <a:rPr lang="ko-KR" altLang="en-US" dirty="0" err="1"/>
              <a:t>캡스톤</a:t>
            </a:r>
            <a:r>
              <a:rPr lang="ko-KR" altLang="en-US" dirty="0"/>
              <a:t> 아이디어 조사이다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여러가지 </a:t>
            </a:r>
            <a:r>
              <a:rPr lang="ko-KR" altLang="en-US" dirty="0" err="1"/>
              <a:t>캡스톤</a:t>
            </a:r>
            <a:r>
              <a:rPr lang="ko-KR" altLang="en-US" dirty="0"/>
              <a:t> 아이디어를 조사해 봤으며 실제로 실용성이 있고 구현 가능성이 있으며</a:t>
            </a:r>
            <a:endParaRPr lang="en-US" altLang="ko-KR" dirty="0"/>
          </a:p>
          <a:p>
            <a:r>
              <a:rPr lang="ko-KR" altLang="en-US" dirty="0"/>
              <a:t>인공지능 모델을 적용한 아이디어 중 하나를 선택하였다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바로 태양광 발전량 예측 알고리즘 개발로 </a:t>
            </a:r>
            <a:r>
              <a:rPr lang="ko-KR" altLang="en-US" dirty="0" err="1"/>
              <a:t>국립순천대학교</a:t>
            </a:r>
            <a:r>
              <a:rPr lang="ko-KR" altLang="en-US" dirty="0"/>
              <a:t> 인공지능학과에서 개발한 작품이다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7E7818-BEA1-4025-832D-0EA8BAC1D37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357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근 </a:t>
            </a:r>
            <a:r>
              <a:rPr lang="en-US" altLang="ko-KR" dirty="0"/>
              <a:t>30</a:t>
            </a:r>
            <a:r>
              <a:rPr lang="ko-KR" altLang="en-US" dirty="0"/>
              <a:t>년간 세계 화석 연료 소비량은 계속 해서 </a:t>
            </a:r>
            <a:r>
              <a:rPr lang="ko-KR" altLang="en-US" dirty="0" err="1"/>
              <a:t>늘고있는</a:t>
            </a:r>
            <a:r>
              <a:rPr lang="ko-KR" altLang="en-US" dirty="0"/>
              <a:t> 추세이다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7E7818-BEA1-4025-832D-0EA8BAC1D37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699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화석 연료 소비량으로 인해 증가한 탄소 배출량이 계속해서 증가하고 있으며 이로 인해 지구의 평균 기온이 높아지고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국가별 화석연료 매장량이 계속해서 떨어지고 있는 추이이다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7E7818-BEA1-4025-832D-0EA8BAC1D37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706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2FD1E-7D89-6EB2-F015-4B1DFF7FE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E993CB-DE79-C13C-B8C5-42A655730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6ADD98-8DD9-EC51-BE17-6F39698C0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이런 문제에 해결책으로 신재생 에너지가 각광 받고 있는데</a:t>
            </a:r>
            <a:r>
              <a:rPr lang="en-US" altLang="ko-KR" dirty="0"/>
              <a:t>, </a:t>
            </a:r>
            <a:r>
              <a:rPr lang="ko-KR" altLang="en-US" dirty="0"/>
              <a:t>그 중 태양광 발전의 비중이 </a:t>
            </a:r>
            <a:r>
              <a:rPr lang="en-US" altLang="ko-KR" dirty="0"/>
              <a:t>70</a:t>
            </a:r>
            <a:r>
              <a:rPr lang="ko-KR" altLang="en-US" dirty="0"/>
              <a:t>퍼센트로 매우 높다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261651-150A-2ED6-4965-18939901A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7E7818-BEA1-4025-832D-0EA8BAC1D37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940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A87AE-8D00-33E6-CAAE-4EDD6BFF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6D3A0C-765D-C8F0-BEEF-A0A651DB1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AEDFC2-732A-76C5-0F7A-4A86BD149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때문에 태양광 발전을 중점으로 조사하게 되었고 그 중 태양광 발전 시설의 문제점을 </a:t>
            </a:r>
            <a:r>
              <a:rPr lang="ko-KR" altLang="en-US" dirty="0" err="1"/>
              <a:t>알게되었다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태양광 발전 시설은 장기간 운용이 보장되어야 하는데 이 과정에서 발전 효율저하를 막고</a:t>
            </a:r>
            <a:r>
              <a:rPr lang="en-US" altLang="ko-KR" dirty="0"/>
              <a:t>, </a:t>
            </a:r>
            <a:r>
              <a:rPr lang="ko-KR" altLang="en-US" dirty="0"/>
              <a:t>고장진단 및 부품 교체 동의 사안에 대한 빠른 대응이 필요하다</a:t>
            </a:r>
            <a:r>
              <a:rPr lang="en-US" altLang="ko-KR" dirty="0"/>
              <a:t>. </a:t>
            </a:r>
            <a:r>
              <a:rPr lang="ko-KR" altLang="en-US" dirty="0"/>
              <a:t>태양광 모듈의 가격이 하락하고 있는 시점에서 시스템을 유지보수 하기위한 비용이 상대적으로 증가하는 추세이므로</a:t>
            </a:r>
            <a:r>
              <a:rPr lang="en-US" altLang="ko-KR" dirty="0"/>
              <a:t>, </a:t>
            </a:r>
            <a:r>
              <a:rPr lang="ko-KR" altLang="en-US" dirty="0"/>
              <a:t>지능적이고 효율적인 운용 및 진단 기술의 중요성이 높아졌다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C8BF31-8F71-174E-0923-9B3B2596A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7E7818-BEA1-4025-832D-0EA8BAC1D37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211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91840-4862-1187-73EB-782D82ADB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4D67AA-4681-999D-BED7-B229EEF3A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BBC19F-90FB-69D4-DEFD-B76F82F27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알고리즘의 구성은 다음과 같다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환경 센서와 기상청 </a:t>
            </a:r>
            <a:r>
              <a:rPr lang="en-US" altLang="ko-KR" dirty="0"/>
              <a:t>API</a:t>
            </a:r>
            <a:r>
              <a:rPr lang="ko-KR" altLang="en-US" dirty="0"/>
              <a:t>를 사용하며</a:t>
            </a:r>
            <a:r>
              <a:rPr lang="en-US" altLang="ko-KR" dirty="0"/>
              <a:t>, </a:t>
            </a:r>
            <a:r>
              <a:rPr lang="ko-KR" altLang="en-US" dirty="0"/>
              <a:t>태양광 패널에 센서를 부착하여 데이터를 수집하고</a:t>
            </a:r>
            <a:endParaRPr lang="en-US" altLang="ko-KR" dirty="0"/>
          </a:p>
          <a:p>
            <a:r>
              <a:rPr lang="ko-KR" altLang="en-US" dirty="0"/>
              <a:t>데이터 베이스로 데이터를 넘긴다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후 알고리즘을 통해 데이터를 토대로 발전량을 예측하여 모니터링한다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관측 데이터는 수직 일사량</a:t>
            </a:r>
            <a:r>
              <a:rPr lang="en-US" altLang="ko-KR" dirty="0"/>
              <a:t>, </a:t>
            </a:r>
            <a:r>
              <a:rPr lang="ko-KR" altLang="en-US" dirty="0"/>
              <a:t>경사 일사량</a:t>
            </a:r>
            <a:r>
              <a:rPr lang="en-US" altLang="ko-KR" dirty="0"/>
              <a:t>, </a:t>
            </a:r>
            <a:r>
              <a:rPr lang="ko-KR" altLang="en-US" dirty="0"/>
              <a:t>모듈온도</a:t>
            </a:r>
            <a:r>
              <a:rPr lang="en-US" altLang="ko-KR" dirty="0"/>
              <a:t>, </a:t>
            </a:r>
            <a:r>
              <a:rPr lang="ko-KR" altLang="en-US" dirty="0"/>
              <a:t>외기 온도이다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날씨 데이터는 지상 온도</a:t>
            </a:r>
            <a:r>
              <a:rPr lang="en-US" altLang="ko-KR" dirty="0"/>
              <a:t>, </a:t>
            </a:r>
            <a:r>
              <a:rPr lang="ko-KR" altLang="en-US" dirty="0"/>
              <a:t>일사량</a:t>
            </a:r>
            <a:r>
              <a:rPr lang="en-US" altLang="ko-KR" dirty="0"/>
              <a:t>, </a:t>
            </a:r>
            <a:r>
              <a:rPr lang="ko-KR" altLang="en-US" dirty="0" err="1"/>
              <a:t>전운량</a:t>
            </a:r>
            <a:r>
              <a:rPr lang="ko-KR" altLang="en-US" dirty="0"/>
              <a:t> 데이터를 가져온다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후 </a:t>
            </a:r>
            <a:r>
              <a:rPr lang="en-US" altLang="ko-KR" dirty="0"/>
              <a:t>PV </a:t>
            </a:r>
            <a:r>
              <a:rPr lang="ko-KR" altLang="en-US" dirty="0"/>
              <a:t>전력량을 예측한다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ACBF17-2034-0303-10C0-3241305AF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7E7818-BEA1-4025-832D-0EA8BAC1D37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164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B75EB-C4FD-C1EC-9B00-325CCB5BC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0FCBD7-5691-2656-5AA4-D5BE44F0D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47DC93-77BC-B405-82C5-1292D334E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개발은 파이썬 기반 </a:t>
            </a:r>
            <a:r>
              <a:rPr lang="en-US" altLang="ko-KR" dirty="0" err="1"/>
              <a:t>pytorch</a:t>
            </a:r>
            <a:r>
              <a:rPr lang="ko-KR" altLang="en-US" dirty="0"/>
              <a:t>를 사용해 개발하였으며 과정은 다음과 같다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데이터를 </a:t>
            </a:r>
            <a:r>
              <a:rPr lang="en-US" altLang="ko-KR" dirty="0" err="1"/>
              <a:t>MinMaxScaler</a:t>
            </a:r>
            <a:r>
              <a:rPr lang="ko-KR" altLang="en-US" dirty="0"/>
              <a:t>를 통해 </a:t>
            </a:r>
            <a:r>
              <a:rPr lang="ko-KR" altLang="en-US" dirty="0" err="1"/>
              <a:t>정규화한다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 </a:t>
            </a:r>
            <a:r>
              <a:rPr lang="ko-KR" altLang="en-US" dirty="0" err="1"/>
              <a:t>정규화한</a:t>
            </a:r>
            <a:r>
              <a:rPr lang="ko-KR" altLang="en-US" dirty="0"/>
              <a:t> 데이터를 훈련 데이터와 테스트 데이터로 나누어 </a:t>
            </a:r>
            <a:r>
              <a:rPr lang="en-US" altLang="ko-KR" dirty="0"/>
              <a:t>MLP</a:t>
            </a:r>
            <a:r>
              <a:rPr lang="ko-KR" altLang="en-US" dirty="0"/>
              <a:t>모델에 적용한다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마지막으로 각 파라미터를 </a:t>
            </a:r>
            <a:r>
              <a:rPr lang="en-US" altLang="ko-KR" dirty="0"/>
              <a:t>Loss</a:t>
            </a:r>
            <a:r>
              <a:rPr lang="ko-KR" altLang="en-US" dirty="0"/>
              <a:t>값을 줄이는 방향으로 조정한다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472D36-6760-5378-E8CF-67E43F4F1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7E7818-BEA1-4025-832D-0EA8BAC1D37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984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5C075-746E-CBF3-F0F8-71C849E6C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29562B-191E-56B0-4FED-BF45765EE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DF3FCD-1F9E-FDE2-D4FB-653854CE7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예측 결과 </a:t>
            </a:r>
            <a:r>
              <a:rPr lang="en-US" altLang="ko-KR" dirty="0"/>
              <a:t>MSE</a:t>
            </a:r>
            <a:r>
              <a:rPr lang="ko-KR" altLang="en-US" dirty="0"/>
              <a:t> 값이 </a:t>
            </a:r>
            <a:r>
              <a:rPr lang="en-US" altLang="ko-KR" dirty="0"/>
              <a:t>0.002</a:t>
            </a:r>
            <a:r>
              <a:rPr lang="ko-KR" altLang="en-US" dirty="0"/>
              <a:t>로 높은 정확도를 보였다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학습 횟수가 많아질 수록 </a:t>
            </a:r>
            <a:r>
              <a:rPr lang="en-US" altLang="ko-KR" dirty="0"/>
              <a:t>loss</a:t>
            </a:r>
            <a:r>
              <a:rPr lang="ko-KR" altLang="en-US" dirty="0"/>
              <a:t>값이 줄어드는 점을 보면 학습이 잘 되었다는 것을 알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태양광 발전 시설에 이 알고리즘을 적용 하여 환경에 따른 발전량 예측을 통해</a:t>
            </a:r>
            <a:endParaRPr lang="en-US" altLang="ko-KR" dirty="0"/>
          </a:p>
          <a:p>
            <a:r>
              <a:rPr lang="ko-KR" altLang="en-US" dirty="0"/>
              <a:t>최적의 환경에서만 태양광 발전기를 운용하거나 기존 발전량 측정 프로그램과 연계하여</a:t>
            </a:r>
            <a:endParaRPr lang="en-US" altLang="ko-KR" dirty="0"/>
          </a:p>
          <a:p>
            <a:r>
              <a:rPr lang="ko-KR" altLang="en-US" dirty="0"/>
              <a:t>예측량과 기존 발전량이 상이할 경우 태양광 패널을 점검하여 유지보수에 도움을 줄 수 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A20C05-0E13-C652-E651-ECE7D3881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7E7818-BEA1-4025-832D-0EA8BAC1D37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810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DE2B5-B586-BBCD-776C-996B477A5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1E8D5E-B917-F498-2BBB-D991FC974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2733A2-1DD3-1DE8-B592-7FD242C20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느낀점이다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실제로 매년 화석 연료의 사용량을 늘고 있으며 미 </a:t>
            </a:r>
            <a:r>
              <a:rPr lang="en-US" altLang="ko-KR" dirty="0"/>
              <a:t>– </a:t>
            </a:r>
            <a:r>
              <a:rPr lang="ko-KR" altLang="en-US" dirty="0"/>
              <a:t>이란 전쟁</a:t>
            </a:r>
            <a:r>
              <a:rPr lang="en-US" altLang="ko-KR" dirty="0"/>
              <a:t> </a:t>
            </a:r>
            <a:r>
              <a:rPr lang="ko-KR" altLang="en-US" dirty="0"/>
              <a:t>등 중동 국가의 전쟁으로 인한 화석 연료의 가격은 불안정하게 요동치고있다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특히 우리나라는 자체적으로 생산하는 자원의 양이 매우 적기에 신재생 에너지에 대한 중요성이 높다고 할 수 있겠다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해당 알고리즘을 적용해 효율적으로 태양광 발전을 할 수 있다면 유의미한 효과를 낼 수 있다고 볼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많은 패널에 하나하나 센서를 달아야 된다는 점</a:t>
            </a:r>
            <a:r>
              <a:rPr lang="en-US" altLang="ko-KR" dirty="0"/>
              <a:t>, </a:t>
            </a:r>
            <a:r>
              <a:rPr lang="ko-KR" altLang="en-US" dirty="0"/>
              <a:t>이미 관측 데이터로 날씨에 관한 데이터를 받아왔지만 한 번 더 날씨 데이터를 수집한 점이 아쉽다고 생각한다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3838D4-76D7-805F-C599-938FA0A4B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7E7818-BEA1-4025-832D-0EA8BAC1D37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696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49E0E-680C-EDF4-DD80-29349497E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D88FFE-42EA-7506-7267-C6119D34D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A35D1F-28C1-209B-24E9-27E27363C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이상으로 발표를 마친다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79A9E-C5C2-7E1C-6499-183C801F2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7E7818-BEA1-4025-832D-0EA8BAC1D37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341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DB907-DE1D-4BBF-8739-D1435B957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596941-52D6-CABF-F1B5-432BA9481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741FB9-3E4C-5CCD-48F3-D58EC2A5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1E09-A7E7-4CCB-BACF-5EF2AE4A653B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B5AFF4-02DD-5D01-3BF4-DFE81CECE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220116-6482-9D7A-400F-C7E9381D6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36B0-95CD-40C7-AD57-446064D7E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532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02A2B-1FD3-53F9-88BB-FEE004703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764D0B-7B9A-0AB0-7BC7-7348B3BF4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B640A-24E2-83B3-0912-28470822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1E09-A7E7-4CCB-BACF-5EF2AE4A653B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A67E32-7D8B-2A93-5831-82865EA20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19ECFF-462F-EF6D-1004-7297821C5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36B0-95CD-40C7-AD57-446064D7E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3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4531B-91E1-FB15-5988-278476A97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B350D5-AA18-EAA1-E457-7BB755CFE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77571B-694C-12FE-893A-F0808AA59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1E09-A7E7-4CCB-BACF-5EF2AE4A653B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CAD0A2-4432-4871-0277-4D7F6A23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5A824-7FA2-C77D-B6B6-BC4FC991C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36B0-95CD-40C7-AD57-446064D7E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99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6AA29-0D9C-6C2A-8E76-8166214BF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CD5C42-1B8C-E7A4-45D4-A8C3D8FF0B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2A6DAC-2BD7-C960-0C46-1F3FABE74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8FEA9B-B12F-C4AC-ADFF-32AE40DF7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1E09-A7E7-4CCB-BACF-5EF2AE4A653B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469732-BAA4-B587-3068-8A5CDA4E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B4249E-6FFA-4228-0828-F8C342675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36B0-95CD-40C7-AD57-446064D7E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21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7135F-D1A0-CB43-71C8-F38037301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3BAD04-C618-9F51-9A72-5AFC31EC8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372266-60A1-416C-6CEC-7B5EDC994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24BDC1-1CCF-1FAE-3F74-5A48A17FA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0AD31-5106-88F7-6F57-B9AEBA82B8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5644EE-50A6-BDF0-9CCA-E23FF4920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1E09-A7E7-4CCB-BACF-5EF2AE4A653B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10D1D3-30CE-3C63-D179-49127426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76A793E-B4D6-400C-EBAA-25F240878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36B0-95CD-40C7-AD57-446064D7E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390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43E22C-F809-01B7-663D-324AD5D10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FE65E9D-27A3-D740-7485-85C612989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1E09-A7E7-4CCB-BACF-5EF2AE4A653B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2AC00B-3827-1458-D6B2-6C61EC2B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5FA128-5894-25C6-F4B3-2041F1588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36B0-95CD-40C7-AD57-446064D7E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636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C908863-587D-230E-78E1-CA31ABD42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1E09-A7E7-4CCB-BACF-5EF2AE4A653B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FC15128-E258-11EE-BD1F-D25D86C74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8DA9D9-6BB3-84C6-CD9B-EF7FEFEAC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36B0-95CD-40C7-AD57-446064D7E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686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8A22F-D22C-D059-16AF-AEAAE9047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9D639D-3AF1-6B6C-1BBF-EDD1E6C1B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6CB5A3-BCD6-9D05-A498-40B9D1EE1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87D0CC-309A-DE8A-CC57-0CDFB4E4E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1E09-A7E7-4CCB-BACF-5EF2AE4A653B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4A7771-08FC-4D04-0987-5489A1CE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59F38E-F2CE-54B5-33A7-9A1AF537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36B0-95CD-40C7-AD57-446064D7E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636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9A6E77-9D9D-205F-614E-F407CF5B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0CFF770-3500-EF0A-9C66-12DD575D43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D44570-7796-78E6-C522-D5151FBD9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4098CB-A728-DE77-788B-4B736CE2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1E09-A7E7-4CCB-BACF-5EF2AE4A653B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65B7B2-7FE0-38EA-90DF-5B5804D8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81E81F-68AC-419B-469E-8F67EC7F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36B0-95CD-40C7-AD57-446064D7E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063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3EA8E-E303-4552-FBFA-675E617B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5A0CAA-1659-6BD6-61FE-C1270BAD5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AE9C1E-2ED1-8237-8ABD-B9F1391C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1E09-A7E7-4CCB-BACF-5EF2AE4A653B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F3A989-CE40-D4FB-804F-D874895F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D9DFA4-F1C9-B8FB-F3EE-36FC8EF9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36B0-95CD-40C7-AD57-446064D7E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949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B5B353-99F0-F895-D462-13B2863AAE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E15EC7-D2AC-9D9E-18FF-AD5F151D8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D95222-78F3-3E86-A166-7876A3511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1E09-A7E7-4CCB-BACF-5EF2AE4A653B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EB7AD2-6323-A907-3FF1-660D0104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6F16D-F7C0-90A4-417E-58BCA4038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36B0-95CD-40C7-AD57-446064D7E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654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7E592C-30B0-E877-55DF-97CEC139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E69429-AF66-A15A-F091-A7369E32A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E6AC8F-4B1A-AF5E-8BBF-78A9F20975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C61E09-A7E7-4CCB-BACF-5EF2AE4A653B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52C087-B849-FC43-81C5-10CDD6B67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748B2-6829-1DDF-50B9-CFA0E17C3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B36B0-95CD-40C7-AD57-446064D7E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620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F77A290-E469-81BD-57F6-CC4082F255BF}"/>
              </a:ext>
            </a:extLst>
          </p:cNvPr>
          <p:cNvSpPr/>
          <p:nvPr/>
        </p:nvSpPr>
        <p:spPr>
          <a:xfrm>
            <a:off x="0" y="0"/>
            <a:ext cx="12192000" cy="1216152"/>
          </a:xfrm>
          <a:prstGeom prst="rect">
            <a:avLst/>
          </a:prstGeom>
          <a:solidFill>
            <a:srgbClr val="A5D9F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5263B8-6B58-2B53-29AA-03AA2B2B77AB}"/>
              </a:ext>
            </a:extLst>
          </p:cNvPr>
          <p:cNvSpPr/>
          <p:nvPr/>
        </p:nvSpPr>
        <p:spPr>
          <a:xfrm>
            <a:off x="0" y="1137960"/>
            <a:ext cx="12192000" cy="9529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7EACC-1025-46C6-FA19-8C8BD2F6A829}"/>
              </a:ext>
            </a:extLst>
          </p:cNvPr>
          <p:cNvSpPr txBox="1"/>
          <p:nvPr/>
        </p:nvSpPr>
        <p:spPr>
          <a:xfrm>
            <a:off x="109728" y="1655063"/>
            <a:ext cx="5641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202363046 </a:t>
            </a:r>
            <a:r>
              <a:rPr lang="ko-KR" altLang="en-US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인공과 백인원 </a:t>
            </a:r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| 2026.03.15</a:t>
            </a:r>
            <a:endParaRPr lang="ko-KR" altLang="en-US" sz="16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112951-B82A-1408-F291-B3BF2E20246F}"/>
              </a:ext>
            </a:extLst>
          </p:cNvPr>
          <p:cNvSpPr txBox="1"/>
          <p:nvPr/>
        </p:nvSpPr>
        <p:spPr>
          <a:xfrm>
            <a:off x="2932176" y="315688"/>
            <a:ext cx="6327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 err="1">
                <a:latin typeface="Neo둥근모" panose="02010509060201040203" pitchFamily="1" charset="-127"/>
                <a:ea typeface="Neo둥근모" panose="02010509060201040203" pitchFamily="1" charset="-127"/>
              </a:rPr>
              <a:t>캡스톤</a:t>
            </a:r>
            <a:r>
              <a:rPr lang="ko-KR" altLang="en-US" sz="3200" b="1" dirty="0">
                <a:latin typeface="Neo둥근모" panose="02010509060201040203" pitchFamily="1" charset="-127"/>
                <a:ea typeface="Neo둥근모" panose="02010509060201040203" pitchFamily="1" charset="-127"/>
              </a:rPr>
              <a:t> 디자인 아이디어 조사</a:t>
            </a:r>
          </a:p>
        </p:txBody>
      </p:sp>
      <p:sp>
        <p:nvSpPr>
          <p:cNvPr id="8" name="별: 꼭짓점 5개 7">
            <a:extLst>
              <a:ext uri="{FF2B5EF4-FFF2-40B4-BE49-F238E27FC236}">
                <a16:creationId xmlns:a16="http://schemas.microsoft.com/office/drawing/2014/main" id="{434A6A6B-5A82-168B-FE21-7F331F00F42D}"/>
              </a:ext>
            </a:extLst>
          </p:cNvPr>
          <p:cNvSpPr/>
          <p:nvPr/>
        </p:nvSpPr>
        <p:spPr>
          <a:xfrm>
            <a:off x="11198352" y="1655063"/>
            <a:ext cx="387096" cy="338554"/>
          </a:xfrm>
          <a:prstGeom prst="star5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F47562B-DC7F-88EB-B36C-CBD732A1F434}"/>
              </a:ext>
            </a:extLst>
          </p:cNvPr>
          <p:cNvGrpSpPr/>
          <p:nvPr/>
        </p:nvGrpSpPr>
        <p:grpSpPr>
          <a:xfrm>
            <a:off x="11695176" y="1655063"/>
            <a:ext cx="387096" cy="338554"/>
            <a:chOff x="4791456" y="2880360"/>
            <a:chExt cx="585216" cy="398831"/>
          </a:xfrm>
          <a:solidFill>
            <a:schemeClr val="bg2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E408F1C-3A24-F9CD-2D84-C87BA3BB76C7}"/>
                </a:ext>
              </a:extLst>
            </p:cNvPr>
            <p:cNvSpPr/>
            <p:nvPr/>
          </p:nvSpPr>
          <p:spPr>
            <a:xfrm>
              <a:off x="4791456" y="28803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9AB01A50-12BC-145F-35EB-9749CA65D426}"/>
                </a:ext>
              </a:extLst>
            </p:cNvPr>
            <p:cNvSpPr/>
            <p:nvPr/>
          </p:nvSpPr>
          <p:spPr>
            <a:xfrm>
              <a:off x="4791456" y="30327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CAE66589-BC01-E183-F2B5-C2B7723405C6}"/>
                </a:ext>
              </a:extLst>
            </p:cNvPr>
            <p:cNvSpPr/>
            <p:nvPr/>
          </p:nvSpPr>
          <p:spPr>
            <a:xfrm>
              <a:off x="4791456" y="3178607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3911E25-686E-49A0-D959-85BCE04008A5}"/>
              </a:ext>
            </a:extLst>
          </p:cNvPr>
          <p:cNvGrpSpPr/>
          <p:nvPr/>
        </p:nvGrpSpPr>
        <p:grpSpPr>
          <a:xfrm>
            <a:off x="0" y="3077424"/>
            <a:ext cx="12192000" cy="2445552"/>
            <a:chOff x="0" y="3077424"/>
            <a:chExt cx="12192000" cy="244555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7A9BE19-91C1-842F-FABD-B1A498B1B405}"/>
                </a:ext>
              </a:extLst>
            </p:cNvPr>
            <p:cNvSpPr/>
            <p:nvPr/>
          </p:nvSpPr>
          <p:spPr>
            <a:xfrm>
              <a:off x="0" y="3077424"/>
              <a:ext cx="12192000" cy="244555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B438828-E47B-5A52-2937-5B9B86DEC267}"/>
                </a:ext>
              </a:extLst>
            </p:cNvPr>
            <p:cNvSpPr/>
            <p:nvPr/>
          </p:nvSpPr>
          <p:spPr>
            <a:xfrm>
              <a:off x="0" y="3575306"/>
              <a:ext cx="12192000" cy="151076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39C7B26-735D-DFBE-EF75-36D435AE6C9E}"/>
                </a:ext>
              </a:extLst>
            </p:cNvPr>
            <p:cNvSpPr txBox="1"/>
            <p:nvPr/>
          </p:nvSpPr>
          <p:spPr>
            <a:xfrm>
              <a:off x="2229231" y="4002608"/>
              <a:ext cx="773353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600" dirty="0">
                  <a:latin typeface="Neo둥근모" panose="02010509060201040203" pitchFamily="1" charset="-127"/>
                  <a:ea typeface="Neo둥근모" panose="02010509060201040203" pitchFamily="1" charset="-127"/>
                </a:rPr>
                <a:t>태양광 </a:t>
              </a:r>
              <a:r>
                <a:rPr lang="ko-KR" altLang="en-US" sz="3600" dirty="0">
                  <a:latin typeface="Neo둥근모" panose="02010509060201040203" pitchFamily="1" charset="-127"/>
                  <a:ea typeface="Neo둥근모" panose="02010509060201040203" pitchFamily="1" charset="-127"/>
                  <a:cs typeface="Microsoft GothicNeo" panose="020B0500000101010101" pitchFamily="50" charset="-127"/>
                </a:rPr>
                <a:t>발전량</a:t>
              </a:r>
              <a:r>
                <a:rPr lang="ko-KR" altLang="en-US" sz="3600" dirty="0">
                  <a:latin typeface="Neo둥근모" panose="02010509060201040203" pitchFamily="1" charset="-127"/>
                  <a:ea typeface="Neo둥근모" panose="02010509060201040203" pitchFamily="1" charset="-127"/>
                </a:rPr>
                <a:t> 예측 알고리즘 개발</a:t>
              </a:r>
              <a:r>
                <a:rPr lang="en-US" altLang="ko-KR" sz="3600" dirty="0">
                  <a:latin typeface="Neo둥근모" panose="02010509060201040203" pitchFamily="1" charset="-127"/>
                  <a:ea typeface="Neo둥근모" panose="02010509060201040203" pitchFamily="1" charset="-127"/>
                </a:rPr>
                <a:t>	</a:t>
              </a:r>
              <a:endParaRPr lang="ko-KR" altLang="en-US" sz="3600" dirty="0">
                <a:latin typeface="Neo둥근모" panose="02010509060201040203" pitchFamily="1" charset="-127"/>
                <a:ea typeface="Neo둥근모" panose="02010509060201040203" pitchFamily="1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AAC1C0A-CA4A-A942-7FD9-9F35DD2D584A}"/>
              </a:ext>
            </a:extLst>
          </p:cNvPr>
          <p:cNvSpPr txBox="1"/>
          <p:nvPr/>
        </p:nvSpPr>
        <p:spPr>
          <a:xfrm>
            <a:off x="0" y="6186295"/>
            <a:ext cx="12082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eo둥근모" panose="02010509060201040203" pitchFamily="1" charset="-127"/>
                <a:ea typeface="Neo둥근모" panose="02010509060201040203" pitchFamily="1" charset="-127"/>
                <a:cs typeface="Microsoft GothicNeo" panose="020B0500000101010101" pitchFamily="50" charset="-127"/>
              </a:rPr>
              <a:t>출처</a:t>
            </a:r>
            <a:r>
              <a:rPr lang="en-US" altLang="ko-KR" dirty="0">
                <a:latin typeface="Neo둥근모" panose="02010509060201040203" pitchFamily="1" charset="-127"/>
                <a:ea typeface="Neo둥근모" panose="02010509060201040203" pitchFamily="1" charset="-127"/>
                <a:cs typeface="Microsoft GothicNeo" panose="020B0500000101010101" pitchFamily="50" charset="-127"/>
              </a:rPr>
              <a:t>: </a:t>
            </a:r>
            <a:r>
              <a:rPr lang="ko-KR" altLang="en-US" dirty="0" err="1">
                <a:latin typeface="Neo둥근모" panose="02010509060201040203" pitchFamily="1" charset="-127"/>
                <a:ea typeface="Neo둥근모" panose="02010509060201040203" pitchFamily="1" charset="-127"/>
                <a:cs typeface="Microsoft GothicNeo" panose="020B0500000101010101" pitchFamily="50" charset="-127"/>
              </a:rPr>
              <a:t>국립순천대학교</a:t>
            </a:r>
            <a:r>
              <a:rPr lang="en-US" altLang="ko-KR" dirty="0">
                <a:latin typeface="Neo둥근모" panose="02010509060201040203" pitchFamily="1" charset="-127"/>
                <a:ea typeface="Neo둥근모" panose="02010509060201040203" pitchFamily="1" charset="-127"/>
                <a:cs typeface="Microsoft GothicNeo" panose="020B0500000101010101" pitchFamily="50" charset="-127"/>
              </a:rPr>
              <a:t>(https://www.scnu.ac.kr/ict/na/ntt/selectNttInfo.do?nttSn=281085786&amp;mi=7066&amp;currPage=1)</a:t>
            </a:r>
            <a:endParaRPr lang="ko-KR" altLang="en-US" dirty="0">
              <a:latin typeface="Neo둥근모" panose="02010509060201040203" pitchFamily="1" charset="-127"/>
              <a:ea typeface="Neo둥근모" panose="02010509060201040203" pitchFamily="1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893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D4ED4-27ED-2B34-C781-A45B6737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BD27F49-B907-F0A4-CD30-3B9ED6E9E447}"/>
              </a:ext>
            </a:extLst>
          </p:cNvPr>
          <p:cNvSpPr/>
          <p:nvPr/>
        </p:nvSpPr>
        <p:spPr>
          <a:xfrm>
            <a:off x="0" y="0"/>
            <a:ext cx="12192000" cy="1216152"/>
          </a:xfrm>
          <a:prstGeom prst="rect">
            <a:avLst/>
          </a:prstGeom>
          <a:solidFill>
            <a:srgbClr val="A5D9F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168987-87F8-6C03-73B3-A8B179953D47}"/>
              </a:ext>
            </a:extLst>
          </p:cNvPr>
          <p:cNvSpPr/>
          <p:nvPr/>
        </p:nvSpPr>
        <p:spPr>
          <a:xfrm>
            <a:off x="0" y="1137960"/>
            <a:ext cx="12192000" cy="9529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509A67-9EB4-89A4-61DA-CF3CA9F09D0A}"/>
              </a:ext>
            </a:extLst>
          </p:cNvPr>
          <p:cNvSpPr txBox="1"/>
          <p:nvPr/>
        </p:nvSpPr>
        <p:spPr>
          <a:xfrm>
            <a:off x="109728" y="1655063"/>
            <a:ext cx="5641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202363046 </a:t>
            </a:r>
            <a:r>
              <a:rPr lang="ko-KR" altLang="en-US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인공과 백인원 </a:t>
            </a:r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| 2026.03.15</a:t>
            </a:r>
            <a:endParaRPr lang="ko-KR" altLang="en-US" sz="16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A74994-577D-CA65-1AC1-F4BD1451BB4D}"/>
              </a:ext>
            </a:extLst>
          </p:cNvPr>
          <p:cNvSpPr txBox="1"/>
          <p:nvPr/>
        </p:nvSpPr>
        <p:spPr>
          <a:xfrm>
            <a:off x="2688336" y="260824"/>
            <a:ext cx="68153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태양광 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  <a:cs typeface="Microsoft GothicNeo" panose="020B0500000101010101" pitchFamily="50" charset="-127"/>
              </a:rPr>
              <a:t>발전량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 예측 알고리즘 개발</a:t>
            </a:r>
            <a:r>
              <a:rPr lang="en-US" altLang="ko-KR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	</a:t>
            </a:r>
            <a:endParaRPr lang="ko-KR" altLang="en-US" sz="32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8" name="별: 꼭짓점 5개 7">
            <a:extLst>
              <a:ext uri="{FF2B5EF4-FFF2-40B4-BE49-F238E27FC236}">
                <a16:creationId xmlns:a16="http://schemas.microsoft.com/office/drawing/2014/main" id="{1917CB84-8B1C-6BF8-6819-7B478BDB54DC}"/>
              </a:ext>
            </a:extLst>
          </p:cNvPr>
          <p:cNvSpPr/>
          <p:nvPr/>
        </p:nvSpPr>
        <p:spPr>
          <a:xfrm>
            <a:off x="11198352" y="1655063"/>
            <a:ext cx="387096" cy="338554"/>
          </a:xfrm>
          <a:prstGeom prst="star5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4C767BD-1475-6432-2BBA-04FD813E8FE7}"/>
              </a:ext>
            </a:extLst>
          </p:cNvPr>
          <p:cNvGrpSpPr/>
          <p:nvPr/>
        </p:nvGrpSpPr>
        <p:grpSpPr>
          <a:xfrm>
            <a:off x="11695176" y="1655063"/>
            <a:ext cx="387096" cy="338554"/>
            <a:chOff x="4791456" y="2880360"/>
            <a:chExt cx="585216" cy="398831"/>
          </a:xfrm>
          <a:solidFill>
            <a:schemeClr val="bg2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26DE123-00D7-C202-5574-E571B6B47D85}"/>
                </a:ext>
              </a:extLst>
            </p:cNvPr>
            <p:cNvSpPr/>
            <p:nvPr/>
          </p:nvSpPr>
          <p:spPr>
            <a:xfrm>
              <a:off x="4791456" y="28803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D9B92FA5-BE8E-B96D-DCE4-CC5EDC942B5D}"/>
                </a:ext>
              </a:extLst>
            </p:cNvPr>
            <p:cNvSpPr/>
            <p:nvPr/>
          </p:nvSpPr>
          <p:spPr>
            <a:xfrm>
              <a:off x="4791456" y="30327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225CB302-E5B3-3498-28F8-32D4EAF21B24}"/>
                </a:ext>
              </a:extLst>
            </p:cNvPr>
            <p:cNvSpPr/>
            <p:nvPr/>
          </p:nvSpPr>
          <p:spPr>
            <a:xfrm>
              <a:off x="4791456" y="3178607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6" name="Picture 2" descr="세계와 한국의 화석 연료 의존도">
            <a:extLst>
              <a:ext uri="{FF2B5EF4-FFF2-40B4-BE49-F238E27FC236}">
                <a16:creationId xmlns:a16="http://schemas.microsoft.com/office/drawing/2014/main" id="{5AE443DC-76E7-8872-59DD-C193AE109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10638"/>
            <a:ext cx="7580376" cy="4263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19개의 놀라는 짤 아이디어 | 웃긴 밈, 웃긴, 밈">
            <a:extLst>
              <a:ext uri="{FF2B5EF4-FFF2-40B4-BE49-F238E27FC236}">
                <a16:creationId xmlns:a16="http://schemas.microsoft.com/office/drawing/2014/main" id="{B48F0383-4B12-E1AC-D6DF-E8DC4E22F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9714" y="3318669"/>
            <a:ext cx="22479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3814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4B7B3-ADDC-3F61-4A9F-2612714AC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19B20A6-218E-89F7-9135-6FCA1D43E34F}"/>
              </a:ext>
            </a:extLst>
          </p:cNvPr>
          <p:cNvSpPr/>
          <p:nvPr/>
        </p:nvSpPr>
        <p:spPr>
          <a:xfrm>
            <a:off x="0" y="0"/>
            <a:ext cx="12192000" cy="1216152"/>
          </a:xfrm>
          <a:prstGeom prst="rect">
            <a:avLst/>
          </a:prstGeom>
          <a:solidFill>
            <a:srgbClr val="A5D9F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E293B7-38B0-F8D2-7573-781811135923}"/>
              </a:ext>
            </a:extLst>
          </p:cNvPr>
          <p:cNvSpPr/>
          <p:nvPr/>
        </p:nvSpPr>
        <p:spPr>
          <a:xfrm>
            <a:off x="0" y="1137960"/>
            <a:ext cx="12192000" cy="9529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894386-C432-8B58-86E1-1B0B473DE12D}"/>
              </a:ext>
            </a:extLst>
          </p:cNvPr>
          <p:cNvSpPr txBox="1"/>
          <p:nvPr/>
        </p:nvSpPr>
        <p:spPr>
          <a:xfrm>
            <a:off x="109728" y="1655063"/>
            <a:ext cx="5641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202363046 </a:t>
            </a:r>
            <a:r>
              <a:rPr lang="ko-KR" altLang="en-US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인공과 백인원 </a:t>
            </a:r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| 2026.03.15 </a:t>
            </a:r>
            <a:endParaRPr lang="ko-KR" altLang="en-US" sz="16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3D78A2-6258-C818-26EC-BACFC9E49C68}"/>
              </a:ext>
            </a:extLst>
          </p:cNvPr>
          <p:cNvSpPr txBox="1"/>
          <p:nvPr/>
        </p:nvSpPr>
        <p:spPr>
          <a:xfrm>
            <a:off x="2688336" y="260824"/>
            <a:ext cx="68153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태양광 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  <a:cs typeface="Microsoft GothicNeo" panose="020B0500000101010101" pitchFamily="50" charset="-127"/>
              </a:rPr>
              <a:t>발전량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 예측 알고리즘 개발</a:t>
            </a:r>
            <a:r>
              <a:rPr lang="en-US" altLang="ko-KR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	</a:t>
            </a:r>
            <a:endParaRPr lang="ko-KR" altLang="en-US" sz="32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8" name="별: 꼭짓점 5개 7">
            <a:extLst>
              <a:ext uri="{FF2B5EF4-FFF2-40B4-BE49-F238E27FC236}">
                <a16:creationId xmlns:a16="http://schemas.microsoft.com/office/drawing/2014/main" id="{4F17F98E-92D9-3241-3A6C-B01FC45B491B}"/>
              </a:ext>
            </a:extLst>
          </p:cNvPr>
          <p:cNvSpPr/>
          <p:nvPr/>
        </p:nvSpPr>
        <p:spPr>
          <a:xfrm>
            <a:off x="11198352" y="1655063"/>
            <a:ext cx="387096" cy="338554"/>
          </a:xfrm>
          <a:prstGeom prst="star5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663E781-E31E-3129-9952-745A0E839DE7}"/>
              </a:ext>
            </a:extLst>
          </p:cNvPr>
          <p:cNvGrpSpPr/>
          <p:nvPr/>
        </p:nvGrpSpPr>
        <p:grpSpPr>
          <a:xfrm>
            <a:off x="11695176" y="1655063"/>
            <a:ext cx="387096" cy="338554"/>
            <a:chOff x="4791456" y="2880360"/>
            <a:chExt cx="585216" cy="398831"/>
          </a:xfrm>
          <a:solidFill>
            <a:schemeClr val="bg2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6858E3B-5AC9-C652-C0E6-0B797BB68A72}"/>
                </a:ext>
              </a:extLst>
            </p:cNvPr>
            <p:cNvSpPr/>
            <p:nvPr/>
          </p:nvSpPr>
          <p:spPr>
            <a:xfrm>
              <a:off x="4791456" y="28803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FAAA8B4E-B14E-779F-C559-79DB4284316D}"/>
                </a:ext>
              </a:extLst>
            </p:cNvPr>
            <p:cNvSpPr/>
            <p:nvPr/>
          </p:nvSpPr>
          <p:spPr>
            <a:xfrm>
              <a:off x="4791456" y="30327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FEEB417D-9696-34C2-BCF6-32CF7A4E15D8}"/>
                </a:ext>
              </a:extLst>
            </p:cNvPr>
            <p:cNvSpPr/>
            <p:nvPr/>
          </p:nvSpPr>
          <p:spPr>
            <a:xfrm>
              <a:off x="4791456" y="3178607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54" name="Picture 6" descr="그래픽] 이산화탄소 배출량 추이 | 연합뉴스">
            <a:extLst>
              <a:ext uri="{FF2B5EF4-FFF2-40B4-BE49-F238E27FC236}">
                <a16:creationId xmlns:a16="http://schemas.microsoft.com/office/drawing/2014/main" id="{5B24FF6E-58F5-FA3E-A52E-DB60D2747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80" y="2557166"/>
            <a:ext cx="4976811" cy="384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지구 온난화를 알자! (북동아시아 지역 생물 계절 조사 포털 사이트)">
            <a:extLst>
              <a:ext uri="{FF2B5EF4-FFF2-40B4-BE49-F238E27FC236}">
                <a16:creationId xmlns:a16="http://schemas.microsoft.com/office/drawing/2014/main" id="{25ACA1E1-3BAF-97D2-956F-92F253E5A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858" y="2557165"/>
            <a:ext cx="5470162" cy="3734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화살표: 줄무늬가 있는 오른쪽 1">
            <a:extLst>
              <a:ext uri="{FF2B5EF4-FFF2-40B4-BE49-F238E27FC236}">
                <a16:creationId xmlns:a16="http://schemas.microsoft.com/office/drawing/2014/main" id="{C351CA0C-FD46-B0D7-1500-C92CE3EBC99E}"/>
              </a:ext>
            </a:extLst>
          </p:cNvPr>
          <p:cNvSpPr/>
          <p:nvPr/>
        </p:nvSpPr>
        <p:spPr>
          <a:xfrm>
            <a:off x="5404104" y="3965758"/>
            <a:ext cx="923544" cy="512064"/>
          </a:xfrm>
          <a:prstGeom prst="stripedRightArrow">
            <a:avLst/>
          </a:prstGeom>
          <a:solidFill>
            <a:srgbClr val="A5D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8" name="Picture 10" descr="블루 &amp; 옐로">
            <a:extLst>
              <a:ext uri="{FF2B5EF4-FFF2-40B4-BE49-F238E27FC236}">
                <a16:creationId xmlns:a16="http://schemas.microsoft.com/office/drawing/2014/main" id="{D23CB8F4-3999-15F0-4581-378EDC566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301" y="3167900"/>
            <a:ext cx="2407158" cy="2407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석유 고갈 언제쯤? 100년째 써도 여전히 증가 | GS칼텍스 미디어허브">
            <a:extLst>
              <a:ext uri="{FF2B5EF4-FFF2-40B4-BE49-F238E27FC236}">
                <a16:creationId xmlns:a16="http://schemas.microsoft.com/office/drawing/2014/main" id="{C5E8CE01-BC6E-6432-9422-694131116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18" y="2557165"/>
            <a:ext cx="6583680" cy="362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13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757B6-3E7A-11A5-FC43-281D1DF1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781155B-7613-D478-161F-0EF25A85F5D1}"/>
              </a:ext>
            </a:extLst>
          </p:cNvPr>
          <p:cNvSpPr/>
          <p:nvPr/>
        </p:nvSpPr>
        <p:spPr>
          <a:xfrm>
            <a:off x="0" y="0"/>
            <a:ext cx="12192000" cy="1216152"/>
          </a:xfrm>
          <a:prstGeom prst="rect">
            <a:avLst/>
          </a:prstGeom>
          <a:solidFill>
            <a:srgbClr val="A5D9F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CBB8F3-053F-6461-2630-BE29917559ED}"/>
              </a:ext>
            </a:extLst>
          </p:cNvPr>
          <p:cNvSpPr/>
          <p:nvPr/>
        </p:nvSpPr>
        <p:spPr>
          <a:xfrm>
            <a:off x="0" y="1137960"/>
            <a:ext cx="12192000" cy="9529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D4B65B-BE7E-B3CB-3274-B42F05189B23}"/>
              </a:ext>
            </a:extLst>
          </p:cNvPr>
          <p:cNvSpPr txBox="1"/>
          <p:nvPr/>
        </p:nvSpPr>
        <p:spPr>
          <a:xfrm>
            <a:off x="109728" y="1655063"/>
            <a:ext cx="5641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202363046 </a:t>
            </a:r>
            <a:r>
              <a:rPr lang="ko-KR" altLang="en-US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인공과 백인원 </a:t>
            </a:r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| 2026.03.15 </a:t>
            </a:r>
            <a:endParaRPr lang="ko-KR" altLang="en-US" sz="16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F7D0A9-BA77-983E-F54F-1459E217B435}"/>
              </a:ext>
            </a:extLst>
          </p:cNvPr>
          <p:cNvSpPr txBox="1"/>
          <p:nvPr/>
        </p:nvSpPr>
        <p:spPr>
          <a:xfrm>
            <a:off x="2688336" y="260824"/>
            <a:ext cx="68153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태양광 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  <a:cs typeface="Microsoft GothicNeo" panose="020B0500000101010101" pitchFamily="50" charset="-127"/>
              </a:rPr>
              <a:t>발전량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 예측 알고리즘 개발</a:t>
            </a:r>
            <a:r>
              <a:rPr lang="en-US" altLang="ko-KR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	</a:t>
            </a:r>
            <a:endParaRPr lang="ko-KR" altLang="en-US" sz="32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8" name="별: 꼭짓점 5개 7">
            <a:extLst>
              <a:ext uri="{FF2B5EF4-FFF2-40B4-BE49-F238E27FC236}">
                <a16:creationId xmlns:a16="http://schemas.microsoft.com/office/drawing/2014/main" id="{6912915C-8C1E-0B82-2C9F-C57F52BB82B7}"/>
              </a:ext>
            </a:extLst>
          </p:cNvPr>
          <p:cNvSpPr/>
          <p:nvPr/>
        </p:nvSpPr>
        <p:spPr>
          <a:xfrm>
            <a:off x="11198352" y="1655063"/>
            <a:ext cx="387096" cy="338554"/>
          </a:xfrm>
          <a:prstGeom prst="star5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88F2899-F517-4F56-BABF-82ED90BB3DC9}"/>
              </a:ext>
            </a:extLst>
          </p:cNvPr>
          <p:cNvGrpSpPr/>
          <p:nvPr/>
        </p:nvGrpSpPr>
        <p:grpSpPr>
          <a:xfrm>
            <a:off x="11695176" y="1655063"/>
            <a:ext cx="387096" cy="338554"/>
            <a:chOff x="4791456" y="2880360"/>
            <a:chExt cx="585216" cy="398831"/>
          </a:xfrm>
          <a:solidFill>
            <a:schemeClr val="bg2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A83D7540-98F6-8592-35A2-EE940CB91E74}"/>
                </a:ext>
              </a:extLst>
            </p:cNvPr>
            <p:cNvSpPr/>
            <p:nvPr/>
          </p:nvSpPr>
          <p:spPr>
            <a:xfrm>
              <a:off x="4791456" y="28803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7E5C9633-0303-DF27-46B2-AD42ED1BDFB6}"/>
                </a:ext>
              </a:extLst>
            </p:cNvPr>
            <p:cNvSpPr/>
            <p:nvPr/>
          </p:nvSpPr>
          <p:spPr>
            <a:xfrm>
              <a:off x="4791456" y="30327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7A8F79A0-ADA7-44E6-EC6D-207C30748401}"/>
                </a:ext>
              </a:extLst>
            </p:cNvPr>
            <p:cNvSpPr/>
            <p:nvPr/>
          </p:nvSpPr>
          <p:spPr>
            <a:xfrm>
              <a:off x="4791456" y="3178607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098" name="Picture 2" descr="국내 발전설비 129GW 넘어… 신재생 16% 차지 - 일렉트릭파워">
            <a:extLst>
              <a:ext uri="{FF2B5EF4-FFF2-40B4-BE49-F238E27FC236}">
                <a16:creationId xmlns:a16="http://schemas.microsoft.com/office/drawing/2014/main" id="{C6C9BC6B-2511-9B28-857C-85588B0CA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406" y="2310638"/>
            <a:ext cx="5909187" cy="42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2A5204-B42B-3F62-4DB8-0BA9C9845CCD}"/>
              </a:ext>
            </a:extLst>
          </p:cNvPr>
          <p:cNvSpPr txBox="1"/>
          <p:nvPr/>
        </p:nvSpPr>
        <p:spPr>
          <a:xfrm>
            <a:off x="8042788" y="3734991"/>
            <a:ext cx="17698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6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1747090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D500F-4297-19AC-17F6-EB6F73771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85300AD-0AB0-C003-EE97-760FF7951FC1}"/>
              </a:ext>
            </a:extLst>
          </p:cNvPr>
          <p:cNvSpPr/>
          <p:nvPr/>
        </p:nvSpPr>
        <p:spPr>
          <a:xfrm>
            <a:off x="0" y="0"/>
            <a:ext cx="12192000" cy="1216152"/>
          </a:xfrm>
          <a:prstGeom prst="rect">
            <a:avLst/>
          </a:prstGeom>
          <a:solidFill>
            <a:srgbClr val="A5D9F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C636CF9-5A9C-2448-F80E-564BD1546C17}"/>
              </a:ext>
            </a:extLst>
          </p:cNvPr>
          <p:cNvSpPr/>
          <p:nvPr/>
        </p:nvSpPr>
        <p:spPr>
          <a:xfrm>
            <a:off x="0" y="1137960"/>
            <a:ext cx="12192000" cy="9529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DEA5E4-7CED-D1EA-4748-3D46165E1F3C}"/>
              </a:ext>
            </a:extLst>
          </p:cNvPr>
          <p:cNvSpPr txBox="1"/>
          <p:nvPr/>
        </p:nvSpPr>
        <p:spPr>
          <a:xfrm>
            <a:off x="109728" y="1655063"/>
            <a:ext cx="5641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202363046 </a:t>
            </a:r>
            <a:r>
              <a:rPr lang="ko-KR" altLang="en-US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인공과 백인원 </a:t>
            </a:r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| 2026.03.15 </a:t>
            </a:r>
            <a:endParaRPr lang="ko-KR" altLang="en-US" sz="16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06C56B-B9F9-5C77-AF9F-4DFE78952E65}"/>
              </a:ext>
            </a:extLst>
          </p:cNvPr>
          <p:cNvSpPr txBox="1"/>
          <p:nvPr/>
        </p:nvSpPr>
        <p:spPr>
          <a:xfrm>
            <a:off x="2688336" y="260824"/>
            <a:ext cx="68153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태양광 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  <a:cs typeface="Microsoft GothicNeo" panose="020B0500000101010101" pitchFamily="50" charset="-127"/>
              </a:rPr>
              <a:t>발전량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 예측 알고리즘 개발</a:t>
            </a:r>
            <a:r>
              <a:rPr lang="en-US" altLang="ko-KR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	</a:t>
            </a:r>
            <a:endParaRPr lang="ko-KR" altLang="en-US" sz="32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8" name="별: 꼭짓점 5개 7">
            <a:extLst>
              <a:ext uri="{FF2B5EF4-FFF2-40B4-BE49-F238E27FC236}">
                <a16:creationId xmlns:a16="http://schemas.microsoft.com/office/drawing/2014/main" id="{17D0F712-E63D-DE66-100D-FC2B757FD448}"/>
              </a:ext>
            </a:extLst>
          </p:cNvPr>
          <p:cNvSpPr/>
          <p:nvPr/>
        </p:nvSpPr>
        <p:spPr>
          <a:xfrm>
            <a:off x="11198352" y="1655063"/>
            <a:ext cx="387096" cy="338554"/>
          </a:xfrm>
          <a:prstGeom prst="star5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4EB00BF-B95F-50F6-F168-24407E1B6093}"/>
              </a:ext>
            </a:extLst>
          </p:cNvPr>
          <p:cNvGrpSpPr/>
          <p:nvPr/>
        </p:nvGrpSpPr>
        <p:grpSpPr>
          <a:xfrm>
            <a:off x="11695176" y="1655063"/>
            <a:ext cx="387096" cy="338554"/>
            <a:chOff x="4791456" y="2880360"/>
            <a:chExt cx="585216" cy="398831"/>
          </a:xfrm>
          <a:solidFill>
            <a:schemeClr val="bg2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16BA5D32-714A-BE28-379A-97A0AB232CF8}"/>
                </a:ext>
              </a:extLst>
            </p:cNvPr>
            <p:cNvSpPr/>
            <p:nvPr/>
          </p:nvSpPr>
          <p:spPr>
            <a:xfrm>
              <a:off x="4791456" y="28803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9B01CCDD-1885-0B73-A4C0-BEF491C251EE}"/>
                </a:ext>
              </a:extLst>
            </p:cNvPr>
            <p:cNvSpPr/>
            <p:nvPr/>
          </p:nvSpPr>
          <p:spPr>
            <a:xfrm>
              <a:off x="4791456" y="30327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5B58A6AC-C8D7-334C-41AF-B19A11EBF46E}"/>
                </a:ext>
              </a:extLst>
            </p:cNvPr>
            <p:cNvSpPr/>
            <p:nvPr/>
          </p:nvSpPr>
          <p:spPr>
            <a:xfrm>
              <a:off x="4791456" y="3178607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CA459EF-6F61-72BA-2D11-0AD0157743A5}"/>
              </a:ext>
            </a:extLst>
          </p:cNvPr>
          <p:cNvSpPr txBox="1"/>
          <p:nvPr/>
        </p:nvSpPr>
        <p:spPr>
          <a:xfrm>
            <a:off x="346138" y="2354112"/>
            <a:ext cx="10255187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연구 목표</a:t>
            </a:r>
            <a:endParaRPr lang="en-US" altLang="ko-KR" sz="28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3E4155-0399-44B7-451A-FE6E21507F19}"/>
              </a:ext>
            </a:extLst>
          </p:cNvPr>
          <p:cNvSpPr txBox="1"/>
          <p:nvPr/>
        </p:nvSpPr>
        <p:spPr>
          <a:xfrm>
            <a:off x="346138" y="2846435"/>
            <a:ext cx="9944100" cy="3132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태양광 발전 시설은 장기간 운용이 보장되어야 함</a:t>
            </a:r>
            <a:endParaRPr lang="en-US" altLang="ko-KR" sz="28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이 과정에서 유지보수가 빨라야 됨</a:t>
            </a:r>
            <a:endParaRPr lang="en-US" altLang="ko-KR" sz="28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  <a:p>
            <a:pPr>
              <a:lnSpc>
                <a:spcPct val="250000"/>
              </a:lnSpc>
            </a:pPr>
            <a:endParaRPr lang="ko-KR" alt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3DD25E-0618-8EB9-A534-1B84D41A9AE2}"/>
              </a:ext>
            </a:extLst>
          </p:cNvPr>
          <p:cNvSpPr txBox="1"/>
          <p:nvPr/>
        </p:nvSpPr>
        <p:spPr>
          <a:xfrm>
            <a:off x="346138" y="5313842"/>
            <a:ext cx="102551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태양광 모듈은 저렴한데 유지보수 비용이 높으니 </a:t>
            </a:r>
            <a:endParaRPr lang="en-US" altLang="ko-KR" sz="28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  <a:p>
            <a:r>
              <a:rPr lang="en-US" altLang="ko-KR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 </a:t>
            </a:r>
            <a:r>
              <a:rPr lang="ko-KR" altLang="en-US" sz="2800" dirty="0">
                <a:solidFill>
                  <a:srgbClr val="FF0000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효율적인 운용 </a:t>
            </a: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및 </a:t>
            </a:r>
            <a:r>
              <a:rPr lang="ko-KR" altLang="en-US" sz="2800" dirty="0">
                <a:solidFill>
                  <a:srgbClr val="FF0000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진단 기술 </a:t>
            </a: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필요</a:t>
            </a:r>
            <a:endParaRPr lang="en-US" altLang="ko-KR" sz="28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0123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CBE0A-F441-04DE-2762-754E1903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D2A69B-494E-344A-37B3-4AF65B0748AE}"/>
              </a:ext>
            </a:extLst>
          </p:cNvPr>
          <p:cNvSpPr/>
          <p:nvPr/>
        </p:nvSpPr>
        <p:spPr>
          <a:xfrm>
            <a:off x="0" y="0"/>
            <a:ext cx="12192000" cy="1216152"/>
          </a:xfrm>
          <a:prstGeom prst="rect">
            <a:avLst/>
          </a:prstGeom>
          <a:solidFill>
            <a:srgbClr val="A5D9F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DCB62F-E853-3AA9-8C36-0AFF4F153702}"/>
              </a:ext>
            </a:extLst>
          </p:cNvPr>
          <p:cNvSpPr/>
          <p:nvPr/>
        </p:nvSpPr>
        <p:spPr>
          <a:xfrm>
            <a:off x="0" y="1137960"/>
            <a:ext cx="12192000" cy="9529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49FBAF-EE72-EB97-DC70-1EF3A0FDBBFA}"/>
              </a:ext>
            </a:extLst>
          </p:cNvPr>
          <p:cNvSpPr txBox="1"/>
          <p:nvPr/>
        </p:nvSpPr>
        <p:spPr>
          <a:xfrm>
            <a:off x="109728" y="1655063"/>
            <a:ext cx="5641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202363046 </a:t>
            </a:r>
            <a:r>
              <a:rPr lang="ko-KR" altLang="en-US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인공과 백인원 </a:t>
            </a:r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| 2026.03.15 </a:t>
            </a:r>
            <a:endParaRPr lang="ko-KR" altLang="en-US" sz="16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6CD070-099E-D42E-405F-9FB820E379F8}"/>
              </a:ext>
            </a:extLst>
          </p:cNvPr>
          <p:cNvSpPr txBox="1"/>
          <p:nvPr/>
        </p:nvSpPr>
        <p:spPr>
          <a:xfrm>
            <a:off x="2688336" y="260824"/>
            <a:ext cx="68153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태양광 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  <a:cs typeface="Microsoft GothicNeo" panose="020B0500000101010101" pitchFamily="50" charset="-127"/>
              </a:rPr>
              <a:t>발전량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 예측 알고리즘 개발</a:t>
            </a:r>
            <a:r>
              <a:rPr lang="en-US" altLang="ko-KR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	</a:t>
            </a:r>
            <a:endParaRPr lang="ko-KR" altLang="en-US" sz="32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8" name="별: 꼭짓점 5개 7">
            <a:extLst>
              <a:ext uri="{FF2B5EF4-FFF2-40B4-BE49-F238E27FC236}">
                <a16:creationId xmlns:a16="http://schemas.microsoft.com/office/drawing/2014/main" id="{43001A2D-172A-3F32-552F-03A37FA9CBC9}"/>
              </a:ext>
            </a:extLst>
          </p:cNvPr>
          <p:cNvSpPr/>
          <p:nvPr/>
        </p:nvSpPr>
        <p:spPr>
          <a:xfrm>
            <a:off x="11198352" y="1655063"/>
            <a:ext cx="387096" cy="338554"/>
          </a:xfrm>
          <a:prstGeom prst="star5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19E46EF-AC85-B2D0-A797-E099F51E7E78}"/>
              </a:ext>
            </a:extLst>
          </p:cNvPr>
          <p:cNvGrpSpPr/>
          <p:nvPr/>
        </p:nvGrpSpPr>
        <p:grpSpPr>
          <a:xfrm>
            <a:off x="11695176" y="1655063"/>
            <a:ext cx="387096" cy="338554"/>
            <a:chOff x="4791456" y="2880360"/>
            <a:chExt cx="585216" cy="398831"/>
          </a:xfrm>
          <a:solidFill>
            <a:schemeClr val="bg2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015AC50-FAA0-E7D1-A87A-25D258FFF256}"/>
                </a:ext>
              </a:extLst>
            </p:cNvPr>
            <p:cNvSpPr/>
            <p:nvPr/>
          </p:nvSpPr>
          <p:spPr>
            <a:xfrm>
              <a:off x="4791456" y="28803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9BFCC425-CFDE-0882-6B21-1EB8F9B1D350}"/>
                </a:ext>
              </a:extLst>
            </p:cNvPr>
            <p:cNvSpPr/>
            <p:nvPr/>
          </p:nvSpPr>
          <p:spPr>
            <a:xfrm>
              <a:off x="4791456" y="30327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9204C24F-2329-7C78-B5C3-1AB9DEB87524}"/>
                </a:ext>
              </a:extLst>
            </p:cNvPr>
            <p:cNvSpPr/>
            <p:nvPr/>
          </p:nvSpPr>
          <p:spPr>
            <a:xfrm>
              <a:off x="4791456" y="3178607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122" name="Picture 2" descr="issue&amp;] 태양광 패널에 발암물질? 카드뮴 함유 미국산 수입 금지, 국산엔 포함 안 돼 | 중앙일보">
            <a:extLst>
              <a:ext uri="{FF2B5EF4-FFF2-40B4-BE49-F238E27FC236}">
                <a16:creationId xmlns:a16="http://schemas.microsoft.com/office/drawing/2014/main" id="{478F535D-FE5C-79CA-8BB5-2389945B4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19" y="3204733"/>
            <a:ext cx="3909397" cy="201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파일 시스템 vs 데이터베이스 시스템 장단점 비교 : 네이버 블로그">
            <a:extLst>
              <a:ext uri="{FF2B5EF4-FFF2-40B4-BE49-F238E27FC236}">
                <a16:creationId xmlns:a16="http://schemas.microsoft.com/office/drawing/2014/main" id="{BBD75399-ACFF-19A1-2A30-DA4FA8A8A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587" y="3251952"/>
            <a:ext cx="1421978" cy="1706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빅데이터 드립 - 나무위키">
            <a:extLst>
              <a:ext uri="{FF2B5EF4-FFF2-40B4-BE49-F238E27FC236}">
                <a16:creationId xmlns:a16="http://schemas.microsoft.com/office/drawing/2014/main" id="{EAA7612F-F373-112D-21FC-0CED487C7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536" y="2991134"/>
            <a:ext cx="4442003" cy="266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화살표: 줄무늬가 있는 오른쪽 1">
            <a:extLst>
              <a:ext uri="{FF2B5EF4-FFF2-40B4-BE49-F238E27FC236}">
                <a16:creationId xmlns:a16="http://schemas.microsoft.com/office/drawing/2014/main" id="{BCF6CE45-A0F3-3793-07D9-673AE276A667}"/>
              </a:ext>
            </a:extLst>
          </p:cNvPr>
          <p:cNvSpPr/>
          <p:nvPr/>
        </p:nvSpPr>
        <p:spPr>
          <a:xfrm>
            <a:off x="4454013" y="3962400"/>
            <a:ext cx="442452" cy="462116"/>
          </a:xfrm>
          <a:prstGeom prst="stripedRightArrow">
            <a:avLst/>
          </a:prstGeom>
          <a:solidFill>
            <a:srgbClr val="A5D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줄무늬가 있는 오른쪽 9">
            <a:extLst>
              <a:ext uri="{FF2B5EF4-FFF2-40B4-BE49-F238E27FC236}">
                <a16:creationId xmlns:a16="http://schemas.microsoft.com/office/drawing/2014/main" id="{06661795-0731-D611-9ABC-6DE241922463}"/>
              </a:ext>
            </a:extLst>
          </p:cNvPr>
          <p:cNvSpPr/>
          <p:nvPr/>
        </p:nvSpPr>
        <p:spPr>
          <a:xfrm>
            <a:off x="6666824" y="3962400"/>
            <a:ext cx="442452" cy="462116"/>
          </a:xfrm>
          <a:prstGeom prst="stripedRightArrow">
            <a:avLst/>
          </a:prstGeom>
          <a:solidFill>
            <a:srgbClr val="A5D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E484AA6-B868-7B00-24C8-44006F860749}"/>
              </a:ext>
            </a:extLst>
          </p:cNvPr>
          <p:cNvGrpSpPr/>
          <p:nvPr/>
        </p:nvGrpSpPr>
        <p:grpSpPr>
          <a:xfrm>
            <a:off x="62875" y="2622197"/>
            <a:ext cx="5138390" cy="3595750"/>
            <a:chOff x="267135" y="2500353"/>
            <a:chExt cx="6362802" cy="3717594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78F9455-0375-40B5-B443-F5CE228BCE24}"/>
                </a:ext>
              </a:extLst>
            </p:cNvPr>
            <p:cNvGrpSpPr/>
            <p:nvPr/>
          </p:nvGrpSpPr>
          <p:grpSpPr>
            <a:xfrm>
              <a:off x="2720540" y="2500353"/>
              <a:ext cx="3909397" cy="3717594"/>
              <a:chOff x="3419481" y="2525890"/>
              <a:chExt cx="2869913" cy="3380061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DB380316-ED94-1BBE-4EFE-B1078D01B91D}"/>
                  </a:ext>
                </a:extLst>
              </p:cNvPr>
              <p:cNvSpPr/>
              <p:nvPr/>
            </p:nvSpPr>
            <p:spPr>
              <a:xfrm>
                <a:off x="3467536" y="2525890"/>
                <a:ext cx="2821858" cy="678843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ysClr val="windowText" lastClr="000000"/>
                    </a:solidFill>
                    <a:latin typeface="Neo둥근모" panose="02010509060201040203" pitchFamily="1" charset="-127"/>
                    <a:ea typeface="Neo둥근모" panose="02010509060201040203" pitchFamily="1" charset="-127"/>
                  </a:rPr>
                  <a:t>수직 일사량</a:t>
                </a:r>
              </a:p>
            </p:txBody>
          </p:sp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B0EC8C8B-9F0C-7B8F-BD40-7BB7373008C4}"/>
                  </a:ext>
                </a:extLst>
              </p:cNvPr>
              <p:cNvSpPr/>
              <p:nvPr/>
            </p:nvSpPr>
            <p:spPr>
              <a:xfrm>
                <a:off x="3467536" y="3426296"/>
                <a:ext cx="2821858" cy="678843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ysClr val="windowText" lastClr="000000"/>
                    </a:solidFill>
                    <a:latin typeface="Neo둥근모" panose="02010509060201040203" pitchFamily="1" charset="-127"/>
                    <a:ea typeface="Neo둥근모" panose="02010509060201040203" pitchFamily="1" charset="-127"/>
                  </a:rPr>
                  <a:t>경사 일사량</a:t>
                </a: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3452D88A-6297-DF6C-BC39-883A266BC61B}"/>
                  </a:ext>
                </a:extLst>
              </p:cNvPr>
              <p:cNvSpPr/>
              <p:nvPr/>
            </p:nvSpPr>
            <p:spPr>
              <a:xfrm>
                <a:off x="3419481" y="4326702"/>
                <a:ext cx="2821858" cy="678843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>
                    <a:solidFill>
                      <a:sysClr val="windowText" lastClr="000000"/>
                    </a:solidFill>
                    <a:latin typeface="Neo둥근모" panose="02010509060201040203" pitchFamily="1" charset="-127"/>
                    <a:ea typeface="Neo둥근모" panose="02010509060201040203" pitchFamily="1" charset="-127"/>
                  </a:rPr>
                  <a:t>모듈 온도</a:t>
                </a:r>
                <a:endParaRPr lang="ko-KR" altLang="en-US" dirty="0">
                  <a:solidFill>
                    <a:sysClr val="windowText" lastClr="000000"/>
                  </a:solidFill>
                  <a:latin typeface="Neo둥근모" panose="02010509060201040203" pitchFamily="1" charset="-127"/>
                  <a:ea typeface="Neo둥근모" panose="02010509060201040203" pitchFamily="1" charset="-127"/>
                </a:endParaRPr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27A7C244-9CE0-2943-27EF-69492ED9C091}"/>
                  </a:ext>
                </a:extLst>
              </p:cNvPr>
              <p:cNvSpPr/>
              <p:nvPr/>
            </p:nvSpPr>
            <p:spPr>
              <a:xfrm>
                <a:off x="3467536" y="5227108"/>
                <a:ext cx="2821858" cy="678843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ysClr val="windowText" lastClr="000000"/>
                    </a:solidFill>
                    <a:latin typeface="Neo둥근모" panose="02010509060201040203" pitchFamily="1" charset="-127"/>
                    <a:ea typeface="Neo둥근모" panose="02010509060201040203" pitchFamily="1" charset="-127"/>
                  </a:rPr>
                  <a:t>외기 온도</a:t>
                </a:r>
              </a:p>
            </p:txBody>
          </p:sp>
        </p:grp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AB11252B-54BD-D422-6E95-883E2AD92B30}"/>
                </a:ext>
              </a:extLst>
            </p:cNvPr>
            <p:cNvSpPr/>
            <p:nvPr/>
          </p:nvSpPr>
          <p:spPr>
            <a:xfrm>
              <a:off x="267135" y="3549445"/>
              <a:ext cx="1769806" cy="1258529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>
                  <a:solidFill>
                    <a:sysClr val="windowText" lastClr="000000"/>
                  </a:solidFill>
                  <a:latin typeface="Neo둥근모" panose="02010509060201040203" pitchFamily="1" charset="-127"/>
                  <a:ea typeface="Neo둥근모" panose="02010509060201040203" pitchFamily="1" charset="-127"/>
                </a:rPr>
                <a:t>관측</a:t>
              </a:r>
            </a:p>
          </p:txBody>
        </p:sp>
        <p:cxnSp>
          <p:nvCxnSpPr>
            <p:cNvPr id="24" name="연결선: 꺾임 23">
              <a:extLst>
                <a:ext uri="{FF2B5EF4-FFF2-40B4-BE49-F238E27FC236}">
                  <a16:creationId xmlns:a16="http://schemas.microsoft.com/office/drawing/2014/main" id="{97C87300-AD1E-50E2-F355-38510CA08533}"/>
                </a:ext>
              </a:extLst>
            </p:cNvPr>
            <p:cNvCxnSpPr>
              <a:endCxn id="16" idx="1"/>
            </p:cNvCxnSpPr>
            <p:nvPr/>
          </p:nvCxnSpPr>
          <p:spPr>
            <a:xfrm rot="5400000" flipH="1" flipV="1">
              <a:off x="1867106" y="3043505"/>
              <a:ext cx="1088731" cy="749060"/>
            </a:xfrm>
            <a:prstGeom prst="bentConnector2">
              <a:avLst/>
            </a:prstGeom>
            <a:ln w="5715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연결선: 꺾임 31">
              <a:extLst>
                <a:ext uri="{FF2B5EF4-FFF2-40B4-BE49-F238E27FC236}">
                  <a16:creationId xmlns:a16="http://schemas.microsoft.com/office/drawing/2014/main" id="{FD34041E-8694-E9DD-0976-93DD65C2777D}"/>
                </a:ext>
              </a:extLst>
            </p:cNvPr>
            <p:cNvCxnSpPr>
              <a:stCxn id="21" idx="6"/>
              <a:endCxn id="17" idx="1"/>
            </p:cNvCxnSpPr>
            <p:nvPr/>
          </p:nvCxnSpPr>
          <p:spPr>
            <a:xfrm flipV="1">
              <a:off x="2036941" y="3863990"/>
              <a:ext cx="749060" cy="314720"/>
            </a:xfrm>
            <a:prstGeom prst="bentConnector3">
              <a:avLst/>
            </a:prstGeom>
            <a:ln w="5715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연결선: 꺾임 35">
              <a:extLst>
                <a:ext uri="{FF2B5EF4-FFF2-40B4-BE49-F238E27FC236}">
                  <a16:creationId xmlns:a16="http://schemas.microsoft.com/office/drawing/2014/main" id="{B2A33D62-D98D-4157-6168-B9AD4308D6F5}"/>
                </a:ext>
              </a:extLst>
            </p:cNvPr>
            <p:cNvCxnSpPr>
              <a:stCxn id="21" idx="6"/>
              <a:endCxn id="18" idx="1"/>
            </p:cNvCxnSpPr>
            <p:nvPr/>
          </p:nvCxnSpPr>
          <p:spPr>
            <a:xfrm>
              <a:off x="2036941" y="4178710"/>
              <a:ext cx="683599" cy="675600"/>
            </a:xfrm>
            <a:prstGeom prst="bentConnector3">
              <a:avLst/>
            </a:prstGeom>
            <a:ln w="5715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연결선: 꺾임 37">
              <a:extLst>
                <a:ext uri="{FF2B5EF4-FFF2-40B4-BE49-F238E27FC236}">
                  <a16:creationId xmlns:a16="http://schemas.microsoft.com/office/drawing/2014/main" id="{95C4ED22-845F-6343-2774-910DCB8D39CC}"/>
                </a:ext>
              </a:extLst>
            </p:cNvPr>
            <p:cNvCxnSpPr>
              <a:stCxn id="21" idx="6"/>
              <a:endCxn id="19" idx="1"/>
            </p:cNvCxnSpPr>
            <p:nvPr/>
          </p:nvCxnSpPr>
          <p:spPr>
            <a:xfrm>
              <a:off x="2036941" y="4178710"/>
              <a:ext cx="749060" cy="1665921"/>
            </a:xfrm>
            <a:prstGeom prst="bentConnector3">
              <a:avLst/>
            </a:prstGeom>
            <a:ln w="5715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5894349-A794-3993-3E9F-DA37354D60A2}"/>
              </a:ext>
            </a:extLst>
          </p:cNvPr>
          <p:cNvGrpSpPr/>
          <p:nvPr/>
        </p:nvGrpSpPr>
        <p:grpSpPr>
          <a:xfrm>
            <a:off x="6052236" y="2622197"/>
            <a:ext cx="5514203" cy="3522965"/>
            <a:chOff x="6052236" y="2622197"/>
            <a:chExt cx="5514203" cy="3522965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6CA9DDC1-D5DD-F39E-A97E-134348EA19E7}"/>
                </a:ext>
              </a:extLst>
            </p:cNvPr>
            <p:cNvGrpSpPr/>
            <p:nvPr/>
          </p:nvGrpSpPr>
          <p:grpSpPr>
            <a:xfrm>
              <a:off x="6052236" y="2622197"/>
              <a:ext cx="5514203" cy="3522965"/>
              <a:chOff x="5999372" y="2622196"/>
              <a:chExt cx="5514203" cy="3522965"/>
            </a:xfrm>
          </p:grpSpPr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34CD364B-9B25-DF1F-8942-4C484136DD87}"/>
                  </a:ext>
                </a:extLst>
              </p:cNvPr>
              <p:cNvGrpSpPr/>
              <p:nvPr/>
            </p:nvGrpSpPr>
            <p:grpSpPr>
              <a:xfrm>
                <a:off x="7632869" y="2622196"/>
                <a:ext cx="3880706" cy="3522965"/>
                <a:chOff x="3419481" y="2525890"/>
                <a:chExt cx="2869913" cy="2479655"/>
              </a:xfrm>
            </p:grpSpPr>
            <p:sp>
              <p:nvSpPr>
                <p:cNvPr id="58" name="사각형: 둥근 모서리 57">
                  <a:extLst>
                    <a:ext uri="{FF2B5EF4-FFF2-40B4-BE49-F238E27FC236}">
                      <a16:creationId xmlns:a16="http://schemas.microsoft.com/office/drawing/2014/main" id="{C01C691C-3964-E1F1-CC43-0A0A3FFEC1B0}"/>
                    </a:ext>
                  </a:extLst>
                </p:cNvPr>
                <p:cNvSpPr/>
                <p:nvPr/>
              </p:nvSpPr>
              <p:spPr>
                <a:xfrm>
                  <a:off x="3467536" y="2525890"/>
                  <a:ext cx="2821858" cy="678843"/>
                </a:xfrm>
                <a:prstGeom prst="round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ysClr val="windowText" lastClr="000000"/>
                      </a:solidFill>
                      <a:latin typeface="Neo둥근모" panose="02010509060201040203" pitchFamily="1" charset="-127"/>
                      <a:ea typeface="Neo둥근모" panose="02010509060201040203" pitchFamily="1" charset="-127"/>
                    </a:rPr>
                    <a:t>지상 온도</a:t>
                  </a:r>
                </a:p>
              </p:txBody>
            </p:sp>
            <p:sp>
              <p:nvSpPr>
                <p:cNvPr id="59" name="사각형: 둥근 모서리 58">
                  <a:extLst>
                    <a:ext uri="{FF2B5EF4-FFF2-40B4-BE49-F238E27FC236}">
                      <a16:creationId xmlns:a16="http://schemas.microsoft.com/office/drawing/2014/main" id="{41F349CE-6A75-2DDA-38D9-6BBA20C5C406}"/>
                    </a:ext>
                  </a:extLst>
                </p:cNvPr>
                <p:cNvSpPr/>
                <p:nvPr/>
              </p:nvSpPr>
              <p:spPr>
                <a:xfrm>
                  <a:off x="3467536" y="3426296"/>
                  <a:ext cx="2821858" cy="678843"/>
                </a:xfrm>
                <a:prstGeom prst="round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ysClr val="windowText" lastClr="000000"/>
                      </a:solidFill>
                      <a:latin typeface="Neo둥근모" panose="02010509060201040203" pitchFamily="1" charset="-127"/>
                      <a:ea typeface="Neo둥근모" panose="02010509060201040203" pitchFamily="1" charset="-127"/>
                    </a:rPr>
                    <a:t>일사량</a:t>
                  </a:r>
                </a:p>
              </p:txBody>
            </p:sp>
            <p:sp>
              <p:nvSpPr>
                <p:cNvPr id="60" name="사각형: 둥근 모서리 59">
                  <a:extLst>
                    <a:ext uri="{FF2B5EF4-FFF2-40B4-BE49-F238E27FC236}">
                      <a16:creationId xmlns:a16="http://schemas.microsoft.com/office/drawing/2014/main" id="{E6074575-5851-9CB0-87E8-0A1CC15233E9}"/>
                    </a:ext>
                  </a:extLst>
                </p:cNvPr>
                <p:cNvSpPr/>
                <p:nvPr/>
              </p:nvSpPr>
              <p:spPr>
                <a:xfrm>
                  <a:off x="3419481" y="4326702"/>
                  <a:ext cx="2821858" cy="678843"/>
                </a:xfrm>
                <a:prstGeom prst="round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 err="1">
                      <a:solidFill>
                        <a:sysClr val="windowText" lastClr="000000"/>
                      </a:solidFill>
                      <a:latin typeface="Neo둥근모" panose="02010509060201040203" pitchFamily="1" charset="-127"/>
                      <a:ea typeface="Neo둥근모" panose="02010509060201040203" pitchFamily="1" charset="-127"/>
                    </a:rPr>
                    <a:t>전운량</a:t>
                  </a:r>
                  <a:endParaRPr lang="ko-KR" altLang="en-US" dirty="0">
                    <a:solidFill>
                      <a:sysClr val="windowText" lastClr="000000"/>
                    </a:solidFill>
                    <a:latin typeface="Neo둥근모" panose="02010509060201040203" pitchFamily="1" charset="-127"/>
                    <a:ea typeface="Neo둥근모" panose="02010509060201040203" pitchFamily="1" charset="-127"/>
                  </a:endParaRPr>
                </a:p>
              </p:txBody>
            </p:sp>
          </p:grp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B3156410-941F-7CB7-44A1-CB2B013F250F}"/>
                  </a:ext>
                </a:extLst>
              </p:cNvPr>
              <p:cNvSpPr/>
              <p:nvPr/>
            </p:nvSpPr>
            <p:spPr>
              <a:xfrm>
                <a:off x="5999372" y="3636905"/>
                <a:ext cx="1429237" cy="121728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800" dirty="0">
                    <a:solidFill>
                      <a:sysClr val="windowText" lastClr="000000"/>
                    </a:solidFill>
                    <a:latin typeface="Neo둥근모" panose="02010509060201040203" pitchFamily="1" charset="-127"/>
                    <a:ea typeface="Neo둥근모" panose="02010509060201040203" pitchFamily="1" charset="-127"/>
                  </a:rPr>
                  <a:t>날씨</a:t>
                </a:r>
              </a:p>
            </p:txBody>
          </p:sp>
        </p:grpSp>
        <p:cxnSp>
          <p:nvCxnSpPr>
            <p:cNvPr id="54" name="연결선: 꺾임 53">
              <a:extLst>
                <a:ext uri="{FF2B5EF4-FFF2-40B4-BE49-F238E27FC236}">
                  <a16:creationId xmlns:a16="http://schemas.microsoft.com/office/drawing/2014/main" id="{846ECDB1-73FF-9311-3F07-112BA8FFA626}"/>
                </a:ext>
              </a:extLst>
            </p:cNvPr>
            <p:cNvCxnSpPr>
              <a:endCxn id="58" idx="1"/>
            </p:cNvCxnSpPr>
            <p:nvPr/>
          </p:nvCxnSpPr>
          <p:spPr>
            <a:xfrm rot="5400000" flipH="1" flipV="1">
              <a:off x="7150144" y="3435760"/>
              <a:ext cx="931898" cy="269239"/>
            </a:xfrm>
            <a:prstGeom prst="bentConnector2">
              <a:avLst/>
            </a:prstGeom>
            <a:ln w="5715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연결선: 꺾임 54">
              <a:extLst>
                <a:ext uri="{FF2B5EF4-FFF2-40B4-BE49-F238E27FC236}">
                  <a16:creationId xmlns:a16="http://schemas.microsoft.com/office/drawing/2014/main" id="{16749503-E7DA-857A-776C-75E75E55C491}"/>
                </a:ext>
              </a:extLst>
            </p:cNvPr>
            <p:cNvCxnSpPr>
              <a:stCxn id="53" idx="6"/>
              <a:endCxn id="59" idx="1"/>
            </p:cNvCxnSpPr>
            <p:nvPr/>
          </p:nvCxnSpPr>
          <p:spPr>
            <a:xfrm>
              <a:off x="7481473" y="4245546"/>
              <a:ext cx="269240" cy="138134"/>
            </a:xfrm>
            <a:prstGeom prst="bentConnector3">
              <a:avLst/>
            </a:prstGeom>
            <a:ln w="5715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연결선: 꺾임 55">
              <a:extLst>
                <a:ext uri="{FF2B5EF4-FFF2-40B4-BE49-F238E27FC236}">
                  <a16:creationId xmlns:a16="http://schemas.microsoft.com/office/drawing/2014/main" id="{203A6E5E-6E75-030B-2D77-B2AC959D76EE}"/>
                </a:ext>
              </a:extLst>
            </p:cNvPr>
            <p:cNvCxnSpPr>
              <a:stCxn id="53" idx="6"/>
              <a:endCxn id="60" idx="1"/>
            </p:cNvCxnSpPr>
            <p:nvPr/>
          </p:nvCxnSpPr>
          <p:spPr>
            <a:xfrm>
              <a:off x="7481473" y="4245546"/>
              <a:ext cx="204260" cy="1417384"/>
            </a:xfrm>
            <a:prstGeom prst="bentConnector3">
              <a:avLst/>
            </a:prstGeom>
            <a:ln w="57150">
              <a:solidFill>
                <a:schemeClr val="accent3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941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70A4E-13ED-7458-9C7A-2B2790EA6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5FCB705-B501-157D-50E2-8459198C4210}"/>
              </a:ext>
            </a:extLst>
          </p:cNvPr>
          <p:cNvSpPr/>
          <p:nvPr/>
        </p:nvSpPr>
        <p:spPr>
          <a:xfrm>
            <a:off x="0" y="0"/>
            <a:ext cx="12192000" cy="1216152"/>
          </a:xfrm>
          <a:prstGeom prst="rect">
            <a:avLst/>
          </a:prstGeom>
          <a:solidFill>
            <a:srgbClr val="A5D9F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672D8D-E92D-AE5A-F870-2BE0C23D8AE5}"/>
              </a:ext>
            </a:extLst>
          </p:cNvPr>
          <p:cNvSpPr/>
          <p:nvPr/>
        </p:nvSpPr>
        <p:spPr>
          <a:xfrm>
            <a:off x="0" y="1137960"/>
            <a:ext cx="12192000" cy="9529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FA3BC3-941E-2F66-7DAE-3ACA586A896C}"/>
              </a:ext>
            </a:extLst>
          </p:cNvPr>
          <p:cNvSpPr txBox="1"/>
          <p:nvPr/>
        </p:nvSpPr>
        <p:spPr>
          <a:xfrm>
            <a:off x="109728" y="1655063"/>
            <a:ext cx="5641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202363046 </a:t>
            </a:r>
            <a:r>
              <a:rPr lang="ko-KR" altLang="en-US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인공과 백인원 </a:t>
            </a:r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| 2026.03.15 </a:t>
            </a:r>
            <a:endParaRPr lang="ko-KR" altLang="en-US" sz="16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2B1B8-E40E-8CBC-7FD7-C7E5217E9A19}"/>
              </a:ext>
            </a:extLst>
          </p:cNvPr>
          <p:cNvSpPr txBox="1"/>
          <p:nvPr/>
        </p:nvSpPr>
        <p:spPr>
          <a:xfrm>
            <a:off x="2688336" y="260824"/>
            <a:ext cx="68153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태양광 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  <a:cs typeface="Microsoft GothicNeo" panose="020B0500000101010101" pitchFamily="50" charset="-127"/>
              </a:rPr>
              <a:t>발전량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 예측 알고리즘 개발</a:t>
            </a:r>
            <a:r>
              <a:rPr lang="en-US" altLang="ko-KR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	</a:t>
            </a:r>
            <a:endParaRPr lang="ko-KR" altLang="en-US" sz="32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8" name="별: 꼭짓점 5개 7">
            <a:extLst>
              <a:ext uri="{FF2B5EF4-FFF2-40B4-BE49-F238E27FC236}">
                <a16:creationId xmlns:a16="http://schemas.microsoft.com/office/drawing/2014/main" id="{8B351EE3-524F-DB02-E507-E08C54F41916}"/>
              </a:ext>
            </a:extLst>
          </p:cNvPr>
          <p:cNvSpPr/>
          <p:nvPr/>
        </p:nvSpPr>
        <p:spPr>
          <a:xfrm>
            <a:off x="11198352" y="1655063"/>
            <a:ext cx="387096" cy="338554"/>
          </a:xfrm>
          <a:prstGeom prst="star5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E16D7DA-4CBD-9E25-ADDB-291FB005AED2}"/>
              </a:ext>
            </a:extLst>
          </p:cNvPr>
          <p:cNvGrpSpPr/>
          <p:nvPr/>
        </p:nvGrpSpPr>
        <p:grpSpPr>
          <a:xfrm>
            <a:off x="11695176" y="1655063"/>
            <a:ext cx="387096" cy="338554"/>
            <a:chOff x="4791456" y="2880360"/>
            <a:chExt cx="585216" cy="398831"/>
          </a:xfrm>
          <a:solidFill>
            <a:schemeClr val="bg2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188C7623-1AD2-3656-FEFE-029C590188EF}"/>
                </a:ext>
              </a:extLst>
            </p:cNvPr>
            <p:cNvSpPr/>
            <p:nvPr/>
          </p:nvSpPr>
          <p:spPr>
            <a:xfrm>
              <a:off x="4791456" y="28803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56EA9102-D7F5-5AD2-235E-96013734E41A}"/>
                </a:ext>
              </a:extLst>
            </p:cNvPr>
            <p:cNvSpPr/>
            <p:nvPr/>
          </p:nvSpPr>
          <p:spPr>
            <a:xfrm>
              <a:off x="4791456" y="30327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B3B109FE-2A86-6098-C07D-3FBD15E96E49}"/>
                </a:ext>
              </a:extLst>
            </p:cNvPr>
            <p:cNvSpPr/>
            <p:nvPr/>
          </p:nvSpPr>
          <p:spPr>
            <a:xfrm>
              <a:off x="4791456" y="3178607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EBCD503-C3C0-2882-AE1F-03EBAB8157B8}"/>
              </a:ext>
            </a:extLst>
          </p:cNvPr>
          <p:cNvSpPr txBox="1"/>
          <p:nvPr/>
        </p:nvSpPr>
        <p:spPr>
          <a:xfrm>
            <a:off x="484869" y="3228899"/>
            <a:ext cx="9797143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데이터를 </a:t>
            </a:r>
            <a:r>
              <a:rPr lang="en-US" altLang="ko-KR" sz="2800" dirty="0" err="1">
                <a:latin typeface="Neo둥근모" panose="02010509060201040203" pitchFamily="1" charset="-127"/>
                <a:ea typeface="Neo둥근모" panose="02010509060201040203" pitchFamily="1" charset="-127"/>
              </a:rPr>
              <a:t>MinMaxScaler</a:t>
            </a:r>
            <a:r>
              <a:rPr lang="en-US" altLang="ko-KR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()</a:t>
            </a: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를 통해 정규화</a:t>
            </a:r>
            <a:endParaRPr lang="en-US" altLang="ko-KR" sz="28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데이터를 </a:t>
            </a:r>
            <a:r>
              <a:rPr lang="en-US" altLang="ko-KR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MLP </a:t>
            </a: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모델에 적용</a:t>
            </a:r>
            <a:endParaRPr lang="en-US" altLang="ko-KR" sz="28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각 파라미터를 </a:t>
            </a:r>
            <a:r>
              <a:rPr lang="en-US" altLang="ko-KR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Loss</a:t>
            </a:r>
            <a:r>
              <a:rPr lang="ko-KR" altLang="en-US" sz="2800" dirty="0">
                <a:latin typeface="Neo둥근모" panose="02010509060201040203" pitchFamily="1" charset="-127"/>
                <a:ea typeface="Neo둥근모" panose="02010509060201040203" pitchFamily="1" charset="-127"/>
              </a:rPr>
              <a:t>값을 줄이는 방향으로 조정</a:t>
            </a:r>
            <a:endParaRPr lang="en-US" altLang="ko-KR" sz="28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6457B-60E8-8974-E77C-828F58EBCF6E}"/>
              </a:ext>
            </a:extLst>
          </p:cNvPr>
          <p:cNvSpPr txBox="1"/>
          <p:nvPr/>
        </p:nvSpPr>
        <p:spPr>
          <a:xfrm>
            <a:off x="484869" y="2407960"/>
            <a:ext cx="29213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Neo둥근모" panose="02010509060201040203" pitchFamily="1" charset="-127"/>
                <a:ea typeface="Neo둥근모" panose="02010509060201040203" pitchFamily="1" charset="-127"/>
              </a:rPr>
              <a:t>개발 과정</a:t>
            </a:r>
            <a:endParaRPr lang="en-US" altLang="ko-KR" sz="40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4072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2DD4-A914-E73D-782E-C77A759A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803A467-F7DC-16F0-564D-F74D18878311}"/>
              </a:ext>
            </a:extLst>
          </p:cNvPr>
          <p:cNvSpPr/>
          <p:nvPr/>
        </p:nvSpPr>
        <p:spPr>
          <a:xfrm>
            <a:off x="0" y="0"/>
            <a:ext cx="12192000" cy="1216152"/>
          </a:xfrm>
          <a:prstGeom prst="rect">
            <a:avLst/>
          </a:prstGeom>
          <a:solidFill>
            <a:srgbClr val="A5D9F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54F956-EA58-0D03-4B03-1D78639B7642}"/>
              </a:ext>
            </a:extLst>
          </p:cNvPr>
          <p:cNvSpPr/>
          <p:nvPr/>
        </p:nvSpPr>
        <p:spPr>
          <a:xfrm>
            <a:off x="0" y="1137960"/>
            <a:ext cx="12192000" cy="9529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38F60-FD5D-C594-F031-5117B3166F55}"/>
              </a:ext>
            </a:extLst>
          </p:cNvPr>
          <p:cNvSpPr txBox="1"/>
          <p:nvPr/>
        </p:nvSpPr>
        <p:spPr>
          <a:xfrm>
            <a:off x="109728" y="1655063"/>
            <a:ext cx="5641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202363046 </a:t>
            </a:r>
            <a:r>
              <a:rPr lang="ko-KR" altLang="en-US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인공과 백인원 </a:t>
            </a:r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| 2026.03.15 </a:t>
            </a:r>
            <a:endParaRPr lang="ko-KR" altLang="en-US" sz="16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7F963B-A5E6-B718-D616-7EE02C8C567D}"/>
              </a:ext>
            </a:extLst>
          </p:cNvPr>
          <p:cNvSpPr txBox="1"/>
          <p:nvPr/>
        </p:nvSpPr>
        <p:spPr>
          <a:xfrm>
            <a:off x="2688336" y="260824"/>
            <a:ext cx="68153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태양광 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  <a:cs typeface="Microsoft GothicNeo" panose="020B0500000101010101" pitchFamily="50" charset="-127"/>
              </a:rPr>
              <a:t>발전량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 예측 알고리즘 개발</a:t>
            </a:r>
            <a:r>
              <a:rPr lang="en-US" altLang="ko-KR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	</a:t>
            </a:r>
            <a:endParaRPr lang="ko-KR" altLang="en-US" sz="32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8" name="별: 꼭짓점 5개 7">
            <a:extLst>
              <a:ext uri="{FF2B5EF4-FFF2-40B4-BE49-F238E27FC236}">
                <a16:creationId xmlns:a16="http://schemas.microsoft.com/office/drawing/2014/main" id="{35BDD483-6D53-4054-B3FC-4E4F54D85A67}"/>
              </a:ext>
            </a:extLst>
          </p:cNvPr>
          <p:cNvSpPr/>
          <p:nvPr/>
        </p:nvSpPr>
        <p:spPr>
          <a:xfrm>
            <a:off x="11198352" y="1655063"/>
            <a:ext cx="387096" cy="338554"/>
          </a:xfrm>
          <a:prstGeom prst="star5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8F6858D-C850-DD14-DA69-2E33330F2D09}"/>
              </a:ext>
            </a:extLst>
          </p:cNvPr>
          <p:cNvGrpSpPr/>
          <p:nvPr/>
        </p:nvGrpSpPr>
        <p:grpSpPr>
          <a:xfrm>
            <a:off x="11695176" y="1655063"/>
            <a:ext cx="387096" cy="338554"/>
            <a:chOff x="4791456" y="2880360"/>
            <a:chExt cx="585216" cy="398831"/>
          </a:xfrm>
          <a:solidFill>
            <a:schemeClr val="bg2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6314C31-E075-97FA-C7A3-B24970F07F2E}"/>
                </a:ext>
              </a:extLst>
            </p:cNvPr>
            <p:cNvSpPr/>
            <p:nvPr/>
          </p:nvSpPr>
          <p:spPr>
            <a:xfrm>
              <a:off x="4791456" y="28803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56F7AFB0-52BC-8448-68AD-AD5E686A04FB}"/>
                </a:ext>
              </a:extLst>
            </p:cNvPr>
            <p:cNvSpPr/>
            <p:nvPr/>
          </p:nvSpPr>
          <p:spPr>
            <a:xfrm>
              <a:off x="4791456" y="30327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D90AEFDD-C0BB-35C4-2EA4-BA8CE6CE9112}"/>
                </a:ext>
              </a:extLst>
            </p:cNvPr>
            <p:cNvSpPr/>
            <p:nvPr/>
          </p:nvSpPr>
          <p:spPr>
            <a:xfrm>
              <a:off x="4791456" y="3178607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44AD7608-2D8F-CE60-6FE7-E52D5E7A6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2" y="2296135"/>
            <a:ext cx="6148196" cy="430104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42B0FE-A11B-D0A4-9E49-6BDF1DEAE59B}"/>
              </a:ext>
            </a:extLst>
          </p:cNvPr>
          <p:cNvSpPr txBox="1"/>
          <p:nvPr/>
        </p:nvSpPr>
        <p:spPr>
          <a:xfrm>
            <a:off x="7588332" y="3868684"/>
            <a:ext cx="49718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MSE: 0.002</a:t>
            </a:r>
          </a:p>
          <a:p>
            <a:endParaRPr lang="ko-KR" altLang="en-US" sz="32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9316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F2964-22DD-D7C8-01DC-4A2783998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39F87D5-EDFB-CB4E-4317-E2E7DDB3D08C}"/>
              </a:ext>
            </a:extLst>
          </p:cNvPr>
          <p:cNvSpPr/>
          <p:nvPr/>
        </p:nvSpPr>
        <p:spPr>
          <a:xfrm>
            <a:off x="0" y="0"/>
            <a:ext cx="12192000" cy="1216152"/>
          </a:xfrm>
          <a:prstGeom prst="rect">
            <a:avLst/>
          </a:prstGeom>
          <a:solidFill>
            <a:srgbClr val="A5D9F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5F7C16-32AD-0C14-5D17-0527E840996D}"/>
              </a:ext>
            </a:extLst>
          </p:cNvPr>
          <p:cNvSpPr/>
          <p:nvPr/>
        </p:nvSpPr>
        <p:spPr>
          <a:xfrm>
            <a:off x="0" y="1137960"/>
            <a:ext cx="12192000" cy="9529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DC93E3-509E-43DA-064E-8C5D33C977D6}"/>
              </a:ext>
            </a:extLst>
          </p:cNvPr>
          <p:cNvSpPr txBox="1"/>
          <p:nvPr/>
        </p:nvSpPr>
        <p:spPr>
          <a:xfrm>
            <a:off x="109728" y="1655063"/>
            <a:ext cx="5641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202363046 </a:t>
            </a:r>
            <a:r>
              <a:rPr lang="ko-KR" altLang="en-US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인공과 백인원 </a:t>
            </a:r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| 2026.03.15 </a:t>
            </a:r>
            <a:endParaRPr lang="ko-KR" altLang="en-US" sz="16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B867A-A9F7-4DF1-F726-EDB0E1CD5E5E}"/>
              </a:ext>
            </a:extLst>
          </p:cNvPr>
          <p:cNvSpPr txBox="1"/>
          <p:nvPr/>
        </p:nvSpPr>
        <p:spPr>
          <a:xfrm>
            <a:off x="2688336" y="260824"/>
            <a:ext cx="68153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태양광 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  <a:cs typeface="Microsoft GothicNeo" panose="020B0500000101010101" pitchFamily="50" charset="-127"/>
              </a:rPr>
              <a:t>발전량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 예측 알고리즘 개발</a:t>
            </a:r>
            <a:r>
              <a:rPr lang="en-US" altLang="ko-KR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	</a:t>
            </a:r>
            <a:endParaRPr lang="ko-KR" altLang="en-US" sz="32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8" name="별: 꼭짓점 5개 7">
            <a:extLst>
              <a:ext uri="{FF2B5EF4-FFF2-40B4-BE49-F238E27FC236}">
                <a16:creationId xmlns:a16="http://schemas.microsoft.com/office/drawing/2014/main" id="{B2777312-85DE-925E-0D24-449536C21292}"/>
              </a:ext>
            </a:extLst>
          </p:cNvPr>
          <p:cNvSpPr/>
          <p:nvPr/>
        </p:nvSpPr>
        <p:spPr>
          <a:xfrm>
            <a:off x="11198352" y="1655063"/>
            <a:ext cx="387096" cy="338554"/>
          </a:xfrm>
          <a:prstGeom prst="star5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9AB4EEC-98B0-3070-B5A2-E1AD5AB6A5DC}"/>
              </a:ext>
            </a:extLst>
          </p:cNvPr>
          <p:cNvGrpSpPr/>
          <p:nvPr/>
        </p:nvGrpSpPr>
        <p:grpSpPr>
          <a:xfrm>
            <a:off x="11695176" y="1655063"/>
            <a:ext cx="387096" cy="338554"/>
            <a:chOff x="4791456" y="2880360"/>
            <a:chExt cx="585216" cy="398831"/>
          </a:xfrm>
          <a:solidFill>
            <a:schemeClr val="bg2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F14A5491-ABC5-8D27-0A06-0E41C574DC59}"/>
                </a:ext>
              </a:extLst>
            </p:cNvPr>
            <p:cNvSpPr/>
            <p:nvPr/>
          </p:nvSpPr>
          <p:spPr>
            <a:xfrm>
              <a:off x="4791456" y="28803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FCD3F6E4-02C6-8F74-CF10-75947B0BD16F}"/>
                </a:ext>
              </a:extLst>
            </p:cNvPr>
            <p:cNvSpPr/>
            <p:nvPr/>
          </p:nvSpPr>
          <p:spPr>
            <a:xfrm>
              <a:off x="4791456" y="30327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C9E6FB94-1762-A2DF-3114-AF06A991D2E4}"/>
                </a:ext>
              </a:extLst>
            </p:cNvPr>
            <p:cNvSpPr/>
            <p:nvPr/>
          </p:nvSpPr>
          <p:spPr>
            <a:xfrm>
              <a:off x="4791456" y="3178607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148" name="Picture 4" descr="블루 &amp; 옐로">
            <a:extLst>
              <a:ext uri="{FF2B5EF4-FFF2-40B4-BE49-F238E27FC236}">
                <a16:creationId xmlns:a16="http://schemas.microsoft.com/office/drawing/2014/main" id="{67EB56A3-8396-DD1D-CF96-16E69A8A5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769" y="3228899"/>
            <a:ext cx="3275363" cy="327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생각 풍선: 구름 모양 2">
            <a:extLst>
              <a:ext uri="{FF2B5EF4-FFF2-40B4-BE49-F238E27FC236}">
                <a16:creationId xmlns:a16="http://schemas.microsoft.com/office/drawing/2014/main" id="{148782B0-4CD9-8514-A6A5-24B52433A961}"/>
              </a:ext>
            </a:extLst>
          </p:cNvPr>
          <p:cNvSpPr/>
          <p:nvPr/>
        </p:nvSpPr>
        <p:spPr>
          <a:xfrm>
            <a:off x="5026667" y="2407960"/>
            <a:ext cx="5803550" cy="2748250"/>
          </a:xfrm>
          <a:prstGeom prst="cloudCallou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  <a:latin typeface="Neo둥근모" panose="02010509060201040203" pitchFamily="1" charset="-127"/>
                <a:ea typeface="Neo둥근모" panose="02010509060201040203" pitchFamily="1" charset="-127"/>
              </a:rPr>
              <a:t>impression</a:t>
            </a:r>
            <a:endParaRPr lang="ko-KR" altLang="en-US" sz="4400" dirty="0">
              <a:solidFill>
                <a:schemeClr val="tx1"/>
              </a:solidFill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8175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4DA50-380E-94FA-934C-DD35E29E9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CC79B4C-0FBC-F034-00DC-D1446DAF54F0}"/>
              </a:ext>
            </a:extLst>
          </p:cNvPr>
          <p:cNvSpPr/>
          <p:nvPr/>
        </p:nvSpPr>
        <p:spPr>
          <a:xfrm>
            <a:off x="0" y="0"/>
            <a:ext cx="12192000" cy="1216152"/>
          </a:xfrm>
          <a:prstGeom prst="rect">
            <a:avLst/>
          </a:prstGeom>
          <a:solidFill>
            <a:srgbClr val="A5D9F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EDDB45-ECEF-D46B-C5E5-4709C5B2274D}"/>
              </a:ext>
            </a:extLst>
          </p:cNvPr>
          <p:cNvSpPr/>
          <p:nvPr/>
        </p:nvSpPr>
        <p:spPr>
          <a:xfrm>
            <a:off x="0" y="1137960"/>
            <a:ext cx="12192000" cy="9529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D8A36-D989-F8F0-EDA3-629E48640A0A}"/>
              </a:ext>
            </a:extLst>
          </p:cNvPr>
          <p:cNvSpPr txBox="1"/>
          <p:nvPr/>
        </p:nvSpPr>
        <p:spPr>
          <a:xfrm>
            <a:off x="109728" y="1655063"/>
            <a:ext cx="5641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202363046 </a:t>
            </a:r>
            <a:r>
              <a:rPr lang="ko-KR" altLang="en-US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인공과 백인원 </a:t>
            </a:r>
            <a:r>
              <a:rPr lang="en-US" altLang="ko-KR" sz="1600" dirty="0">
                <a:latin typeface="Neo둥근모" panose="02010509060201040203" pitchFamily="1" charset="-127"/>
                <a:ea typeface="Neo둥근모" panose="02010509060201040203" pitchFamily="1" charset="-127"/>
              </a:rPr>
              <a:t>| </a:t>
            </a:r>
            <a:r>
              <a:rPr lang="en-US" altLang="ko-KR" sz="1600">
                <a:latin typeface="Neo둥근모" panose="02010509060201040203" pitchFamily="1" charset="-127"/>
                <a:ea typeface="Neo둥근모" panose="02010509060201040203" pitchFamily="1" charset="-127"/>
              </a:rPr>
              <a:t>2026.03.15 </a:t>
            </a:r>
            <a:endParaRPr lang="ko-KR" altLang="en-US" sz="16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DDBBE1-2A33-C867-0425-FB7E33970F84}"/>
              </a:ext>
            </a:extLst>
          </p:cNvPr>
          <p:cNvSpPr txBox="1"/>
          <p:nvPr/>
        </p:nvSpPr>
        <p:spPr>
          <a:xfrm>
            <a:off x="2688336" y="260824"/>
            <a:ext cx="68153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태양광 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  <a:cs typeface="Microsoft GothicNeo" panose="020B0500000101010101" pitchFamily="50" charset="-127"/>
              </a:rPr>
              <a:t>발전량</a:t>
            </a:r>
            <a:r>
              <a:rPr lang="ko-KR" altLang="en-US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 예측 알고리즘 개발</a:t>
            </a:r>
            <a:r>
              <a:rPr lang="en-US" altLang="ko-KR" sz="3200" dirty="0">
                <a:latin typeface="Neo둥근모" panose="02010509060201040203" pitchFamily="1" charset="-127"/>
                <a:ea typeface="Neo둥근모" panose="02010509060201040203" pitchFamily="1" charset="-127"/>
              </a:rPr>
              <a:t>	</a:t>
            </a:r>
            <a:endParaRPr lang="ko-KR" altLang="en-US" sz="32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  <p:sp>
        <p:nvSpPr>
          <p:cNvPr id="8" name="별: 꼭짓점 5개 7">
            <a:extLst>
              <a:ext uri="{FF2B5EF4-FFF2-40B4-BE49-F238E27FC236}">
                <a16:creationId xmlns:a16="http://schemas.microsoft.com/office/drawing/2014/main" id="{DA32F4EF-8A8F-53A8-675A-30873593B50B}"/>
              </a:ext>
            </a:extLst>
          </p:cNvPr>
          <p:cNvSpPr/>
          <p:nvPr/>
        </p:nvSpPr>
        <p:spPr>
          <a:xfrm>
            <a:off x="11198352" y="1655063"/>
            <a:ext cx="387096" cy="338554"/>
          </a:xfrm>
          <a:prstGeom prst="star5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1EFA218-A75D-7E97-59C5-B76C823BD5EF}"/>
              </a:ext>
            </a:extLst>
          </p:cNvPr>
          <p:cNvGrpSpPr/>
          <p:nvPr/>
        </p:nvGrpSpPr>
        <p:grpSpPr>
          <a:xfrm>
            <a:off x="11695176" y="1655063"/>
            <a:ext cx="387096" cy="338554"/>
            <a:chOff x="4791456" y="2880360"/>
            <a:chExt cx="585216" cy="398831"/>
          </a:xfrm>
          <a:solidFill>
            <a:schemeClr val="bg2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AAC837C-6478-B51B-35E7-841722386331}"/>
                </a:ext>
              </a:extLst>
            </p:cNvPr>
            <p:cNvSpPr/>
            <p:nvPr/>
          </p:nvSpPr>
          <p:spPr>
            <a:xfrm>
              <a:off x="4791456" y="28803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7DEE076E-60C4-CB53-6AFF-A5C40331D6B3}"/>
                </a:ext>
              </a:extLst>
            </p:cNvPr>
            <p:cNvSpPr/>
            <p:nvPr/>
          </p:nvSpPr>
          <p:spPr>
            <a:xfrm>
              <a:off x="4791456" y="3032760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BAECA73B-A083-9C75-A11B-B547819D23B9}"/>
                </a:ext>
              </a:extLst>
            </p:cNvPr>
            <p:cNvSpPr/>
            <p:nvPr/>
          </p:nvSpPr>
          <p:spPr>
            <a:xfrm>
              <a:off x="4791456" y="3178607"/>
              <a:ext cx="585216" cy="10058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F6B5C95-9714-3116-313B-3A3CC97CA97D}"/>
              </a:ext>
            </a:extLst>
          </p:cNvPr>
          <p:cNvSpPr txBox="1"/>
          <p:nvPr/>
        </p:nvSpPr>
        <p:spPr>
          <a:xfrm>
            <a:off x="3253839" y="3197402"/>
            <a:ext cx="56843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dirty="0">
                <a:latin typeface="Neo둥근모" panose="02010509060201040203" pitchFamily="1" charset="-127"/>
                <a:ea typeface="Neo둥근모" panose="02010509060201040203" pitchFamily="1" charset="-127"/>
              </a:rPr>
              <a:t>Thank You</a:t>
            </a:r>
            <a:endParaRPr lang="ko-KR" altLang="en-US" sz="9600" dirty="0">
              <a:latin typeface="Neo둥근모" panose="02010509060201040203" pitchFamily="1" charset="-127"/>
              <a:ea typeface="Neo둥근모" panose="02010509060201040203" pitchFamily="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3456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640</Words>
  <Application>Microsoft Office PowerPoint</Application>
  <PresentationFormat>와이드스크린</PresentationFormat>
  <Paragraphs>87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Arial</vt:lpstr>
      <vt:lpstr>맑은 고딕</vt:lpstr>
      <vt:lpstr>Neo둥근모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백인원</dc:creator>
  <cp:lastModifiedBy>백인원</cp:lastModifiedBy>
  <cp:revision>12</cp:revision>
  <dcterms:created xsi:type="dcterms:W3CDTF">2026-03-15T13:05:35Z</dcterms:created>
  <dcterms:modified xsi:type="dcterms:W3CDTF">2026-03-19T07:31:54Z</dcterms:modified>
</cp:coreProperties>
</file>