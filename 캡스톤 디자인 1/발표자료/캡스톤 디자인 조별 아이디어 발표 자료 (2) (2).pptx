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63" r:id="rId4"/>
    <p:sldId id="265" r:id="rId5"/>
    <p:sldId id="264" r:id="rId6"/>
    <p:sldId id="268" r:id="rId7"/>
    <p:sldId id="260" r:id="rId8"/>
    <p:sldId id="261" r:id="rId9"/>
    <p:sldId id="275" r:id="rId10"/>
    <p:sldId id="257" r:id="rId11"/>
    <p:sldId id="258" r:id="rId12"/>
    <p:sldId id="270" r:id="rId13"/>
    <p:sldId id="271" r:id="rId14"/>
    <p:sldId id="266" r:id="rId15"/>
    <p:sldId id="267" r:id="rId16"/>
    <p:sldId id="26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879BFF"/>
    <a:srgbClr val="B688FF"/>
    <a:srgbClr val="BE85FF"/>
    <a:srgbClr val="D27BFF"/>
    <a:srgbClr val="6679A0"/>
    <a:srgbClr val="9F92FF"/>
    <a:srgbClr val="AC8BFF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CB970-E643-4069-A4D8-995812936558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94FEA-8007-46C5-A8DC-35DEB66C0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095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A9F330-CBA4-0A3C-7352-84B435A7E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A787C2-1FCC-C72D-D62F-54FFC3E62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3B166-97E9-5A88-7EAF-A61DD518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A9CEBE-4F32-6B5C-7066-AD49C5E39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7A8A92-F182-CA63-3CC1-D37819D3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51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78E1A-390D-6AB4-7A4E-AE2F06AE9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F930E-2AE0-4D2F-0DB1-D55DD0CA2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93E1C-0514-3C6B-6150-23E43438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045090-EEF4-66B4-56C8-6FD5159A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0D34C-B260-6747-48DF-45C8A1E1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04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4AE29-6655-2346-8301-2EF815F4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8283B6-0DFA-9137-693B-FED656482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91D027-A766-9E4B-933C-0F978777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B829B-640E-970F-50B4-D05869A75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B00686-1A1D-3304-BC31-AF98B6D5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661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9E308-A1F1-0C37-90EA-F50CE1BF3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5A8C9-DEB3-B042-91A6-DED5328B4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E475B3-2AD8-CD9F-7B43-7C1C6CBD5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FA8008-D5C2-E8A9-466F-628918EA3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72C64C-7198-B23F-23C9-26196ACFC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9E91E0-71B2-408E-767A-8B797B64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12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8AE92-4221-F8C8-2B9E-1193D9DC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2FBC3E-638D-121D-6694-FCD98FDA4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231D88-76F2-DECC-2855-355D59455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7999FC-2CAE-8A71-650A-DE7330957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136EB4-AC5D-A71B-2A76-E3EE18E13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E84B1C-6835-9F8D-1A7B-7BB9F35B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483700-1D51-AB15-D815-A0F110D1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CB34D-5CF0-7345-95EB-54DE7B39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72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B8C45-C6BD-967A-96A7-B29900448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EB384D-9721-63D1-4F89-82BB5DBE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5F04D5-456F-555C-F261-B586B569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61D554-8F48-C3DF-1FDA-1AFF6D59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86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3425B9-E647-4656-D6AB-D6FA4718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0E0ABC-B396-1CEE-84F9-A6E01C44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F15831-BC58-0BAF-0480-BB93B01C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423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DBF7B-A3A9-EDD3-81D1-FD94D851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8AB5D5-FFC2-3328-409D-1B68FCE6B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8C3B41-74EA-E5FD-2752-79503AE49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081226-DCEE-41E8-E59E-10A09961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866B87-BA28-D4E3-DD76-58401302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54A9E-6903-7F1C-D36B-ACCE2CC6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84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613CB-5047-1F36-E2DF-3A3277E2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2A8DE3-A23D-CB8B-3B95-C99EE720F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922133-2B75-AE09-F521-9602C132C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1558EB-E6DD-9D06-93CA-E8D34D74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DB708-C2C9-CE19-36F7-2114BD24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FA9B89-18D4-76E8-3DD2-E2257F78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32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B1562-877E-024C-8228-C5BD68A3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1E66EF-4F74-43A9-C19F-26C629F48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F68781-F049-B59B-42B1-A0C87224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D32859-1742-3E54-E5EC-93BC12E1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C11075-E23C-5DF0-A096-29DD272F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39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E53747-A1FE-4391-592C-649CD79C9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9D011D-71EB-B2BE-D3E9-3A4A0733E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C405D-01ED-202C-380C-12DAC5CB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94F7D-E1C6-9869-B238-DBA0D90A0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132A9-BD9E-C9F0-6640-857EF2A9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94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7A9693-B8EC-2167-09D1-E59AB1A7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5C73B9-352F-BEAB-A799-4874400EC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FA808-C395-5487-E3A4-7CD585EDA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18922-5E0F-4C96-8763-1423C0D2A4CD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1D41A5-16A8-ECD5-3695-DD66450BF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F6438-1B1E-3360-7834-FE1F1EC73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9BD39-F2D7-456A-B693-06F8B973DC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9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F028A9DE-E49A-2372-CE38-A67226BA5F20}"/>
              </a:ext>
            </a:extLst>
          </p:cNvPr>
          <p:cNvSpPr/>
          <p:nvPr/>
        </p:nvSpPr>
        <p:spPr>
          <a:xfrm rot="16200000">
            <a:off x="4831867" y="-523461"/>
            <a:ext cx="6857999" cy="7904922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E705D0-96C8-3663-CE82-9B212688F563}"/>
              </a:ext>
            </a:extLst>
          </p:cNvPr>
          <p:cNvSpPr txBox="1"/>
          <p:nvPr/>
        </p:nvSpPr>
        <p:spPr>
          <a:xfrm>
            <a:off x="344505" y="2168262"/>
            <a:ext cx="659891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latin typeface="Arial Black" panose="020B0A04020102020204" pitchFamily="34" charset="0"/>
              </a:rPr>
              <a:t>Hand Trekking </a:t>
            </a:r>
            <a:br>
              <a:rPr lang="en-US" altLang="ko-KR" b="1" dirty="0">
                <a:latin typeface="Arial Black" panose="020B0A04020102020204" pitchFamily="34" charset="0"/>
              </a:rPr>
            </a:br>
            <a:endParaRPr lang="ko-KR" altLang="en-US" b="1" dirty="0"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2C2422-2137-BF31-5217-C0D437C952BC}"/>
              </a:ext>
            </a:extLst>
          </p:cNvPr>
          <p:cNvSpPr txBox="1"/>
          <p:nvPr/>
        </p:nvSpPr>
        <p:spPr>
          <a:xfrm>
            <a:off x="3531054" y="3197825"/>
            <a:ext cx="28216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  <a:highlight>
                  <a:srgbClr val="0000FF"/>
                </a:highlight>
              </a:rPr>
              <a:t>Assistant</a:t>
            </a:r>
            <a:endParaRPr lang="ko-KR" altLang="en-US" sz="4800" b="1" dirty="0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CDCCA434-A434-4E04-D5CB-26D5D56DF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4" t="11069" r="28112" b="1879"/>
          <a:stretch>
            <a:fillRect/>
          </a:stretch>
        </p:blipFill>
        <p:spPr>
          <a:xfrm rot="18504447">
            <a:off x="6584156" y="53271"/>
            <a:ext cx="5616006" cy="6265014"/>
          </a:xfrm>
          <a:custGeom>
            <a:avLst/>
            <a:gdLst>
              <a:gd name="connsiteX0" fmla="*/ 5523582 w 5616006"/>
              <a:gd name="connsiteY0" fmla="*/ 2991212 h 6265014"/>
              <a:gd name="connsiteX1" fmla="*/ 5454245 w 5616006"/>
              <a:gd name="connsiteY1" fmla="*/ 3591159 h 6265014"/>
              <a:gd name="connsiteX2" fmla="*/ 2198160 w 5616006"/>
              <a:gd name="connsiteY2" fmla="*/ 6172589 h 6265014"/>
              <a:gd name="connsiteX3" fmla="*/ 1598214 w 5616006"/>
              <a:gd name="connsiteY3" fmla="*/ 6103252 h 6265014"/>
              <a:gd name="connsiteX4" fmla="*/ 1667551 w 5616006"/>
              <a:gd name="connsiteY4" fmla="*/ 5503305 h 6265014"/>
              <a:gd name="connsiteX5" fmla="*/ 4923636 w 5616006"/>
              <a:gd name="connsiteY5" fmla="*/ 2921875 h 6265014"/>
              <a:gd name="connsiteX6" fmla="*/ 5523582 w 5616006"/>
              <a:gd name="connsiteY6" fmla="*/ 2991212 h 6265014"/>
              <a:gd name="connsiteX7" fmla="*/ 4217855 w 5616006"/>
              <a:gd name="connsiteY7" fmla="*/ 1344234 h 6265014"/>
              <a:gd name="connsiteX8" fmla="*/ 4148517 w 5616006"/>
              <a:gd name="connsiteY8" fmla="*/ 1944181 h 6265014"/>
              <a:gd name="connsiteX9" fmla="*/ 892433 w 5616006"/>
              <a:gd name="connsiteY9" fmla="*/ 4525611 h 6265014"/>
              <a:gd name="connsiteX10" fmla="*/ 292486 w 5616006"/>
              <a:gd name="connsiteY10" fmla="*/ 4456274 h 6265014"/>
              <a:gd name="connsiteX11" fmla="*/ 361823 w 5616006"/>
              <a:gd name="connsiteY11" fmla="*/ 3856329 h 6265014"/>
              <a:gd name="connsiteX12" fmla="*/ 3617908 w 5616006"/>
              <a:gd name="connsiteY12" fmla="*/ 1274897 h 6265014"/>
              <a:gd name="connsiteX13" fmla="*/ 4217855 w 5616006"/>
              <a:gd name="connsiteY13" fmla="*/ 1344234 h 6265014"/>
              <a:gd name="connsiteX14" fmla="*/ 5323520 w 5616006"/>
              <a:gd name="connsiteY14" fmla="*/ 1808741 h 6265014"/>
              <a:gd name="connsiteX15" fmla="*/ 5254183 w 5616006"/>
              <a:gd name="connsiteY15" fmla="*/ 2408689 h 6265014"/>
              <a:gd name="connsiteX16" fmla="*/ 1998098 w 5616006"/>
              <a:gd name="connsiteY16" fmla="*/ 4990118 h 6265014"/>
              <a:gd name="connsiteX17" fmla="*/ 1398152 w 5616006"/>
              <a:gd name="connsiteY17" fmla="*/ 4920781 h 6265014"/>
              <a:gd name="connsiteX18" fmla="*/ 1467489 w 5616006"/>
              <a:gd name="connsiteY18" fmla="*/ 4320834 h 6265014"/>
              <a:gd name="connsiteX19" fmla="*/ 4723573 w 5616006"/>
              <a:gd name="connsiteY19" fmla="*/ 1739404 h 6265014"/>
              <a:gd name="connsiteX20" fmla="*/ 5323520 w 5616006"/>
              <a:gd name="connsiteY20" fmla="*/ 1808741 h 6265014"/>
              <a:gd name="connsiteX21" fmla="*/ 4017794 w 5616006"/>
              <a:gd name="connsiteY21" fmla="*/ 161763 h 6265014"/>
              <a:gd name="connsiteX22" fmla="*/ 3948457 w 5616006"/>
              <a:gd name="connsiteY22" fmla="*/ 761709 h 6265014"/>
              <a:gd name="connsiteX23" fmla="*/ 692372 w 5616006"/>
              <a:gd name="connsiteY23" fmla="*/ 3343140 h 6265014"/>
              <a:gd name="connsiteX24" fmla="*/ 92426 w 5616006"/>
              <a:gd name="connsiteY24" fmla="*/ 3273802 h 6265014"/>
              <a:gd name="connsiteX25" fmla="*/ 161763 w 5616006"/>
              <a:gd name="connsiteY25" fmla="*/ 2673856 h 6265014"/>
              <a:gd name="connsiteX26" fmla="*/ 3417847 w 5616006"/>
              <a:gd name="connsiteY26" fmla="*/ 92426 h 6265014"/>
              <a:gd name="connsiteX27" fmla="*/ 4017794 w 5616006"/>
              <a:gd name="connsiteY27" fmla="*/ 161763 h 6265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16006" h="6265014">
                <a:moveTo>
                  <a:pt x="5523582" y="2991212"/>
                </a:moveTo>
                <a:cubicBezTo>
                  <a:pt x="5670105" y="3176030"/>
                  <a:pt x="5639062" y="3444635"/>
                  <a:pt x="5454245" y="3591159"/>
                </a:cubicBezTo>
                <a:lnTo>
                  <a:pt x="2198160" y="6172589"/>
                </a:lnTo>
                <a:cubicBezTo>
                  <a:pt x="2013343" y="6319113"/>
                  <a:pt x="1744737" y="6288069"/>
                  <a:pt x="1598214" y="6103252"/>
                </a:cubicBezTo>
                <a:cubicBezTo>
                  <a:pt x="1451690" y="5918434"/>
                  <a:pt x="1482734" y="5649829"/>
                  <a:pt x="1667551" y="5503305"/>
                </a:cubicBezTo>
                <a:lnTo>
                  <a:pt x="4923636" y="2921875"/>
                </a:lnTo>
                <a:cubicBezTo>
                  <a:pt x="5108453" y="2775352"/>
                  <a:pt x="5377058" y="2806395"/>
                  <a:pt x="5523582" y="2991212"/>
                </a:cubicBezTo>
                <a:close/>
                <a:moveTo>
                  <a:pt x="4217855" y="1344234"/>
                </a:moveTo>
                <a:cubicBezTo>
                  <a:pt x="4364378" y="1529053"/>
                  <a:pt x="4333335" y="1797657"/>
                  <a:pt x="4148517" y="1944181"/>
                </a:cubicBezTo>
                <a:lnTo>
                  <a:pt x="892433" y="4525611"/>
                </a:lnTo>
                <a:cubicBezTo>
                  <a:pt x="707615" y="4672135"/>
                  <a:pt x="439010" y="4641091"/>
                  <a:pt x="292486" y="4456274"/>
                </a:cubicBezTo>
                <a:cubicBezTo>
                  <a:pt x="145963" y="4271457"/>
                  <a:pt x="177006" y="4002851"/>
                  <a:pt x="361823" y="3856329"/>
                </a:cubicBezTo>
                <a:lnTo>
                  <a:pt x="3617908" y="1274897"/>
                </a:lnTo>
                <a:cubicBezTo>
                  <a:pt x="3802726" y="1128374"/>
                  <a:pt x="4071331" y="1159418"/>
                  <a:pt x="4217855" y="1344234"/>
                </a:cubicBezTo>
                <a:close/>
                <a:moveTo>
                  <a:pt x="5323520" y="1808741"/>
                </a:moveTo>
                <a:cubicBezTo>
                  <a:pt x="5470043" y="1993558"/>
                  <a:pt x="5439000" y="2262164"/>
                  <a:pt x="5254183" y="2408689"/>
                </a:cubicBezTo>
                <a:lnTo>
                  <a:pt x="1998098" y="4990118"/>
                </a:lnTo>
                <a:cubicBezTo>
                  <a:pt x="1813281" y="5136642"/>
                  <a:pt x="1544675" y="5105599"/>
                  <a:pt x="1398152" y="4920781"/>
                </a:cubicBezTo>
                <a:cubicBezTo>
                  <a:pt x="1251628" y="4735963"/>
                  <a:pt x="1282671" y="4467358"/>
                  <a:pt x="1467489" y="4320834"/>
                </a:cubicBezTo>
                <a:lnTo>
                  <a:pt x="4723573" y="1739404"/>
                </a:lnTo>
                <a:cubicBezTo>
                  <a:pt x="4908391" y="1592880"/>
                  <a:pt x="5176996" y="1623924"/>
                  <a:pt x="5323520" y="1808741"/>
                </a:cubicBezTo>
                <a:close/>
                <a:moveTo>
                  <a:pt x="4017794" y="161763"/>
                </a:moveTo>
                <a:cubicBezTo>
                  <a:pt x="4164317" y="346580"/>
                  <a:pt x="4133274" y="615186"/>
                  <a:pt x="3948457" y="761709"/>
                </a:cubicBezTo>
                <a:lnTo>
                  <a:pt x="692372" y="3343140"/>
                </a:lnTo>
                <a:cubicBezTo>
                  <a:pt x="507555" y="3489663"/>
                  <a:pt x="238949" y="3458620"/>
                  <a:pt x="92426" y="3273802"/>
                </a:cubicBezTo>
                <a:cubicBezTo>
                  <a:pt x="-54098" y="3088985"/>
                  <a:pt x="-23056" y="2820380"/>
                  <a:pt x="161763" y="2673856"/>
                </a:cubicBezTo>
                <a:lnTo>
                  <a:pt x="3417847" y="92426"/>
                </a:lnTo>
                <a:cubicBezTo>
                  <a:pt x="3602665" y="-54098"/>
                  <a:pt x="3871271" y="-23054"/>
                  <a:pt x="4017794" y="16176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6153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13BB-DF83-4504-3062-AC7AA912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441FF0E-02E4-376A-2534-46F93093BEC8}"/>
              </a:ext>
            </a:extLst>
          </p:cNvPr>
          <p:cNvSpPr/>
          <p:nvPr/>
        </p:nvSpPr>
        <p:spPr>
          <a:xfrm>
            <a:off x="139676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F8B30E3-BE1E-42B3-CD00-04B59A7AC973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DB4E5-F135-0728-B24F-CA509E1C5C4E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Problems</a:t>
            </a:r>
            <a:r>
              <a:rPr lang="ko-KR" altLang="en-US" sz="4000" b="1" dirty="0"/>
              <a:t>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14222D2-852C-FDC5-4BF2-401B9A7CF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5" y="1285878"/>
            <a:ext cx="9258300" cy="5049982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752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1364-F84E-0124-6714-EC64FD6F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51D6806-47C0-DBE8-9559-202F6F41E027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A2E7D07-0001-F597-940F-DAA95A6F4D18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520DAF-07B8-BBAF-02C8-ECB0D6AADDFB}"/>
              </a:ext>
            </a:extLst>
          </p:cNvPr>
          <p:cNvSpPr txBox="1"/>
          <p:nvPr/>
        </p:nvSpPr>
        <p:spPr>
          <a:xfrm>
            <a:off x="1295400" y="448164"/>
            <a:ext cx="7581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Overview</a:t>
            </a:r>
            <a:endParaRPr lang="ko-KR" altLang="en-US" sz="4000" b="1" dirty="0"/>
          </a:p>
        </p:txBody>
      </p:sp>
      <p:pic>
        <p:nvPicPr>
          <p:cNvPr id="2050" name="Picture 2" descr="수화 - 무료 손과 몸짓개 아이콘">
            <a:extLst>
              <a:ext uri="{FF2B5EF4-FFF2-40B4-BE49-F238E27FC236}">
                <a16:creationId xmlns:a16="http://schemas.microsoft.com/office/drawing/2014/main" id="{F6B15F09-EB7A-37AC-9556-218D5ACFB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7423" y="1633357"/>
            <a:ext cx="2921625" cy="292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21CE642-1E60-85B6-366A-D84C160AFABA}"/>
              </a:ext>
            </a:extLst>
          </p:cNvPr>
          <p:cNvSpPr/>
          <p:nvPr/>
        </p:nvSpPr>
        <p:spPr>
          <a:xfrm>
            <a:off x="5511799" y="2838894"/>
            <a:ext cx="1168400" cy="508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2" name="Picture 4" descr="빅스비 (가상 비서) - 위키백과, 우리 모두의 백과사전">
            <a:extLst>
              <a:ext uri="{FF2B5EF4-FFF2-40B4-BE49-F238E27FC236}">
                <a16:creationId xmlns:a16="http://schemas.microsoft.com/office/drawing/2014/main" id="{56919A4F-CA42-895D-A203-96856E976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402" y="1633357"/>
            <a:ext cx="2924175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0A0565-4680-D95B-56DF-A2D261B370D1}"/>
              </a:ext>
            </a:extLst>
          </p:cNvPr>
          <p:cNvSpPr>
            <a:spLocks noChangeAspect="1"/>
          </p:cNvSpPr>
          <p:nvPr/>
        </p:nvSpPr>
        <p:spPr>
          <a:xfrm>
            <a:off x="7262010" y="4737100"/>
            <a:ext cx="4482315" cy="1710092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63C68-C6A2-869F-7C9B-A2784EDA035A}"/>
              </a:ext>
            </a:extLst>
          </p:cNvPr>
          <p:cNvSpPr txBox="1"/>
          <p:nvPr/>
        </p:nvSpPr>
        <p:spPr>
          <a:xfrm>
            <a:off x="7504753" y="4845016"/>
            <a:ext cx="3996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Research </a:t>
            </a:r>
            <a:r>
              <a:rPr lang="en-US" altLang="ko-KR" b="1" dirty="0"/>
              <a:t>Purpose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음성 사용 서비스를 언어 장애인도 이용 가능할 수 있도록 함</a:t>
            </a:r>
          </a:p>
        </p:txBody>
      </p:sp>
    </p:spTree>
    <p:extLst>
      <p:ext uri="{BB962C8B-B14F-4D97-AF65-F5344CB8AC3E}">
        <p14:creationId xmlns:p14="http://schemas.microsoft.com/office/powerpoint/2010/main" val="146535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390A-5145-4AAC-765B-C3A25416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C1FB771-0423-E70D-EA42-6CACA1DE082C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33CFA6-D1F2-E986-7310-B8C5EF4C0926}"/>
              </a:ext>
            </a:extLst>
          </p:cNvPr>
          <p:cNvSpPr/>
          <p:nvPr/>
        </p:nvSpPr>
        <p:spPr>
          <a:xfrm>
            <a:off x="847725" y="1390261"/>
            <a:ext cx="5693560" cy="470262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550231A-876A-FDA9-060A-3AD63385DF35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EFDF0-B8FE-4DA8-C0EA-D25F9031D248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Data</a:t>
            </a:r>
            <a:endParaRPr lang="ko-KR" altLang="en-US" sz="4000" b="1" dirty="0"/>
          </a:p>
        </p:txBody>
      </p:sp>
      <p:pic>
        <p:nvPicPr>
          <p:cNvPr id="4098" name="Picture 2" descr="한국에는 두 개의 공용어가 있다, 멀고도 가까운 한국수어 〈1127호〉 - 명대신문">
            <a:extLst>
              <a:ext uri="{FF2B5EF4-FFF2-40B4-BE49-F238E27FC236}">
                <a16:creationId xmlns:a16="http://schemas.microsoft.com/office/drawing/2014/main" id="{2201E4A9-41C0-498B-4933-A858FAED8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37" y="1838164"/>
            <a:ext cx="4768462" cy="3806822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BDF5623-6B4E-5391-3DAA-3E90330ACC21}"/>
              </a:ext>
            </a:extLst>
          </p:cNvPr>
          <p:cNvSpPr>
            <a:spLocks noChangeAspect="1"/>
          </p:cNvSpPr>
          <p:nvPr/>
        </p:nvSpPr>
        <p:spPr>
          <a:xfrm>
            <a:off x="7262010" y="365196"/>
            <a:ext cx="4482315" cy="6081996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026DB-4DA6-E67C-CF34-1F9E345210BC}"/>
              </a:ext>
            </a:extLst>
          </p:cNvPr>
          <p:cNvSpPr txBox="1"/>
          <p:nvPr/>
        </p:nvSpPr>
        <p:spPr>
          <a:xfrm>
            <a:off x="7802574" y="888416"/>
            <a:ext cx="3221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정성적 데이터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4B261B5-98BA-C64E-E39B-B9FB76AFDD12}"/>
              </a:ext>
            </a:extLst>
          </p:cNvPr>
          <p:cNvSpPr/>
          <p:nvPr/>
        </p:nvSpPr>
        <p:spPr>
          <a:xfrm>
            <a:off x="7544300" y="1130800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DB469F-C3AA-6463-13B1-612310E4BE17}"/>
              </a:ext>
            </a:extLst>
          </p:cNvPr>
          <p:cNvSpPr txBox="1"/>
          <p:nvPr/>
        </p:nvSpPr>
        <p:spPr>
          <a:xfrm>
            <a:off x="7802574" y="2844225"/>
            <a:ext cx="3221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시퀀스 데이터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1542DBB-9006-9502-DC8A-90CC852A62FA}"/>
              </a:ext>
            </a:extLst>
          </p:cNvPr>
          <p:cNvSpPr/>
          <p:nvPr/>
        </p:nvSpPr>
        <p:spPr>
          <a:xfrm>
            <a:off x="7544300" y="3086609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5308F-B230-0BF5-E5A2-7772EAA38B8B}"/>
              </a:ext>
            </a:extLst>
          </p:cNvPr>
          <p:cNvSpPr txBox="1"/>
          <p:nvPr/>
        </p:nvSpPr>
        <p:spPr>
          <a:xfrm>
            <a:off x="7802574" y="5042418"/>
            <a:ext cx="35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언어적 특징 포함</a:t>
            </a:r>
            <a:endParaRPr lang="en-US" altLang="ko-KR" sz="3200" b="1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47305EB-C6EE-D08D-9EDD-3DF68DC1B064}"/>
              </a:ext>
            </a:extLst>
          </p:cNvPr>
          <p:cNvSpPr/>
          <p:nvPr/>
        </p:nvSpPr>
        <p:spPr>
          <a:xfrm>
            <a:off x="7544300" y="5284802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87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3B13-748F-D9C6-1639-213F8A21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F29EC4B-6553-DADB-E6C2-027BEBE95E05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F23635E9-5475-6502-E12E-673D7D26C58D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CEBB2-BDB7-0E7B-CB5E-F0FEF02F9E30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Skills</a:t>
            </a:r>
            <a:endParaRPr lang="ko-KR" altLang="en-US" sz="4000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B2527A0-1540-F5EC-750A-072DCEB2AC23}"/>
              </a:ext>
            </a:extLst>
          </p:cNvPr>
          <p:cNvSpPr/>
          <p:nvPr/>
        </p:nvSpPr>
        <p:spPr>
          <a:xfrm>
            <a:off x="485775" y="1495553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 err="1">
                <a:solidFill>
                  <a:schemeClr val="tx1"/>
                </a:solidFill>
              </a:rPr>
              <a:t>MediaPipe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ED93A9-5B31-5F69-671C-C033E5F57E78}"/>
              </a:ext>
            </a:extLst>
          </p:cNvPr>
          <p:cNvSpPr/>
          <p:nvPr/>
        </p:nvSpPr>
        <p:spPr>
          <a:xfrm>
            <a:off x="8667751" y="4100575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</a:rPr>
              <a:t>GRU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555A28C-BDEE-6037-BEBB-CB9B22870275}"/>
              </a:ext>
            </a:extLst>
          </p:cNvPr>
          <p:cNvSpPr/>
          <p:nvPr/>
        </p:nvSpPr>
        <p:spPr>
          <a:xfrm>
            <a:off x="485769" y="4100574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</a:rPr>
              <a:t>LSTM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5446263-1914-3A91-9427-F032CAED1C00}"/>
              </a:ext>
            </a:extLst>
          </p:cNvPr>
          <p:cNvSpPr/>
          <p:nvPr/>
        </p:nvSpPr>
        <p:spPr>
          <a:xfrm>
            <a:off x="4576760" y="1495548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</a:rPr>
              <a:t>Flutter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1111AFB-90B5-F6B9-613D-B570744C25EB}"/>
              </a:ext>
            </a:extLst>
          </p:cNvPr>
          <p:cNvSpPr/>
          <p:nvPr/>
        </p:nvSpPr>
        <p:spPr>
          <a:xfrm>
            <a:off x="8667745" y="1495547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</a:rPr>
              <a:t>GCP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667175-7F28-6984-FE00-8FE8DB6ADC87}"/>
              </a:ext>
            </a:extLst>
          </p:cNvPr>
          <p:cNvSpPr txBox="1"/>
          <p:nvPr/>
        </p:nvSpPr>
        <p:spPr>
          <a:xfrm>
            <a:off x="591707" y="3040837"/>
            <a:ext cx="282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핸드 </a:t>
            </a:r>
            <a:r>
              <a:rPr lang="ko-KR" altLang="en-US" b="1" dirty="0" err="1"/>
              <a:t>트래킹</a:t>
            </a:r>
            <a:endParaRPr lang="ko-KR" altLang="en-US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E9EC70-FB55-EDF0-1898-29B20367623F}"/>
              </a:ext>
            </a:extLst>
          </p:cNvPr>
          <p:cNvSpPr txBox="1"/>
          <p:nvPr/>
        </p:nvSpPr>
        <p:spPr>
          <a:xfrm>
            <a:off x="8773695" y="3040837"/>
            <a:ext cx="282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E26B47-8032-C7AD-01CB-5839A1DAE0F8}"/>
              </a:ext>
            </a:extLst>
          </p:cNvPr>
          <p:cNvSpPr txBox="1"/>
          <p:nvPr/>
        </p:nvSpPr>
        <p:spPr>
          <a:xfrm>
            <a:off x="4682698" y="3059720"/>
            <a:ext cx="282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앱 개발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00DC76-DE53-170A-29FF-B6235429F246}"/>
              </a:ext>
            </a:extLst>
          </p:cNvPr>
          <p:cNvSpPr txBox="1"/>
          <p:nvPr/>
        </p:nvSpPr>
        <p:spPr>
          <a:xfrm>
            <a:off x="591707" y="5650458"/>
            <a:ext cx="282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/>
              <a:t>수어</a:t>
            </a:r>
            <a:r>
              <a:rPr lang="ko-KR" altLang="en-US" b="1" dirty="0"/>
              <a:t> 번역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A6E5B4-D244-354A-BE95-3C9A1030005C}"/>
              </a:ext>
            </a:extLst>
          </p:cNvPr>
          <p:cNvSpPr txBox="1"/>
          <p:nvPr/>
        </p:nvSpPr>
        <p:spPr>
          <a:xfrm>
            <a:off x="8773695" y="5650458"/>
            <a:ext cx="282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/>
              <a:t>수어</a:t>
            </a:r>
            <a:r>
              <a:rPr lang="ko-KR" altLang="en-US" b="1" dirty="0"/>
              <a:t> 번역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9067F6C-5DFB-7853-3ED0-9C41F85E43B2}"/>
              </a:ext>
            </a:extLst>
          </p:cNvPr>
          <p:cNvSpPr/>
          <p:nvPr/>
        </p:nvSpPr>
        <p:spPr>
          <a:xfrm>
            <a:off x="4576760" y="4100574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 dirty="0">
                <a:solidFill>
                  <a:schemeClr val="tx1"/>
                </a:solidFill>
              </a:rPr>
              <a:t>CNN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C1662A-2103-831F-1586-56349301D245}"/>
              </a:ext>
            </a:extLst>
          </p:cNvPr>
          <p:cNvSpPr txBox="1"/>
          <p:nvPr/>
        </p:nvSpPr>
        <p:spPr>
          <a:xfrm>
            <a:off x="4682698" y="5650458"/>
            <a:ext cx="2826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/>
              <a:t>수어</a:t>
            </a:r>
            <a:r>
              <a:rPr lang="ko-KR" altLang="en-US" b="1" dirty="0"/>
              <a:t> 번역</a:t>
            </a:r>
          </a:p>
        </p:txBody>
      </p:sp>
    </p:spTree>
    <p:extLst>
      <p:ext uri="{BB962C8B-B14F-4D97-AF65-F5344CB8AC3E}">
        <p14:creationId xmlns:p14="http://schemas.microsoft.com/office/powerpoint/2010/main" val="275091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1008-2179-0698-DD0A-21EB766BE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D019BA-B8EC-CDC3-4A4C-0DBD33F2FA1A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1A28EAF9-A0C8-05F2-22CB-5A1A0F4FF250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D56D2-E4A9-F117-2681-6E24A4C0185C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Flow</a:t>
            </a:r>
            <a:endParaRPr lang="ko-KR" altLang="en-US" sz="4000" b="1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04DC2F4-5957-9C7E-4D69-E478A6C67846}"/>
              </a:ext>
            </a:extLst>
          </p:cNvPr>
          <p:cNvSpPr/>
          <p:nvPr/>
        </p:nvSpPr>
        <p:spPr>
          <a:xfrm>
            <a:off x="485775" y="2959131"/>
            <a:ext cx="1921523" cy="93973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수화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2CE4E57-17D0-5F64-642C-DCE6E842B060}"/>
              </a:ext>
            </a:extLst>
          </p:cNvPr>
          <p:cNvSpPr/>
          <p:nvPr/>
        </p:nvSpPr>
        <p:spPr>
          <a:xfrm>
            <a:off x="3138778" y="2949603"/>
            <a:ext cx="1921523" cy="93973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MTT</a:t>
            </a:r>
          </a:p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Model 1</a:t>
            </a:r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51E1C8CA-4D22-5AA3-C825-DC096477C18D}"/>
              </a:ext>
            </a:extLst>
          </p:cNvPr>
          <p:cNvSpPr/>
          <p:nvPr/>
        </p:nvSpPr>
        <p:spPr>
          <a:xfrm>
            <a:off x="6053039" y="1495553"/>
            <a:ext cx="1921523" cy="93973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Text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0C77789-428C-9FEF-E6BF-8581EDE74FD8}"/>
              </a:ext>
            </a:extLst>
          </p:cNvPr>
          <p:cNvSpPr/>
          <p:nvPr/>
        </p:nvSpPr>
        <p:spPr>
          <a:xfrm>
            <a:off x="6053038" y="4529020"/>
            <a:ext cx="1921523" cy="93973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Shortcut</a:t>
            </a:r>
          </a:p>
          <a:p>
            <a:pPr algn="ctr"/>
            <a:r>
              <a:rPr lang="en-US" altLang="ko-KR" sz="2400" b="1" dirty="0">
                <a:solidFill>
                  <a:schemeClr val="tx1"/>
                </a:solidFill>
              </a:rPr>
              <a:t>Model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en-US" altLang="ko-KR" sz="2400" b="1" dirty="0">
                <a:solidFill>
                  <a:schemeClr val="tx1"/>
                </a:solidFill>
              </a:rPr>
              <a:t>2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5D46186-C490-F8AC-EAB5-AD74CDE9B545}"/>
              </a:ext>
            </a:extLst>
          </p:cNvPr>
          <p:cNvSpPr/>
          <p:nvPr/>
        </p:nvSpPr>
        <p:spPr>
          <a:xfrm>
            <a:off x="8864663" y="1495553"/>
            <a:ext cx="1921523" cy="93973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</a:rPr>
              <a:t>플랫폼 연동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03DD4FE-9F27-C505-5673-CBBE6C41F903}"/>
              </a:ext>
            </a:extLst>
          </p:cNvPr>
          <p:cNvSpPr/>
          <p:nvPr/>
        </p:nvSpPr>
        <p:spPr>
          <a:xfrm>
            <a:off x="8864662" y="4529020"/>
            <a:ext cx="1921523" cy="93973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</a:rPr>
              <a:t>단축 기능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15291DFE-D1A1-C786-ABEC-39444BF7FCD8}"/>
              </a:ext>
            </a:extLst>
          </p:cNvPr>
          <p:cNvSpPr/>
          <p:nvPr/>
        </p:nvSpPr>
        <p:spPr>
          <a:xfrm>
            <a:off x="2589794" y="3174999"/>
            <a:ext cx="366487" cy="508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ACC327F6-0723-D06D-8979-0FFA4F7C818A}"/>
              </a:ext>
            </a:extLst>
          </p:cNvPr>
          <p:cNvSpPr/>
          <p:nvPr/>
        </p:nvSpPr>
        <p:spPr>
          <a:xfrm>
            <a:off x="8236369" y="1711421"/>
            <a:ext cx="366487" cy="508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09854A2-0E62-3373-CFB6-D5E3C97BEE71}"/>
              </a:ext>
            </a:extLst>
          </p:cNvPr>
          <p:cNvSpPr/>
          <p:nvPr/>
        </p:nvSpPr>
        <p:spPr>
          <a:xfrm>
            <a:off x="8236368" y="4744888"/>
            <a:ext cx="366487" cy="5080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굽음 43">
            <a:extLst>
              <a:ext uri="{FF2B5EF4-FFF2-40B4-BE49-F238E27FC236}">
                <a16:creationId xmlns:a16="http://schemas.microsoft.com/office/drawing/2014/main" id="{31DDB9E6-5FD2-EFD7-9ABB-2376548B04D4}"/>
              </a:ext>
            </a:extLst>
          </p:cNvPr>
          <p:cNvSpPr/>
          <p:nvPr/>
        </p:nvSpPr>
        <p:spPr>
          <a:xfrm>
            <a:off x="3968451" y="1748818"/>
            <a:ext cx="1921523" cy="1058431"/>
          </a:xfrm>
          <a:prstGeom prst="bentArrow">
            <a:avLst>
              <a:gd name="adj1" fmla="val 15476"/>
              <a:gd name="adj2" fmla="val 14451"/>
              <a:gd name="adj3" fmla="val 25000"/>
              <a:gd name="adj4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화살표: 굽음 46">
            <a:extLst>
              <a:ext uri="{FF2B5EF4-FFF2-40B4-BE49-F238E27FC236}">
                <a16:creationId xmlns:a16="http://schemas.microsoft.com/office/drawing/2014/main" id="{AF5886BF-0A77-DDB2-2F8A-BBBEBB913460}"/>
              </a:ext>
            </a:extLst>
          </p:cNvPr>
          <p:cNvSpPr/>
          <p:nvPr/>
        </p:nvSpPr>
        <p:spPr>
          <a:xfrm flipV="1">
            <a:off x="3968451" y="4031694"/>
            <a:ext cx="1921523" cy="1058431"/>
          </a:xfrm>
          <a:prstGeom prst="bentArrow">
            <a:avLst>
              <a:gd name="adj1" fmla="val 15476"/>
              <a:gd name="adj2" fmla="val 14451"/>
              <a:gd name="adj3" fmla="val 25000"/>
              <a:gd name="adj4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355FC-5DAE-CAEF-87D6-7A356925EEB4}"/>
              </a:ext>
            </a:extLst>
          </p:cNvPr>
          <p:cNvSpPr txBox="1"/>
          <p:nvPr/>
        </p:nvSpPr>
        <p:spPr>
          <a:xfrm>
            <a:off x="4376040" y="1324798"/>
            <a:ext cx="136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True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DDD851-B57B-E5D9-635E-1E1A97CC439B}"/>
              </a:ext>
            </a:extLst>
          </p:cNvPr>
          <p:cNvSpPr txBox="1"/>
          <p:nvPr/>
        </p:nvSpPr>
        <p:spPr>
          <a:xfrm>
            <a:off x="4422710" y="4314438"/>
            <a:ext cx="136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False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58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09729F-F7FD-DF24-24C8-B858182BCE03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8B912EE-07D5-8EF7-17B0-346EE3153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4" t="13773" r="29378" b="23182"/>
          <a:stretch>
            <a:fillRect/>
          </a:stretch>
        </p:blipFill>
        <p:spPr>
          <a:xfrm>
            <a:off x="4319089" y="2598087"/>
            <a:ext cx="3245359" cy="2808425"/>
          </a:xfrm>
          <a:prstGeom prst="rect">
            <a:avLst/>
          </a:prstGeom>
        </p:spPr>
      </p:pic>
      <p:pic>
        <p:nvPicPr>
          <p:cNvPr id="3082" name="Picture 10" descr="Google 어시스턴트 - Google Play 앱">
            <a:extLst>
              <a:ext uri="{FF2B5EF4-FFF2-40B4-BE49-F238E27FC236}">
                <a16:creationId xmlns:a16="http://schemas.microsoft.com/office/drawing/2014/main" id="{73984898-0155-486C-ED1C-220136BA0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737189" y="19772"/>
            <a:ext cx="2409157" cy="240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KT 기가지니 - Google Play 앱">
            <a:extLst>
              <a:ext uri="{FF2B5EF4-FFF2-40B4-BE49-F238E27FC236}">
                <a16:creationId xmlns:a16="http://schemas.microsoft.com/office/drawing/2014/main" id="{26CB7F8D-0F36-A104-2611-D6771599E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561" y="2352271"/>
            <a:ext cx="18669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8B5766D7-85C4-0BAB-F680-50FB4DD50F4B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5ABD9-1C16-5E3E-A260-6D3DC62DB965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Function</a:t>
            </a:r>
            <a:endParaRPr lang="ko-KR" altLang="en-US" sz="4000" b="1" dirty="0"/>
          </a:p>
        </p:txBody>
      </p:sp>
      <p:pic>
        <p:nvPicPr>
          <p:cNvPr id="10" name="Picture 4" descr="빅스비 (가상 비서) - 위키백과, 우리 모두의 백과사전">
            <a:extLst>
              <a:ext uri="{FF2B5EF4-FFF2-40B4-BE49-F238E27FC236}">
                <a16:creationId xmlns:a16="http://schemas.microsoft.com/office/drawing/2014/main" id="{ABAD0852-4725-2ED4-539F-2DF117FA2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490" y="2598087"/>
            <a:ext cx="1441827" cy="144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iri - Apple (KR)">
            <a:extLst>
              <a:ext uri="{FF2B5EF4-FFF2-40B4-BE49-F238E27FC236}">
                <a16:creationId xmlns:a16="http://schemas.microsoft.com/office/drawing/2014/main" id="{E8BB0CF5-C938-92B9-2331-05C106A59C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40" t="18792" r="33086" b="20634"/>
          <a:stretch>
            <a:fillRect/>
          </a:stretch>
        </p:blipFill>
        <p:spPr bwMode="auto">
          <a:xfrm>
            <a:off x="8107973" y="4959878"/>
            <a:ext cx="1527416" cy="142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네이버 파파고 - AI 통번역 - Google Play 앱">
            <a:extLst>
              <a:ext uri="{FF2B5EF4-FFF2-40B4-BE49-F238E27FC236}">
                <a16:creationId xmlns:a16="http://schemas.microsoft.com/office/drawing/2014/main" id="{11595E10-95E9-4E45-9B0B-DDDA10828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657" y="4784013"/>
            <a:ext cx="2131836" cy="2131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52674D-8C90-195A-42C2-B8DA95B98665}"/>
              </a:ext>
            </a:extLst>
          </p:cNvPr>
          <p:cNvCxnSpPr>
            <a:cxnSpLocks/>
          </p:cNvCxnSpPr>
          <p:nvPr/>
        </p:nvCxnSpPr>
        <p:spPr>
          <a:xfrm>
            <a:off x="5976099" y="2052735"/>
            <a:ext cx="0" cy="67695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373CEA-6116-9B64-9A3E-08575F2677A2}"/>
              </a:ext>
            </a:extLst>
          </p:cNvPr>
          <p:cNvCxnSpPr>
            <a:cxnSpLocks/>
          </p:cNvCxnSpPr>
          <p:nvPr/>
        </p:nvCxnSpPr>
        <p:spPr>
          <a:xfrm>
            <a:off x="3468461" y="3217506"/>
            <a:ext cx="697826" cy="11089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CC83EA7-6DB4-0833-92AA-7FB887F1FE5F}"/>
              </a:ext>
            </a:extLst>
          </p:cNvPr>
          <p:cNvCxnSpPr>
            <a:cxnSpLocks/>
          </p:cNvCxnSpPr>
          <p:nvPr/>
        </p:nvCxnSpPr>
        <p:spPr>
          <a:xfrm flipH="1">
            <a:off x="3909527" y="4706076"/>
            <a:ext cx="623434" cy="4310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880A5EF-911D-16EB-EEF9-A694D6B7CF85}"/>
              </a:ext>
            </a:extLst>
          </p:cNvPr>
          <p:cNvCxnSpPr>
            <a:cxnSpLocks/>
          </p:cNvCxnSpPr>
          <p:nvPr/>
        </p:nvCxnSpPr>
        <p:spPr>
          <a:xfrm flipH="1">
            <a:off x="7850140" y="3429000"/>
            <a:ext cx="883313" cy="13775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236866D-F4F1-D59E-E1AB-2A6729130417}"/>
              </a:ext>
            </a:extLst>
          </p:cNvPr>
          <p:cNvCxnSpPr>
            <a:cxnSpLocks/>
          </p:cNvCxnSpPr>
          <p:nvPr/>
        </p:nvCxnSpPr>
        <p:spPr>
          <a:xfrm>
            <a:off x="7295915" y="4795370"/>
            <a:ext cx="654859" cy="35314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92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09729F-F7FD-DF24-24C8-B858182BCE03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8B5766D7-85C4-0BAB-F680-50FB4DD50F4B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05ABD9-1C16-5E3E-A260-6D3DC62DB965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Function</a:t>
            </a:r>
            <a:endParaRPr lang="ko-KR" alt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99113-6FB7-467F-83F5-6030E5CE8669}"/>
              </a:ext>
            </a:extLst>
          </p:cNvPr>
          <p:cNvSpPr txBox="1"/>
          <p:nvPr/>
        </p:nvSpPr>
        <p:spPr>
          <a:xfrm>
            <a:off x="847725" y="5703775"/>
            <a:ext cx="224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solidFill>
                  <a:srgbClr val="0070C0"/>
                </a:solidFill>
              </a:rPr>
              <a:t>수어</a:t>
            </a:r>
            <a:r>
              <a:rPr lang="ko-KR" altLang="en-US" sz="2400" b="1" dirty="0">
                <a:solidFill>
                  <a:srgbClr val="0070C0"/>
                </a:solidFill>
              </a:rPr>
              <a:t> 단축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653F1-9DBA-4D53-FAE9-5BB303C3D867}"/>
              </a:ext>
            </a:extLst>
          </p:cNvPr>
          <p:cNvSpPr txBox="1"/>
          <p:nvPr/>
        </p:nvSpPr>
        <p:spPr>
          <a:xfrm>
            <a:off x="847724" y="6158238"/>
            <a:ext cx="4333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특정 손동작으로 기능을 </a:t>
            </a:r>
            <a:r>
              <a:rPr lang="ko-KR" altLang="en-US" sz="2000" b="1" dirty="0">
                <a:solidFill>
                  <a:srgbClr val="FF0000"/>
                </a:solidFill>
              </a:rPr>
              <a:t>바인딩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99D750E-1566-EF5B-7CE3-DD2F6717308B}"/>
              </a:ext>
            </a:extLst>
          </p:cNvPr>
          <p:cNvCxnSpPr>
            <a:cxnSpLocks/>
          </p:cNvCxnSpPr>
          <p:nvPr/>
        </p:nvCxnSpPr>
        <p:spPr>
          <a:xfrm>
            <a:off x="6143625" y="2990850"/>
            <a:ext cx="196215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0E76974-DFEE-A676-A904-06770BB752D1}"/>
              </a:ext>
            </a:extLst>
          </p:cNvPr>
          <p:cNvCxnSpPr>
            <a:cxnSpLocks/>
          </p:cNvCxnSpPr>
          <p:nvPr/>
        </p:nvCxnSpPr>
        <p:spPr>
          <a:xfrm>
            <a:off x="9220200" y="2990850"/>
            <a:ext cx="196215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5849630-340A-E02A-3F5C-B5D5FA67ED00}"/>
              </a:ext>
            </a:extLst>
          </p:cNvPr>
          <p:cNvCxnSpPr>
            <a:cxnSpLocks/>
          </p:cNvCxnSpPr>
          <p:nvPr/>
        </p:nvCxnSpPr>
        <p:spPr>
          <a:xfrm>
            <a:off x="6210300" y="5286375"/>
            <a:ext cx="196215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DCA1769-0FDE-2B21-9E0B-6E95B639962D}"/>
              </a:ext>
            </a:extLst>
          </p:cNvPr>
          <p:cNvCxnSpPr>
            <a:cxnSpLocks/>
          </p:cNvCxnSpPr>
          <p:nvPr/>
        </p:nvCxnSpPr>
        <p:spPr>
          <a:xfrm>
            <a:off x="9220200" y="5286375"/>
            <a:ext cx="196215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C6BE0A6-631E-E52C-220E-22556EBA0FAA}"/>
              </a:ext>
            </a:extLst>
          </p:cNvPr>
          <p:cNvSpPr txBox="1"/>
          <p:nvPr/>
        </p:nvSpPr>
        <p:spPr>
          <a:xfrm>
            <a:off x="6143625" y="3199701"/>
            <a:ext cx="247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간편 주문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3347B8-8DBB-3CAB-0437-D39AABDC2FF2}"/>
              </a:ext>
            </a:extLst>
          </p:cNvPr>
          <p:cNvSpPr txBox="1"/>
          <p:nvPr/>
        </p:nvSpPr>
        <p:spPr>
          <a:xfrm>
            <a:off x="9220200" y="3186932"/>
            <a:ext cx="247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빠른 길 찾기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20A1E-97CF-D92D-2B7F-14891A84A5E1}"/>
              </a:ext>
            </a:extLst>
          </p:cNvPr>
          <p:cNvSpPr txBox="1"/>
          <p:nvPr/>
        </p:nvSpPr>
        <p:spPr>
          <a:xfrm>
            <a:off x="6143625" y="5431796"/>
            <a:ext cx="247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자동차 시동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FFDECE-5D25-FA94-F240-3139C7BDC8BC}"/>
              </a:ext>
            </a:extLst>
          </p:cNvPr>
          <p:cNvSpPr txBox="1"/>
          <p:nvPr/>
        </p:nvSpPr>
        <p:spPr>
          <a:xfrm>
            <a:off x="9231323" y="5431796"/>
            <a:ext cx="247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긴급 신고</a:t>
            </a:r>
          </a:p>
        </p:txBody>
      </p:sp>
      <p:pic>
        <p:nvPicPr>
          <p:cNvPr id="2" name="Picture 2" descr="지상파 메인뉴스서 시작된 '수어통역'…장애인 시청권·정보 접근권 확대 발판 삼아야 &lt; 이슈추적 &lt; 사건/사고 &lt; 사회 &lt; 기사본문 -  투데이신문">
            <a:extLst>
              <a:ext uri="{FF2B5EF4-FFF2-40B4-BE49-F238E27FC236}">
                <a16:creationId xmlns:a16="http://schemas.microsoft.com/office/drawing/2014/main" id="{DB822493-2CA2-4E87-5753-3862F8E5C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404838"/>
            <a:ext cx="4432300" cy="4213807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그래픽 25" descr="핀 있는 지도 단색으로 채워진">
            <a:extLst>
              <a:ext uri="{FF2B5EF4-FFF2-40B4-BE49-F238E27FC236}">
                <a16:creationId xmlns:a16="http://schemas.microsoft.com/office/drawing/2014/main" id="{4C5DB733-86EE-23E6-C13C-B7BB60942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9604" y="1789470"/>
            <a:ext cx="1103339" cy="1103339"/>
          </a:xfrm>
          <a:prstGeom prst="rect">
            <a:avLst/>
          </a:prstGeom>
        </p:spPr>
      </p:pic>
      <p:pic>
        <p:nvPicPr>
          <p:cNvPr id="32" name="그래픽 31" descr="수신기 단색으로 채워진">
            <a:extLst>
              <a:ext uri="{FF2B5EF4-FFF2-40B4-BE49-F238E27FC236}">
                <a16:creationId xmlns:a16="http://schemas.microsoft.com/office/drawing/2014/main" id="{DB8C839E-6759-39B3-24C1-86BCD58B6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9604" y="3892237"/>
            <a:ext cx="1266819" cy="1266819"/>
          </a:xfrm>
          <a:prstGeom prst="rect">
            <a:avLst/>
          </a:prstGeom>
        </p:spPr>
      </p:pic>
      <p:pic>
        <p:nvPicPr>
          <p:cNvPr id="20" name="그래픽 19" descr="오토바이 단색으로 채워진">
            <a:extLst>
              <a:ext uri="{FF2B5EF4-FFF2-40B4-BE49-F238E27FC236}">
                <a16:creationId xmlns:a16="http://schemas.microsoft.com/office/drawing/2014/main" id="{AAAE31E5-35A0-7E8D-A534-60235C956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805" y="1672728"/>
            <a:ext cx="1454263" cy="1454263"/>
          </a:xfrm>
          <a:prstGeom prst="rect">
            <a:avLst/>
          </a:prstGeom>
        </p:spPr>
      </p:pic>
      <p:pic>
        <p:nvPicPr>
          <p:cNvPr id="23" name="그래픽 22" descr="자동차 단색으로 채워진">
            <a:extLst>
              <a:ext uri="{FF2B5EF4-FFF2-40B4-BE49-F238E27FC236}">
                <a16:creationId xmlns:a16="http://schemas.microsoft.com/office/drawing/2014/main" id="{F5AB9D76-6C03-C604-0CBC-061CC33D6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1212" y="4098320"/>
            <a:ext cx="1520325" cy="152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19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CED1-65DA-FE19-D7E1-9FA0BDDF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BC0EC972-F4E7-560B-76C8-C824B80DB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633" y="928309"/>
            <a:ext cx="2303800" cy="52308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E5F7961-03AB-84F0-A069-9239DE223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049" y="872576"/>
            <a:ext cx="2641582" cy="5308262"/>
          </a:xfrm>
          <a:prstGeom prst="roundRect">
            <a:avLst>
              <a:gd name="adj" fmla="val 15607"/>
            </a:avLst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35B9578-504D-EF7B-5196-783FC7D024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60" y="928309"/>
            <a:ext cx="2308242" cy="5231143"/>
          </a:xfrm>
          <a:prstGeom prst="round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FFAC8FA-B59A-6EBE-1294-5A7EF88877B4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B7AB14A-5F8B-3180-6E25-C1182E4F5860}"/>
              </a:ext>
            </a:extLst>
          </p:cNvPr>
          <p:cNvSpPr/>
          <p:nvPr/>
        </p:nvSpPr>
        <p:spPr>
          <a:xfrm>
            <a:off x="463151" y="863245"/>
            <a:ext cx="2674946" cy="537615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E28ECE8-D0E6-5340-5B6E-10915AFCAEE8}"/>
              </a:ext>
            </a:extLst>
          </p:cNvPr>
          <p:cNvSpPr/>
          <p:nvPr/>
        </p:nvSpPr>
        <p:spPr>
          <a:xfrm>
            <a:off x="1254487" y="974551"/>
            <a:ext cx="1085142" cy="24613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FAFDAC2-FC42-2D73-D72E-70740B9317EF}"/>
              </a:ext>
            </a:extLst>
          </p:cNvPr>
          <p:cNvGrpSpPr>
            <a:grpSpLocks noChangeAspect="1"/>
          </p:cNvGrpSpPr>
          <p:nvPr/>
        </p:nvGrpSpPr>
        <p:grpSpPr>
          <a:xfrm>
            <a:off x="1311662" y="2668600"/>
            <a:ext cx="865951" cy="865949"/>
            <a:chOff x="4777277" y="3229017"/>
            <a:chExt cx="1673212" cy="16241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52DD3D5-71CD-558B-FC9A-12BBAF8C3C44}"/>
                </a:ext>
              </a:extLst>
            </p:cNvPr>
            <p:cNvSpPr/>
            <p:nvPr/>
          </p:nvSpPr>
          <p:spPr>
            <a:xfrm>
              <a:off x="5010489" y="3252317"/>
              <a:ext cx="1440000" cy="1440000"/>
            </a:xfrm>
            <a:prstGeom prst="roundRect">
              <a:avLst/>
            </a:prstGeom>
            <a:gradFill flip="none" rotWithShape="1">
              <a:gsLst>
                <a:gs pos="0">
                  <a:srgbClr val="0000FF"/>
                </a:gs>
                <a:gs pos="99968">
                  <a:srgbClr val="C7D5ED"/>
                </a:gs>
                <a:gs pos="99937">
                  <a:srgbClr val="C7D5ED"/>
                </a:gs>
                <a:gs pos="99875">
                  <a:srgbClr val="C6D4ED"/>
                </a:gs>
                <a:gs pos="67000">
                  <a:srgbClr val="B688FF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23D293A-3370-83E1-4EDD-F267199B4B2E}"/>
                </a:ext>
              </a:extLst>
            </p:cNvPr>
            <p:cNvSpPr/>
            <p:nvPr/>
          </p:nvSpPr>
          <p:spPr>
            <a:xfrm rot="2700000">
              <a:off x="5374389" y="3578117"/>
              <a:ext cx="720000" cy="72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C9615D8-90D5-BDEF-5204-EC2EAC6A5EB7}"/>
                </a:ext>
              </a:extLst>
            </p:cNvPr>
            <p:cNvSpPr/>
            <p:nvPr/>
          </p:nvSpPr>
          <p:spPr>
            <a:xfrm rot="2700000">
              <a:off x="5715959" y="4237575"/>
              <a:ext cx="975542" cy="255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6CEF1AC-7C4C-902A-4F4C-C200C6E1953B}"/>
                </a:ext>
              </a:extLst>
            </p:cNvPr>
            <p:cNvSpPr/>
            <p:nvPr/>
          </p:nvSpPr>
          <p:spPr>
            <a:xfrm rot="8100000">
              <a:off x="4777277" y="4237575"/>
              <a:ext cx="975542" cy="255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6DD4F87-D92C-EC8A-D793-249E2410C0BB}"/>
                </a:ext>
              </a:extLst>
            </p:cNvPr>
            <p:cNvSpPr/>
            <p:nvPr/>
          </p:nvSpPr>
          <p:spPr>
            <a:xfrm>
              <a:off x="4999889" y="3229017"/>
              <a:ext cx="1440000" cy="1440000"/>
            </a:xfrm>
            <a:prstGeom prst="roundRect">
              <a:avLst/>
            </a:prstGeom>
            <a:noFill/>
            <a:ln w="50800">
              <a:solidFill>
                <a:srgbClr val="879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A8ED48A-2490-8222-D14C-319716E35B01}"/>
              </a:ext>
            </a:extLst>
          </p:cNvPr>
          <p:cNvSpPr/>
          <p:nvPr/>
        </p:nvSpPr>
        <p:spPr>
          <a:xfrm>
            <a:off x="3323106" y="863245"/>
            <a:ext cx="2674946" cy="537615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B1227F-9603-8B9E-32E2-1D8F1D564D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21" y="1097616"/>
            <a:ext cx="2307600" cy="5073891"/>
          </a:xfrm>
          <a:prstGeom prst="round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219BEB2-DE35-A1E8-2FEE-2D5620E7E3CD}"/>
              </a:ext>
            </a:extLst>
          </p:cNvPr>
          <p:cNvSpPr/>
          <p:nvPr/>
        </p:nvSpPr>
        <p:spPr>
          <a:xfrm>
            <a:off x="4106850" y="950504"/>
            <a:ext cx="1085142" cy="24613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2727EE1-FB62-E8F0-8E05-B1F04BDF22F8}"/>
              </a:ext>
            </a:extLst>
          </p:cNvPr>
          <p:cNvSpPr/>
          <p:nvPr/>
        </p:nvSpPr>
        <p:spPr>
          <a:xfrm>
            <a:off x="6183061" y="841069"/>
            <a:ext cx="2674946" cy="537615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BDF977-12FA-2EE0-B0C3-A729E4925F90}"/>
              </a:ext>
            </a:extLst>
          </p:cNvPr>
          <p:cNvSpPr/>
          <p:nvPr/>
        </p:nvSpPr>
        <p:spPr>
          <a:xfrm>
            <a:off x="6977962" y="928309"/>
            <a:ext cx="1085142" cy="24613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6595589-5555-58BA-E414-A4FF502C4149}"/>
              </a:ext>
            </a:extLst>
          </p:cNvPr>
          <p:cNvSpPr/>
          <p:nvPr/>
        </p:nvSpPr>
        <p:spPr>
          <a:xfrm>
            <a:off x="9848805" y="950504"/>
            <a:ext cx="1085142" cy="24613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48CAF46-574B-3EAE-BEA7-4F7689EC02B7}"/>
              </a:ext>
            </a:extLst>
          </p:cNvPr>
          <p:cNvSpPr/>
          <p:nvPr/>
        </p:nvSpPr>
        <p:spPr>
          <a:xfrm>
            <a:off x="9043016" y="841069"/>
            <a:ext cx="2674946" cy="537615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528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08D3F5-E46C-9DFF-2661-5FDDCABCFE61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" name="원호 37">
            <a:extLst>
              <a:ext uri="{FF2B5EF4-FFF2-40B4-BE49-F238E27FC236}">
                <a16:creationId xmlns:a16="http://schemas.microsoft.com/office/drawing/2014/main" id="{9FCDEBBF-0E8A-F75C-1C5A-4E2D48851FC1}"/>
              </a:ext>
            </a:extLst>
          </p:cNvPr>
          <p:cNvSpPr/>
          <p:nvPr/>
        </p:nvSpPr>
        <p:spPr>
          <a:xfrm>
            <a:off x="4878248" y="1817548"/>
            <a:ext cx="2880000" cy="2880000"/>
          </a:xfrm>
          <a:prstGeom prst="arc">
            <a:avLst/>
          </a:prstGeom>
          <a:solidFill>
            <a:srgbClr val="00B0F0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원호 38">
            <a:extLst>
              <a:ext uri="{FF2B5EF4-FFF2-40B4-BE49-F238E27FC236}">
                <a16:creationId xmlns:a16="http://schemas.microsoft.com/office/drawing/2014/main" id="{23E7DF44-C7FC-6F4B-1BF2-1072179952D1}"/>
              </a:ext>
            </a:extLst>
          </p:cNvPr>
          <p:cNvSpPr/>
          <p:nvPr/>
        </p:nvSpPr>
        <p:spPr>
          <a:xfrm rot="16200000">
            <a:off x="4535350" y="1817548"/>
            <a:ext cx="2880000" cy="2880000"/>
          </a:xfrm>
          <a:prstGeom prst="arc">
            <a:avLst/>
          </a:prstGeom>
          <a:solidFill>
            <a:srgbClr val="00B0F0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원호 39">
            <a:extLst>
              <a:ext uri="{FF2B5EF4-FFF2-40B4-BE49-F238E27FC236}">
                <a16:creationId xmlns:a16="http://schemas.microsoft.com/office/drawing/2014/main" id="{4FE31B2D-999C-9B75-8878-715BA25DD368}"/>
              </a:ext>
            </a:extLst>
          </p:cNvPr>
          <p:cNvSpPr/>
          <p:nvPr/>
        </p:nvSpPr>
        <p:spPr>
          <a:xfrm rot="10800000">
            <a:off x="4535350" y="2160452"/>
            <a:ext cx="2880000" cy="2880000"/>
          </a:xfrm>
          <a:prstGeom prst="arc">
            <a:avLst/>
          </a:prstGeom>
          <a:solidFill>
            <a:srgbClr val="00B0F0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원호 40">
            <a:extLst>
              <a:ext uri="{FF2B5EF4-FFF2-40B4-BE49-F238E27FC236}">
                <a16:creationId xmlns:a16="http://schemas.microsoft.com/office/drawing/2014/main" id="{1634EABE-695C-9453-3617-0B71080208CB}"/>
              </a:ext>
            </a:extLst>
          </p:cNvPr>
          <p:cNvSpPr/>
          <p:nvPr/>
        </p:nvSpPr>
        <p:spPr>
          <a:xfrm rot="5400000">
            <a:off x="4878248" y="2160452"/>
            <a:ext cx="2880000" cy="2880000"/>
          </a:xfrm>
          <a:prstGeom prst="arc">
            <a:avLst/>
          </a:prstGeom>
          <a:solidFill>
            <a:srgbClr val="00B0F0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1E023B9-3A43-9CBF-5D3D-9478FEE188C4}"/>
              </a:ext>
            </a:extLst>
          </p:cNvPr>
          <p:cNvCxnSpPr>
            <a:cxnSpLocks/>
          </p:cNvCxnSpPr>
          <p:nvPr/>
        </p:nvCxnSpPr>
        <p:spPr>
          <a:xfrm>
            <a:off x="4192451" y="1758672"/>
            <a:ext cx="685797" cy="61251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C1CDB29-2DB3-5F22-BA4D-FD626898BC65}"/>
              </a:ext>
            </a:extLst>
          </p:cNvPr>
          <p:cNvCxnSpPr>
            <a:cxnSpLocks/>
          </p:cNvCxnSpPr>
          <p:nvPr/>
        </p:nvCxnSpPr>
        <p:spPr>
          <a:xfrm flipV="1">
            <a:off x="4382948" y="4630586"/>
            <a:ext cx="579282" cy="40986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165DCBFA-C832-F16E-238B-5C71029E72C0}"/>
              </a:ext>
            </a:extLst>
          </p:cNvPr>
          <p:cNvCxnSpPr>
            <a:cxnSpLocks/>
          </p:cNvCxnSpPr>
          <p:nvPr/>
        </p:nvCxnSpPr>
        <p:spPr>
          <a:xfrm flipV="1">
            <a:off x="7413081" y="2173009"/>
            <a:ext cx="169178" cy="13215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4F63BAD4-6E4C-9EE5-A13D-B4CE38C05250}"/>
              </a:ext>
            </a:extLst>
          </p:cNvPr>
          <p:cNvCxnSpPr>
            <a:cxnSpLocks/>
          </p:cNvCxnSpPr>
          <p:nvPr/>
        </p:nvCxnSpPr>
        <p:spPr>
          <a:xfrm flipH="1" flipV="1">
            <a:off x="7191624" y="4755056"/>
            <a:ext cx="398211" cy="39877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순서도: 연결자 49">
            <a:extLst>
              <a:ext uri="{FF2B5EF4-FFF2-40B4-BE49-F238E27FC236}">
                <a16:creationId xmlns:a16="http://schemas.microsoft.com/office/drawing/2014/main" id="{CBE6C6AE-0527-2D4E-6C11-1291B44C9144}"/>
              </a:ext>
            </a:extLst>
          </p:cNvPr>
          <p:cNvSpPr/>
          <p:nvPr/>
        </p:nvSpPr>
        <p:spPr>
          <a:xfrm>
            <a:off x="5426800" y="2689083"/>
            <a:ext cx="1440000" cy="1440000"/>
          </a:xfrm>
          <a:prstGeom prst="flowChartConnector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7DE6DF-BEAD-1A6D-F293-D4D88B9D1205}"/>
              </a:ext>
            </a:extLst>
          </p:cNvPr>
          <p:cNvSpPr txBox="1"/>
          <p:nvPr/>
        </p:nvSpPr>
        <p:spPr>
          <a:xfrm>
            <a:off x="5541736" y="3228945"/>
            <a:ext cx="18341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기대효과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238A1359-414B-BA54-2C34-F8E9A42DC443}"/>
              </a:ext>
            </a:extLst>
          </p:cNvPr>
          <p:cNvCxnSpPr>
            <a:cxnSpLocks/>
          </p:cNvCxnSpPr>
          <p:nvPr/>
        </p:nvCxnSpPr>
        <p:spPr>
          <a:xfrm>
            <a:off x="3527425" y="1758672"/>
            <a:ext cx="665026" cy="101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7C30B16-3C3D-F8F6-3BBD-7F1BB1397018}"/>
              </a:ext>
            </a:extLst>
          </p:cNvPr>
          <p:cNvCxnSpPr>
            <a:cxnSpLocks/>
          </p:cNvCxnSpPr>
          <p:nvPr/>
        </p:nvCxnSpPr>
        <p:spPr>
          <a:xfrm>
            <a:off x="3942622" y="5040451"/>
            <a:ext cx="467176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24DEAFC-3CBD-5048-546A-D0F89AD0EFD3}"/>
              </a:ext>
            </a:extLst>
          </p:cNvPr>
          <p:cNvCxnSpPr>
            <a:cxnSpLocks/>
          </p:cNvCxnSpPr>
          <p:nvPr/>
        </p:nvCxnSpPr>
        <p:spPr>
          <a:xfrm>
            <a:off x="7567205" y="2172919"/>
            <a:ext cx="665026" cy="101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B4E5AFD-D3A7-9968-BBD6-F983BC5B04A2}"/>
              </a:ext>
            </a:extLst>
          </p:cNvPr>
          <p:cNvCxnSpPr>
            <a:cxnSpLocks/>
          </p:cNvCxnSpPr>
          <p:nvPr/>
        </p:nvCxnSpPr>
        <p:spPr>
          <a:xfrm>
            <a:off x="7589835" y="5155555"/>
            <a:ext cx="665026" cy="101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1997A95-B257-80A0-40AF-A2EF74E1B486}"/>
              </a:ext>
            </a:extLst>
          </p:cNvPr>
          <p:cNvSpPr/>
          <p:nvPr/>
        </p:nvSpPr>
        <p:spPr>
          <a:xfrm>
            <a:off x="317502" y="1012599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536363D-B65D-839C-3DFC-1A714BBAC8EE}"/>
              </a:ext>
            </a:extLst>
          </p:cNvPr>
          <p:cNvSpPr/>
          <p:nvPr/>
        </p:nvSpPr>
        <p:spPr>
          <a:xfrm>
            <a:off x="729663" y="4294378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555395A-EAFF-EF77-04D3-008A08B43706}"/>
              </a:ext>
            </a:extLst>
          </p:cNvPr>
          <p:cNvSpPr/>
          <p:nvPr/>
        </p:nvSpPr>
        <p:spPr>
          <a:xfrm>
            <a:off x="8597855" y="1482853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D826317A-F88A-DBF3-CD27-6598A95C5805}"/>
              </a:ext>
            </a:extLst>
          </p:cNvPr>
          <p:cNvSpPr/>
          <p:nvPr/>
        </p:nvSpPr>
        <p:spPr>
          <a:xfrm>
            <a:off x="8372609" y="4414572"/>
            <a:ext cx="3038474" cy="1492145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EB45875F-A63C-F33F-A87B-0C5CEB60211D}"/>
              </a:ext>
            </a:extLst>
          </p:cNvPr>
          <p:cNvSpPr txBox="1"/>
          <p:nvPr/>
        </p:nvSpPr>
        <p:spPr>
          <a:xfrm>
            <a:off x="587277" y="1484621"/>
            <a:ext cx="2631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언어장애인의 일상생활 문제 개선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D3F5EC29-3A63-0D0D-F060-EE6F9F3AFB7F}"/>
              </a:ext>
            </a:extLst>
          </p:cNvPr>
          <p:cNvSpPr txBox="1"/>
          <p:nvPr/>
        </p:nvSpPr>
        <p:spPr>
          <a:xfrm>
            <a:off x="1111861" y="4912594"/>
            <a:ext cx="240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플랫폼 접근성 강화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68AFD4D-2969-C896-6007-427E9849389B}"/>
              </a:ext>
            </a:extLst>
          </p:cNvPr>
          <p:cNvSpPr txBox="1"/>
          <p:nvPr/>
        </p:nvSpPr>
        <p:spPr>
          <a:xfrm>
            <a:off x="9165568" y="2051914"/>
            <a:ext cx="2352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확장성과 범용성 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FC15193A-8FFF-FBDF-D22A-567D4708C75E}"/>
              </a:ext>
            </a:extLst>
          </p:cNvPr>
          <p:cNvSpPr txBox="1"/>
          <p:nvPr/>
        </p:nvSpPr>
        <p:spPr>
          <a:xfrm>
            <a:off x="8431933" y="5022249"/>
            <a:ext cx="311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사회적 기업과 연계 가능성</a:t>
            </a:r>
            <a:endParaRPr lang="ko-KR" altLang="en-US" b="1" dirty="0"/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368CD61E-87F6-FBB4-AA6F-7E4136746318}"/>
              </a:ext>
            </a:extLst>
          </p:cNvPr>
          <p:cNvSpPr/>
          <p:nvPr/>
        </p:nvSpPr>
        <p:spPr>
          <a:xfrm>
            <a:off x="654661" y="871452"/>
            <a:ext cx="45720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3584469B-E233-AFD8-CC30-19344A738DC6}"/>
              </a:ext>
            </a:extLst>
          </p:cNvPr>
          <p:cNvSpPr txBox="1"/>
          <p:nvPr/>
        </p:nvSpPr>
        <p:spPr>
          <a:xfrm>
            <a:off x="560499" y="464309"/>
            <a:ext cx="150495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1</a:t>
            </a:r>
            <a:endParaRPr lang="ko-KR" altLang="en-US" sz="5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D22A47EF-9F27-A239-1B0E-A3E8697BF01A}"/>
              </a:ext>
            </a:extLst>
          </p:cNvPr>
          <p:cNvSpPr/>
          <p:nvPr/>
        </p:nvSpPr>
        <p:spPr>
          <a:xfrm>
            <a:off x="8936968" y="1313250"/>
            <a:ext cx="45720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C24A901E-3802-AE19-A335-D4C964CA501D}"/>
              </a:ext>
            </a:extLst>
          </p:cNvPr>
          <p:cNvSpPr txBox="1"/>
          <p:nvPr/>
        </p:nvSpPr>
        <p:spPr>
          <a:xfrm>
            <a:off x="8853833" y="912831"/>
            <a:ext cx="150495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endParaRPr lang="ko-KR" altLang="en-US" sz="5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39" name="직사각형 1038">
            <a:extLst>
              <a:ext uri="{FF2B5EF4-FFF2-40B4-BE49-F238E27FC236}">
                <a16:creationId xmlns:a16="http://schemas.microsoft.com/office/drawing/2014/main" id="{B56420AB-FA31-083D-F330-A75A985B410D}"/>
              </a:ext>
            </a:extLst>
          </p:cNvPr>
          <p:cNvSpPr/>
          <p:nvPr/>
        </p:nvSpPr>
        <p:spPr>
          <a:xfrm>
            <a:off x="1084374" y="4123313"/>
            <a:ext cx="45720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1C6BAE8-2A6E-7C3F-B575-A2609FEF3C54}"/>
              </a:ext>
            </a:extLst>
          </p:cNvPr>
          <p:cNvSpPr txBox="1"/>
          <p:nvPr/>
        </p:nvSpPr>
        <p:spPr>
          <a:xfrm>
            <a:off x="1017155" y="3734082"/>
            <a:ext cx="150495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endParaRPr lang="ko-KR" altLang="en-US" sz="5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E9D17F0C-3543-4552-2554-102C70A5CB48}"/>
              </a:ext>
            </a:extLst>
          </p:cNvPr>
          <p:cNvSpPr/>
          <p:nvPr/>
        </p:nvSpPr>
        <p:spPr>
          <a:xfrm>
            <a:off x="8751549" y="4230536"/>
            <a:ext cx="45720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07AF375B-FD40-F66E-0D35-5103FB9A24B2}"/>
              </a:ext>
            </a:extLst>
          </p:cNvPr>
          <p:cNvSpPr txBox="1"/>
          <p:nvPr/>
        </p:nvSpPr>
        <p:spPr>
          <a:xfrm>
            <a:off x="8693423" y="3862824"/>
            <a:ext cx="150495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5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endParaRPr lang="ko-KR" altLang="en-US" sz="5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93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61A323C-219B-BF8B-C950-15BEA574F7B4}"/>
              </a:ext>
            </a:extLst>
          </p:cNvPr>
          <p:cNvSpPr/>
          <p:nvPr/>
        </p:nvSpPr>
        <p:spPr>
          <a:xfrm>
            <a:off x="307631" y="1838861"/>
            <a:ext cx="2603520" cy="4095408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F2D089-91D8-438A-2420-85F1B26C5D75}"/>
              </a:ext>
            </a:extLst>
          </p:cNvPr>
          <p:cNvSpPr txBox="1"/>
          <p:nvPr/>
        </p:nvSpPr>
        <p:spPr>
          <a:xfrm>
            <a:off x="480385" y="2033246"/>
            <a:ext cx="2258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66FF"/>
                </a:solidFill>
              </a:rPr>
              <a:t>UI</a:t>
            </a:r>
            <a:endParaRPr lang="ko-KR" altLang="en-US" sz="3200" b="1" dirty="0">
              <a:solidFill>
                <a:srgbClr val="0066FF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1657D2-3ABA-89D2-6AD8-D25AF233CCE4}"/>
              </a:ext>
            </a:extLst>
          </p:cNvPr>
          <p:cNvSpPr txBox="1"/>
          <p:nvPr/>
        </p:nvSpPr>
        <p:spPr>
          <a:xfrm>
            <a:off x="480382" y="4515188"/>
            <a:ext cx="2258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</a:rPr>
              <a:t>202363004 </a:t>
            </a:r>
            <a:r>
              <a:rPr lang="ko-KR" altLang="en-US" sz="2800" b="1" dirty="0">
                <a:solidFill>
                  <a:srgbClr val="002060"/>
                </a:solidFill>
              </a:rPr>
              <a:t>김건우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B29367D-44BD-7083-09E9-7EAC4D188C96}"/>
              </a:ext>
            </a:extLst>
          </p:cNvPr>
          <p:cNvSpPr/>
          <p:nvPr/>
        </p:nvSpPr>
        <p:spPr>
          <a:xfrm>
            <a:off x="3315199" y="1838861"/>
            <a:ext cx="2603520" cy="4095408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11D1E77-5E8A-C400-9506-1D1ADCD5E7B8}"/>
              </a:ext>
            </a:extLst>
          </p:cNvPr>
          <p:cNvSpPr txBox="1"/>
          <p:nvPr/>
        </p:nvSpPr>
        <p:spPr>
          <a:xfrm>
            <a:off x="3487953" y="2033246"/>
            <a:ext cx="2258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66FF"/>
                </a:solidFill>
              </a:rPr>
              <a:t>APP</a:t>
            </a:r>
            <a:endParaRPr lang="ko-KR" altLang="en-US" sz="3200" b="1" dirty="0">
              <a:solidFill>
                <a:srgbClr val="0066FF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CA6347-261F-DA84-389C-9EA3F6B631EB}"/>
              </a:ext>
            </a:extLst>
          </p:cNvPr>
          <p:cNvSpPr txBox="1"/>
          <p:nvPr/>
        </p:nvSpPr>
        <p:spPr>
          <a:xfrm>
            <a:off x="3487952" y="4515187"/>
            <a:ext cx="2258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</a:rPr>
              <a:t>202363046</a:t>
            </a:r>
          </a:p>
          <a:p>
            <a:pPr algn="ctr"/>
            <a:r>
              <a:rPr lang="ko-KR" altLang="en-US" sz="2800" b="1" dirty="0" err="1">
                <a:solidFill>
                  <a:srgbClr val="002060"/>
                </a:solidFill>
              </a:rPr>
              <a:t>백인원</a:t>
            </a:r>
            <a:endParaRPr lang="ko-KR" altLang="en-US" sz="2800" b="1" dirty="0">
              <a:solidFill>
                <a:srgbClr val="002060"/>
              </a:solidFill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C4FEBC56-0696-2CAA-22D4-78B82F630968}"/>
              </a:ext>
            </a:extLst>
          </p:cNvPr>
          <p:cNvSpPr/>
          <p:nvPr/>
        </p:nvSpPr>
        <p:spPr>
          <a:xfrm>
            <a:off x="6322767" y="1838861"/>
            <a:ext cx="2603520" cy="4095408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9E8B53-C89E-51B8-042D-9E2A566E44F4}"/>
              </a:ext>
            </a:extLst>
          </p:cNvPr>
          <p:cNvSpPr txBox="1"/>
          <p:nvPr/>
        </p:nvSpPr>
        <p:spPr>
          <a:xfrm>
            <a:off x="6495521" y="2033246"/>
            <a:ext cx="2258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66FF"/>
                </a:solidFill>
              </a:rPr>
              <a:t>MODEL</a:t>
            </a:r>
            <a:endParaRPr lang="ko-KR" altLang="en-US" sz="3200" b="1" dirty="0">
              <a:solidFill>
                <a:srgbClr val="0066FF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1E49A5-A611-E050-63D1-B123CCED16F8}"/>
              </a:ext>
            </a:extLst>
          </p:cNvPr>
          <p:cNvSpPr txBox="1"/>
          <p:nvPr/>
        </p:nvSpPr>
        <p:spPr>
          <a:xfrm>
            <a:off x="6495520" y="4515186"/>
            <a:ext cx="2258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</a:rPr>
              <a:t>202263027 </a:t>
            </a:r>
            <a:r>
              <a:rPr lang="ko-KR" altLang="en-US" sz="2800" b="1" dirty="0" err="1">
                <a:solidFill>
                  <a:srgbClr val="002060"/>
                </a:solidFill>
              </a:rPr>
              <a:t>노태권</a:t>
            </a:r>
            <a:endParaRPr lang="ko-KR" altLang="en-US" sz="2800" b="1" dirty="0">
              <a:solidFill>
                <a:srgbClr val="002060"/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C93625A-2D07-3306-D27B-730C65DA237C}"/>
              </a:ext>
            </a:extLst>
          </p:cNvPr>
          <p:cNvSpPr/>
          <p:nvPr/>
        </p:nvSpPr>
        <p:spPr>
          <a:xfrm>
            <a:off x="9330335" y="1890179"/>
            <a:ext cx="2603520" cy="404409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A5015B-171F-FC72-6A93-8CF852AFA67F}"/>
              </a:ext>
            </a:extLst>
          </p:cNvPr>
          <p:cNvSpPr txBox="1"/>
          <p:nvPr/>
        </p:nvSpPr>
        <p:spPr>
          <a:xfrm>
            <a:off x="9503089" y="2084564"/>
            <a:ext cx="2258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rgbClr val="0066FF"/>
                </a:solidFill>
              </a:rPr>
              <a:t>DATA</a:t>
            </a:r>
            <a:endParaRPr lang="ko-KR" altLang="en-US" sz="3200" b="1" dirty="0">
              <a:solidFill>
                <a:srgbClr val="0066FF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AFB8C2-16A9-05AC-B2FF-F83AFB027F21}"/>
              </a:ext>
            </a:extLst>
          </p:cNvPr>
          <p:cNvSpPr txBox="1"/>
          <p:nvPr/>
        </p:nvSpPr>
        <p:spPr>
          <a:xfrm>
            <a:off x="9503088" y="4089453"/>
            <a:ext cx="22580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</a:rPr>
              <a:t>202363037 </a:t>
            </a:r>
            <a:r>
              <a:rPr lang="ko-KR" altLang="en-US" sz="2800" b="1" dirty="0">
                <a:solidFill>
                  <a:srgbClr val="002060"/>
                </a:solidFill>
              </a:rPr>
              <a:t>김정우</a:t>
            </a:r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3822F0BD-848C-B294-94DE-811868C5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687" y="2758020"/>
            <a:ext cx="2509200" cy="1369769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2462CA4C-77C2-10FC-88A9-71AB16316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250" y="2756189"/>
            <a:ext cx="2512555" cy="1371600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C8A75150-54B2-CD1E-AD2D-71DE27BA5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814" y="2756189"/>
            <a:ext cx="2512555" cy="1371600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AAE18D0C-88CE-DEA5-D541-DBBFE9850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10" y="2756189"/>
            <a:ext cx="2512555" cy="137160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072E2412-C315-FBA4-0A6C-7D062E3EC580}"/>
              </a:ext>
            </a:extLst>
          </p:cNvPr>
          <p:cNvSpPr txBox="1"/>
          <p:nvPr/>
        </p:nvSpPr>
        <p:spPr>
          <a:xfrm>
            <a:off x="9526275" y="4948463"/>
            <a:ext cx="2258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</a:rPr>
              <a:t>202363041 </a:t>
            </a:r>
            <a:r>
              <a:rPr lang="ko-KR" altLang="en-US" sz="2800" b="1" dirty="0">
                <a:solidFill>
                  <a:srgbClr val="002060"/>
                </a:solidFill>
              </a:rPr>
              <a:t>박세준</a:t>
            </a:r>
            <a:endParaRPr lang="en-US" altLang="ko-KR" sz="2800" b="1" dirty="0">
              <a:solidFill>
                <a:srgbClr val="002060"/>
              </a:solidFill>
            </a:endParaRPr>
          </a:p>
          <a:p>
            <a:pPr algn="ctr"/>
            <a:endParaRPr lang="ko-KR" altLang="en-US" sz="2800" b="1" dirty="0">
              <a:solidFill>
                <a:srgbClr val="00206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7000A7B-DB81-4DEB-CBA0-778F81B289ED}"/>
              </a:ext>
            </a:extLst>
          </p:cNvPr>
          <p:cNvSpPr txBox="1"/>
          <p:nvPr/>
        </p:nvSpPr>
        <p:spPr>
          <a:xfrm>
            <a:off x="2796540" y="132541"/>
            <a:ext cx="65989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latin typeface="Arial Black" panose="020B0A04020102020204" pitchFamily="34" charset="0"/>
              </a:rPr>
              <a:t>MEMBER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48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데이터 1">
            <a:extLst>
              <a:ext uri="{FF2B5EF4-FFF2-40B4-BE49-F238E27FC236}">
                <a16:creationId xmlns:a16="http://schemas.microsoft.com/office/drawing/2014/main" id="{B06995B8-0007-E82B-D657-C7FBBF2B782A}"/>
              </a:ext>
            </a:extLst>
          </p:cNvPr>
          <p:cNvSpPr/>
          <p:nvPr/>
        </p:nvSpPr>
        <p:spPr>
          <a:xfrm rot="5400000">
            <a:off x="-1938759" y="-2669880"/>
            <a:ext cx="15849600" cy="12411921"/>
          </a:xfrm>
          <a:prstGeom prst="flowChartInputOutput">
            <a:avLst/>
          </a:prstGeom>
          <a:solidFill>
            <a:srgbClr val="002060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600" dirty="0">
              <a:latin typeface="Impact" panose="020B080603090205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3913F69-F839-C514-FEB3-8FB2AF7E0FA6}"/>
              </a:ext>
            </a:extLst>
          </p:cNvPr>
          <p:cNvSpPr/>
          <p:nvPr/>
        </p:nvSpPr>
        <p:spPr>
          <a:xfrm>
            <a:off x="724448" y="6003300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881F08-ABD6-F60C-B1EF-7F90367B6A9E}"/>
              </a:ext>
            </a:extLst>
          </p:cNvPr>
          <p:cNvSpPr/>
          <p:nvPr/>
        </p:nvSpPr>
        <p:spPr>
          <a:xfrm>
            <a:off x="5407570" y="6003300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9C3A35E-26B3-AD63-0AD6-0D61B93F1E60}"/>
              </a:ext>
            </a:extLst>
          </p:cNvPr>
          <p:cNvSpPr/>
          <p:nvPr/>
        </p:nvSpPr>
        <p:spPr>
          <a:xfrm>
            <a:off x="8906094" y="6003300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8B7A06C-48D2-E763-84E2-190A00224C95}"/>
              </a:ext>
            </a:extLst>
          </p:cNvPr>
          <p:cNvCxnSpPr>
            <a:cxnSpLocks/>
          </p:cNvCxnSpPr>
          <p:nvPr/>
        </p:nvCxnSpPr>
        <p:spPr>
          <a:xfrm flipV="1">
            <a:off x="814448" y="1413300"/>
            <a:ext cx="0" cy="468000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6E3DC80A-8D6D-1A6E-674E-C51462AB9BAB}"/>
              </a:ext>
            </a:extLst>
          </p:cNvPr>
          <p:cNvCxnSpPr>
            <a:cxnSpLocks/>
          </p:cNvCxnSpPr>
          <p:nvPr/>
        </p:nvCxnSpPr>
        <p:spPr>
          <a:xfrm flipV="1">
            <a:off x="5497570" y="3162300"/>
            <a:ext cx="0" cy="284100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61CC64C-E18D-6543-769E-D8795BA04F04}"/>
              </a:ext>
            </a:extLst>
          </p:cNvPr>
          <p:cNvCxnSpPr>
            <a:cxnSpLocks/>
          </p:cNvCxnSpPr>
          <p:nvPr/>
        </p:nvCxnSpPr>
        <p:spPr>
          <a:xfrm flipV="1">
            <a:off x="8996094" y="4857750"/>
            <a:ext cx="0" cy="114555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16A134B-9435-8D65-6989-7BFE6C1E5B97}"/>
              </a:ext>
            </a:extLst>
          </p:cNvPr>
          <p:cNvSpPr txBox="1"/>
          <p:nvPr/>
        </p:nvSpPr>
        <p:spPr>
          <a:xfrm>
            <a:off x="3657170" y="1120739"/>
            <a:ext cx="7981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데이터 수집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6FC4D63-A4BF-D1D5-BF6F-B56CC97C5B21}"/>
              </a:ext>
            </a:extLst>
          </p:cNvPr>
          <p:cNvCxnSpPr>
            <a:cxnSpLocks/>
          </p:cNvCxnSpPr>
          <p:nvPr/>
        </p:nvCxnSpPr>
        <p:spPr>
          <a:xfrm>
            <a:off x="814448" y="1410248"/>
            <a:ext cx="2752722" cy="305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E4CC2D3-B730-9286-95DC-D1C4BAF55A64}"/>
              </a:ext>
            </a:extLst>
          </p:cNvPr>
          <p:cNvCxnSpPr>
            <a:cxnSpLocks/>
          </p:cNvCxnSpPr>
          <p:nvPr/>
        </p:nvCxnSpPr>
        <p:spPr>
          <a:xfrm>
            <a:off x="5497570" y="3162300"/>
            <a:ext cx="122073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DEA40FE-FA68-F432-3362-53504AACB6B1}"/>
              </a:ext>
            </a:extLst>
          </p:cNvPr>
          <p:cNvCxnSpPr>
            <a:cxnSpLocks/>
          </p:cNvCxnSpPr>
          <p:nvPr/>
        </p:nvCxnSpPr>
        <p:spPr>
          <a:xfrm>
            <a:off x="8996094" y="4853949"/>
            <a:ext cx="948006" cy="380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7650E7-BF6E-59CD-ECB1-629FA4CC3259}"/>
              </a:ext>
            </a:extLst>
          </p:cNvPr>
          <p:cNvSpPr txBox="1"/>
          <p:nvPr/>
        </p:nvSpPr>
        <p:spPr>
          <a:xfrm>
            <a:off x="10655516" y="6253447"/>
            <a:ext cx="6536094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  <a:tabLst>
                <a:tab pos="2228850" algn="l"/>
              </a:tabLst>
            </a:pPr>
            <a:r>
              <a:rPr lang="en-US" altLang="ko-KR" sz="2800" b="1" kern="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</a:t>
            </a:r>
            <a:r>
              <a:rPr lang="en-US" altLang="ko-KR" sz="2800" b="1" kern="1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onth</a:t>
            </a:r>
            <a:endParaRPr lang="ko-KR" altLang="ko-KR" sz="1800" b="1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FED51A-EC04-9674-478F-580E5C8B77A0}"/>
              </a:ext>
            </a:extLst>
          </p:cNvPr>
          <p:cNvSpPr txBox="1"/>
          <p:nvPr/>
        </p:nvSpPr>
        <p:spPr>
          <a:xfrm>
            <a:off x="300098" y="6185095"/>
            <a:ext cx="102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5~6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6EDC5-061B-F56F-BBCE-AEA8C461B6AC}"/>
              </a:ext>
            </a:extLst>
          </p:cNvPr>
          <p:cNvSpPr txBox="1"/>
          <p:nvPr/>
        </p:nvSpPr>
        <p:spPr>
          <a:xfrm>
            <a:off x="6718300" y="2941994"/>
            <a:ext cx="798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데이터 </a:t>
            </a:r>
            <a:r>
              <a:rPr lang="ko-KR" altLang="en-US" sz="2800" b="1" dirty="0" err="1">
                <a:solidFill>
                  <a:schemeClr val="bg1"/>
                </a:solidFill>
              </a:rPr>
              <a:t>라벨링</a:t>
            </a:r>
            <a:r>
              <a:rPr lang="ko-KR" altLang="en-US" sz="2800" b="1" dirty="0">
                <a:solidFill>
                  <a:schemeClr val="bg1"/>
                </a:solidFill>
              </a:rPr>
              <a:t> 및 </a:t>
            </a:r>
            <a:r>
              <a:rPr lang="ko-KR" altLang="en-US" sz="2800" b="1" dirty="0" err="1">
                <a:solidFill>
                  <a:schemeClr val="bg1"/>
                </a:solidFill>
              </a:rPr>
              <a:t>전처리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F7688A-4C10-B9BA-72DD-DFBECC5537BE}"/>
              </a:ext>
            </a:extLst>
          </p:cNvPr>
          <p:cNvSpPr txBox="1"/>
          <p:nvPr/>
        </p:nvSpPr>
        <p:spPr>
          <a:xfrm>
            <a:off x="10053190" y="4664911"/>
            <a:ext cx="798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모델링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0FCA2A-D1B0-C282-6592-87B8D49A63F0}"/>
              </a:ext>
            </a:extLst>
          </p:cNvPr>
          <p:cNvSpPr txBox="1"/>
          <p:nvPr/>
        </p:nvSpPr>
        <p:spPr>
          <a:xfrm>
            <a:off x="4983220" y="6185095"/>
            <a:ext cx="102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6~7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93D9F-C775-8866-4B75-86327DFA92A9}"/>
              </a:ext>
            </a:extLst>
          </p:cNvPr>
          <p:cNvSpPr txBox="1"/>
          <p:nvPr/>
        </p:nvSpPr>
        <p:spPr>
          <a:xfrm>
            <a:off x="8489636" y="6166533"/>
            <a:ext cx="102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7~8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B68F0BC-DDC9-CFA1-4E9A-9DDF11A4A4E4}"/>
              </a:ext>
            </a:extLst>
          </p:cNvPr>
          <p:cNvCxnSpPr>
            <a:cxnSpLocks/>
          </p:cNvCxnSpPr>
          <p:nvPr/>
        </p:nvCxnSpPr>
        <p:spPr>
          <a:xfrm>
            <a:off x="12192000" y="24592"/>
            <a:ext cx="0" cy="6808816"/>
          </a:xfrm>
          <a:prstGeom prst="line">
            <a:avLst/>
          </a:prstGeom>
          <a:ln w="50800">
            <a:solidFill>
              <a:srgbClr val="6679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055F759-B7F0-FA8A-E18B-268054671F35}"/>
              </a:ext>
            </a:extLst>
          </p:cNvPr>
          <p:cNvCxnSpPr>
            <a:cxnSpLocks/>
          </p:cNvCxnSpPr>
          <p:nvPr/>
        </p:nvCxnSpPr>
        <p:spPr>
          <a:xfrm>
            <a:off x="-219920" y="6084916"/>
            <a:ext cx="12778452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368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1C71-44C1-5584-7F54-FE4F8AEB2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데이터 1">
            <a:extLst>
              <a:ext uri="{FF2B5EF4-FFF2-40B4-BE49-F238E27FC236}">
                <a16:creationId xmlns:a16="http://schemas.microsoft.com/office/drawing/2014/main" id="{A2763136-04F9-266E-7E3C-AE33A003E267}"/>
              </a:ext>
            </a:extLst>
          </p:cNvPr>
          <p:cNvSpPr/>
          <p:nvPr/>
        </p:nvSpPr>
        <p:spPr>
          <a:xfrm rot="5400000">
            <a:off x="-1506639" y="-2882082"/>
            <a:ext cx="15849600" cy="12836325"/>
          </a:xfrm>
          <a:prstGeom prst="flowChartInputOutput">
            <a:avLst/>
          </a:prstGeom>
          <a:solidFill>
            <a:srgbClr val="002060">
              <a:alpha val="6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600" dirty="0">
              <a:latin typeface="Impact" panose="020B08060309020502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8C441FE-82D7-7708-183C-D889BC1585FC}"/>
              </a:ext>
            </a:extLst>
          </p:cNvPr>
          <p:cNvCxnSpPr>
            <a:cxnSpLocks/>
          </p:cNvCxnSpPr>
          <p:nvPr/>
        </p:nvCxnSpPr>
        <p:spPr>
          <a:xfrm>
            <a:off x="-219920" y="6084916"/>
            <a:ext cx="12778452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C6DF1F24-FC32-DFB9-7CA4-19E26375C230}"/>
              </a:ext>
            </a:extLst>
          </p:cNvPr>
          <p:cNvSpPr/>
          <p:nvPr/>
        </p:nvSpPr>
        <p:spPr>
          <a:xfrm>
            <a:off x="724448" y="6003300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B315A31-52EB-91E5-1ED3-F1010240E98D}"/>
              </a:ext>
            </a:extLst>
          </p:cNvPr>
          <p:cNvSpPr/>
          <p:nvPr/>
        </p:nvSpPr>
        <p:spPr>
          <a:xfrm>
            <a:off x="5407570" y="6003300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9CEE15D-88BE-4542-A30E-253EC03A79FF}"/>
              </a:ext>
            </a:extLst>
          </p:cNvPr>
          <p:cNvSpPr/>
          <p:nvPr/>
        </p:nvSpPr>
        <p:spPr>
          <a:xfrm>
            <a:off x="8906094" y="6003300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A2BCB7C-D3BA-01E6-1A91-36CC9E176502}"/>
              </a:ext>
            </a:extLst>
          </p:cNvPr>
          <p:cNvCxnSpPr>
            <a:cxnSpLocks/>
          </p:cNvCxnSpPr>
          <p:nvPr/>
        </p:nvCxnSpPr>
        <p:spPr>
          <a:xfrm flipV="1">
            <a:off x="814448" y="1413300"/>
            <a:ext cx="0" cy="468000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C7688D2-AA2B-3A60-8088-D527DB616EEB}"/>
              </a:ext>
            </a:extLst>
          </p:cNvPr>
          <p:cNvCxnSpPr>
            <a:cxnSpLocks/>
          </p:cNvCxnSpPr>
          <p:nvPr/>
        </p:nvCxnSpPr>
        <p:spPr>
          <a:xfrm flipV="1">
            <a:off x="5497570" y="3162300"/>
            <a:ext cx="0" cy="284100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9FDED9B-DE70-8570-FF59-49E36C2CDE79}"/>
              </a:ext>
            </a:extLst>
          </p:cNvPr>
          <p:cNvCxnSpPr>
            <a:cxnSpLocks/>
          </p:cNvCxnSpPr>
          <p:nvPr/>
        </p:nvCxnSpPr>
        <p:spPr>
          <a:xfrm flipV="1">
            <a:off x="8996094" y="4857750"/>
            <a:ext cx="0" cy="114555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1C8188-0232-0E1B-7DD6-4E71486B652A}"/>
              </a:ext>
            </a:extLst>
          </p:cNvPr>
          <p:cNvSpPr txBox="1"/>
          <p:nvPr/>
        </p:nvSpPr>
        <p:spPr>
          <a:xfrm>
            <a:off x="3657170" y="1120739"/>
            <a:ext cx="7981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chemeClr val="bg1"/>
                </a:solidFill>
              </a:rPr>
              <a:t>앱 개발 및 프로토타입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DFD1423-E113-D6A6-3ACA-885E46E58B3B}"/>
              </a:ext>
            </a:extLst>
          </p:cNvPr>
          <p:cNvCxnSpPr>
            <a:cxnSpLocks/>
          </p:cNvCxnSpPr>
          <p:nvPr/>
        </p:nvCxnSpPr>
        <p:spPr>
          <a:xfrm>
            <a:off x="814448" y="1410248"/>
            <a:ext cx="2752722" cy="305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6BC7D9B-70C7-CED8-AC8F-863F914FEBD4}"/>
              </a:ext>
            </a:extLst>
          </p:cNvPr>
          <p:cNvCxnSpPr>
            <a:cxnSpLocks/>
          </p:cNvCxnSpPr>
          <p:nvPr/>
        </p:nvCxnSpPr>
        <p:spPr>
          <a:xfrm>
            <a:off x="5497570" y="3162300"/>
            <a:ext cx="122073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C76C41D-EEEB-14C1-86F6-CFF02D6F587B}"/>
              </a:ext>
            </a:extLst>
          </p:cNvPr>
          <p:cNvCxnSpPr>
            <a:cxnSpLocks/>
          </p:cNvCxnSpPr>
          <p:nvPr/>
        </p:nvCxnSpPr>
        <p:spPr>
          <a:xfrm>
            <a:off x="8996094" y="4853949"/>
            <a:ext cx="948006" cy="380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81CCBB7-EE68-85DE-E90F-6ABC11A66968}"/>
              </a:ext>
            </a:extLst>
          </p:cNvPr>
          <p:cNvSpPr txBox="1"/>
          <p:nvPr/>
        </p:nvSpPr>
        <p:spPr>
          <a:xfrm>
            <a:off x="10655516" y="6253447"/>
            <a:ext cx="6536094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  <a:tabLst>
                <a:tab pos="2228850" algn="l"/>
              </a:tabLst>
            </a:pPr>
            <a:r>
              <a:rPr lang="en-US" altLang="ko-KR" sz="2800" b="1" kern="1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</a:t>
            </a:r>
            <a:r>
              <a:rPr lang="en-US" altLang="ko-KR" sz="2800" b="1" kern="100" dirty="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onth</a:t>
            </a:r>
            <a:endParaRPr lang="ko-KR" altLang="ko-KR" sz="1800" b="1" kern="100" dirty="0"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701B1C-A318-B970-C7C8-F7E19F3982D4}"/>
              </a:ext>
            </a:extLst>
          </p:cNvPr>
          <p:cNvSpPr txBox="1"/>
          <p:nvPr/>
        </p:nvSpPr>
        <p:spPr>
          <a:xfrm>
            <a:off x="300098" y="6185095"/>
            <a:ext cx="102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8~9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FA0A89-7A24-0022-9828-FFA2642DAFE0}"/>
              </a:ext>
            </a:extLst>
          </p:cNvPr>
          <p:cNvSpPr txBox="1"/>
          <p:nvPr/>
        </p:nvSpPr>
        <p:spPr>
          <a:xfrm>
            <a:off x="6718300" y="2941994"/>
            <a:ext cx="798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검증 및 평가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EEED9-4E02-C875-B273-CB96E92757A2}"/>
              </a:ext>
            </a:extLst>
          </p:cNvPr>
          <p:cNvSpPr txBox="1"/>
          <p:nvPr/>
        </p:nvSpPr>
        <p:spPr>
          <a:xfrm>
            <a:off x="10053190" y="4664911"/>
            <a:ext cx="7981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/>
                </a:solidFill>
              </a:rPr>
              <a:t>개선점 보완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0E01A5-FDBE-B0B8-32D0-D24F01243641}"/>
              </a:ext>
            </a:extLst>
          </p:cNvPr>
          <p:cNvSpPr txBox="1"/>
          <p:nvPr/>
        </p:nvSpPr>
        <p:spPr>
          <a:xfrm>
            <a:off x="4983220" y="6185095"/>
            <a:ext cx="1214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9~10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E4BA40-2AEB-531E-C642-DE6B5397C5DA}"/>
              </a:ext>
            </a:extLst>
          </p:cNvPr>
          <p:cNvSpPr txBox="1"/>
          <p:nvPr/>
        </p:nvSpPr>
        <p:spPr>
          <a:xfrm>
            <a:off x="8489636" y="6166533"/>
            <a:ext cx="1362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맑은 고딕" panose="020B0503020000020004" pitchFamily="50" charset="-127"/>
                <a:cs typeface="Times New Roman" panose="02020603050405020304" pitchFamily="18" charset="0"/>
              </a:rPr>
              <a:t>9~10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98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C186-5A05-6910-F761-F0FA1816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F112403-2379-BCE0-5DF8-1555A4482B2A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AFC2525E-0708-1974-624B-F2355CA3E4C0}"/>
              </a:ext>
            </a:extLst>
          </p:cNvPr>
          <p:cNvSpPr/>
          <p:nvPr/>
        </p:nvSpPr>
        <p:spPr>
          <a:xfrm>
            <a:off x="485775" y="438152"/>
            <a:ext cx="723900" cy="561974"/>
          </a:xfrm>
          <a:custGeom>
            <a:avLst/>
            <a:gdLst>
              <a:gd name="connsiteX0" fmla="*/ 34926 w 1104900"/>
              <a:gd name="connsiteY0" fmla="*/ 0 h 890587"/>
              <a:gd name="connsiteX1" fmla="*/ 328969 w 1104900"/>
              <a:gd name="connsiteY1" fmla="*/ 0 h 890587"/>
              <a:gd name="connsiteX2" fmla="*/ 381000 w 1104900"/>
              <a:gd name="connsiteY2" fmla="*/ 52031 h 890587"/>
              <a:gd name="connsiteX3" fmla="*/ 381000 w 1104900"/>
              <a:gd name="connsiteY3" fmla="*/ 100012 h 890587"/>
              <a:gd name="connsiteX4" fmla="*/ 973135 w 1104900"/>
              <a:gd name="connsiteY4" fmla="*/ 100012 h 890587"/>
              <a:gd name="connsiteX5" fmla="*/ 1104900 w 1104900"/>
              <a:gd name="connsiteY5" fmla="*/ 231777 h 890587"/>
              <a:gd name="connsiteX6" fmla="*/ 1104900 w 1104900"/>
              <a:gd name="connsiteY6" fmla="*/ 758822 h 890587"/>
              <a:gd name="connsiteX7" fmla="*/ 973135 w 1104900"/>
              <a:gd name="connsiteY7" fmla="*/ 890587 h 890587"/>
              <a:gd name="connsiteX8" fmla="*/ 131765 w 1104900"/>
              <a:gd name="connsiteY8" fmla="*/ 890587 h 890587"/>
              <a:gd name="connsiteX9" fmla="*/ 0 w 1104900"/>
              <a:gd name="connsiteY9" fmla="*/ 758822 h 890587"/>
              <a:gd name="connsiteX10" fmla="*/ 0 w 1104900"/>
              <a:gd name="connsiteY10" fmla="*/ 231777 h 890587"/>
              <a:gd name="connsiteX11" fmla="*/ 4488 w 1104900"/>
              <a:gd name="connsiteY11" fmla="*/ 209550 h 890587"/>
              <a:gd name="connsiteX12" fmla="*/ 0 w 1104900"/>
              <a:gd name="connsiteY12" fmla="*/ 209550 h 890587"/>
              <a:gd name="connsiteX13" fmla="*/ 0 w 1104900"/>
              <a:gd name="connsiteY13" fmla="*/ 34926 h 890587"/>
              <a:gd name="connsiteX14" fmla="*/ 34926 w 1104900"/>
              <a:gd name="connsiteY14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04900" h="890587">
                <a:moveTo>
                  <a:pt x="34926" y="0"/>
                </a:moveTo>
                <a:lnTo>
                  <a:pt x="328969" y="0"/>
                </a:lnTo>
                <a:lnTo>
                  <a:pt x="381000" y="52031"/>
                </a:lnTo>
                <a:lnTo>
                  <a:pt x="381000" y="100012"/>
                </a:lnTo>
                <a:lnTo>
                  <a:pt x="973135" y="100012"/>
                </a:lnTo>
                <a:cubicBezTo>
                  <a:pt x="1045907" y="100012"/>
                  <a:pt x="1104900" y="159005"/>
                  <a:pt x="1104900" y="231777"/>
                </a:cubicBezTo>
                <a:lnTo>
                  <a:pt x="1104900" y="758822"/>
                </a:lnTo>
                <a:cubicBezTo>
                  <a:pt x="1104900" y="831594"/>
                  <a:pt x="1045907" y="890587"/>
                  <a:pt x="973135" y="890587"/>
                </a:cubicBezTo>
                <a:lnTo>
                  <a:pt x="131765" y="890587"/>
                </a:lnTo>
                <a:cubicBezTo>
                  <a:pt x="58993" y="890587"/>
                  <a:pt x="0" y="831594"/>
                  <a:pt x="0" y="758822"/>
                </a:cubicBezTo>
                <a:lnTo>
                  <a:pt x="0" y="231777"/>
                </a:lnTo>
                <a:lnTo>
                  <a:pt x="4488" y="209550"/>
                </a:lnTo>
                <a:lnTo>
                  <a:pt x="0" y="209550"/>
                </a:lnTo>
                <a:lnTo>
                  <a:pt x="0" y="34926"/>
                </a:lnTo>
                <a:cubicBezTo>
                  <a:pt x="0" y="15637"/>
                  <a:pt x="15637" y="0"/>
                  <a:pt x="34926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ED72E-3789-273D-034D-52014BF68623}"/>
              </a:ext>
            </a:extLst>
          </p:cNvPr>
          <p:cNvSpPr txBox="1"/>
          <p:nvPr/>
        </p:nvSpPr>
        <p:spPr>
          <a:xfrm>
            <a:off x="1295400" y="365196"/>
            <a:ext cx="4924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Other</a:t>
            </a:r>
            <a:r>
              <a:rPr lang="ko-KR" altLang="en-US" sz="4000" b="1" dirty="0"/>
              <a:t> </a:t>
            </a:r>
            <a:endParaRPr lang="en-US" altLang="ko-KR" sz="4000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EE8C1D9-CA30-99C7-EDC3-D4885617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61" y="1761940"/>
            <a:ext cx="3038218" cy="3048551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4683556-1D55-241D-546A-45AC5017F22B}"/>
              </a:ext>
            </a:extLst>
          </p:cNvPr>
          <p:cNvSpPr/>
          <p:nvPr/>
        </p:nvSpPr>
        <p:spPr>
          <a:xfrm>
            <a:off x="5103847" y="1761940"/>
            <a:ext cx="6080646" cy="3809877"/>
          </a:xfrm>
          <a:prstGeom prst="roundRect">
            <a:avLst/>
          </a:prstGeom>
          <a:solidFill>
            <a:schemeClr val="bg1"/>
          </a:soli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60B46-9733-1B63-35B2-C7ABC5FA993B}"/>
              </a:ext>
            </a:extLst>
          </p:cNvPr>
          <p:cNvSpPr txBox="1"/>
          <p:nvPr/>
        </p:nvSpPr>
        <p:spPr>
          <a:xfrm>
            <a:off x="5261011" y="3407881"/>
            <a:ext cx="5766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AI </a:t>
            </a:r>
            <a:r>
              <a:rPr lang="ko-KR" altLang="en-US" sz="2400" b="1" dirty="0" err="1">
                <a:solidFill>
                  <a:srgbClr val="FF0000"/>
                </a:solidFill>
              </a:rPr>
              <a:t>수어</a:t>
            </a:r>
            <a:r>
              <a:rPr lang="ko-KR" altLang="en-US" sz="2400" b="1" dirty="0">
                <a:solidFill>
                  <a:srgbClr val="FF0000"/>
                </a:solidFill>
              </a:rPr>
              <a:t> 번역 서비스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r>
              <a:rPr lang="ko-KR" altLang="en-US" sz="2400" b="1" dirty="0"/>
              <a:t>한국어 문장을 </a:t>
            </a:r>
            <a:r>
              <a:rPr lang="en-US" altLang="ko-KR" sz="2400" b="1" dirty="0"/>
              <a:t>3D </a:t>
            </a:r>
            <a:r>
              <a:rPr lang="ko-KR" altLang="en-US" sz="2400" b="1" dirty="0"/>
              <a:t>아바타를 통해 </a:t>
            </a:r>
            <a:r>
              <a:rPr lang="ko-KR" altLang="en-US" sz="2400" b="1" dirty="0" err="1"/>
              <a:t>수어로</a:t>
            </a:r>
            <a:r>
              <a:rPr lang="ko-KR" altLang="en-US" sz="2400" b="1" dirty="0"/>
              <a:t> 변환하여 청각 장애인과 비장애인 의사소통 지원</a:t>
            </a:r>
            <a:endParaRPr lang="en-US" altLang="ko-KR" sz="2400" b="1" dirty="0"/>
          </a:p>
        </p:txBody>
      </p:sp>
      <p:pic>
        <p:nvPicPr>
          <p:cNvPr id="2054" name="Picture 6" descr="창업기업소개 &lt; 창업기업 - 보건산업혁신창업센터">
            <a:extLst>
              <a:ext uri="{FF2B5EF4-FFF2-40B4-BE49-F238E27FC236}">
                <a16:creationId xmlns:a16="http://schemas.microsoft.com/office/drawing/2014/main" id="{238B3388-F597-8F90-384B-F9C8BD56D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011" y="2128986"/>
            <a:ext cx="2768178" cy="110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EFDF02-F813-B171-852E-ABF7904DDEF7}"/>
              </a:ext>
            </a:extLst>
          </p:cNvPr>
          <p:cNvSpPr txBox="1"/>
          <p:nvPr/>
        </p:nvSpPr>
        <p:spPr>
          <a:xfrm>
            <a:off x="927298" y="4909571"/>
            <a:ext cx="371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HGSGothicE" panose="020B0400000000000000" pitchFamily="34" charset="-128"/>
                <a:ea typeface="HGSGothicE" panose="020B0400000000000000" pitchFamily="34" charset="-128"/>
              </a:rPr>
              <a:t>Hand sign talk </a:t>
            </a:r>
            <a:r>
              <a:rPr lang="en-US" altLang="ko-KR" sz="2800" b="1" dirty="0" err="1">
                <a:latin typeface="HGSGothicE" panose="020B0400000000000000" pitchFamily="34" charset="-128"/>
                <a:ea typeface="HGSGothicE" panose="020B0400000000000000" pitchFamily="34" charset="-128"/>
              </a:rPr>
              <a:t>talk</a:t>
            </a:r>
            <a:endParaRPr lang="ko-KR" altLang="en-US" sz="2800" b="1" dirty="0">
              <a:latin typeface="HGSGothicE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8935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9518F-2A83-C78C-6741-FD478121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25E8130-DBCB-699C-0C2E-D51ABF1DB272}"/>
              </a:ext>
            </a:extLst>
          </p:cNvPr>
          <p:cNvSpPr/>
          <p:nvPr/>
        </p:nvSpPr>
        <p:spPr>
          <a:xfrm>
            <a:off x="139677" y="152400"/>
            <a:ext cx="11912645" cy="6553200"/>
          </a:xfrm>
          <a:prstGeom prst="roundRect">
            <a:avLst>
              <a:gd name="adj" fmla="val 8527"/>
            </a:avLst>
          </a:prstGeom>
          <a:solidFill>
            <a:schemeClr val="bg1"/>
          </a:solidFill>
          <a:ln w="50800">
            <a:solidFill>
              <a:srgbClr val="00B0F0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FFB617F-5CEB-7401-0D55-E22B2545451D}"/>
              </a:ext>
            </a:extLst>
          </p:cNvPr>
          <p:cNvSpPr/>
          <p:nvPr/>
        </p:nvSpPr>
        <p:spPr>
          <a:xfrm>
            <a:off x="1172742" y="1862213"/>
            <a:ext cx="2155372" cy="923730"/>
          </a:xfrm>
          <a:prstGeom prst="roundRect">
            <a:avLst/>
          </a:prstGeom>
          <a:solidFill>
            <a:srgbClr val="87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문장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371738B-F48A-424A-0271-9E5CEBCAB407}"/>
              </a:ext>
            </a:extLst>
          </p:cNvPr>
          <p:cNvSpPr/>
          <p:nvPr/>
        </p:nvSpPr>
        <p:spPr>
          <a:xfrm>
            <a:off x="5080713" y="1862213"/>
            <a:ext cx="2306218" cy="923730"/>
          </a:xfrm>
          <a:prstGeom prst="roundRect">
            <a:avLst/>
          </a:prstGeom>
          <a:solidFill>
            <a:srgbClr val="87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err="1">
                <a:solidFill>
                  <a:schemeClr val="bg1"/>
                </a:solidFill>
              </a:rPr>
              <a:t>핸드사인톡톡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CC0DC2D-DFA4-2963-89B0-F1E655E679B3}"/>
              </a:ext>
            </a:extLst>
          </p:cNvPr>
          <p:cNvSpPr/>
          <p:nvPr/>
        </p:nvSpPr>
        <p:spPr>
          <a:xfrm>
            <a:off x="8988684" y="1862213"/>
            <a:ext cx="2223798" cy="923730"/>
          </a:xfrm>
          <a:prstGeom prst="roundRect">
            <a:avLst/>
          </a:prstGeom>
          <a:solidFill>
            <a:srgbClr val="87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</a:rPr>
              <a:t>한국 </a:t>
            </a:r>
            <a:r>
              <a:rPr lang="ko-KR" altLang="en-US" sz="1600" b="1" dirty="0" err="1">
                <a:solidFill>
                  <a:schemeClr val="bg1"/>
                </a:solidFill>
              </a:rPr>
              <a:t>수어</a:t>
            </a:r>
            <a:r>
              <a:rPr lang="ko-KR" altLang="en-US" sz="1600" b="1" dirty="0">
                <a:solidFill>
                  <a:schemeClr val="bg1"/>
                </a:solidFill>
              </a:rPr>
              <a:t> 영상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CC02B294-83CC-D01A-D103-52506EA923FC}"/>
              </a:ext>
            </a:extLst>
          </p:cNvPr>
          <p:cNvSpPr/>
          <p:nvPr/>
        </p:nvSpPr>
        <p:spPr>
          <a:xfrm>
            <a:off x="3971007" y="2030164"/>
            <a:ext cx="466812" cy="494522"/>
          </a:xfrm>
          <a:prstGeom prst="rightArrow">
            <a:avLst/>
          </a:prstGeom>
          <a:solidFill>
            <a:srgbClr val="87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C14D3D1B-B289-330B-F51B-8F9B7C5C3EF2}"/>
              </a:ext>
            </a:extLst>
          </p:cNvPr>
          <p:cNvSpPr/>
          <p:nvPr/>
        </p:nvSpPr>
        <p:spPr>
          <a:xfrm>
            <a:off x="7954401" y="2030164"/>
            <a:ext cx="466812" cy="494522"/>
          </a:xfrm>
          <a:prstGeom prst="rightArrow">
            <a:avLst/>
          </a:prstGeom>
          <a:solidFill>
            <a:srgbClr val="879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BC861D-3B5A-4D2C-2676-DDC9FBCEA45C}"/>
              </a:ext>
            </a:extLst>
          </p:cNvPr>
          <p:cNvSpPr txBox="1"/>
          <p:nvPr/>
        </p:nvSpPr>
        <p:spPr>
          <a:xfrm>
            <a:off x="638047" y="1102680"/>
            <a:ext cx="371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HGSGothicE" panose="020B0400000000000000" pitchFamily="34" charset="-128"/>
                <a:ea typeface="HGSGothicE" panose="020B0400000000000000" pitchFamily="34" charset="-128"/>
              </a:rPr>
              <a:t>Hand sign talk </a:t>
            </a:r>
            <a:r>
              <a:rPr lang="en-US" altLang="ko-KR" sz="2800" b="1" dirty="0" err="1">
                <a:latin typeface="HGSGothicE" panose="020B0400000000000000" pitchFamily="34" charset="-128"/>
                <a:ea typeface="HGSGothicE" panose="020B0400000000000000" pitchFamily="34" charset="-128"/>
              </a:rPr>
              <a:t>talk</a:t>
            </a:r>
            <a:endParaRPr lang="ko-KR" altLang="en-US" sz="2800" b="1" dirty="0">
              <a:latin typeface="HGSGothicE" panose="020B0400000000000000" pitchFamily="34" charset="-128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F55C242-09F7-5590-70AF-FBA7A4028632}"/>
              </a:ext>
            </a:extLst>
          </p:cNvPr>
          <p:cNvSpPr/>
          <p:nvPr/>
        </p:nvSpPr>
        <p:spPr>
          <a:xfrm>
            <a:off x="1172742" y="4495756"/>
            <a:ext cx="2155372" cy="923730"/>
          </a:xfrm>
          <a:prstGeom prst="roundRect">
            <a:avLst/>
          </a:prstGeom>
          <a:solidFill>
            <a:srgbClr val="B6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User</a:t>
            </a:r>
            <a:r>
              <a:rPr lang="ko-KR" altLang="en-US" b="1" dirty="0">
                <a:solidFill>
                  <a:schemeClr val="bg1"/>
                </a:solidFill>
              </a:rPr>
              <a:t>의 </a:t>
            </a:r>
            <a:r>
              <a:rPr lang="ko-KR" altLang="en-US" b="1" dirty="0" err="1">
                <a:solidFill>
                  <a:schemeClr val="bg1"/>
                </a:solidFill>
              </a:rPr>
              <a:t>수어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BA1C10D-4D28-7A99-66F4-6D365244D7B8}"/>
              </a:ext>
            </a:extLst>
          </p:cNvPr>
          <p:cNvSpPr/>
          <p:nvPr/>
        </p:nvSpPr>
        <p:spPr>
          <a:xfrm>
            <a:off x="5080713" y="4495756"/>
            <a:ext cx="2306218" cy="923730"/>
          </a:xfrm>
          <a:prstGeom prst="roundRect">
            <a:avLst/>
          </a:prstGeom>
          <a:solidFill>
            <a:srgbClr val="B6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MTT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7300414-2806-4C88-303B-5001F74D9A8E}"/>
              </a:ext>
            </a:extLst>
          </p:cNvPr>
          <p:cNvSpPr/>
          <p:nvPr/>
        </p:nvSpPr>
        <p:spPr>
          <a:xfrm>
            <a:off x="8988684" y="4495756"/>
            <a:ext cx="2223798" cy="923730"/>
          </a:xfrm>
          <a:prstGeom prst="roundRect">
            <a:avLst/>
          </a:prstGeom>
          <a:solidFill>
            <a:srgbClr val="B6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bg1"/>
                </a:solidFill>
              </a:rPr>
              <a:t>디바이스 제어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A86D538-65AA-ED6A-C7ED-7A94C7A717D7}"/>
              </a:ext>
            </a:extLst>
          </p:cNvPr>
          <p:cNvSpPr/>
          <p:nvPr/>
        </p:nvSpPr>
        <p:spPr>
          <a:xfrm>
            <a:off x="3971007" y="4663707"/>
            <a:ext cx="466812" cy="494522"/>
          </a:xfrm>
          <a:prstGeom prst="rightArrow">
            <a:avLst/>
          </a:prstGeom>
          <a:solidFill>
            <a:srgbClr val="B6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FB814D63-3DA7-7AC9-C51C-F72E32DA5907}"/>
              </a:ext>
            </a:extLst>
          </p:cNvPr>
          <p:cNvSpPr/>
          <p:nvPr/>
        </p:nvSpPr>
        <p:spPr>
          <a:xfrm>
            <a:off x="7954401" y="4663707"/>
            <a:ext cx="466812" cy="494522"/>
          </a:xfrm>
          <a:prstGeom prst="rightArrow">
            <a:avLst/>
          </a:prstGeom>
          <a:solidFill>
            <a:srgbClr val="B6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7103A5-D484-F9AC-6523-1A179BA724E0}"/>
              </a:ext>
            </a:extLst>
          </p:cNvPr>
          <p:cNvSpPr txBox="1"/>
          <p:nvPr/>
        </p:nvSpPr>
        <p:spPr>
          <a:xfrm>
            <a:off x="638047" y="3764921"/>
            <a:ext cx="3714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HGSGothicE" panose="020B0400000000000000" pitchFamily="34" charset="-128"/>
                <a:ea typeface="HGSGothicE" panose="020B0400000000000000" pitchFamily="34" charset="-128"/>
              </a:rPr>
              <a:t>Our</a:t>
            </a:r>
            <a:r>
              <a:rPr lang="ko-KR" altLang="en-US" sz="2800" b="1" dirty="0">
                <a:latin typeface="HGSGothicE" panose="020B0400000000000000" pitchFamily="34" charset="-128"/>
                <a:ea typeface="HGSGothicE" panose="020B0400000000000000" pitchFamily="34" charset="-128"/>
              </a:rPr>
              <a:t> </a:t>
            </a:r>
            <a:r>
              <a:rPr lang="en-US" altLang="ko-KR" sz="2800" b="1" dirty="0">
                <a:latin typeface="HGSGothicE" panose="020B0400000000000000" pitchFamily="34" charset="-128"/>
                <a:ea typeface="HGSGothicE" panose="020B0400000000000000" pitchFamily="34" charset="-128"/>
              </a:rPr>
              <a:t>Service</a:t>
            </a:r>
            <a:endParaRPr lang="ko-KR" altLang="en-US" sz="2800" b="1" dirty="0">
              <a:latin typeface="HGSGothicE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4714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4" descr="막대그래프 그리기 (연습) | 자료 읽고 해석하기 | 칸아카데미">
            <a:extLst>
              <a:ext uri="{FF2B5EF4-FFF2-40B4-BE49-F238E27FC236}">
                <a16:creationId xmlns:a16="http://schemas.microsoft.com/office/drawing/2014/main" id="{31E04A6B-EAF2-3CC3-71F5-2C23667FE5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4860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6B78FD-F9FB-B340-F3F4-0C5CE41CC9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50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E98AF3-D05C-5B34-88FC-BAFE81DBEF96}"/>
              </a:ext>
            </a:extLst>
          </p:cNvPr>
          <p:cNvSpPr txBox="1"/>
          <p:nvPr/>
        </p:nvSpPr>
        <p:spPr>
          <a:xfrm>
            <a:off x="3250405" y="4295170"/>
            <a:ext cx="56911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>
                <a:latin typeface="HGSSoeiKakugothicUB" panose="020B0400000000000000" pitchFamily="34" charset="-128"/>
                <a:ea typeface="HGSSoeiKakugothicUB" panose="020B0400000000000000" pitchFamily="34" charset="-128"/>
              </a:rPr>
              <a:t>Thank you</a:t>
            </a:r>
            <a:endParaRPr lang="ko-KR" altLang="en-US" sz="9600" dirty="0">
              <a:latin typeface="HGSSoeiKakugothicUB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702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11830</TotalTime>
  <Words>173</Words>
  <Application>Microsoft Office PowerPoint</Application>
  <PresentationFormat>와이드스크린</PresentationFormat>
  <Paragraphs>92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HGSGothicE</vt:lpstr>
      <vt:lpstr>HGSSoeiKakugothicUB</vt:lpstr>
      <vt:lpstr>맑은 고딕</vt:lpstr>
      <vt:lpstr>Arial</vt:lpstr>
      <vt:lpstr>Arial Black</vt:lpstr>
      <vt:lpstr>Impact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건우 김</dc:creator>
  <cp:lastModifiedBy>백인원</cp:lastModifiedBy>
  <cp:revision>44</cp:revision>
  <dcterms:created xsi:type="dcterms:W3CDTF">2026-04-11T09:52:08Z</dcterms:created>
  <dcterms:modified xsi:type="dcterms:W3CDTF">2026-04-29T10:08:11Z</dcterms:modified>
</cp:coreProperties>
</file>