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Amasis MT Pro Black" panose="02040A04050005020304" pitchFamily="18" charset="0"/>
      <p:bold r:id="rId13"/>
    </p:embeddedFont>
    <p:embeddedFont>
      <p:font typeface="Neo둥근모" panose="02010509060201040203" pitchFamily="1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195" autoAdjust="0"/>
  </p:normalViewPr>
  <p:slideViewPr>
    <p:cSldViewPr snapToGrid="0">
      <p:cViewPr varScale="1">
        <p:scale>
          <a:sx n="61" d="100"/>
          <a:sy n="61" d="100"/>
        </p:scale>
        <p:origin x="884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3F6A5-330D-4BCD-ADE2-A96A276BDFF5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BCCB3-13E2-48A6-8B3D-BAB3CC8DC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174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반갑다 </a:t>
            </a:r>
            <a:r>
              <a:rPr lang="ko-KR" altLang="en-US" dirty="0" err="1"/>
              <a:t>캡스톤</a:t>
            </a:r>
            <a:r>
              <a:rPr lang="ko-KR" altLang="en-US" dirty="0"/>
              <a:t> 개인 아이디어 발표를 하게 된 백인원이라고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내가 발표할 </a:t>
            </a:r>
            <a:r>
              <a:rPr lang="ko-KR" altLang="en-US" dirty="0" err="1"/>
              <a:t>캡스톤</a:t>
            </a:r>
            <a:r>
              <a:rPr lang="ko-KR" altLang="en-US" dirty="0"/>
              <a:t> 아이디어는 동물 매개 질병 판단 알고리즘이다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CCB3-13E2-48A6-8B3D-BAB3CC8DCA1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344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군 전역 전 동기의 권유로 주식을 하게 </a:t>
            </a:r>
            <a:r>
              <a:rPr lang="ko-KR" altLang="en-US" dirty="0" err="1"/>
              <a:t>된적이</a:t>
            </a:r>
            <a:r>
              <a:rPr lang="ko-KR" altLang="en-US" dirty="0"/>
              <a:t>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종목은 동물관련 백신 개발 회사로 아프리카 돼지 열병의 백신을 만드는 회사였다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25</a:t>
            </a:r>
            <a:r>
              <a:rPr lang="ko-KR" altLang="en-US" dirty="0"/>
              <a:t>년 안에 만원을 뚫는다는 동기의 간악한 속임수에 넘어가 </a:t>
            </a:r>
            <a:r>
              <a:rPr lang="en-US" altLang="ko-KR" dirty="0"/>
              <a:t>200</a:t>
            </a:r>
            <a:r>
              <a:rPr lang="ko-KR" altLang="en-US" dirty="0"/>
              <a:t>만원을 투자한 나는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년째 오르지 않는 차트에 눈물을 머금고 </a:t>
            </a:r>
            <a:r>
              <a:rPr lang="ko-KR" altLang="en-US" dirty="0" err="1"/>
              <a:t>손절을</a:t>
            </a:r>
            <a:r>
              <a:rPr lang="ko-KR" altLang="en-US" dirty="0"/>
              <a:t> 할 수 밖에 없었다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CCB3-13E2-48A6-8B3D-BAB3CC8DCA1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075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61A37-3254-2A5E-C565-8CAB70EBC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76538D-35A4-2BBA-4C64-1D1400FCC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AEB49E-97F1-BB41-8046-4B92B429F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그러던 와중 난생 처음 들어본 아프리카 돼지 열병이라는 동물 매개 전염병에 관심을 가지게 되었다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알지도 못하고 투자를 할 수 없는 나는 아프리카 돼지 열병에 대해서 찾아보았고 이것이 백신이 없는</a:t>
            </a:r>
            <a:endParaRPr lang="en-US" altLang="ko-KR" dirty="0"/>
          </a:p>
          <a:p>
            <a:r>
              <a:rPr lang="ko-KR" altLang="en-US" dirty="0"/>
              <a:t>전염병이라는 것을 알게 되었다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A8A1CB-933F-B022-1A0A-624FC5C49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CCB3-13E2-48A6-8B3D-BAB3CC8DCA1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848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EF492-22C9-C395-29C8-C2219423C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8C8704-C637-D412-A864-A2852B1CB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DD23F8-C954-B4BB-A8B7-6A53574B9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빠르게 퍼진 전염병은 수만 마리의 가축을 </a:t>
            </a:r>
            <a:r>
              <a:rPr lang="ko-KR" altLang="en-US" dirty="0" err="1"/>
              <a:t>살처분하게</a:t>
            </a:r>
            <a:r>
              <a:rPr lang="ko-KR" altLang="en-US" dirty="0"/>
              <a:t> 하며 방역 </a:t>
            </a:r>
            <a:r>
              <a:rPr lang="ko-KR" altLang="en-US" dirty="0" err="1"/>
              <a:t>조치등으로</a:t>
            </a:r>
            <a:r>
              <a:rPr lang="ko-KR" altLang="en-US" dirty="0"/>
              <a:t> 인한 이동 제한 등 농가에 큰 피해를 끼치게 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아무래도 가축을 기르는 농장에 수만 마리의 살처분은 매우 큰 손해이다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무엇이 문제라서 가축이 죽어갈 동안  빠르게 조치하지 못하는 걸까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A2A39D-0491-B561-E46A-FA1E93E94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CCB3-13E2-48A6-8B3D-BAB3CC8DCA1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093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9B021-22BC-3A88-E228-E6C9CF70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65CB67-3046-40F8-68AF-F1C606922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61D29D-00C0-2108-50D5-ED6A21000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이런 가축 매개 질병의 신고 절차는 다음과 같다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전염병이 의심되는 가축의 폐사체를 발견한다면</a:t>
            </a:r>
            <a:r>
              <a:rPr lang="en-US" altLang="ko-KR" dirty="0"/>
              <a:t> </a:t>
            </a:r>
            <a:r>
              <a:rPr lang="ko-KR" altLang="en-US" dirty="0"/>
              <a:t>방역기관에 신고한다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신고된 농장은 이동제한 등 방역조치가 이뤄지며</a:t>
            </a:r>
            <a:r>
              <a:rPr lang="en-US" altLang="ko-KR" dirty="0"/>
              <a:t>, </a:t>
            </a:r>
            <a:r>
              <a:rPr lang="ko-KR" altLang="en-US" dirty="0"/>
              <a:t>가축방역관이 현지에 급파되어 역학조사 및 시료 채취를 하게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방역조치가 완료되어도 일정기간 동안 지속적으로 감시하여 </a:t>
            </a:r>
            <a:r>
              <a:rPr lang="ko-KR" altLang="en-US" dirty="0" err="1"/>
              <a:t>재발생</a:t>
            </a:r>
            <a:r>
              <a:rPr lang="ko-KR" altLang="en-US" dirty="0"/>
              <a:t> 여부를 확인한다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문제가 발생한다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이미 전염병으로 폐사한 가축이 있어야 전염병이 돌고 있다 판단할 수 있기 때문에 </a:t>
            </a:r>
            <a:endParaRPr lang="en-US" altLang="ko-KR" dirty="0"/>
          </a:p>
          <a:p>
            <a:r>
              <a:rPr lang="ko-KR" altLang="en-US" dirty="0"/>
              <a:t>신고가 늦어질 뿐만 아니라 만약 그전에 확인한다고 하더라도 그 많은 가축들을 하나하나 눈으로 확인할 수가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이를 해결할 해결책이 없을까 고민해봤다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CDE5D2-3300-5AE5-74E2-0A0209CBF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CCB3-13E2-48A6-8B3D-BAB3CC8DCA1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052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76940-8CCE-6870-BF76-96E4AD7A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CD431A-F754-2088-E3BD-931819016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B4B576-E920-7846-4371-E1C80C6CA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이를 해결하기 위하여 생각한 것이 동물 매개 질병 판단 알고리즘이다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연구 목적은 다음과 같다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동물 매개 질병에 걸린 가축 확인이 늦어져 전염이 빠르게 진행된다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이로 인해 수많은 가축이 </a:t>
            </a:r>
            <a:r>
              <a:rPr lang="ko-KR" altLang="en-US" dirty="0" err="1"/>
              <a:t>살처분</a:t>
            </a:r>
            <a:r>
              <a:rPr lang="ko-KR" altLang="en-US" dirty="0"/>
              <a:t> 되어 농가에 피해가 크다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동물 매개 질병에 걸린 가축을 빠르게 판단하여 농림축산검역본부에 신고할 수 있는 알고리즘이 필요하다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ABEBF1-16A5-62E5-CF2D-DAD0B51ED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CCB3-13E2-48A6-8B3D-BAB3CC8DCA1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67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1B395-2610-A170-626E-DA560E25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4761ED-2A5E-E5BF-B66E-D983F3CC6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CAA74B-78AB-7B41-E8BA-2B8AB8994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알고리즘의 구성은 다음과 같다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가축 중 돼지의 아프리카 돼지 열병 감염 여부를 판단하기 위해</a:t>
            </a:r>
            <a:endParaRPr lang="en-US" altLang="ko-KR" dirty="0"/>
          </a:p>
          <a:p>
            <a:r>
              <a:rPr lang="en-US" altLang="ko-KR" dirty="0"/>
              <a:t>CCTV</a:t>
            </a:r>
            <a:r>
              <a:rPr lang="ko-KR" altLang="en-US" dirty="0"/>
              <a:t>를 통하여 돼지를 스캔한다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아프리카 돼지 열병의 감염 여부는 다음으로 판단한다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귀와 몸에 붉은 반점이 존재하는가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눈이 충혈되었는가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설사로 인한 엉덩이의 </a:t>
            </a:r>
            <a:r>
              <a:rPr lang="ko-KR" altLang="en-US" dirty="0" err="1"/>
              <a:t>수양성</a:t>
            </a:r>
            <a:r>
              <a:rPr lang="ko-KR" altLang="en-US" dirty="0"/>
              <a:t> 설사가 </a:t>
            </a:r>
            <a:r>
              <a:rPr lang="ko-KR" altLang="en-US" dirty="0" err="1"/>
              <a:t>묻어있는가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등 외형적으로 판단할 수 있는 조건으로 감염 여부를 판단하여 고위험군으로 판단될 시 사용자에게 알림을 보내고</a:t>
            </a:r>
            <a:endParaRPr lang="en-US" altLang="ko-KR" dirty="0"/>
          </a:p>
          <a:p>
            <a:r>
              <a:rPr lang="ko-KR" altLang="en-US" dirty="0"/>
              <a:t>사용자가 동의한다면 고위험군 돼지의 이미지와 함께 농림축산부에 신고한다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B71D07-3883-3BB3-9E54-42339F113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CCB3-13E2-48A6-8B3D-BAB3CC8DCA1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538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24738-4F7A-133D-8B36-B91BF7962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1AF9C9-6EA5-EF07-7041-E539201A1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EB5F16-B92D-F131-D6BA-8EDB2CEE7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사용해야 할 기술은</a:t>
            </a:r>
            <a:endParaRPr lang="en-US" altLang="ko-KR" dirty="0"/>
          </a:p>
          <a:p>
            <a:r>
              <a:rPr lang="ko-KR" altLang="en-US" dirty="0"/>
              <a:t>카메라 센서와</a:t>
            </a:r>
            <a:endParaRPr lang="en-US" altLang="ko-KR" dirty="0"/>
          </a:p>
          <a:p>
            <a:r>
              <a:rPr lang="ko-KR" altLang="en-US" dirty="0"/>
              <a:t>정상적인 가축과 전염병의 걸린 가축의 이미지 데이터를 토대로 </a:t>
            </a:r>
            <a:r>
              <a:rPr lang="en-US" altLang="ko-KR" dirty="0"/>
              <a:t>YOLO</a:t>
            </a:r>
            <a:r>
              <a:rPr lang="ko-KR" altLang="en-US" dirty="0"/>
              <a:t>알고리즘을 통해 학습시켜</a:t>
            </a:r>
            <a:endParaRPr lang="en-US" altLang="ko-KR" dirty="0"/>
          </a:p>
          <a:p>
            <a:r>
              <a:rPr lang="ko-KR" altLang="en-US" dirty="0"/>
              <a:t>가축의 이미지를 판단하고 </a:t>
            </a:r>
            <a:endParaRPr lang="en-US" altLang="ko-KR" dirty="0"/>
          </a:p>
          <a:p>
            <a:r>
              <a:rPr lang="ko-KR" altLang="en-US" dirty="0"/>
              <a:t>이미지 데이터 결과를 저장할 데이터베이스 또는 서버 예를 들어 몽고 </a:t>
            </a:r>
            <a:r>
              <a:rPr lang="en-US" altLang="ko-KR" dirty="0"/>
              <a:t>DB</a:t>
            </a:r>
            <a:r>
              <a:rPr lang="ko-KR" altLang="en-US" dirty="0"/>
              <a:t>와 </a:t>
            </a:r>
            <a:r>
              <a:rPr lang="en-US" altLang="ko-KR" dirty="0"/>
              <a:t>GCP </a:t>
            </a:r>
            <a:r>
              <a:rPr lang="ko-KR" altLang="en-US" dirty="0"/>
              <a:t>등이 필요하다고 생각한다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241851-7944-0F9A-6617-C49D3DF62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CCB3-13E2-48A6-8B3D-BAB3CC8DCA1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419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C5EDD-CF0D-2F2D-9CF7-B27FF3DA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A3D2F0-AFDB-934D-542B-F1A02EE65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DA517C-DC8B-F4B3-7BAB-E6E687732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예상 효과는 해당 알고리즘으로 전염병에 걸린 개체를 빠르게 판단하고 신고할 수 있어</a:t>
            </a:r>
            <a:endParaRPr lang="en-US" altLang="ko-KR" dirty="0"/>
          </a:p>
          <a:p>
            <a:r>
              <a:rPr lang="ko-KR" altLang="en-US" dirty="0"/>
              <a:t>가축의 살 처분 수가 현저히 줄을 것이며</a:t>
            </a:r>
            <a:endParaRPr lang="en-US" altLang="ko-KR" dirty="0"/>
          </a:p>
          <a:p>
            <a:r>
              <a:rPr lang="ko-KR" altLang="en-US" dirty="0"/>
              <a:t>또한 조류 인플루엔자와 같은 인수공통감염병도 신속한 신고와 조치로 전염 확률을 줄이며</a:t>
            </a:r>
            <a:endParaRPr lang="en-US" altLang="ko-KR" dirty="0"/>
          </a:p>
          <a:p>
            <a:r>
              <a:rPr lang="ko-KR" altLang="en-US" dirty="0"/>
              <a:t>인명피해 또한 줄일 수 있겠다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30125B-E286-4BE7-6013-1597788B3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CCB3-13E2-48A6-8B3D-BAB3CC8DCA1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490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FC041-57B7-A927-A893-9948120AE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BD1E0D-A4B4-78A1-B12A-EDCD501CD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26DD74-4C78-F17C-69E4-A2E01A647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이것으로 발표를 마친다</a:t>
            </a:r>
            <a:endParaRPr lang="en-US" altLang="ko-KR" dirty="0"/>
          </a:p>
          <a:p>
            <a:r>
              <a:rPr lang="ko-KR" altLang="en-US" dirty="0"/>
              <a:t>감사하다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10B9C3-A947-8D6A-DB68-8C70EF2FA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CCB3-13E2-48A6-8B3D-BAB3CC8DCA1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1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342B-7CB7-2C79-E140-AC8329DE0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5CC6E7-8ADB-BC79-8CE3-BCF49FB8F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F170DB-BB1A-E01F-429F-34876D18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455C-41A7-4BF9-9867-48CFDF80CCB1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CE84C2-2D9B-9A8E-2AA9-D672F04BC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25CEDB-FBD0-3C77-EDAB-ECBE268A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8DA1-1088-49E5-BD45-E70B6D0C21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6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C72A4-CCD0-DF12-703C-0C8802E1B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06DFB6-E8F5-D7C4-AFFF-E97F453B6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BC3834-B67D-E382-FCD5-2FE8422DA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455C-41A7-4BF9-9867-48CFDF80CCB1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832D7-A84C-1B94-81BF-E61099FE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1F3E35-10F9-B383-E36E-0B6CD5EC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8DA1-1088-49E5-BD45-E70B6D0C21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90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04BF2-C318-08DE-AAB3-8444638B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CB99DA-12D9-7F33-2E93-FB1D7EB59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AD86E1-DE70-F790-483F-7062D6950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455C-41A7-4BF9-9867-48CFDF80CCB1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C422AD-4D0A-CE6B-EF83-53D4204E6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D71BC9-8CCD-1916-26FF-6B19DA390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8DA1-1088-49E5-BD45-E70B6D0C21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230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7784B-CEB3-F18D-165A-BDE62AF8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DAD247-00A1-42C7-B465-2E4F1F3F8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C9E488-8988-F4AD-4EF3-533A376C7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E10FE4-6C18-F2E9-D225-6E3F2808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455C-41A7-4BF9-9867-48CFDF80CCB1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861DE4-679B-45BF-0E13-B918B8006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0365D2-59C3-9329-D689-7E42AD3F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8DA1-1088-49E5-BD45-E70B6D0C21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65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E19864-155F-B8FE-9326-E960E847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B49839-7CB4-E88C-E6D0-5696E33DE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1BA259-6576-D6AB-A1FE-DB40C4BF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B7BBBE-0144-AF32-5670-63CDCE8F8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9F3A14-5B16-7D6A-2F4B-0F84095F1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294F84-A0AC-4F3F-8D86-8CB6AB325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455C-41A7-4BF9-9867-48CFDF80CCB1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06689C8-44D3-3E8E-19DD-7AF9BCF8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86F2A9-92A4-53E3-5EB7-1FCBFA7E0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8DA1-1088-49E5-BD45-E70B6D0C21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978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49A43-7172-8F38-F7BC-BAE91298A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A5382B-4077-34EF-E8C4-B20495A79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455C-41A7-4BF9-9867-48CFDF80CCB1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673523-C1CD-739F-ED0E-0A1BE7CC2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8A4166-00C7-0BED-E833-D1C77FBA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8DA1-1088-49E5-BD45-E70B6D0C21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776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70FEEA2-563C-D029-F0D7-523D30898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455C-41A7-4BF9-9867-48CFDF80CCB1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1C41FC-06D0-86CC-D228-720B58833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2792F2-29D8-81F1-A4FF-4817A99F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8DA1-1088-49E5-BD45-E70B6D0C21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74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F9CC9-5EE3-B03E-D149-54AA26CBD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3BA054-9A60-D913-8939-978191BA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4207F9-D16F-56AE-7117-9DD438B75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F9C3F7-5AF9-05B7-D1BC-557B033BA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455C-41A7-4BF9-9867-48CFDF80CCB1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AFC6C4-A069-2B13-2A98-EA7C5DF1D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A5A645-B7B4-23A2-8A0C-A9AE0C5C7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8DA1-1088-49E5-BD45-E70B6D0C21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06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801C0-5A7B-60FF-9938-A4327B3CB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CF1E24-0585-C2D2-BE1D-30865047EB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6D2786-1AB4-A63C-4E14-4F623DB1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163AE9-DE0F-1CCC-3956-49F025D55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455C-41A7-4BF9-9867-48CFDF80CCB1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D35451-9257-8089-0C14-376F0EFB7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EE30A9-ED68-A59A-45C4-16B74F7AE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8DA1-1088-49E5-BD45-E70B6D0C21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91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9A7BF-34DC-4796-0BF7-A9F12DC53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501274-DB9B-019E-70F3-89DE04B54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3ADD4E-8640-4DE2-5600-58DB1A5A9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455C-41A7-4BF9-9867-48CFDF80CCB1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5057BD-9559-6C64-9842-0698652E4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91B300-1539-D244-BFCB-DA59661E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8DA1-1088-49E5-BD45-E70B6D0C21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39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D13A57-8E58-FB4F-0393-F6D9BFFFD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3633C3-79FA-1964-D1C2-0C037EBBD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6BF63F-6D86-4B87-972E-E604AF904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455C-41A7-4BF9-9867-48CFDF80CCB1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0BFD58-B32F-1848-52EF-957E406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F0120A-FAFC-DB42-40B9-9FA7748BC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8DA1-1088-49E5-BD45-E70B6D0C21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542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F746A0D-956F-EFEB-CCEF-47A55D290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11A096-8CB4-9766-07D6-C0E411FEC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C7D771-EA16-CB48-B33C-B46FA8705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3455C-41A7-4BF9-9867-48CFDF80CCB1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81DEF8-B4AB-AEAC-345F-C67D4D3108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5A5AA8-7D9D-993E-84B0-C744DB7962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468DA1-1088-49E5-BD45-E70B6D0C21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96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3A82F04-4418-703D-A787-662CEF2FFCFA}"/>
              </a:ext>
            </a:extLst>
          </p:cNvPr>
          <p:cNvCxnSpPr/>
          <p:nvPr/>
        </p:nvCxnSpPr>
        <p:spPr>
          <a:xfrm>
            <a:off x="731520" y="5257800"/>
            <a:ext cx="109636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C20ABA-44D7-7E70-16E7-4AB1568622DC}"/>
              </a:ext>
            </a:extLst>
          </p:cNvPr>
          <p:cNvSpPr txBox="1"/>
          <p:nvPr/>
        </p:nvSpPr>
        <p:spPr>
          <a:xfrm>
            <a:off x="2080260" y="2557482"/>
            <a:ext cx="8031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latin typeface="Neo둥근모" panose="02010509060201040203" pitchFamily="1" charset="-127"/>
                <a:ea typeface="Neo둥근모" panose="02010509060201040203" pitchFamily="1" charset="-127"/>
              </a:rPr>
              <a:t>동물 매개 질병 판단 알고리즘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4C942E-281B-766C-6DFB-9CD6DCBA033B}"/>
              </a:ext>
            </a:extLst>
          </p:cNvPr>
          <p:cNvSpPr txBox="1"/>
          <p:nvPr/>
        </p:nvSpPr>
        <p:spPr>
          <a:xfrm>
            <a:off x="4110609" y="5788152"/>
            <a:ext cx="3970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202363046 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백인원</a:t>
            </a:r>
          </a:p>
        </p:txBody>
      </p:sp>
    </p:spTree>
    <p:extLst>
      <p:ext uri="{BB962C8B-B14F-4D97-AF65-F5344CB8AC3E}">
        <p14:creationId xmlns:p14="http://schemas.microsoft.com/office/powerpoint/2010/main" val="3486272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04EFEDA-68DD-F380-35B7-A0C6785A1697}"/>
              </a:ext>
            </a:extLst>
          </p:cNvPr>
          <p:cNvCxnSpPr/>
          <p:nvPr/>
        </p:nvCxnSpPr>
        <p:spPr>
          <a:xfrm>
            <a:off x="1066800" y="1252728"/>
            <a:ext cx="10058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EF4C0F8-30B6-B7EC-5278-870676B5FE18}"/>
              </a:ext>
            </a:extLst>
          </p:cNvPr>
          <p:cNvSpPr txBox="1"/>
          <p:nvPr/>
        </p:nvSpPr>
        <p:spPr>
          <a:xfrm>
            <a:off x="1066800" y="320040"/>
            <a:ext cx="1575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Amasis MT Pro Black" panose="020F0502020204030204" pitchFamily="18" charset="0"/>
                <a:ea typeface="Neo둥근모" panose="02010509060201040203" pitchFamily="1" charset="-127"/>
              </a:rPr>
              <a:t>Why?</a:t>
            </a:r>
            <a:endParaRPr lang="ko-KR" altLang="en-US" sz="4400" b="1" dirty="0">
              <a:latin typeface="Amasis MT Pro Black" panose="020F0502020204030204" pitchFamily="18" charset="0"/>
              <a:ea typeface="Neo둥근모" panose="02010509060201040203" pitchFamily="1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4B04FE0-60C0-1C4B-1757-1C3E2979E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247" y="1430523"/>
            <a:ext cx="8449506" cy="510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80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DBB5-BBF3-3BA6-8CD4-A00E24F78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A508FCE-9E74-8437-BA28-7B243B64ED5A}"/>
              </a:ext>
            </a:extLst>
          </p:cNvPr>
          <p:cNvCxnSpPr/>
          <p:nvPr/>
        </p:nvCxnSpPr>
        <p:spPr>
          <a:xfrm>
            <a:off x="1066800" y="1252728"/>
            <a:ext cx="10058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2B7DBE-F0F6-315A-B2A1-D4B6D1ED5C84}"/>
              </a:ext>
            </a:extLst>
          </p:cNvPr>
          <p:cNvSpPr txBox="1"/>
          <p:nvPr/>
        </p:nvSpPr>
        <p:spPr>
          <a:xfrm>
            <a:off x="1066800" y="320040"/>
            <a:ext cx="1575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Amasis MT Pro Black" panose="020F0502020204030204" pitchFamily="18" charset="0"/>
                <a:ea typeface="Neo둥근모" panose="02010509060201040203" pitchFamily="1" charset="-127"/>
              </a:rPr>
              <a:t>Why?</a:t>
            </a:r>
            <a:endParaRPr lang="ko-KR" altLang="en-US" sz="4400" b="1" dirty="0">
              <a:latin typeface="Amasis MT Pro Black" panose="020F0502020204030204" pitchFamily="18" charset="0"/>
              <a:ea typeface="Neo둥근모" panose="02010509060201040203" pitchFamily="1" charset="-127"/>
            </a:endParaRPr>
          </a:p>
        </p:txBody>
      </p:sp>
      <p:pic>
        <p:nvPicPr>
          <p:cNvPr id="1026" name="Picture 2" descr="사진1. ASF 바이러스와 CSF 바이러스의 구조">
            <a:extLst>
              <a:ext uri="{FF2B5EF4-FFF2-40B4-BE49-F238E27FC236}">
                <a16:creationId xmlns:a16="http://schemas.microsoft.com/office/drawing/2014/main" id="{3CE4ECEB-A751-199A-DC4B-01CE3FC1F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504" y="1564579"/>
            <a:ext cx="4626864" cy="463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돼지 - 나무위키">
            <a:extLst>
              <a:ext uri="{FF2B5EF4-FFF2-40B4-BE49-F238E27FC236}">
                <a16:creationId xmlns:a16="http://schemas.microsoft.com/office/drawing/2014/main" id="{83582DE6-42C6-B516-18EF-18CA9CA57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174" y="2156269"/>
            <a:ext cx="3369754" cy="3369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눈물 방울 1">
            <a:extLst>
              <a:ext uri="{FF2B5EF4-FFF2-40B4-BE49-F238E27FC236}">
                <a16:creationId xmlns:a16="http://schemas.microsoft.com/office/drawing/2014/main" id="{A66CD0CB-FAFB-C052-470B-CAB3D7218FBE}"/>
              </a:ext>
            </a:extLst>
          </p:cNvPr>
          <p:cNvSpPr/>
          <p:nvPr/>
        </p:nvSpPr>
        <p:spPr>
          <a:xfrm>
            <a:off x="3619500" y="3310128"/>
            <a:ext cx="358140" cy="237744"/>
          </a:xfrm>
          <a:prstGeom prst="teardrop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눈물 방울 2">
            <a:extLst>
              <a:ext uri="{FF2B5EF4-FFF2-40B4-BE49-F238E27FC236}">
                <a16:creationId xmlns:a16="http://schemas.microsoft.com/office/drawing/2014/main" id="{1E990445-EF29-1BC1-941A-734902B3F458}"/>
              </a:ext>
            </a:extLst>
          </p:cNvPr>
          <p:cNvSpPr/>
          <p:nvPr/>
        </p:nvSpPr>
        <p:spPr>
          <a:xfrm flipH="1">
            <a:off x="4666488" y="3310128"/>
            <a:ext cx="358140" cy="237744"/>
          </a:xfrm>
          <a:prstGeom prst="teardrop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07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173DD-9DDE-971B-1B75-FF0473CD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C2605E9-EC60-A156-B64B-C412A7F878E9}"/>
              </a:ext>
            </a:extLst>
          </p:cNvPr>
          <p:cNvCxnSpPr/>
          <p:nvPr/>
        </p:nvCxnSpPr>
        <p:spPr>
          <a:xfrm>
            <a:off x="1066800" y="1252728"/>
            <a:ext cx="10058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19D7627-2604-B9FF-0E5C-B9FC3BE459C8}"/>
              </a:ext>
            </a:extLst>
          </p:cNvPr>
          <p:cNvSpPr txBox="1"/>
          <p:nvPr/>
        </p:nvSpPr>
        <p:spPr>
          <a:xfrm>
            <a:off x="1066800" y="320040"/>
            <a:ext cx="1575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Amasis MT Pro Black" panose="020F0502020204030204" pitchFamily="18" charset="0"/>
                <a:ea typeface="Neo둥근모" panose="02010509060201040203" pitchFamily="1" charset="-127"/>
              </a:rPr>
              <a:t>Why?</a:t>
            </a:r>
            <a:endParaRPr lang="ko-KR" altLang="en-US" sz="4400" b="1" dirty="0">
              <a:latin typeface="Amasis MT Pro Black" panose="020F0502020204030204" pitchFamily="18" charset="0"/>
              <a:ea typeface="Neo둥근모" panose="02010509060201040203" pitchFamily="1" charset="-127"/>
            </a:endParaRPr>
          </a:p>
        </p:txBody>
      </p:sp>
      <p:pic>
        <p:nvPicPr>
          <p:cNvPr id="2050" name="Picture 2" descr="가축 살처분으로 인한 침출수 솔루션">
            <a:extLst>
              <a:ext uri="{FF2B5EF4-FFF2-40B4-BE49-F238E27FC236}">
                <a16:creationId xmlns:a16="http://schemas.microsoft.com/office/drawing/2014/main" id="{2457B520-E1D5-4257-4DF4-8ACF6CCA2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86" y="2291156"/>
            <a:ext cx="5239407" cy="2798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안성 '산란계 농장'서 고병원성 AI 확진 - 세이프타임즈">
            <a:extLst>
              <a:ext uri="{FF2B5EF4-FFF2-40B4-BE49-F238E27FC236}">
                <a16:creationId xmlns:a16="http://schemas.microsoft.com/office/drawing/2014/main" id="{3E5104A9-C267-0F24-39FF-68904FAF6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715" y="2291156"/>
            <a:ext cx="5764607" cy="2792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4FF06E-6CF0-5302-4D4C-7E33202C1BE9}"/>
              </a:ext>
            </a:extLst>
          </p:cNvPr>
          <p:cNvSpPr txBox="1"/>
          <p:nvPr/>
        </p:nvSpPr>
        <p:spPr>
          <a:xfrm>
            <a:off x="4761186" y="4722073"/>
            <a:ext cx="4729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6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2474687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8A9C3-049E-5676-7F64-2333807D1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DD5FC15-25BB-4386-B1E5-D40E78FB60FC}"/>
              </a:ext>
            </a:extLst>
          </p:cNvPr>
          <p:cNvCxnSpPr/>
          <p:nvPr/>
        </p:nvCxnSpPr>
        <p:spPr>
          <a:xfrm>
            <a:off x="1066800" y="1252728"/>
            <a:ext cx="10058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3C1FF1A-C9EA-6481-85B0-0A3E24DB7F16}"/>
              </a:ext>
            </a:extLst>
          </p:cNvPr>
          <p:cNvSpPr txBox="1"/>
          <p:nvPr/>
        </p:nvSpPr>
        <p:spPr>
          <a:xfrm>
            <a:off x="1066800" y="320040"/>
            <a:ext cx="1575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Amasis MT Pro Black" panose="020F0502020204030204" pitchFamily="18" charset="0"/>
                <a:ea typeface="Neo둥근모" panose="02010509060201040203" pitchFamily="1" charset="-127"/>
              </a:rPr>
              <a:t>Why?</a:t>
            </a:r>
            <a:endParaRPr lang="ko-KR" altLang="en-US" sz="4400" b="1" dirty="0">
              <a:latin typeface="Amasis MT Pro Black" panose="020F0502020204030204" pitchFamily="18" charset="0"/>
              <a:ea typeface="Neo둥근모" panose="02010509060201040203" pitchFamily="1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4C69D5D-7F0E-DC2C-BE10-1ED65D9E23A1}"/>
              </a:ext>
            </a:extLst>
          </p:cNvPr>
          <p:cNvSpPr/>
          <p:nvPr/>
        </p:nvSpPr>
        <p:spPr>
          <a:xfrm>
            <a:off x="367862" y="3297436"/>
            <a:ext cx="1990974" cy="7694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폐사체</a:t>
            </a:r>
            <a:r>
              <a:rPr lang="ko-KR" altLang="en-US" dirty="0">
                <a:solidFill>
                  <a:sysClr val="windowText" lastClr="00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 발견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7479361-9FDE-AAC9-4DAF-5AB6AE01121F}"/>
              </a:ext>
            </a:extLst>
          </p:cNvPr>
          <p:cNvSpPr/>
          <p:nvPr/>
        </p:nvSpPr>
        <p:spPr>
          <a:xfrm>
            <a:off x="2669996" y="3305202"/>
            <a:ext cx="1990974" cy="7694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방역기관 신고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F222C78-AE97-C642-2DE7-E7C43090EB67}"/>
              </a:ext>
            </a:extLst>
          </p:cNvPr>
          <p:cNvSpPr/>
          <p:nvPr/>
        </p:nvSpPr>
        <p:spPr>
          <a:xfrm>
            <a:off x="4972498" y="2659560"/>
            <a:ext cx="1990974" cy="7694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이동 제한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4276B10-6202-4AF3-58A5-3EF0A18BE7D1}"/>
              </a:ext>
            </a:extLst>
          </p:cNvPr>
          <p:cNvSpPr/>
          <p:nvPr/>
        </p:nvSpPr>
        <p:spPr>
          <a:xfrm>
            <a:off x="4983009" y="3848486"/>
            <a:ext cx="1990974" cy="7694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방역 조치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FD35038-54E6-8695-5B19-2A7713F2DC05}"/>
              </a:ext>
            </a:extLst>
          </p:cNvPr>
          <p:cNvSpPr/>
          <p:nvPr/>
        </p:nvSpPr>
        <p:spPr>
          <a:xfrm>
            <a:off x="7403016" y="3863507"/>
            <a:ext cx="1990974" cy="7694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역학조사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CACA81B-0A95-A354-A756-EF45F4FACF1B}"/>
              </a:ext>
            </a:extLst>
          </p:cNvPr>
          <p:cNvSpPr/>
          <p:nvPr/>
        </p:nvSpPr>
        <p:spPr>
          <a:xfrm>
            <a:off x="7403016" y="2646539"/>
            <a:ext cx="1990974" cy="7694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시료 채취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159837E-F87E-FFC6-0DA8-5363C8CF34A4}"/>
              </a:ext>
            </a:extLst>
          </p:cNvPr>
          <p:cNvSpPr/>
          <p:nvPr/>
        </p:nvSpPr>
        <p:spPr>
          <a:xfrm>
            <a:off x="9823023" y="3297436"/>
            <a:ext cx="1990974" cy="7694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재발생</a:t>
            </a:r>
            <a:r>
              <a:rPr lang="ko-KR" altLang="en-US" dirty="0">
                <a:solidFill>
                  <a:sysClr val="windowText" lastClr="00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 여부 </a:t>
            </a:r>
            <a:endParaRPr lang="en-US" altLang="ko-KR" dirty="0">
              <a:solidFill>
                <a:sysClr val="windowText" lastClr="000000"/>
              </a:solidFill>
              <a:latin typeface="Neo둥근모" panose="02010509060201040203" pitchFamily="1" charset="-127"/>
              <a:ea typeface="Neo둥근모" panose="02010509060201040203" pitchFamily="1" charset="-127"/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확인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A226CA30-E621-E509-CBF8-E3FF9494D59E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2358836" y="3682156"/>
            <a:ext cx="311160" cy="7766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9757F0D0-D006-5E42-0E4C-832833324F53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4660970" y="3044280"/>
            <a:ext cx="311528" cy="645642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9980D50C-1741-B599-A7A8-337F12F8C666}"/>
              </a:ext>
            </a:extLst>
          </p:cNvPr>
          <p:cNvCxnSpPr>
            <a:stCxn id="3" idx="3"/>
            <a:endCxn id="7" idx="1"/>
          </p:cNvCxnSpPr>
          <p:nvPr/>
        </p:nvCxnSpPr>
        <p:spPr>
          <a:xfrm>
            <a:off x="4660970" y="3689922"/>
            <a:ext cx="322039" cy="543284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E4D165E0-A49F-895D-79F9-A0ABD4C63182}"/>
              </a:ext>
            </a:extLst>
          </p:cNvPr>
          <p:cNvCxnSpPr>
            <a:stCxn id="4" idx="3"/>
            <a:endCxn id="9" idx="1"/>
          </p:cNvCxnSpPr>
          <p:nvPr/>
        </p:nvCxnSpPr>
        <p:spPr>
          <a:xfrm flipV="1">
            <a:off x="6963472" y="3031259"/>
            <a:ext cx="439544" cy="1302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BBF7E4BF-6ED0-6BBA-B9FB-0E53C305C1E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6973983" y="4233206"/>
            <a:ext cx="429033" cy="1502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89F3C55F-E5BA-9908-6EFB-9BA4ED8882E7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9393990" y="3682156"/>
            <a:ext cx="429033" cy="56607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E6B2AF7A-484D-4E49-4DB9-59F2D568052D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9393990" y="3031259"/>
            <a:ext cx="429033" cy="65089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563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C62C2-75E4-C7F9-7C34-CC216DF9D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35A46B1-6C40-3000-9157-1026834DDAC8}"/>
              </a:ext>
            </a:extLst>
          </p:cNvPr>
          <p:cNvCxnSpPr/>
          <p:nvPr/>
        </p:nvCxnSpPr>
        <p:spPr>
          <a:xfrm>
            <a:off x="1066800" y="1252728"/>
            <a:ext cx="10058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197A12-306F-9D0B-12C6-97C14B550D63}"/>
              </a:ext>
            </a:extLst>
          </p:cNvPr>
          <p:cNvSpPr txBox="1"/>
          <p:nvPr/>
        </p:nvSpPr>
        <p:spPr>
          <a:xfrm>
            <a:off x="1066799" y="320040"/>
            <a:ext cx="63745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Amasis MT Pro Black" panose="020F0502020204030204" pitchFamily="18" charset="0"/>
                <a:ea typeface="Neo둥근모" panose="02010509060201040203" pitchFamily="1" charset="-127"/>
              </a:rPr>
              <a:t>Purpose</a:t>
            </a:r>
            <a:r>
              <a:rPr lang="ko-KR" altLang="en-US" sz="4400" b="1" dirty="0">
                <a:latin typeface="Amasis MT Pro Black" panose="020F0502020204030204" pitchFamily="18" charset="0"/>
                <a:ea typeface="Neo둥근모" panose="02010509060201040203" pitchFamily="1" charset="-127"/>
              </a:rPr>
              <a:t> </a:t>
            </a:r>
            <a:r>
              <a:rPr lang="en-US" altLang="ko-KR" sz="4400" b="1" dirty="0">
                <a:latin typeface="Amasis MT Pro Black" panose="020F0502020204030204" pitchFamily="18" charset="0"/>
                <a:ea typeface="Neo둥근모" panose="02010509060201040203" pitchFamily="1" charset="-127"/>
              </a:rPr>
              <a:t>of Research</a:t>
            </a:r>
            <a:endParaRPr lang="ko-KR" altLang="en-US" sz="4400" b="1" dirty="0">
              <a:latin typeface="Amasis MT Pro Black" panose="020F0502020204030204" pitchFamily="18" charset="0"/>
              <a:ea typeface="Neo둥근모" panose="02010509060201040203" pitchFamily="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4F9EA-7822-9456-694B-9C8303E79C43}"/>
              </a:ext>
            </a:extLst>
          </p:cNvPr>
          <p:cNvSpPr txBox="1"/>
          <p:nvPr/>
        </p:nvSpPr>
        <p:spPr>
          <a:xfrm>
            <a:off x="1009650" y="1847798"/>
            <a:ext cx="9944100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동물 매개 질병에 걸린 가축 확인이 </a:t>
            </a:r>
            <a:r>
              <a:rPr lang="ko-KR" altLang="en-US" sz="2800" dirty="0" err="1">
                <a:latin typeface="Neo둥근모" panose="02010509060201040203" pitchFamily="1" charset="-127"/>
                <a:ea typeface="Neo둥근모" panose="02010509060201040203" pitchFamily="1" charset="-127"/>
              </a:rPr>
              <a:t>늦어짐</a:t>
            </a:r>
            <a:endParaRPr lang="en-US" altLang="ko-KR" sz="28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이로 인해 수많은 가축이 </a:t>
            </a:r>
            <a:r>
              <a:rPr lang="ko-KR" altLang="en-US" sz="2800" dirty="0" err="1">
                <a:latin typeface="Neo둥근모" panose="02010509060201040203" pitchFamily="1" charset="-127"/>
                <a:ea typeface="Neo둥근모" panose="02010509060201040203" pitchFamily="1" charset="-127"/>
              </a:rPr>
              <a:t>살처분</a:t>
            </a:r>
            <a:endParaRPr lang="en-US" altLang="ko-KR" sz="28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전염병을 </a:t>
            </a:r>
            <a:r>
              <a:rPr lang="ko-KR" altLang="en-US" sz="2800" dirty="0">
                <a:solidFill>
                  <a:srgbClr val="FF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빠르게 판단해 신고</a:t>
            </a: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할 수 있는 알고리즘 필요</a:t>
            </a:r>
            <a:endParaRPr lang="en-US" altLang="ko-KR" sz="28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1552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A9E5E-A8CF-BA89-8ECA-C5812AAA1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803FDE1-1F8D-2D85-E954-8F7EFF27F277}"/>
              </a:ext>
            </a:extLst>
          </p:cNvPr>
          <p:cNvCxnSpPr/>
          <p:nvPr/>
        </p:nvCxnSpPr>
        <p:spPr>
          <a:xfrm>
            <a:off x="1066800" y="1252728"/>
            <a:ext cx="10058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94560D-3772-B76C-17B8-D734F738E162}"/>
              </a:ext>
            </a:extLst>
          </p:cNvPr>
          <p:cNvSpPr txBox="1"/>
          <p:nvPr/>
        </p:nvSpPr>
        <p:spPr>
          <a:xfrm>
            <a:off x="1066799" y="320040"/>
            <a:ext cx="63745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Amasis MT Pro Black" panose="020F0502020204030204" pitchFamily="18" charset="0"/>
                <a:ea typeface="Neo둥근모" panose="02010509060201040203" pitchFamily="1" charset="-127"/>
              </a:rPr>
              <a:t>Algorithms</a:t>
            </a:r>
            <a:endParaRPr lang="ko-KR" altLang="en-US" sz="4400" b="1" dirty="0">
              <a:latin typeface="Amasis MT Pro Black" panose="020F0502020204030204" pitchFamily="18" charset="0"/>
              <a:ea typeface="Neo둥근모" panose="02010509060201040203" pitchFamily="1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452FFA7-4133-1899-A351-DA7FB8786717}"/>
              </a:ext>
            </a:extLst>
          </p:cNvPr>
          <p:cNvGrpSpPr/>
          <p:nvPr/>
        </p:nvGrpSpPr>
        <p:grpSpPr>
          <a:xfrm>
            <a:off x="1222637" y="1415976"/>
            <a:ext cx="4977482" cy="4352416"/>
            <a:chOff x="1222637" y="1415976"/>
            <a:chExt cx="4977482" cy="4352416"/>
          </a:xfrm>
        </p:grpSpPr>
        <p:pic>
          <p:nvPicPr>
            <p:cNvPr id="5124" name="Picture 4" descr="스마트홈 - CCTV 홈카메라 - 티피링크몰">
              <a:extLst>
                <a:ext uri="{FF2B5EF4-FFF2-40B4-BE49-F238E27FC236}">
                  <a16:creationId xmlns:a16="http://schemas.microsoft.com/office/drawing/2014/main" id="{0BB610D7-ADD9-8267-7EB2-612C6FD6A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6994" y="1415976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4" descr="돼지 - 나무위키">
              <a:extLst>
                <a:ext uri="{FF2B5EF4-FFF2-40B4-BE49-F238E27FC236}">
                  <a16:creationId xmlns:a16="http://schemas.microsoft.com/office/drawing/2014/main" id="{F9176EEC-8886-A9C0-CEE1-EEE774A062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2637" y="2934035"/>
              <a:ext cx="2834357" cy="28343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B8F8129B-EA77-0F77-0234-645F75104701}"/>
              </a:ext>
            </a:extLst>
          </p:cNvPr>
          <p:cNvGrpSpPr/>
          <p:nvPr/>
        </p:nvGrpSpPr>
        <p:grpSpPr>
          <a:xfrm>
            <a:off x="4748226" y="1931646"/>
            <a:ext cx="6114216" cy="3947826"/>
            <a:chOff x="4748226" y="1931646"/>
            <a:chExt cx="6114216" cy="3947826"/>
          </a:xfrm>
        </p:grpSpPr>
        <p:pic>
          <p:nvPicPr>
            <p:cNvPr id="5128" name="Picture 8">
              <a:extLst>
                <a:ext uri="{FF2B5EF4-FFF2-40B4-BE49-F238E27FC236}">
                  <a16:creationId xmlns:a16="http://schemas.microsoft.com/office/drawing/2014/main" id="{18E58CB9-D690-D031-664B-8B44ED80B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9863" y="1931646"/>
              <a:ext cx="3692579" cy="39478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30" name="Picture 10" descr="알람 아이콘 일러스트 | PNG 아이콘 | Pngtree에 무료 다운로드">
              <a:extLst>
                <a:ext uri="{FF2B5EF4-FFF2-40B4-BE49-F238E27FC236}">
                  <a16:creationId xmlns:a16="http://schemas.microsoft.com/office/drawing/2014/main" id="{ECE2478D-1D3D-F289-E453-B69091D491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8226" y="2650785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연결선: 꺾임 6">
              <a:extLst>
                <a:ext uri="{FF2B5EF4-FFF2-40B4-BE49-F238E27FC236}">
                  <a16:creationId xmlns:a16="http://schemas.microsoft.com/office/drawing/2014/main" id="{908FA4F8-5ED6-618A-053F-80687ABC6C22}"/>
                </a:ext>
              </a:extLst>
            </p:cNvPr>
            <p:cNvCxnSpPr>
              <a:stCxn id="5130" idx="3"/>
            </p:cNvCxnSpPr>
            <p:nvPr/>
          </p:nvCxnSpPr>
          <p:spPr>
            <a:xfrm>
              <a:off x="6891351" y="3722348"/>
              <a:ext cx="1054470" cy="324135"/>
            </a:xfrm>
            <a:prstGeom prst="bentConnector3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32" name="Picture 12" descr="농림축산검역본부 - 나무위키">
            <a:extLst>
              <a:ext uri="{FF2B5EF4-FFF2-40B4-BE49-F238E27FC236}">
                <a16:creationId xmlns:a16="http://schemas.microsoft.com/office/drawing/2014/main" id="{DEA8B22A-AEB3-FD25-4553-5A4C61054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705" y="3143907"/>
            <a:ext cx="6784459" cy="148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076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38F27-2D7F-F9BD-C77C-6524BAD1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D483F0B-E209-5B90-6040-AA76C167CBEA}"/>
              </a:ext>
            </a:extLst>
          </p:cNvPr>
          <p:cNvCxnSpPr/>
          <p:nvPr/>
        </p:nvCxnSpPr>
        <p:spPr>
          <a:xfrm>
            <a:off x="1066800" y="1252728"/>
            <a:ext cx="10058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400B25B-EFDA-BE49-2C3E-6438FB91C2F4}"/>
              </a:ext>
            </a:extLst>
          </p:cNvPr>
          <p:cNvSpPr txBox="1"/>
          <p:nvPr/>
        </p:nvSpPr>
        <p:spPr>
          <a:xfrm>
            <a:off x="1066799" y="320040"/>
            <a:ext cx="63745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Amasis MT Pro Black" panose="020F0502020204030204" pitchFamily="18" charset="0"/>
                <a:ea typeface="Neo둥근모" panose="02010509060201040203" pitchFamily="1" charset="-127"/>
              </a:rPr>
              <a:t>Skill</a:t>
            </a:r>
            <a:endParaRPr lang="ko-KR" altLang="en-US" sz="4400" b="1" dirty="0">
              <a:latin typeface="Amasis MT Pro Black" panose="020F0502020204030204" pitchFamily="18" charset="0"/>
              <a:ea typeface="Neo둥근모" panose="02010509060201040203" pitchFamily="1" charset="-127"/>
            </a:endParaRPr>
          </a:p>
        </p:txBody>
      </p:sp>
      <p:pic>
        <p:nvPicPr>
          <p:cNvPr id="7170" name="Picture 2" descr="Object detection] YOLO (you only look once) : Real-Time Object Detection  (feat. 동작원리)">
            <a:extLst>
              <a:ext uri="{FF2B5EF4-FFF2-40B4-BE49-F238E27FC236}">
                <a16:creationId xmlns:a16="http://schemas.microsoft.com/office/drawing/2014/main" id="{75B5D39B-EF99-D636-7C4B-9908274C4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39" y="1490046"/>
            <a:ext cx="51562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MongoDB - 나무위키">
            <a:extLst>
              <a:ext uri="{FF2B5EF4-FFF2-40B4-BE49-F238E27FC236}">
                <a16:creationId xmlns:a16="http://schemas.microsoft.com/office/drawing/2014/main" id="{7ED17814-A517-5428-04AE-FEBA057B3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042" y="5032919"/>
            <a:ext cx="5429085" cy="137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FLIR A50/A70 스마트 센서 열화상 카메라 : 지니어스인더스트리 - 대한민국 No.1 산업장비 공급채널">
            <a:extLst>
              <a:ext uri="{FF2B5EF4-FFF2-40B4-BE49-F238E27FC236}">
                <a16:creationId xmlns:a16="http://schemas.microsoft.com/office/drawing/2014/main" id="{A5CC4802-52A1-0CDD-FAF7-8851AAE73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38" y="1490046"/>
            <a:ext cx="2721686" cy="272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클라우드] GCP(Google Cloud Platform) 에서 리눅스 생성 하기 - Wings on PC">
            <a:extLst>
              <a:ext uri="{FF2B5EF4-FFF2-40B4-BE49-F238E27FC236}">
                <a16:creationId xmlns:a16="http://schemas.microsoft.com/office/drawing/2014/main" id="{4D6D5371-4591-1E6F-0193-23D84CF96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225" y="3760667"/>
            <a:ext cx="4056035" cy="2271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5385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88772-60EB-0475-6DA7-96BFA8F8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19824AB-26F0-0B00-543A-7B377ACE8AED}"/>
              </a:ext>
            </a:extLst>
          </p:cNvPr>
          <p:cNvCxnSpPr/>
          <p:nvPr/>
        </p:nvCxnSpPr>
        <p:spPr>
          <a:xfrm>
            <a:off x="1066800" y="1252728"/>
            <a:ext cx="10058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0A68B6-B0F7-4679-1BFB-6E9433D0A022}"/>
              </a:ext>
            </a:extLst>
          </p:cNvPr>
          <p:cNvSpPr txBox="1"/>
          <p:nvPr/>
        </p:nvSpPr>
        <p:spPr>
          <a:xfrm>
            <a:off x="1066799" y="320040"/>
            <a:ext cx="63745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Amasis MT Pro Black" panose="020F0502020204030204" pitchFamily="18" charset="0"/>
                <a:ea typeface="Neo둥근모" panose="02010509060201040203" pitchFamily="1" charset="-127"/>
              </a:rPr>
              <a:t>Effect</a:t>
            </a:r>
            <a:endParaRPr lang="ko-KR" altLang="en-US" sz="4400" b="1" dirty="0">
              <a:latin typeface="Amasis MT Pro Black" panose="020F0502020204030204" pitchFamily="18" charset="0"/>
              <a:ea typeface="Neo둥근모" panose="02010509060201040203" pitchFamily="1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C83FB9-26FF-9DB5-3491-E90FDC217D7B}"/>
              </a:ext>
            </a:extLst>
          </p:cNvPr>
          <p:cNvSpPr txBox="1"/>
          <p:nvPr/>
        </p:nvSpPr>
        <p:spPr>
          <a:xfrm>
            <a:off x="1066799" y="2079025"/>
            <a:ext cx="9944100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신속한 감염 여부 </a:t>
            </a:r>
            <a:r>
              <a:rPr lang="ko-KR" altLang="en-US" sz="2800" dirty="0">
                <a:solidFill>
                  <a:srgbClr val="FF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판단과 빠른 신고</a:t>
            </a:r>
            <a:endParaRPr lang="en-US" altLang="ko-KR" sz="2800" dirty="0">
              <a:solidFill>
                <a:srgbClr val="FF0000"/>
              </a:solidFill>
              <a:latin typeface="Neo둥근모" panose="02010509060201040203" pitchFamily="1" charset="-127"/>
              <a:ea typeface="Neo둥근모" panose="02010509060201040203" pitchFamily="1" charset="-127"/>
            </a:endParaRP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FF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감염 확인된 개체</a:t>
            </a: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만 </a:t>
            </a:r>
            <a:r>
              <a:rPr lang="ko-KR" altLang="en-US" sz="2800" dirty="0" err="1">
                <a:latin typeface="Neo둥근모" panose="02010509060201040203" pitchFamily="1" charset="-127"/>
                <a:ea typeface="Neo둥근모" panose="02010509060201040203" pitchFamily="1" charset="-127"/>
              </a:rPr>
              <a:t>살처분</a:t>
            </a:r>
            <a:endParaRPr lang="en-US" altLang="ko-KR" sz="28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인수공통감염병의 </a:t>
            </a:r>
            <a:r>
              <a:rPr lang="ko-KR" altLang="en-US" sz="2800" dirty="0">
                <a:solidFill>
                  <a:srgbClr val="FF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전염 확률 하락</a:t>
            </a:r>
            <a:endParaRPr lang="en-US" altLang="ko-KR" sz="2800" dirty="0">
              <a:solidFill>
                <a:srgbClr val="FF0000"/>
              </a:solidFill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6129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351A-35A5-E3EF-4590-2CC33EA9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EA9DBAC-F886-744A-7DE3-3272C7C623D3}"/>
              </a:ext>
            </a:extLst>
          </p:cNvPr>
          <p:cNvCxnSpPr/>
          <p:nvPr/>
        </p:nvCxnSpPr>
        <p:spPr>
          <a:xfrm>
            <a:off x="731520" y="5257800"/>
            <a:ext cx="109636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0B5487C-2ABF-D55E-082F-860CAE1F5428}"/>
              </a:ext>
            </a:extLst>
          </p:cNvPr>
          <p:cNvSpPr txBox="1"/>
          <p:nvPr/>
        </p:nvSpPr>
        <p:spPr>
          <a:xfrm>
            <a:off x="4110609" y="5788152"/>
            <a:ext cx="3970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202363046 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백인원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049712-D815-F9F4-A6B3-4340D65F5324}"/>
              </a:ext>
            </a:extLst>
          </p:cNvPr>
          <p:cNvSpPr txBox="1"/>
          <p:nvPr/>
        </p:nvSpPr>
        <p:spPr>
          <a:xfrm>
            <a:off x="3253839" y="2111589"/>
            <a:ext cx="56843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>
                <a:latin typeface="Neo둥근모" panose="02010509060201040203" pitchFamily="1" charset="-127"/>
                <a:ea typeface="Neo둥근모" panose="02010509060201040203" pitchFamily="1" charset="-127"/>
              </a:rPr>
              <a:t>Thank You</a:t>
            </a:r>
            <a:endParaRPr lang="ko-KR" altLang="en-US" sz="96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5316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511</Words>
  <Application>Microsoft Office PowerPoint</Application>
  <PresentationFormat>와이드스크린</PresentationFormat>
  <Paragraphs>82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Amasis MT Pro Black</vt:lpstr>
      <vt:lpstr>Arial</vt:lpstr>
      <vt:lpstr>맑은 고딕</vt:lpstr>
      <vt:lpstr>Neo둥근모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백인원</dc:creator>
  <cp:lastModifiedBy>백인원</cp:lastModifiedBy>
  <cp:revision>4</cp:revision>
  <dcterms:created xsi:type="dcterms:W3CDTF">2026-03-29T12:47:48Z</dcterms:created>
  <dcterms:modified xsi:type="dcterms:W3CDTF">2026-03-29T14:36:28Z</dcterms:modified>
</cp:coreProperties>
</file>